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groupes.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test, lancer la commande R, défendre la sortie.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descriptif au comparatif. C'est là que ton mémoire bascule.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deux traitements, deux régions, un avant/après — c'est mathématiquement la situation où on te demandera le plus de comptes en soutenance. Un mauvais choix de test invalide une conclusion principale. Pas un détail méthodo — la conclusion.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entre dans la phase « comparer »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Décrire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0144" y="4366260"/>
            <a:ext cx="182880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872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309872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8744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184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0184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· ANOVA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· Mann-Whitney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· Fisher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88808" y="4366260"/>
            <a:ext cx="182880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8536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098536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7408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09042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8848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8848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d'effet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257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couvre 9 tests qui couvrent 90 % des comparaisons en mémoire/thèse. Pour chacun : quand l'utiliser, comment le coder, comment lire la sortie, ce que le jury va creuser.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en trois questions.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coder, ouvre-toi mentalement cet arbre. Trois questions à se poser dans l'ordre — la quatrième dépend du verdict de Shapiro.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INDÉPENDANTS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vs B, traitement vs contrôle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(slide 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Mann-Whitney (5)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· Fisher (9, 10)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APPARIÉS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apparié (6)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9704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signed-rank (6)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9704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 (11)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GROUPES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traitements, centres, régions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 + Tukey (7)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+ Dunn (8)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02168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d'homogénéité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par défaut. Student en exception.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est robuste aux variances inégales ET aussi puissant que Student quand elles sont égales. En routine, je le lance directement. Si ton encadreur insiste pour Student, vérifie d'abord Levene.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Welch sans hypothèse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sur les variances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t-test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-3.42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0.0013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[-1.42, -0.36]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Cohen's d = -0.78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(moyen-fort)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· bras A vs bras B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762238" y="5025166"/>
            <a:ext cx="4572" cy="46123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26209" y="5486400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762238" y="3905026"/>
            <a:ext cx="4572" cy="527125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26209" y="3905026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0179" y="4432151"/>
            <a:ext cx="944118" cy="593015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179" y="4761604"/>
            <a:ext cx="944118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10650474" y="4498041"/>
            <a:ext cx="4572" cy="3953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14445" y="4893385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650474" y="3246120"/>
            <a:ext cx="4572" cy="593015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14445" y="3246120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78415" y="3839135"/>
            <a:ext cx="944118" cy="658906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78415" y="4168588"/>
            <a:ext cx="944118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06356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jury va demander : « Pourquoi Welch et pas Student ? » Réponse blindée : Welch est valide sans condition, Student exige l'égalité des variances.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quand la normalité décroche.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Shapiro rejette et que le QQ-plot le confirme, Mann-Whitney prend le relais. Pas d'hypothèse de normalité — compare les rangs au lieu des moyennes. Aussi appelé Wilcoxon rank-sum.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Mann-Whitney /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Wilcoxon rank-sum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wilcox.test(score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wilcox_effsize(donnees,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score ~ groupe)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rank-sum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312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0.018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[-2.5, -0.3]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 r = 0.31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(medium)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médianes comparées (données asymétriques)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762238" y="5307178"/>
            <a:ext cx="4572" cy="17922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26209" y="5486400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762238" y="3694176"/>
            <a:ext cx="4572" cy="1008126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26209" y="3694176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0179" y="4702302"/>
            <a:ext cx="944118" cy="604876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179" y="5150358"/>
            <a:ext cx="944118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10650474" y="5083150"/>
            <a:ext cx="4572" cy="291236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14445" y="5374386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650474" y="3246120"/>
            <a:ext cx="4572" cy="1008126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14445" y="3246120"/>
            <a:ext cx="47205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78415" y="4254246"/>
            <a:ext cx="944118" cy="828904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78415" y="4814316"/>
            <a:ext cx="944118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06356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Vous avez utilisé Mann-Whitney parce que… ? » Réponse : « Shapiro p = 0.003, QQ-plot écart aux extrêmes — donc test non paramétrique. »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DONNÉES APPARIÉES · LE MÊME SUJET MESURÉ DEUX FOIS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gauche, deux observateurs.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N°1 sur les données appariées : appliquer un t-test indépendant. Tu détruis l'information de pairage et tu perds en puissance. Le bon test dépend de la normalité — des DIFFÉRENCES, pas des valeurs brutes.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486400" cy="256032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52120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paired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normalité des diff.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 &lt;- donnees$apres -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donnees$avant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shapiro.test(diff)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91840"/>
            <a:ext cx="5330952" cy="256032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3749040"/>
            <a:ext cx="50566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non-normales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paired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Wilcoxon signed-rank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(à ne pas confondre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Wilcoxon rank-sum)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Shapiro sur la SÉRIE DES DIFFÉRENCES (apres − avant), pas sur chaque mesure séparément. C'est cette série qui doit être normale pour le t-test apparié.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ça bouge ». Tukey dit « où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répond à « y a-t-il une différence quelque part ? ». Si oui, elle ne te dit pas entre quels groupes — c'est Tukey HSD (post-hoc) qui le précise. Sans Tukey, ton ANOVA significative n'est pas utilisable pour conclure.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ANOVA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aov(score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Tukey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TukeyHSD(modele)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8.31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Tukey HSD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B-A  +1.2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 = 0.012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C-A  +2.4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 &lt; 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C-B  +1.2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 = 0.014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par région · A &lt; B &lt; 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447532" y="5113020"/>
            <a:ext cx="4572" cy="37338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0179" y="548640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447532" y="4241800"/>
            <a:ext cx="4572" cy="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0179" y="424180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2826" y="4573693"/>
            <a:ext cx="629412" cy="539327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2826" y="4864100"/>
            <a:ext cx="629412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9706356" y="4656667"/>
            <a:ext cx="4572" cy="414867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49003" y="5071533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06356" y="3702473"/>
            <a:ext cx="4572" cy="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49003" y="3702473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91650" y="4034367"/>
            <a:ext cx="629412" cy="62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91650" y="4366260"/>
            <a:ext cx="629412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76944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 flipV="1">
            <a:off x="10965180" y="4158827"/>
            <a:ext cx="4572" cy="49784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07827" y="4656667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0965180" y="3246120"/>
            <a:ext cx="4572" cy="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807827" y="324612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50474" y="3578013"/>
            <a:ext cx="629412" cy="580813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0474" y="3868420"/>
            <a:ext cx="629412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35768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Levene rejette : ANOVA de Welch (oneway.test) puis Games-Howell en post-hoc. Plus robuste sur variances inégales.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L'alternative non-paramétrique de l'ANOVA.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logique que ANOVA, sans hypothèse de normalité. Si Kruskal-Wallis rejette H₀, le post-hoc Dunn dit entre quels groupes, avec ajustement pour les comparaisons multiples.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Kruskal-Wallis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kruskal.test(score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Dunn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library(dunn.test)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dunn.test(donnees$score,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donnees$region,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method = "bh")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= 14.2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 (BH adjusted)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A-B  p = 0.034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A-C  p = 0.0009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B-C  p = 0.052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3 régions, distributions asymétriques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447532" y="5166360"/>
            <a:ext cx="4572" cy="32004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0179" y="548640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447532" y="3886200"/>
            <a:ext cx="4572" cy="74676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0179" y="388620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2826" y="4632960"/>
            <a:ext cx="629412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2826" y="4953000"/>
            <a:ext cx="629412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9706356" y="4846320"/>
            <a:ext cx="4572" cy="42672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49003" y="527304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06356" y="3779520"/>
            <a:ext cx="4572" cy="42672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49003" y="377952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91650" y="4206240"/>
            <a:ext cx="62941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91650" y="4526280"/>
            <a:ext cx="629412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76944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 flipV="1">
            <a:off x="10965180" y="4526280"/>
            <a:ext cx="4572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07827" y="505968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0965180" y="3246120"/>
            <a:ext cx="4572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807827" y="3246120"/>
            <a:ext cx="314706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50474" y="3779520"/>
            <a:ext cx="629412" cy="746760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0474" y="4099560"/>
            <a:ext cx="629412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35768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Dunn est l'équivalent de Tukey pour la version non-paramétrique. `method = "bh"` applique BH pour les comparaisons multiples.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GRANDS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Chi² d'indépendance.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deux proportions (succès vs échec, exposés vs non-exposés). Hypothèse à vérifier : effectifs attendus ≥ 5 dans chaque cellule. Sinon, Fisher exact (slide suivante).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de contingence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table(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donnees$exposition,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donnees$maladie)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Chi² + OR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chisq.test(tab)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oddsratio(tab)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 Chi²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X² = 12.3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Odds Ratio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2.45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[1.51, 3.97]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Exposés vs non-exposés (n = 100 chacun)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76571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1650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" name="Shape 16"/>
          <p:cNvSpPr/>
          <p:nvPr/>
        </p:nvSpPr>
        <p:spPr>
          <a:xfrm>
            <a:off x="8486729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" name="Shape 17"/>
          <p:cNvSpPr/>
          <p:nvPr/>
        </p:nvSpPr>
        <p:spPr>
          <a:xfrm>
            <a:off x="8891808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6888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" name="Shape 19"/>
          <p:cNvSpPr/>
          <p:nvPr/>
        </p:nvSpPr>
        <p:spPr>
          <a:xfrm>
            <a:off x="9701967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07046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2125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917204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22284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" name="Shape 24"/>
          <p:cNvSpPr/>
          <p:nvPr/>
        </p:nvSpPr>
        <p:spPr>
          <a:xfrm>
            <a:off x="7676571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" name="Shape 25"/>
          <p:cNvSpPr/>
          <p:nvPr/>
        </p:nvSpPr>
        <p:spPr>
          <a:xfrm>
            <a:off x="8081650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" name="Shape 26"/>
          <p:cNvSpPr/>
          <p:nvPr/>
        </p:nvSpPr>
        <p:spPr>
          <a:xfrm>
            <a:off x="8486729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" name="Shape 27"/>
          <p:cNvSpPr/>
          <p:nvPr/>
        </p:nvSpPr>
        <p:spPr>
          <a:xfrm>
            <a:off x="8891808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" name="Shape 28"/>
          <p:cNvSpPr/>
          <p:nvPr/>
        </p:nvSpPr>
        <p:spPr>
          <a:xfrm>
            <a:off x="9296888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" name="Shape 29"/>
          <p:cNvSpPr/>
          <p:nvPr/>
        </p:nvSpPr>
        <p:spPr>
          <a:xfrm>
            <a:off x="9701967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" name="Shape 30"/>
          <p:cNvSpPr/>
          <p:nvPr/>
        </p:nvSpPr>
        <p:spPr>
          <a:xfrm>
            <a:off x="10107046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512125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917204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5" name="Shape 33"/>
          <p:cNvSpPr/>
          <p:nvPr/>
        </p:nvSpPr>
        <p:spPr>
          <a:xfrm>
            <a:off x="11322284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6" name="Shape 34"/>
          <p:cNvSpPr/>
          <p:nvPr/>
        </p:nvSpPr>
        <p:spPr>
          <a:xfrm>
            <a:off x="7676571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1650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8" name="Shape 36"/>
          <p:cNvSpPr/>
          <p:nvPr/>
        </p:nvSpPr>
        <p:spPr>
          <a:xfrm>
            <a:off x="8486729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9" name="Shape 37"/>
          <p:cNvSpPr/>
          <p:nvPr/>
        </p:nvSpPr>
        <p:spPr>
          <a:xfrm>
            <a:off x="8891808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0" name="Shape 38"/>
          <p:cNvSpPr/>
          <p:nvPr/>
        </p:nvSpPr>
        <p:spPr>
          <a:xfrm>
            <a:off x="9296888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01967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107046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3" name="Shape 41"/>
          <p:cNvSpPr/>
          <p:nvPr/>
        </p:nvSpPr>
        <p:spPr>
          <a:xfrm>
            <a:off x="10512125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17204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5" name="Shape 43"/>
          <p:cNvSpPr/>
          <p:nvPr/>
        </p:nvSpPr>
        <p:spPr>
          <a:xfrm>
            <a:off x="11322284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6" name="Shape 44"/>
          <p:cNvSpPr/>
          <p:nvPr/>
        </p:nvSpPr>
        <p:spPr>
          <a:xfrm>
            <a:off x="7676571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81650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8" name="Shape 46"/>
          <p:cNvSpPr/>
          <p:nvPr/>
        </p:nvSpPr>
        <p:spPr>
          <a:xfrm>
            <a:off x="8486729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9" name="Shape 47"/>
          <p:cNvSpPr/>
          <p:nvPr/>
        </p:nvSpPr>
        <p:spPr>
          <a:xfrm>
            <a:off x="8891808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0" name="Shape 48"/>
          <p:cNvSpPr/>
          <p:nvPr/>
        </p:nvSpPr>
        <p:spPr>
          <a:xfrm>
            <a:off x="9296888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01967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107046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512125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917204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322284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6" name="Shape 54"/>
          <p:cNvSpPr/>
          <p:nvPr/>
        </p:nvSpPr>
        <p:spPr>
          <a:xfrm>
            <a:off x="7676571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7" name="Shape 55"/>
          <p:cNvSpPr/>
          <p:nvPr/>
        </p:nvSpPr>
        <p:spPr>
          <a:xfrm>
            <a:off x="8081650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8" name="Shape 56"/>
          <p:cNvSpPr/>
          <p:nvPr/>
        </p:nvSpPr>
        <p:spPr>
          <a:xfrm>
            <a:off x="8486729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9" name="Shape 57"/>
          <p:cNvSpPr/>
          <p:nvPr/>
        </p:nvSpPr>
        <p:spPr>
          <a:xfrm>
            <a:off x="8891808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0" name="Shape 58"/>
          <p:cNvSpPr/>
          <p:nvPr/>
        </p:nvSpPr>
        <p:spPr>
          <a:xfrm>
            <a:off x="9296888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1" name="Shape 59"/>
          <p:cNvSpPr/>
          <p:nvPr/>
        </p:nvSpPr>
        <p:spPr>
          <a:xfrm>
            <a:off x="9701967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2" name="Shape 60"/>
          <p:cNvSpPr/>
          <p:nvPr/>
        </p:nvSpPr>
        <p:spPr>
          <a:xfrm>
            <a:off x="10107046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3" name="Shape 61"/>
          <p:cNvSpPr/>
          <p:nvPr/>
        </p:nvSpPr>
        <p:spPr>
          <a:xfrm>
            <a:off x="10512125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4" name="Shape 62"/>
          <p:cNvSpPr/>
          <p:nvPr/>
        </p:nvSpPr>
        <p:spPr>
          <a:xfrm>
            <a:off x="10917204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5" name="Shape 63"/>
          <p:cNvSpPr/>
          <p:nvPr/>
        </p:nvSpPr>
        <p:spPr>
          <a:xfrm>
            <a:off x="11322284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6" name="Shape 64"/>
          <p:cNvSpPr/>
          <p:nvPr/>
        </p:nvSpPr>
        <p:spPr>
          <a:xfrm>
            <a:off x="7676571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7" name="Shape 65"/>
          <p:cNvSpPr/>
          <p:nvPr/>
        </p:nvSpPr>
        <p:spPr>
          <a:xfrm>
            <a:off x="8081650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8" name="Shape 66"/>
          <p:cNvSpPr/>
          <p:nvPr/>
        </p:nvSpPr>
        <p:spPr>
          <a:xfrm>
            <a:off x="8486729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9" name="Shape 67"/>
          <p:cNvSpPr/>
          <p:nvPr/>
        </p:nvSpPr>
        <p:spPr>
          <a:xfrm>
            <a:off x="8891808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0" name="Shape 68"/>
          <p:cNvSpPr/>
          <p:nvPr/>
        </p:nvSpPr>
        <p:spPr>
          <a:xfrm>
            <a:off x="9296888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1" name="Shape 69"/>
          <p:cNvSpPr/>
          <p:nvPr/>
        </p:nvSpPr>
        <p:spPr>
          <a:xfrm>
            <a:off x="9701967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2" name="Shape 70"/>
          <p:cNvSpPr/>
          <p:nvPr/>
        </p:nvSpPr>
        <p:spPr>
          <a:xfrm>
            <a:off x="10107046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3" name="Shape 71"/>
          <p:cNvSpPr/>
          <p:nvPr/>
        </p:nvSpPr>
        <p:spPr>
          <a:xfrm>
            <a:off x="10512125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4" name="Shape 72"/>
          <p:cNvSpPr/>
          <p:nvPr/>
        </p:nvSpPr>
        <p:spPr>
          <a:xfrm>
            <a:off x="10917204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5" name="Shape 73"/>
          <p:cNvSpPr/>
          <p:nvPr/>
        </p:nvSpPr>
        <p:spPr>
          <a:xfrm>
            <a:off x="11322284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6" name="Shape 74"/>
          <p:cNvSpPr/>
          <p:nvPr/>
        </p:nvSpPr>
        <p:spPr>
          <a:xfrm>
            <a:off x="7676571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7" name="Shape 75"/>
          <p:cNvSpPr/>
          <p:nvPr/>
        </p:nvSpPr>
        <p:spPr>
          <a:xfrm>
            <a:off x="8081650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8" name="Shape 76"/>
          <p:cNvSpPr/>
          <p:nvPr/>
        </p:nvSpPr>
        <p:spPr>
          <a:xfrm>
            <a:off x="8486729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9" name="Shape 77"/>
          <p:cNvSpPr/>
          <p:nvPr/>
        </p:nvSpPr>
        <p:spPr>
          <a:xfrm>
            <a:off x="8891808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0" name="Shape 78"/>
          <p:cNvSpPr/>
          <p:nvPr/>
        </p:nvSpPr>
        <p:spPr>
          <a:xfrm>
            <a:off x="9296888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1" name="Shape 79"/>
          <p:cNvSpPr/>
          <p:nvPr/>
        </p:nvSpPr>
        <p:spPr>
          <a:xfrm>
            <a:off x="9701967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2" name="Shape 80"/>
          <p:cNvSpPr/>
          <p:nvPr/>
        </p:nvSpPr>
        <p:spPr>
          <a:xfrm>
            <a:off x="10107046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3" name="Shape 81"/>
          <p:cNvSpPr/>
          <p:nvPr/>
        </p:nvSpPr>
        <p:spPr>
          <a:xfrm>
            <a:off x="10512125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4" name="Shape 82"/>
          <p:cNvSpPr/>
          <p:nvPr/>
        </p:nvSpPr>
        <p:spPr>
          <a:xfrm>
            <a:off x="10917204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5" name="Shape 83"/>
          <p:cNvSpPr/>
          <p:nvPr/>
        </p:nvSpPr>
        <p:spPr>
          <a:xfrm>
            <a:off x="11322284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6" name="Shape 84"/>
          <p:cNvSpPr/>
          <p:nvPr/>
        </p:nvSpPr>
        <p:spPr>
          <a:xfrm>
            <a:off x="7676571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7" name="Shape 85"/>
          <p:cNvSpPr/>
          <p:nvPr/>
        </p:nvSpPr>
        <p:spPr>
          <a:xfrm>
            <a:off x="8081650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8" name="Shape 86"/>
          <p:cNvSpPr/>
          <p:nvPr/>
        </p:nvSpPr>
        <p:spPr>
          <a:xfrm>
            <a:off x="8486729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9" name="Shape 87"/>
          <p:cNvSpPr/>
          <p:nvPr/>
        </p:nvSpPr>
        <p:spPr>
          <a:xfrm>
            <a:off x="8891808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0" name="Shape 88"/>
          <p:cNvSpPr/>
          <p:nvPr/>
        </p:nvSpPr>
        <p:spPr>
          <a:xfrm>
            <a:off x="9296888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1" name="Shape 89"/>
          <p:cNvSpPr/>
          <p:nvPr/>
        </p:nvSpPr>
        <p:spPr>
          <a:xfrm>
            <a:off x="9701967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2" name="Shape 90"/>
          <p:cNvSpPr/>
          <p:nvPr/>
        </p:nvSpPr>
        <p:spPr>
          <a:xfrm>
            <a:off x="10107046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3" name="Shape 91"/>
          <p:cNvSpPr/>
          <p:nvPr/>
        </p:nvSpPr>
        <p:spPr>
          <a:xfrm>
            <a:off x="10512125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4" name="Shape 92"/>
          <p:cNvSpPr/>
          <p:nvPr/>
        </p:nvSpPr>
        <p:spPr>
          <a:xfrm>
            <a:off x="10917204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5" name="Shape 93"/>
          <p:cNvSpPr/>
          <p:nvPr/>
        </p:nvSpPr>
        <p:spPr>
          <a:xfrm>
            <a:off x="11322284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6" name="Shape 94"/>
          <p:cNvSpPr/>
          <p:nvPr/>
        </p:nvSpPr>
        <p:spPr>
          <a:xfrm>
            <a:off x="7676571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7" name="Shape 95"/>
          <p:cNvSpPr/>
          <p:nvPr/>
        </p:nvSpPr>
        <p:spPr>
          <a:xfrm>
            <a:off x="8081650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8" name="Shape 96"/>
          <p:cNvSpPr/>
          <p:nvPr/>
        </p:nvSpPr>
        <p:spPr>
          <a:xfrm>
            <a:off x="8486729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9" name="Shape 97"/>
          <p:cNvSpPr/>
          <p:nvPr/>
        </p:nvSpPr>
        <p:spPr>
          <a:xfrm>
            <a:off x="8891808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96888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1" name="Shape 99"/>
          <p:cNvSpPr/>
          <p:nvPr/>
        </p:nvSpPr>
        <p:spPr>
          <a:xfrm>
            <a:off x="9701967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107046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512125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917204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1322284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676571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81650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486729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891808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296888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701967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107046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512125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917204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1322284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498080" y="537667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17" name="Text 115"/>
          <p:cNvSpPr/>
          <p:nvPr/>
        </p:nvSpPr>
        <p:spPr>
          <a:xfrm>
            <a:off x="7699248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Non-exposés sains (65)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8533638" y="5376672"/>
            <a:ext cx="164592" cy="164592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19" name="Text 117"/>
          <p:cNvSpPr/>
          <p:nvPr/>
        </p:nvSpPr>
        <p:spPr>
          <a:xfrm>
            <a:off x="8734806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Non-exposés malades (25)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9569196" y="537667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1" name="Text 119"/>
          <p:cNvSpPr/>
          <p:nvPr/>
        </p:nvSpPr>
        <p:spPr>
          <a:xfrm>
            <a:off x="9770364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Exposés malades (25)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10604754" y="537667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3" name="Text 121"/>
          <p:cNvSpPr/>
          <p:nvPr/>
        </p:nvSpPr>
        <p:spPr>
          <a:xfrm>
            <a:off x="10805922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(0)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 OR avec IC95%, pas la p-value seule. C'est la mesure d'effet attendue en épidémiologie.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PETITS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exact : à utiliser large.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une cellule attendue est &lt; 5, Chi² devient instable. Fisher exact reste valide quelle que soit la taille — c'est même légitime de l'utiliser par défaut sur du 2×2. Il y a peu de raisons de s'en priver.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548640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effectifs réduits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matrix(c(3, 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8, 27),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Pour des tableaux plus grands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simulate.p.value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2926080"/>
            <a:ext cx="5330952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291840"/>
            <a:ext cx="505663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Fisher's Exact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p-value = 0.027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alternative hypothesis: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true odds ratio is not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equal to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CI: [1.02, 47.5]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OR estimate: 4.86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IC95% large → petit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échantillon. Effet probable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mais magnitude imprécise.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est valide quelle que soit la taille de l'échantillon. Tu peux l'utiliser par défaut sur du 2×2.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PROPORTIONS APPARIÉES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: le test des discordances.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chaque sujet est mesuré à deux moments, McNemar compare uniquement les discordances. C'est l'équivalent du t-test apparié pour les proportions — il ignore les sujets qui n'ont pas changé.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1868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186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apparié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Lignes = avant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Colonnes = après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c(45, 12,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28, 15),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correct = TRUE)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9160" y="3108960"/>
            <a:ext cx="7022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apparié visualisé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0" y="32461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0" y="32461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0" y="38862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−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3520440"/>
            <a:ext cx="1554480" cy="914400"/>
          </a:xfrm>
          <a:prstGeom prst="rect">
            <a:avLst/>
          </a:prstGeom>
          <a:solidFill>
            <a:srgbClr val="C9CFDC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566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8368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38160" y="3520440"/>
            <a:ext cx="1554480" cy="914400"/>
          </a:xfrm>
          <a:prstGeom prst="rect">
            <a:avLst/>
          </a:prstGeom>
          <a:solidFill>
            <a:srgbClr val="F09042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3566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13816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83680" y="4434840"/>
            <a:ext cx="1554480" cy="914400"/>
          </a:xfrm>
          <a:prstGeom prst="rect">
            <a:avLst/>
          </a:prstGeom>
          <a:solidFill>
            <a:srgbClr val="F09042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38160" y="4434840"/>
            <a:ext cx="1554480" cy="914400"/>
          </a:xfrm>
          <a:prstGeom prst="rect">
            <a:avLst/>
          </a:prstGeom>
          <a:solidFill>
            <a:srgbClr val="C9CFDC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3816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4937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09160" y="5486400"/>
            <a:ext cx="70225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utilise UNIQUEMENT les cases orange (discordances). Les concordances (gris) sont ignorées.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 : χ² = 5.625, df = 1, p = 0.0177  →  différence significative entre les deux moments.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AU-DELÀ DE LA p-VALUE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test, sa mesure d'effet.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rappel le plus martelé du Module 1 : ne jamais rapporter une p-value seule. Pour chaque test ci-dessous, l'indice de taille d'effet correspondant — c'est ce que tu colles dans ton tableau de résultats à côté de 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1091672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3649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33649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D'EFFET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0" y="33649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74904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(Welch, Student, apparié)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374904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374904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library(effsize); cohen.d(...)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9664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Mann-Whitney, Wilcoxon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0" y="4169664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Z / √N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4169664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wilcox_effsize(...)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590288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90288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97680" y="4590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η² (eta carré) ou ω²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459028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library(effectsize); eta_squared(modele)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5010912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010912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Kruskal-Wallis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297680" y="5010912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(epsilon carré)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5010912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kruskal_effsize(...)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5431536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431536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Chi², Fisher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97680" y="5431536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avec IC95%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543153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oddsratio(tab)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852160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85216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585216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 discordances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0" y="585216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oddsratio(...)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install.packages(c("effsize", "rstatix", "effectsize", "epitools"))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WORKFLOW COMPLET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randomisé de A à Z.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: essai bras A (nouveau) vs bras B (standard) chez 60 patients diabétiques. Variable principale = HbA1c à 12 semaines. Voici le workflow et le visuel final attendu.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3429000"/>
          </a:xfrm>
          <a:prstGeom prst="roundRect">
            <a:avLst>
              <a:gd name="adj" fmla="val 133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8986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986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649224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Exploration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table(donnees$bras)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by(donnees$hba1c, donnees$bras, summary)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Vérifs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"A"])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"B"])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Test principal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bras,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bras,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589520" y="2788920"/>
            <a:ext cx="4142232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0" y="2825496"/>
            <a:ext cx="39593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HbA1c bras A vs bras B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01000" y="5852160"/>
            <a:ext cx="359359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3108960"/>
            <a:ext cx="0" cy="274320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0" y="5943600"/>
            <a:ext cx="3593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7607808" y="3108960"/>
            <a:ext cx="365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 flipV="1">
            <a:off x="8899398" y="5318760"/>
            <a:ext cx="4572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4799" y="5852160"/>
            <a:ext cx="44919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899398" y="3718560"/>
            <a:ext cx="4572" cy="7620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74799" y="3718560"/>
            <a:ext cx="44919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50199" y="4480560"/>
            <a:ext cx="898398" cy="838200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50199" y="4861560"/>
            <a:ext cx="898398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01000" y="5897880"/>
            <a:ext cx="1796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nouveau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10696194" y="4556760"/>
            <a:ext cx="4572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71595" y="5090160"/>
            <a:ext cx="44919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0696194" y="3108960"/>
            <a:ext cx="4572" cy="6096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71595" y="3108960"/>
            <a:ext cx="449199" cy="457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246995" y="3718560"/>
            <a:ext cx="898398" cy="83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46995" y="4175760"/>
            <a:ext cx="898398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97796" y="5897880"/>
            <a:ext cx="1796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standard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OBSERVÉS EN PRE-SOUTENANCE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mal en soutenance.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indépendant sur données appariées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détruis l'information de pairage et tu perds en puissance. Le jury repère ça en 30 secondes.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significative sans Tukey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il y a une différence » sans dire où. Sans post-hoc, ta conclusion sur quel groupe est inutilisable.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 avec effectifs attendus &lt; 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est invalide. Utilise Fisher exact à la place — il marche dans tous les cas.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des tests sans correction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fais 15 comparaisons sur le même jeu de données, tu trouves 3 « significatifs ». Bonferroni ou BH, sinon c'est du hasard.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p sans taille d'effet ni IC95%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triade test + IC95% + taille d'effet. Une p-value seule, c'est un mémoire fragile.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comparer.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associations.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347472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3 entre dans le détail des associations : corrélation, régression linéaire, régression logistique, OR ajustés. Là où ton mémoire devient explicatif, pas seulement descriptif.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veux qu'on regarde ta méthodo sur un cas concret en attendant : 15 minutes de diagnostic, sans engagement.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2303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5778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166360"/>
            <a:ext cx="5422392" cy="1005840"/>
          </a:xfrm>
          <a:prstGeom prst="roundRect">
            <a:avLst>
              <a:gd name="adj" fmla="val 9091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2303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5778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Comparer des groupes — Module 2</dc:title>
  <dc:subject>Formation HES — Biostatistique</dc:subject>
  <dc:creator>Heaven Elijah Service</dc:creator>
  <cp:lastModifiedBy>Heaven Elijah Service</cp:lastModifiedBy>
  <cp:revision>1</cp:revision>
  <dcterms:created xsi:type="dcterms:W3CDTF">2026-05-14T20:13:32Z</dcterms:created>
  <dcterms:modified xsi:type="dcterms:W3CDTF">2026-05-14T20:13:32Z</dcterms:modified>
</cp:coreProperties>
</file>