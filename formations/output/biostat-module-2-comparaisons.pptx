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4572000" cy="4572000"/>
          </a:xfrm>
          <a:prstGeom prst="ellipse">
            <a:avLst/>
          </a:prstGeom>
          <a:solidFill>
            <a:srgbClr val="F09042">
              <a:alpha val="12000"/>
            </a:srgbClr>
          </a:solidFill>
          <a:ln/>
        </p:spPr>
      </p:sp>
      <p:pic>
        <p:nvPicPr>
          <p:cNvPr id="3" name="Image 0" descr="E:\Projets\heaven-elijah-site\public\logo-picto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515600" y="530352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FORMATION HES · BIOSTAT · MODULE 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1737360"/>
            <a:ext cx="10972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2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</a:t>
            </a:r>
            <a:endParaRPr lang="en-US" sz="6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2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groupes.</a:t>
            </a:r>
            <a:endParaRPr lang="en-US" sz="6200" dirty="0"/>
          </a:p>
        </p:txBody>
      </p:sp>
      <p:sp>
        <p:nvSpPr>
          <p:cNvPr id="6" name="Shape 3"/>
          <p:cNvSpPr/>
          <p:nvPr/>
        </p:nvSpPr>
        <p:spPr>
          <a:xfrm>
            <a:off x="640080" y="4617720"/>
            <a:ext cx="1371600" cy="54864"/>
          </a:xfrm>
          <a:prstGeom prst="rect">
            <a:avLst/>
          </a:prstGeom>
          <a:solidFill>
            <a:srgbClr val="F09042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800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le test, lancer la commande R, défendre la sortie.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5943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9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slides · ~50 min · M2 et doctorants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0" y="5943600"/>
            <a:ext cx="6245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heavenelijahservice.org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 · Module 2 · Heaven Elijah Service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POURQUOI CE MODULE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100" kern="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descriptif au comparatif. C'est là que ton mémoire bascule.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deux traitements, deux régions, un avant/après — c'est mathématiquement la situation où on te demandera le plus de comptes en soutenance. Un mauvais choix de test invalide une conclusion principale. Pas un détail méthodo — la conclusion.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module entre dans la phase « comparer »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351434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931920"/>
            <a:ext cx="3331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Décrire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434840"/>
            <a:ext cx="3331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Médianes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00144" y="4366260"/>
            <a:ext cx="182880" cy="0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09872" y="4293108"/>
            <a:ext cx="73152" cy="73152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09872" y="4439412"/>
            <a:ext cx="73152" cy="-73152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28744" y="3794760"/>
            <a:ext cx="351434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0184" y="3931920"/>
            <a:ext cx="3331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0184" y="4434840"/>
            <a:ext cx="3331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 · ANOVA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· Mann-Whitney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 · Fisher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988808" y="4366260"/>
            <a:ext cx="182880" cy="0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8536" y="4293108"/>
            <a:ext cx="73152" cy="73152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8536" y="4439412"/>
            <a:ext cx="73152" cy="-73152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17408" y="3794760"/>
            <a:ext cx="3514344" cy="1143000"/>
          </a:xfrm>
          <a:prstGeom prst="roundRect">
            <a:avLst>
              <a:gd name="adj" fmla="val 6400"/>
            </a:avLst>
          </a:prstGeom>
          <a:solidFill>
            <a:srgbClr val="F09042"/>
          </a:solidFill>
          <a:ln w="12700">
            <a:solidFill>
              <a:srgbClr val="D977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08848" y="3931920"/>
            <a:ext cx="3331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08848" y="4434840"/>
            <a:ext cx="3331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d'effet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IC95%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5212080"/>
            <a:ext cx="54864" cy="1005840"/>
          </a:xfrm>
          <a:prstGeom prst="rect">
            <a:avLst/>
          </a:prstGeom>
          <a:solidFill>
            <a:srgbClr val="F09042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module couvre 9 tests qui couvrent 90 % des comparaisons en mémoire/thèse. Pour chacun : quand l'utiliser, comment le coder, comment lire la sortie, ce que le jury va creuser.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 · Module 2 · Heaven Elijah Service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 CARTE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100" kern="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en trois questions.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coder, ouvre-toi mentalement cet arbre. Trois questions à se poser dans l'ordre — la quatrième dépend du verdict de Shapiro.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3621024" cy="640080"/>
          </a:xfrm>
          <a:prstGeom prst="rect">
            <a:avLst/>
          </a:prstGeom>
          <a:solidFill>
            <a:srgbClr val="F0904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999232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GROUPES INDÉPENDANTS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273552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vs B, traitement vs contrôle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362102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703320"/>
            <a:ext cx="3346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Quantitatif normal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3931920"/>
            <a:ext cx="3346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Welch (slide 4)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4480560"/>
            <a:ext cx="3346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Quantitatif non normal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4709160"/>
            <a:ext cx="3346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Mann-Whitney (5)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5257800"/>
            <a:ext cx="3346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Qualitatif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5486400"/>
            <a:ext cx="3346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Chi² · Fisher (9, 10)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52544" y="2926080"/>
            <a:ext cx="3621024" cy="640080"/>
          </a:xfrm>
          <a:prstGeom prst="rect">
            <a:avLst/>
          </a:prstGeom>
          <a:solidFill>
            <a:srgbClr val="F09042"/>
          </a:solidFill>
          <a:ln/>
        </p:spPr>
      </p:sp>
      <p:sp>
        <p:nvSpPr>
          <p:cNvPr id="18" name="Text 16"/>
          <p:cNvSpPr/>
          <p:nvPr/>
        </p:nvSpPr>
        <p:spPr>
          <a:xfrm>
            <a:off x="4489704" y="2999232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GROUPES APPARIÉS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89704" y="3273552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/ après, droite / gauche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52544" y="3566160"/>
            <a:ext cx="362102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9704" y="3703320"/>
            <a:ext cx="3346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Quantitatif normal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89704" y="3931920"/>
            <a:ext cx="3346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t-test apparié (6)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9704" y="4480560"/>
            <a:ext cx="3346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Quantitatif non normal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89704" y="4709160"/>
            <a:ext cx="3346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Wilcoxon signed-rank (6)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89704" y="5257800"/>
            <a:ext cx="3346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Qualitatif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89704" y="5486400"/>
            <a:ext cx="3346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McNemar (11)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65008" y="2926080"/>
            <a:ext cx="3621024" cy="640080"/>
          </a:xfrm>
          <a:prstGeom prst="rect">
            <a:avLst/>
          </a:prstGeom>
          <a:solidFill>
            <a:srgbClr val="F09042"/>
          </a:solidFill>
          <a:ln/>
        </p:spPr>
      </p:sp>
      <p:sp>
        <p:nvSpPr>
          <p:cNvPr id="28" name="Text 26"/>
          <p:cNvSpPr/>
          <p:nvPr/>
        </p:nvSpPr>
        <p:spPr>
          <a:xfrm>
            <a:off x="8202168" y="2999232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 GROUPES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02168" y="3273552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traitements, centres, régions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65008" y="3566160"/>
            <a:ext cx="362102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F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02168" y="3703320"/>
            <a:ext cx="3346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Quantitatif normal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02168" y="3931920"/>
            <a:ext cx="3346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ANOVA + Tukey (7)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02168" y="4480560"/>
            <a:ext cx="3346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Quantitatif non normal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02168" y="4709160"/>
            <a:ext cx="3346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Kruskal-Wallis + Dunn (8)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02168" y="5257800"/>
            <a:ext cx="3346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Qualitatif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02168" y="5486400"/>
            <a:ext cx="3346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Chi² d'homogénéité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 · Module 2 · Heaven Elijah Service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 GROUPES INDÉPENDANTS · QUANTITATIF NORMAL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100" kern="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par défaut. Student en exception.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est robuste aux variances inégales ET aussi puissant que Student quand elles sont égales. En routine, je le lance directement. Si ton encadreur insiste pour Student, vérifie d'abord Levene.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3931920" cy="2926080"/>
          </a:xfrm>
          <a:prstGeom prst="roundRect">
            <a:avLst>
              <a:gd name="adj" fmla="val 1563"/>
            </a:avLst>
          </a:prstGeom>
          <a:solidFill>
            <a:srgbClr val="1A2541"/>
          </a:solidFill>
          <a:ln w="6350">
            <a:solidFill>
              <a:srgbClr val="F090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035808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F0904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3580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Welch sans hypothèse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sur les variances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t.test(hba1c ~ groupe,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data = donnees,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var.equal = FALSE)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Taille d'effet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library(effsize)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cohen.d(hba1c ~ groupe,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 = donnees)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2926080"/>
            <a:ext cx="2560320" cy="2926080"/>
          </a:xfrm>
          <a:prstGeom prst="roundRect">
            <a:avLst>
              <a:gd name="adj" fmla="val 1786"/>
            </a:avLst>
          </a:prstGeom>
          <a:solidFill>
            <a:srgbClr val="1A2541"/>
          </a:solidFill>
          <a:ln w="6350">
            <a:solidFill>
              <a:srgbClr val="6B728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846320" y="3017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92040" y="3291840"/>
            <a:ext cx="2286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Welch t-test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-3.42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0.0013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IC95%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[-1.42, -0.36]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Cohen's d = -0.78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(moyen-fort)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06640" y="2926080"/>
            <a:ext cx="4325112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2962656"/>
            <a:ext cx="4142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HbA1c · bras A vs bras B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18120" y="5486400"/>
            <a:ext cx="3776472" cy="0"/>
          </a:xfrm>
          <a:prstGeom prst="line">
            <a:avLst/>
          </a:prstGeom>
          <a:noFill/>
          <a:ln w="9525">
            <a:solidFill>
              <a:srgbClr val="0E172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18120" y="3246120"/>
            <a:ext cx="0" cy="2240280"/>
          </a:xfrm>
          <a:prstGeom prst="line">
            <a:avLst/>
          </a:prstGeom>
          <a:noFill/>
          <a:ln w="9525">
            <a:solidFill>
              <a:srgbClr val="0E17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5577840"/>
            <a:ext cx="3776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 rot="-5400000">
            <a:off x="7424928" y="3246120"/>
            <a:ext cx="3657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762238" y="5486400"/>
            <a:ext cx="0" cy="-461234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26209" y="5486400"/>
            <a:ext cx="472059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62238" y="4432151"/>
            <a:ext cx="0" cy="-527125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26209" y="3905026"/>
            <a:ext cx="472059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90179" y="4432151"/>
            <a:ext cx="944118" cy="593015"/>
          </a:xfrm>
          <a:prstGeom prst="rect">
            <a:avLst/>
          </a:prstGeom>
          <a:solidFill>
            <a:srgbClr val="FFFFFF"/>
          </a:solidFill>
          <a:ln w="12700">
            <a:solidFill>
              <a:srgbClr val="0E172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90179" y="4761604"/>
            <a:ext cx="944118" cy="0"/>
          </a:xfrm>
          <a:prstGeom prst="line">
            <a:avLst/>
          </a:prstGeom>
          <a:noFill/>
          <a:ln w="19050">
            <a:solidFill>
              <a:srgbClr val="0E17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5532120"/>
            <a:ext cx="18882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650474" y="4893385"/>
            <a:ext cx="0" cy="-395344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14445" y="4893385"/>
            <a:ext cx="472059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650474" y="3839135"/>
            <a:ext cx="0" cy="-593015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14445" y="3246120"/>
            <a:ext cx="472059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78415" y="3839135"/>
            <a:ext cx="944118" cy="658906"/>
          </a:xfrm>
          <a:prstGeom prst="rect">
            <a:avLst/>
          </a:prstGeom>
          <a:solidFill>
            <a:srgbClr val="F09042"/>
          </a:solidFill>
          <a:ln w="12700">
            <a:solidFill>
              <a:srgbClr val="F090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178415" y="4168588"/>
            <a:ext cx="944118" cy="0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06356" y="5532120"/>
            <a:ext cx="18882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jury va demander : « Pourquoi Welch et pas Student ? » Réponse blindée : Welch est valide sans condition, Student exige l'égalité des variances.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 · Module 2 · Heaven Elijah Service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 GROUPES INDÉPENDANTS · QUANTITATIF NON-NORMAL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100" kern="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quand la normalité décroche.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Shapiro rejette et que le QQ-plot le confirme, Mann-Whitney prend le relais. Pas d'hypothèse de normalité — compare les rangs au lieu des moyennes. Aussi appelé Wilcoxon rank-sum.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3931920" cy="2926080"/>
          </a:xfrm>
          <a:prstGeom prst="roundRect">
            <a:avLst>
              <a:gd name="adj" fmla="val 1563"/>
            </a:avLst>
          </a:prstGeom>
          <a:solidFill>
            <a:srgbClr val="1A2541"/>
          </a:solidFill>
          <a:ln w="6350">
            <a:solidFill>
              <a:srgbClr val="F090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035808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F0904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3580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Mann-Whitney /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Wilcoxon rank-sum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wilcox.test(score ~ groupe,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data = donnees,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conf.int = TRUE)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library(rstatix)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wilcox_effsize(donnees,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score ~ groupe)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2926080"/>
            <a:ext cx="2560320" cy="2926080"/>
          </a:xfrm>
          <a:prstGeom prst="roundRect">
            <a:avLst>
              <a:gd name="adj" fmla="val 1786"/>
            </a:avLst>
          </a:prstGeom>
          <a:solidFill>
            <a:srgbClr val="1A2541"/>
          </a:solidFill>
          <a:ln w="6350">
            <a:solidFill>
              <a:srgbClr val="6B728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846320" y="3017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92040" y="3291840"/>
            <a:ext cx="2286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Wilcoxon rank-sum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312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0.018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95% CI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[-2.5, -0.3]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 r = 0.31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(medium)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06640" y="2926080"/>
            <a:ext cx="4325112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2962656"/>
            <a:ext cx="4142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· médianes comparées (données asymétriques)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18120" y="5486400"/>
            <a:ext cx="3776472" cy="0"/>
          </a:xfrm>
          <a:prstGeom prst="line">
            <a:avLst/>
          </a:prstGeom>
          <a:noFill/>
          <a:ln w="9525">
            <a:solidFill>
              <a:srgbClr val="0E172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18120" y="3246120"/>
            <a:ext cx="0" cy="2240280"/>
          </a:xfrm>
          <a:prstGeom prst="line">
            <a:avLst/>
          </a:prstGeom>
          <a:noFill/>
          <a:ln w="9525">
            <a:solidFill>
              <a:srgbClr val="0E17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5577840"/>
            <a:ext cx="3776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 rot="-5400000">
            <a:off x="7424928" y="3246120"/>
            <a:ext cx="3657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762238" y="5486400"/>
            <a:ext cx="0" cy="-179222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26209" y="5486400"/>
            <a:ext cx="472059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62238" y="4702302"/>
            <a:ext cx="0" cy="-100812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26209" y="3694176"/>
            <a:ext cx="472059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90179" y="4702302"/>
            <a:ext cx="944118" cy="604876"/>
          </a:xfrm>
          <a:prstGeom prst="rect">
            <a:avLst/>
          </a:prstGeom>
          <a:solidFill>
            <a:srgbClr val="FFFFFF"/>
          </a:solidFill>
          <a:ln w="12700">
            <a:solidFill>
              <a:srgbClr val="0E172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90179" y="5150358"/>
            <a:ext cx="944118" cy="0"/>
          </a:xfrm>
          <a:prstGeom prst="line">
            <a:avLst/>
          </a:prstGeom>
          <a:noFill/>
          <a:ln w="19050">
            <a:solidFill>
              <a:srgbClr val="0E17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5532120"/>
            <a:ext cx="18882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650474" y="5374386"/>
            <a:ext cx="0" cy="-29123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14445" y="5374386"/>
            <a:ext cx="472059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650474" y="4254246"/>
            <a:ext cx="0" cy="-100812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14445" y="3246120"/>
            <a:ext cx="472059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78415" y="4254246"/>
            <a:ext cx="944118" cy="828904"/>
          </a:xfrm>
          <a:prstGeom prst="rect">
            <a:avLst/>
          </a:prstGeom>
          <a:solidFill>
            <a:srgbClr val="F09042"/>
          </a:solidFill>
          <a:ln w="12700">
            <a:solidFill>
              <a:srgbClr val="F090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178415" y="4814316"/>
            <a:ext cx="944118" cy="0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06356" y="5532120"/>
            <a:ext cx="18882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Vous avez utilisé Mann-Whitney parce que… ? » Réponse : « Shapiro p = 0.003, QQ-plot écart aux extrêmes — donc test non paramétrique. »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 · Module 2 · Heaven Elijah Service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DONNÉES APPARIÉES · LE MÊME SUJET MESURÉ DEUX FOIS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100" kern="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/ après, droite / gauche, deux observateurs.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L'erreur N°1 sur les données appariées : appliquer un t-test indépendant. Tu détruis l'information de pairage et tu perds en puissance. Le bon test dépend de la normalité — des DIFFÉRENCES, pas des valeurs brutes.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5486400" cy="2560320"/>
          </a:xfrm>
          <a:prstGeom prst="roundRect">
            <a:avLst>
              <a:gd name="adj" fmla="val 1786"/>
            </a:avLst>
          </a:prstGeom>
          <a:solidFill>
            <a:srgbClr val="1A2541"/>
          </a:solidFill>
          <a:ln w="6350">
            <a:solidFill>
              <a:srgbClr val="F090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401568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F0904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40156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 différences normales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t.test(donnees$apres,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donnees$avant,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paired = TRUE)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Vérif normalité des diff.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 &lt;- donnees$apres -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donnees$avant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shapiro.test(diff)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0" y="3291840"/>
            <a:ext cx="5330952" cy="2560320"/>
          </a:xfrm>
          <a:prstGeom prst="roundRect">
            <a:avLst>
              <a:gd name="adj" fmla="val 1786"/>
            </a:avLst>
          </a:prstGeom>
          <a:solidFill>
            <a:srgbClr val="1A2541"/>
          </a:solidFill>
          <a:ln w="6350">
            <a:solidFill>
              <a:srgbClr val="F090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3401568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F09042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340156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3749040"/>
            <a:ext cx="505663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 différences non-normales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wilcox.test(donnees$apres,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donnees$avant,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paired = TRUE,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conf.int = TRUE)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Wilcoxon signed-rank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(à ne pas confondre avec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Wilcoxon rank-sum)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Shapiro sur la SÉRIE DES DIFFÉRENCES (apres − avant), pas sur chaque mesure séparément. C'est cette série qui doit être normale pour le t-test apparié.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 · Module 2 · Heaven Elijah Service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≥ 3 GROUPES · QUANTITATIF NORMAL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100" kern="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dit « ça bouge ». Tukey dit « où ».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répond à « y a-t-il une différence quelque part ? ». Si oui, elle ne te dit pas entre quels groupes — c'est Tukey HSD (post-hoc) qui le précise. Sans Tukey, ton ANOVA significative n'est pas utilisable pour conclure.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3931920" cy="2926080"/>
          </a:xfrm>
          <a:prstGeom prst="roundRect">
            <a:avLst>
              <a:gd name="adj" fmla="val 1563"/>
            </a:avLst>
          </a:prstGeom>
          <a:solidFill>
            <a:srgbClr val="1A2541"/>
          </a:solidFill>
          <a:ln w="6350">
            <a:solidFill>
              <a:srgbClr val="F090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035808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F0904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3580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Vérif préalables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library(car)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leveneTest(score ~ region,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data = donnees)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ANOVA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modele &lt;- aov(score ~ region,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data = donnees)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summary(modele)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Post-hoc Tukey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TukeyHSD(modele)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2926080"/>
            <a:ext cx="2560320" cy="2926080"/>
          </a:xfrm>
          <a:prstGeom prst="roundRect">
            <a:avLst>
              <a:gd name="adj" fmla="val 1786"/>
            </a:avLst>
          </a:prstGeom>
          <a:solidFill>
            <a:srgbClr val="1A2541"/>
          </a:solidFill>
          <a:ln w="6350">
            <a:solidFill>
              <a:srgbClr val="6B728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846320" y="3017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92040" y="3291840"/>
            <a:ext cx="2286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ANOVA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8.31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0.0006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Tukey HSD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B-A  +1.2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 = 0.012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C-A  +2.4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 &lt; 0.001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C-B  +1.2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 = 0.014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06640" y="2926080"/>
            <a:ext cx="4325112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2962656"/>
            <a:ext cx="4142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par région · A &lt; B &lt; 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18120" y="5486400"/>
            <a:ext cx="3776472" cy="0"/>
          </a:xfrm>
          <a:prstGeom prst="line">
            <a:avLst/>
          </a:prstGeom>
          <a:noFill/>
          <a:ln w="9525">
            <a:solidFill>
              <a:srgbClr val="0E172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18120" y="3246120"/>
            <a:ext cx="0" cy="2240280"/>
          </a:xfrm>
          <a:prstGeom prst="line">
            <a:avLst/>
          </a:prstGeom>
          <a:noFill/>
          <a:ln w="9525">
            <a:solidFill>
              <a:srgbClr val="0E17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5577840"/>
            <a:ext cx="3776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 rot="-5400000">
            <a:off x="7424928" y="3246120"/>
            <a:ext cx="3657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447532" y="5486400"/>
            <a:ext cx="0" cy="-37338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90179" y="5486400"/>
            <a:ext cx="314706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47532" y="4573693"/>
            <a:ext cx="0" cy="-331893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90179" y="4241800"/>
            <a:ext cx="314706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2826" y="4573693"/>
            <a:ext cx="629412" cy="539327"/>
          </a:xfrm>
          <a:prstGeom prst="rect">
            <a:avLst/>
          </a:prstGeom>
          <a:solidFill>
            <a:srgbClr val="FFFFFF"/>
          </a:solidFill>
          <a:ln w="12700">
            <a:solidFill>
              <a:srgbClr val="0E172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2826" y="4864100"/>
            <a:ext cx="629412" cy="0"/>
          </a:xfrm>
          <a:prstGeom prst="line">
            <a:avLst/>
          </a:prstGeom>
          <a:noFill/>
          <a:ln w="19050">
            <a:solidFill>
              <a:srgbClr val="0E17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5532120"/>
            <a:ext cx="1258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706356" y="5071533"/>
            <a:ext cx="0" cy="-414867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49003" y="5071533"/>
            <a:ext cx="314706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06356" y="4034367"/>
            <a:ext cx="0" cy="-331893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49003" y="3702473"/>
            <a:ext cx="314706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91650" y="4034367"/>
            <a:ext cx="629412" cy="62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172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91650" y="4366260"/>
            <a:ext cx="629412" cy="0"/>
          </a:xfrm>
          <a:prstGeom prst="line">
            <a:avLst/>
          </a:prstGeom>
          <a:noFill/>
          <a:ln w="19050">
            <a:solidFill>
              <a:srgbClr val="0E172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76944" y="5532120"/>
            <a:ext cx="1258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0965180" y="4656667"/>
            <a:ext cx="0" cy="-49784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07827" y="4656667"/>
            <a:ext cx="314706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65180" y="3578013"/>
            <a:ext cx="0" cy="-331893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807827" y="3246120"/>
            <a:ext cx="314706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650474" y="3578013"/>
            <a:ext cx="629412" cy="580813"/>
          </a:xfrm>
          <a:prstGeom prst="rect">
            <a:avLst/>
          </a:prstGeom>
          <a:solidFill>
            <a:srgbClr val="F09042"/>
          </a:solidFill>
          <a:ln w="12700">
            <a:solidFill>
              <a:srgbClr val="F0904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650474" y="3868420"/>
            <a:ext cx="629412" cy="0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335768" y="5532120"/>
            <a:ext cx="1258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Levene rejette : ANOVA de Welch (oneway.test) puis Games-Howell en post-hoc. Plus robuste sur variances inégales.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 · Module 2 · Heaven Elijah Service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≥ 3 GROUPES · QUANTITATIF NON-NORMAL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100" kern="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L'alternative non-paramétrique de l'ANOVA.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logique que ANOVA, sans hypothèse de normalité. Si Kruskal-Wallis rejette H₀, le post-hoc Dunn dit entre quels groupes, avec ajustement pour les comparaisons multiples.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3931920" cy="2926080"/>
          </a:xfrm>
          <a:prstGeom prst="roundRect">
            <a:avLst>
              <a:gd name="adj" fmla="val 1563"/>
            </a:avLst>
          </a:prstGeom>
          <a:solidFill>
            <a:srgbClr val="1A2541"/>
          </a:solidFill>
          <a:ln w="6350">
            <a:solidFill>
              <a:srgbClr val="F090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035808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F0904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3580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Kruskal-Wallis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kruskal.test(score ~ region,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data = donnees)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Post-hoc Dunn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library(dunn.test)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dunn.test(donnees$score,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donnees$region,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method = "bh")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2926080"/>
            <a:ext cx="2560320" cy="2926080"/>
          </a:xfrm>
          <a:prstGeom prst="roundRect">
            <a:avLst>
              <a:gd name="adj" fmla="val 1786"/>
            </a:avLst>
          </a:prstGeom>
          <a:solidFill>
            <a:srgbClr val="1A2541"/>
          </a:solidFill>
          <a:ln w="6350">
            <a:solidFill>
              <a:srgbClr val="6B728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846320" y="3017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92040" y="3291840"/>
            <a:ext cx="2286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Kruskal-Wallis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chi² = 14.2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2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0.0008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Dunn (BH adjusted)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A-B  p = 0.034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A-C  p = 0.0009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B-C  p = 0.052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06640" y="2926080"/>
            <a:ext cx="4325112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2962656"/>
            <a:ext cx="4142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· 3 régions, distributions asymétriques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18120" y="5486400"/>
            <a:ext cx="3776472" cy="0"/>
          </a:xfrm>
          <a:prstGeom prst="line">
            <a:avLst/>
          </a:prstGeom>
          <a:noFill/>
          <a:ln w="9525">
            <a:solidFill>
              <a:srgbClr val="0E172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18120" y="3246120"/>
            <a:ext cx="0" cy="2240280"/>
          </a:xfrm>
          <a:prstGeom prst="line">
            <a:avLst/>
          </a:prstGeom>
          <a:noFill/>
          <a:ln w="9525">
            <a:solidFill>
              <a:srgbClr val="0E17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5577840"/>
            <a:ext cx="3776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 rot="-5400000">
            <a:off x="7424928" y="3246120"/>
            <a:ext cx="3657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447532" y="5486400"/>
            <a:ext cx="0" cy="-32004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90179" y="5486400"/>
            <a:ext cx="314706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47532" y="4632960"/>
            <a:ext cx="0" cy="-74676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90179" y="3886200"/>
            <a:ext cx="314706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2826" y="4632960"/>
            <a:ext cx="629412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172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2826" y="4953000"/>
            <a:ext cx="629412" cy="0"/>
          </a:xfrm>
          <a:prstGeom prst="line">
            <a:avLst/>
          </a:prstGeom>
          <a:noFill/>
          <a:ln w="19050">
            <a:solidFill>
              <a:srgbClr val="0E17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5532120"/>
            <a:ext cx="1258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706356" y="5273040"/>
            <a:ext cx="0" cy="-42672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49003" y="5273040"/>
            <a:ext cx="314706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06356" y="4206240"/>
            <a:ext cx="0" cy="-42672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49003" y="3779520"/>
            <a:ext cx="314706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91650" y="4206240"/>
            <a:ext cx="62941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172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91650" y="4526280"/>
            <a:ext cx="629412" cy="0"/>
          </a:xfrm>
          <a:prstGeom prst="line">
            <a:avLst/>
          </a:prstGeom>
          <a:noFill/>
          <a:ln w="19050">
            <a:solidFill>
              <a:srgbClr val="0E172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76944" y="5532120"/>
            <a:ext cx="1258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0965180" y="5059680"/>
            <a:ext cx="0" cy="-53340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07827" y="5059680"/>
            <a:ext cx="314706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65180" y="3779520"/>
            <a:ext cx="0" cy="-53340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807827" y="3246120"/>
            <a:ext cx="314706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650474" y="3779520"/>
            <a:ext cx="629412" cy="746760"/>
          </a:xfrm>
          <a:prstGeom prst="rect">
            <a:avLst/>
          </a:prstGeom>
          <a:solidFill>
            <a:srgbClr val="F09042"/>
          </a:solidFill>
          <a:ln w="12700">
            <a:solidFill>
              <a:srgbClr val="F0904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650474" y="4099560"/>
            <a:ext cx="629412" cy="0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335768" y="5532120"/>
            <a:ext cx="1258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Dunn est l'équivalent de Tukey pour la version non-paramétrique. `method = "bh"` applique BH pour les comparaisons multiples.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 · Module 2 · Heaven Elijah Service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 PROPORTIONS · GRANDS EFFECTIFS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100" kern="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Chi² d'indépendance.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deux proportions (succès vs échec, exposés vs non-exposés). Hypothèse à vérifier : effectifs attendus ≥ 5 dans chaque cellule. Sinon, Fisher exact (slide suivante).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3931920" cy="2926080"/>
          </a:xfrm>
          <a:prstGeom prst="roundRect">
            <a:avLst>
              <a:gd name="adj" fmla="val 1563"/>
            </a:avLst>
          </a:prstGeom>
          <a:solidFill>
            <a:srgbClr val="1A2541"/>
          </a:solidFill>
          <a:ln w="6350">
            <a:solidFill>
              <a:srgbClr val="F090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035808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F0904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3580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Tableau de contingence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 &lt;- table(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donnees$exposition,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donnees$maladie)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Chi² + OR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chisq.test(tab)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library(epitools)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oddsratio(tab)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2926080"/>
            <a:ext cx="2560320" cy="2926080"/>
          </a:xfrm>
          <a:prstGeom prst="roundRect">
            <a:avLst>
              <a:gd name="adj" fmla="val 1786"/>
            </a:avLst>
          </a:prstGeom>
          <a:solidFill>
            <a:srgbClr val="1A2541"/>
          </a:solidFill>
          <a:ln w="6350">
            <a:solidFill>
              <a:srgbClr val="6B728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846320" y="3017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92040" y="3291840"/>
            <a:ext cx="2286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Pearson Chi² test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X² = 12.3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1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0.0005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Odds Ratio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2.45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IC95%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[1.51, 3.97]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06640" y="2926080"/>
            <a:ext cx="4325112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2962656"/>
            <a:ext cx="4142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Exposés vs non-exposés (n = 100 chacun)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676571" y="3248589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17" name="Shape 15"/>
          <p:cNvSpPr/>
          <p:nvPr/>
        </p:nvSpPr>
        <p:spPr>
          <a:xfrm>
            <a:off x="8081650" y="3248589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18" name="Shape 16"/>
          <p:cNvSpPr/>
          <p:nvPr/>
        </p:nvSpPr>
        <p:spPr>
          <a:xfrm>
            <a:off x="8486729" y="3248589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19" name="Shape 17"/>
          <p:cNvSpPr/>
          <p:nvPr/>
        </p:nvSpPr>
        <p:spPr>
          <a:xfrm>
            <a:off x="8891808" y="3248589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20" name="Shape 18"/>
          <p:cNvSpPr/>
          <p:nvPr/>
        </p:nvSpPr>
        <p:spPr>
          <a:xfrm>
            <a:off x="9296888" y="3248589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21" name="Shape 19"/>
          <p:cNvSpPr/>
          <p:nvPr/>
        </p:nvSpPr>
        <p:spPr>
          <a:xfrm>
            <a:off x="9701967" y="3248589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07046" y="3248589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23" name="Shape 21"/>
          <p:cNvSpPr/>
          <p:nvPr/>
        </p:nvSpPr>
        <p:spPr>
          <a:xfrm>
            <a:off x="10512125" y="3248589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24" name="Shape 22"/>
          <p:cNvSpPr/>
          <p:nvPr/>
        </p:nvSpPr>
        <p:spPr>
          <a:xfrm>
            <a:off x="10917204" y="3248589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25" name="Shape 23"/>
          <p:cNvSpPr/>
          <p:nvPr/>
        </p:nvSpPr>
        <p:spPr>
          <a:xfrm>
            <a:off x="11322284" y="3248589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26" name="Shape 24"/>
          <p:cNvSpPr/>
          <p:nvPr/>
        </p:nvSpPr>
        <p:spPr>
          <a:xfrm>
            <a:off x="7676571" y="3447928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27" name="Shape 25"/>
          <p:cNvSpPr/>
          <p:nvPr/>
        </p:nvSpPr>
        <p:spPr>
          <a:xfrm>
            <a:off x="8081650" y="3447928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28" name="Shape 26"/>
          <p:cNvSpPr/>
          <p:nvPr/>
        </p:nvSpPr>
        <p:spPr>
          <a:xfrm>
            <a:off x="8486729" y="3447928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29" name="Shape 27"/>
          <p:cNvSpPr/>
          <p:nvPr/>
        </p:nvSpPr>
        <p:spPr>
          <a:xfrm>
            <a:off x="8891808" y="3447928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30" name="Shape 28"/>
          <p:cNvSpPr/>
          <p:nvPr/>
        </p:nvSpPr>
        <p:spPr>
          <a:xfrm>
            <a:off x="9296888" y="3447928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31" name="Shape 29"/>
          <p:cNvSpPr/>
          <p:nvPr/>
        </p:nvSpPr>
        <p:spPr>
          <a:xfrm>
            <a:off x="9701967" y="3447928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07046" y="3447928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33" name="Shape 31"/>
          <p:cNvSpPr/>
          <p:nvPr/>
        </p:nvSpPr>
        <p:spPr>
          <a:xfrm>
            <a:off x="10512125" y="3447928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34" name="Shape 32"/>
          <p:cNvSpPr/>
          <p:nvPr/>
        </p:nvSpPr>
        <p:spPr>
          <a:xfrm>
            <a:off x="10917204" y="3447928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35" name="Shape 33"/>
          <p:cNvSpPr/>
          <p:nvPr/>
        </p:nvSpPr>
        <p:spPr>
          <a:xfrm>
            <a:off x="11322284" y="3447928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36" name="Shape 34"/>
          <p:cNvSpPr/>
          <p:nvPr/>
        </p:nvSpPr>
        <p:spPr>
          <a:xfrm>
            <a:off x="7676571" y="3647267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37" name="Shape 35"/>
          <p:cNvSpPr/>
          <p:nvPr/>
        </p:nvSpPr>
        <p:spPr>
          <a:xfrm>
            <a:off x="8081650" y="3647267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38" name="Shape 36"/>
          <p:cNvSpPr/>
          <p:nvPr/>
        </p:nvSpPr>
        <p:spPr>
          <a:xfrm>
            <a:off x="8486729" y="3647267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39" name="Shape 37"/>
          <p:cNvSpPr/>
          <p:nvPr/>
        </p:nvSpPr>
        <p:spPr>
          <a:xfrm>
            <a:off x="8891808" y="3647267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40" name="Shape 38"/>
          <p:cNvSpPr/>
          <p:nvPr/>
        </p:nvSpPr>
        <p:spPr>
          <a:xfrm>
            <a:off x="9296888" y="3647267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41" name="Shape 39"/>
          <p:cNvSpPr/>
          <p:nvPr/>
        </p:nvSpPr>
        <p:spPr>
          <a:xfrm>
            <a:off x="9701967" y="3647267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42" name="Shape 40"/>
          <p:cNvSpPr/>
          <p:nvPr/>
        </p:nvSpPr>
        <p:spPr>
          <a:xfrm>
            <a:off x="10107046" y="3647267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43" name="Shape 41"/>
          <p:cNvSpPr/>
          <p:nvPr/>
        </p:nvSpPr>
        <p:spPr>
          <a:xfrm>
            <a:off x="10512125" y="3647267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44" name="Shape 42"/>
          <p:cNvSpPr/>
          <p:nvPr/>
        </p:nvSpPr>
        <p:spPr>
          <a:xfrm>
            <a:off x="10917204" y="3647267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45" name="Shape 43"/>
          <p:cNvSpPr/>
          <p:nvPr/>
        </p:nvSpPr>
        <p:spPr>
          <a:xfrm>
            <a:off x="11322284" y="3647267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46" name="Shape 44"/>
          <p:cNvSpPr/>
          <p:nvPr/>
        </p:nvSpPr>
        <p:spPr>
          <a:xfrm>
            <a:off x="7676571" y="3846606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47" name="Shape 45"/>
          <p:cNvSpPr/>
          <p:nvPr/>
        </p:nvSpPr>
        <p:spPr>
          <a:xfrm>
            <a:off x="8081650" y="3846606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48" name="Shape 46"/>
          <p:cNvSpPr/>
          <p:nvPr/>
        </p:nvSpPr>
        <p:spPr>
          <a:xfrm>
            <a:off x="8486729" y="3846606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49" name="Shape 47"/>
          <p:cNvSpPr/>
          <p:nvPr/>
        </p:nvSpPr>
        <p:spPr>
          <a:xfrm>
            <a:off x="8891808" y="3846606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50" name="Shape 48"/>
          <p:cNvSpPr/>
          <p:nvPr/>
        </p:nvSpPr>
        <p:spPr>
          <a:xfrm>
            <a:off x="9296888" y="3846606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51" name="Shape 49"/>
          <p:cNvSpPr/>
          <p:nvPr/>
        </p:nvSpPr>
        <p:spPr>
          <a:xfrm>
            <a:off x="9701967" y="3846606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52" name="Shape 50"/>
          <p:cNvSpPr/>
          <p:nvPr/>
        </p:nvSpPr>
        <p:spPr>
          <a:xfrm>
            <a:off x="10107046" y="3846606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53" name="Shape 51"/>
          <p:cNvSpPr/>
          <p:nvPr/>
        </p:nvSpPr>
        <p:spPr>
          <a:xfrm>
            <a:off x="10512125" y="3846606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54" name="Shape 52"/>
          <p:cNvSpPr/>
          <p:nvPr/>
        </p:nvSpPr>
        <p:spPr>
          <a:xfrm>
            <a:off x="10917204" y="3846606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55" name="Shape 53"/>
          <p:cNvSpPr/>
          <p:nvPr/>
        </p:nvSpPr>
        <p:spPr>
          <a:xfrm>
            <a:off x="11322284" y="3846606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56" name="Shape 54"/>
          <p:cNvSpPr/>
          <p:nvPr/>
        </p:nvSpPr>
        <p:spPr>
          <a:xfrm>
            <a:off x="7676571" y="4045946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57" name="Shape 55"/>
          <p:cNvSpPr/>
          <p:nvPr/>
        </p:nvSpPr>
        <p:spPr>
          <a:xfrm>
            <a:off x="8081650" y="4045946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58" name="Shape 56"/>
          <p:cNvSpPr/>
          <p:nvPr/>
        </p:nvSpPr>
        <p:spPr>
          <a:xfrm>
            <a:off x="8486729" y="4045946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59" name="Shape 57"/>
          <p:cNvSpPr/>
          <p:nvPr/>
        </p:nvSpPr>
        <p:spPr>
          <a:xfrm>
            <a:off x="8891808" y="4045946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60" name="Shape 58"/>
          <p:cNvSpPr/>
          <p:nvPr/>
        </p:nvSpPr>
        <p:spPr>
          <a:xfrm>
            <a:off x="9296888" y="4045946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61" name="Shape 59"/>
          <p:cNvSpPr/>
          <p:nvPr/>
        </p:nvSpPr>
        <p:spPr>
          <a:xfrm>
            <a:off x="9701967" y="4045946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62" name="Shape 60"/>
          <p:cNvSpPr/>
          <p:nvPr/>
        </p:nvSpPr>
        <p:spPr>
          <a:xfrm>
            <a:off x="10107046" y="4045946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63" name="Shape 61"/>
          <p:cNvSpPr/>
          <p:nvPr/>
        </p:nvSpPr>
        <p:spPr>
          <a:xfrm>
            <a:off x="10512125" y="4045946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64" name="Shape 62"/>
          <p:cNvSpPr/>
          <p:nvPr/>
        </p:nvSpPr>
        <p:spPr>
          <a:xfrm>
            <a:off x="10917204" y="4045946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65" name="Shape 63"/>
          <p:cNvSpPr/>
          <p:nvPr/>
        </p:nvSpPr>
        <p:spPr>
          <a:xfrm>
            <a:off x="11322284" y="4045946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66" name="Shape 64"/>
          <p:cNvSpPr/>
          <p:nvPr/>
        </p:nvSpPr>
        <p:spPr>
          <a:xfrm>
            <a:off x="7676571" y="4245285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67" name="Shape 65"/>
          <p:cNvSpPr/>
          <p:nvPr/>
        </p:nvSpPr>
        <p:spPr>
          <a:xfrm>
            <a:off x="8081650" y="4245285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68" name="Shape 66"/>
          <p:cNvSpPr/>
          <p:nvPr/>
        </p:nvSpPr>
        <p:spPr>
          <a:xfrm>
            <a:off x="8486729" y="4245285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69" name="Shape 67"/>
          <p:cNvSpPr/>
          <p:nvPr/>
        </p:nvSpPr>
        <p:spPr>
          <a:xfrm>
            <a:off x="8891808" y="4245285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70" name="Shape 68"/>
          <p:cNvSpPr/>
          <p:nvPr/>
        </p:nvSpPr>
        <p:spPr>
          <a:xfrm>
            <a:off x="9296888" y="4245285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71" name="Shape 69"/>
          <p:cNvSpPr/>
          <p:nvPr/>
        </p:nvSpPr>
        <p:spPr>
          <a:xfrm>
            <a:off x="9701967" y="4245285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72" name="Shape 70"/>
          <p:cNvSpPr/>
          <p:nvPr/>
        </p:nvSpPr>
        <p:spPr>
          <a:xfrm>
            <a:off x="10107046" y="4245285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73" name="Shape 71"/>
          <p:cNvSpPr/>
          <p:nvPr/>
        </p:nvSpPr>
        <p:spPr>
          <a:xfrm>
            <a:off x="10512125" y="4245285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74" name="Shape 72"/>
          <p:cNvSpPr/>
          <p:nvPr/>
        </p:nvSpPr>
        <p:spPr>
          <a:xfrm>
            <a:off x="10917204" y="4245285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75" name="Shape 73"/>
          <p:cNvSpPr/>
          <p:nvPr/>
        </p:nvSpPr>
        <p:spPr>
          <a:xfrm>
            <a:off x="11322284" y="4245285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76" name="Shape 74"/>
          <p:cNvSpPr/>
          <p:nvPr/>
        </p:nvSpPr>
        <p:spPr>
          <a:xfrm>
            <a:off x="7676571" y="4444624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77" name="Shape 75"/>
          <p:cNvSpPr/>
          <p:nvPr/>
        </p:nvSpPr>
        <p:spPr>
          <a:xfrm>
            <a:off x="8081650" y="4444624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78" name="Shape 76"/>
          <p:cNvSpPr/>
          <p:nvPr/>
        </p:nvSpPr>
        <p:spPr>
          <a:xfrm>
            <a:off x="8486729" y="4444624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79" name="Shape 77"/>
          <p:cNvSpPr/>
          <p:nvPr/>
        </p:nvSpPr>
        <p:spPr>
          <a:xfrm>
            <a:off x="8891808" y="4444624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80" name="Shape 78"/>
          <p:cNvSpPr/>
          <p:nvPr/>
        </p:nvSpPr>
        <p:spPr>
          <a:xfrm>
            <a:off x="9296888" y="4444624"/>
            <a:ext cx="139537" cy="139537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81" name="Shape 79"/>
          <p:cNvSpPr/>
          <p:nvPr/>
        </p:nvSpPr>
        <p:spPr>
          <a:xfrm>
            <a:off x="9701967" y="4444624"/>
            <a:ext cx="139537" cy="139537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82" name="Shape 80"/>
          <p:cNvSpPr/>
          <p:nvPr/>
        </p:nvSpPr>
        <p:spPr>
          <a:xfrm>
            <a:off x="10107046" y="4444624"/>
            <a:ext cx="139537" cy="139537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83" name="Shape 81"/>
          <p:cNvSpPr/>
          <p:nvPr/>
        </p:nvSpPr>
        <p:spPr>
          <a:xfrm>
            <a:off x="10512125" y="4444624"/>
            <a:ext cx="139537" cy="139537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84" name="Shape 82"/>
          <p:cNvSpPr/>
          <p:nvPr/>
        </p:nvSpPr>
        <p:spPr>
          <a:xfrm>
            <a:off x="10917204" y="4444624"/>
            <a:ext cx="139537" cy="139537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85" name="Shape 83"/>
          <p:cNvSpPr/>
          <p:nvPr/>
        </p:nvSpPr>
        <p:spPr>
          <a:xfrm>
            <a:off x="11322284" y="4444624"/>
            <a:ext cx="139537" cy="139537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86" name="Shape 84"/>
          <p:cNvSpPr/>
          <p:nvPr/>
        </p:nvSpPr>
        <p:spPr>
          <a:xfrm>
            <a:off x="7676571" y="4643963"/>
            <a:ext cx="139537" cy="139537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87" name="Shape 85"/>
          <p:cNvSpPr/>
          <p:nvPr/>
        </p:nvSpPr>
        <p:spPr>
          <a:xfrm>
            <a:off x="8081650" y="4643963"/>
            <a:ext cx="139537" cy="139537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88" name="Shape 86"/>
          <p:cNvSpPr/>
          <p:nvPr/>
        </p:nvSpPr>
        <p:spPr>
          <a:xfrm>
            <a:off x="8486729" y="4643963"/>
            <a:ext cx="139537" cy="139537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89" name="Shape 87"/>
          <p:cNvSpPr/>
          <p:nvPr/>
        </p:nvSpPr>
        <p:spPr>
          <a:xfrm>
            <a:off x="8891808" y="4643963"/>
            <a:ext cx="139537" cy="139537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90" name="Shape 88"/>
          <p:cNvSpPr/>
          <p:nvPr/>
        </p:nvSpPr>
        <p:spPr>
          <a:xfrm>
            <a:off x="9296888" y="4643963"/>
            <a:ext cx="139537" cy="139537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91" name="Shape 89"/>
          <p:cNvSpPr/>
          <p:nvPr/>
        </p:nvSpPr>
        <p:spPr>
          <a:xfrm>
            <a:off x="9701967" y="4643963"/>
            <a:ext cx="139537" cy="139537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92" name="Shape 90"/>
          <p:cNvSpPr/>
          <p:nvPr/>
        </p:nvSpPr>
        <p:spPr>
          <a:xfrm>
            <a:off x="10107046" y="4643963"/>
            <a:ext cx="139537" cy="139537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93" name="Shape 91"/>
          <p:cNvSpPr/>
          <p:nvPr/>
        </p:nvSpPr>
        <p:spPr>
          <a:xfrm>
            <a:off x="10512125" y="4643963"/>
            <a:ext cx="139537" cy="139537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94" name="Shape 92"/>
          <p:cNvSpPr/>
          <p:nvPr/>
        </p:nvSpPr>
        <p:spPr>
          <a:xfrm>
            <a:off x="10917204" y="4643963"/>
            <a:ext cx="139537" cy="139537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95" name="Shape 93"/>
          <p:cNvSpPr/>
          <p:nvPr/>
        </p:nvSpPr>
        <p:spPr>
          <a:xfrm>
            <a:off x="11322284" y="4643963"/>
            <a:ext cx="139537" cy="139537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96" name="Shape 94"/>
          <p:cNvSpPr/>
          <p:nvPr/>
        </p:nvSpPr>
        <p:spPr>
          <a:xfrm>
            <a:off x="7676571" y="4843302"/>
            <a:ext cx="139537" cy="139537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97" name="Shape 95"/>
          <p:cNvSpPr/>
          <p:nvPr/>
        </p:nvSpPr>
        <p:spPr>
          <a:xfrm>
            <a:off x="8081650" y="4843302"/>
            <a:ext cx="139537" cy="139537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98" name="Shape 96"/>
          <p:cNvSpPr/>
          <p:nvPr/>
        </p:nvSpPr>
        <p:spPr>
          <a:xfrm>
            <a:off x="8486729" y="4843302"/>
            <a:ext cx="139537" cy="139537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99" name="Shape 97"/>
          <p:cNvSpPr/>
          <p:nvPr/>
        </p:nvSpPr>
        <p:spPr>
          <a:xfrm>
            <a:off x="8891808" y="4843302"/>
            <a:ext cx="139537" cy="139537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100" name="Shape 98"/>
          <p:cNvSpPr/>
          <p:nvPr/>
        </p:nvSpPr>
        <p:spPr>
          <a:xfrm>
            <a:off x="9296888" y="4843302"/>
            <a:ext cx="139537" cy="139537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101" name="Shape 99"/>
          <p:cNvSpPr/>
          <p:nvPr/>
        </p:nvSpPr>
        <p:spPr>
          <a:xfrm>
            <a:off x="9701967" y="4843302"/>
            <a:ext cx="139537" cy="139537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0107046" y="4843302"/>
            <a:ext cx="139537" cy="139537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512125" y="4843302"/>
            <a:ext cx="139537" cy="139537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917204" y="4843302"/>
            <a:ext cx="139537" cy="139537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1322284" y="4843302"/>
            <a:ext cx="139537" cy="139537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106" name="Shape 104"/>
          <p:cNvSpPr/>
          <p:nvPr/>
        </p:nvSpPr>
        <p:spPr>
          <a:xfrm>
            <a:off x="7676571" y="5042642"/>
            <a:ext cx="139537" cy="139537"/>
          </a:xfrm>
          <a:prstGeom prst="ellipse">
            <a:avLst/>
          </a:prstGeom>
          <a:solidFill>
            <a:srgbClr val="F09042"/>
          </a:solidFill>
          <a:ln/>
        </p:spPr>
      </p:sp>
      <p:sp>
        <p:nvSpPr>
          <p:cNvPr id="107" name="Shape 105"/>
          <p:cNvSpPr/>
          <p:nvPr/>
        </p:nvSpPr>
        <p:spPr>
          <a:xfrm>
            <a:off x="8081650" y="5042642"/>
            <a:ext cx="139537" cy="139537"/>
          </a:xfrm>
          <a:prstGeom prst="ellipse">
            <a:avLst/>
          </a:prstGeom>
          <a:solidFill>
            <a:srgbClr val="F09042"/>
          </a:solidFill>
          <a:ln/>
        </p:spPr>
      </p:sp>
      <p:sp>
        <p:nvSpPr>
          <p:cNvPr id="108" name="Shape 106"/>
          <p:cNvSpPr/>
          <p:nvPr/>
        </p:nvSpPr>
        <p:spPr>
          <a:xfrm>
            <a:off x="8486729" y="5042642"/>
            <a:ext cx="139537" cy="139537"/>
          </a:xfrm>
          <a:prstGeom prst="ellipse">
            <a:avLst/>
          </a:prstGeom>
          <a:solidFill>
            <a:srgbClr val="F09042"/>
          </a:solidFill>
          <a:ln/>
        </p:spPr>
      </p:sp>
      <p:sp>
        <p:nvSpPr>
          <p:cNvPr id="109" name="Shape 107"/>
          <p:cNvSpPr/>
          <p:nvPr/>
        </p:nvSpPr>
        <p:spPr>
          <a:xfrm>
            <a:off x="8891808" y="5042642"/>
            <a:ext cx="139537" cy="139537"/>
          </a:xfrm>
          <a:prstGeom prst="ellipse">
            <a:avLst/>
          </a:prstGeom>
          <a:solidFill>
            <a:srgbClr val="F09042"/>
          </a:solidFill>
          <a:ln/>
        </p:spPr>
      </p:sp>
      <p:sp>
        <p:nvSpPr>
          <p:cNvPr id="110" name="Shape 108"/>
          <p:cNvSpPr/>
          <p:nvPr/>
        </p:nvSpPr>
        <p:spPr>
          <a:xfrm>
            <a:off x="9296888" y="5042642"/>
            <a:ext cx="139537" cy="139537"/>
          </a:xfrm>
          <a:prstGeom prst="ellipse">
            <a:avLst/>
          </a:prstGeom>
          <a:solidFill>
            <a:srgbClr val="F09042"/>
          </a:solidFill>
          <a:ln/>
        </p:spPr>
      </p:sp>
      <p:sp>
        <p:nvSpPr>
          <p:cNvPr id="111" name="Shape 109"/>
          <p:cNvSpPr/>
          <p:nvPr/>
        </p:nvSpPr>
        <p:spPr>
          <a:xfrm>
            <a:off x="9701967" y="5042642"/>
            <a:ext cx="139537" cy="139537"/>
          </a:xfrm>
          <a:prstGeom prst="ellipse">
            <a:avLst/>
          </a:prstGeom>
          <a:solidFill>
            <a:srgbClr val="F09042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0107046" y="5042642"/>
            <a:ext cx="139537" cy="139537"/>
          </a:xfrm>
          <a:prstGeom prst="ellipse">
            <a:avLst/>
          </a:prstGeom>
          <a:solidFill>
            <a:srgbClr val="F09042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0512125" y="5042642"/>
            <a:ext cx="139537" cy="139537"/>
          </a:xfrm>
          <a:prstGeom prst="ellipse">
            <a:avLst/>
          </a:prstGeom>
          <a:solidFill>
            <a:srgbClr val="F09042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0917204" y="5042642"/>
            <a:ext cx="139537" cy="139537"/>
          </a:xfrm>
          <a:prstGeom prst="ellipse">
            <a:avLst/>
          </a:prstGeom>
          <a:solidFill>
            <a:srgbClr val="F09042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1322284" y="5042642"/>
            <a:ext cx="139537" cy="139537"/>
          </a:xfrm>
          <a:prstGeom prst="ellipse">
            <a:avLst/>
          </a:prstGeom>
          <a:solidFill>
            <a:srgbClr val="F09042"/>
          </a:solidFill>
          <a:ln/>
        </p:spPr>
      </p:sp>
      <p:sp>
        <p:nvSpPr>
          <p:cNvPr id="116" name="Shape 114"/>
          <p:cNvSpPr/>
          <p:nvPr/>
        </p:nvSpPr>
        <p:spPr>
          <a:xfrm>
            <a:off x="7498080" y="5376672"/>
            <a:ext cx="164592" cy="164592"/>
          </a:xfrm>
          <a:prstGeom prst="ellipse">
            <a:avLst/>
          </a:prstGeom>
          <a:solidFill>
            <a:srgbClr val="C9CFDC"/>
          </a:solidFill>
          <a:ln/>
        </p:spPr>
      </p:sp>
      <p:sp>
        <p:nvSpPr>
          <p:cNvPr id="117" name="Text 115"/>
          <p:cNvSpPr/>
          <p:nvPr/>
        </p:nvSpPr>
        <p:spPr>
          <a:xfrm>
            <a:off x="7699248" y="5321808"/>
            <a:ext cx="7612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Non-exposés sains (65)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8533638" y="5376672"/>
            <a:ext cx="164592" cy="164592"/>
          </a:xfrm>
          <a:prstGeom prst="ellipse">
            <a:avLst/>
          </a:prstGeom>
          <a:solidFill>
            <a:srgbClr val="0E1729"/>
          </a:solidFill>
          <a:ln/>
        </p:spPr>
      </p:sp>
      <p:sp>
        <p:nvSpPr>
          <p:cNvPr id="119" name="Text 117"/>
          <p:cNvSpPr/>
          <p:nvPr/>
        </p:nvSpPr>
        <p:spPr>
          <a:xfrm>
            <a:off x="8734806" y="5321808"/>
            <a:ext cx="7612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Non-exposés malades (25)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9569196" y="5376672"/>
            <a:ext cx="164592" cy="164592"/>
          </a:xfrm>
          <a:prstGeom prst="ellipse">
            <a:avLst/>
          </a:prstGeom>
          <a:solidFill>
            <a:srgbClr val="F09042"/>
          </a:solidFill>
          <a:ln/>
        </p:spPr>
      </p:sp>
      <p:sp>
        <p:nvSpPr>
          <p:cNvPr id="121" name="Text 119"/>
          <p:cNvSpPr/>
          <p:nvPr/>
        </p:nvSpPr>
        <p:spPr>
          <a:xfrm>
            <a:off x="9770364" y="5321808"/>
            <a:ext cx="7612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Exposés malades (25)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10604754" y="5376672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3" name="Text 121"/>
          <p:cNvSpPr/>
          <p:nvPr/>
        </p:nvSpPr>
        <p:spPr>
          <a:xfrm>
            <a:off x="10805922" y="5321808"/>
            <a:ext cx="76123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(0)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Rapporte OR avec IC95%, pas la p-value seule. C'est la mesure d'effet attendue en épidémiologie.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 · Module 2 · Heaven Elijah Service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 PROPORTIONS · PETITS EFFECTIFS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100" kern="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 exact : à utiliser large.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une cellule attendue est &lt; 5, Chi² devient instable. Fisher exact reste valide quelle que soit la taille — c'est même légitime de l'utiliser par défaut sur du 2×2. Il y a peu de raisons de s'en priver.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5486400" cy="2926080"/>
          </a:xfrm>
          <a:prstGeom prst="roundRect">
            <a:avLst>
              <a:gd name="adj" fmla="val 1563"/>
            </a:avLst>
          </a:prstGeom>
          <a:solidFill>
            <a:srgbClr val="1A2541"/>
          </a:solidFill>
          <a:ln w="6350">
            <a:solidFill>
              <a:srgbClr val="F090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035808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F0904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3580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5212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Tableau 2×2 avec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effectifs réduits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 &lt;- matrix(c(3, 2,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8, 27), nrow = 2)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fisher.test(tab)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Pour des tableaux plus grands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fisher.test(tab,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simulate.p.value = TRUE)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0" y="2926080"/>
            <a:ext cx="5330952" cy="2926080"/>
          </a:xfrm>
          <a:prstGeom prst="roundRect">
            <a:avLst>
              <a:gd name="adj" fmla="val 1563"/>
            </a:avLst>
          </a:prstGeom>
          <a:solidFill>
            <a:srgbClr val="1A2541"/>
          </a:solidFill>
          <a:ln w="6350">
            <a:solidFill>
              <a:srgbClr val="6B728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537960" y="3017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0" y="3291840"/>
            <a:ext cx="505663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Fisher's Exact Test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p-value = 0.027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alternative hypothesis: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true odds ratio is not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equal to 1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95% CI: [1.02, 47.5]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OR estimate: 4.86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IC95% large → petit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échantillon. Effet probable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mais magnitude imprécise.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 est valide quelle que soit la taille de l'échantillon. Tu peux l'utiliser par défaut sur du 2×2.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 · Module 2 · Heaven Elijah Service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PROPORTIONS APPARIÉES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100" kern="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 : le test des discordances.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chaque sujet est mesuré à deux moments, McNemar compare uniquement les discordances. C'est l'équivalent du t-test apparié pour les proportions — il ignore les sujets qui n'ont pas changé.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3931920" cy="2743200"/>
          </a:xfrm>
          <a:prstGeom prst="roundRect">
            <a:avLst>
              <a:gd name="adj" fmla="val 1667"/>
            </a:avLst>
          </a:prstGeom>
          <a:solidFill>
            <a:srgbClr val="1A2541"/>
          </a:solidFill>
          <a:ln w="6350">
            <a:solidFill>
              <a:srgbClr val="F090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218688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F0904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2186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Tableau 2×2 apparié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Lignes = avant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Colonnes = après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 &lt;- matrix(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c(45, 12,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28, 15),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nrow = 2)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mcnemar.test(tab,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correct = TRUE)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3108960"/>
            <a:ext cx="7022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apparié visualisé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32461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+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138160" y="32461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0" y="38862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+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−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0" y="3520440"/>
            <a:ext cx="1554480" cy="914400"/>
          </a:xfrm>
          <a:prstGeom prst="rect">
            <a:avLst/>
          </a:prstGeom>
          <a:solidFill>
            <a:srgbClr val="C9CFDC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3566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83680" y="4023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concordant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138160" y="3520440"/>
            <a:ext cx="1554480" cy="914400"/>
          </a:xfrm>
          <a:prstGeom prst="rect">
            <a:avLst/>
          </a:prstGeom>
          <a:solidFill>
            <a:srgbClr val="F09042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3566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138160" y="4023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discordant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83680" y="4434840"/>
            <a:ext cx="1554480" cy="914400"/>
          </a:xfrm>
          <a:prstGeom prst="rect">
            <a:avLst/>
          </a:prstGeom>
          <a:solidFill>
            <a:srgbClr val="F09042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583680" y="4937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discordant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138160" y="4434840"/>
            <a:ext cx="1554480" cy="914400"/>
          </a:xfrm>
          <a:prstGeom prst="rect">
            <a:avLst/>
          </a:prstGeom>
          <a:solidFill>
            <a:srgbClr val="C9CFDC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138160" y="4937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concordant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9160" y="5486400"/>
            <a:ext cx="7022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 utilise UNIQUEMENT les cases orange (discordances). Les concordances (gris) sont ignorées.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9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McNemar : χ² = 5.625, df = 1, p = 0.0177  →  différence significative entre les deux moments.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 · Module 2 · Heaven Elijah Service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AU-DELÀ DE LA p-VALUE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100" kern="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test, sa mesure d'effet.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rappel le plus martelé du Module 1 : ne jamais rapporter une p-value seule. Pour chaque test ci-dessous, l'indice de taille d'effet correspondant — c'est ce que tu colles dans ton tableau de résultats à côté de 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11091672" cy="365760"/>
          </a:xfrm>
          <a:prstGeom prst="rect">
            <a:avLst/>
          </a:prstGeom>
          <a:solidFill>
            <a:srgbClr val="0E172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3649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0" y="3364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D'EFFET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0" y="33649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 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1109167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749040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 (Welch, Student, apparié)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0" y="374904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0" y="3749040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library(effsize); cohen.d(...)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4169664"/>
            <a:ext cx="11091672" cy="420624"/>
          </a:xfrm>
          <a:prstGeom prst="rect">
            <a:avLst/>
          </a:prstGeom>
          <a:solidFill>
            <a:srgbClr val="F5EFE0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169664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Mann-Whitney, Wilcoxon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97680" y="4169664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Z / √N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0" y="4169664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library(rstatix); wilcox_effsize(...)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4590288"/>
            <a:ext cx="1109167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590288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97680" y="459028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η² (eta carré) ou ω²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0" y="4590288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library(effectsize); eta_squared(modele)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5010912"/>
            <a:ext cx="11091672" cy="420624"/>
          </a:xfrm>
          <a:prstGeom prst="rect">
            <a:avLst/>
          </a:prstGeom>
          <a:solidFill>
            <a:srgbClr val="F5EFE0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01091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0" y="5010912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ε² (epsilon carré)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0" y="5010912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library(rstatix); kruskal_effsize(...)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5431536"/>
            <a:ext cx="1109167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431536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Chi², Fisher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97680" y="5431536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avec IC95%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0" y="5431536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library(epitools); oddsratio(tab)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5852160"/>
            <a:ext cx="11091672" cy="420624"/>
          </a:xfrm>
          <a:prstGeom prst="rect">
            <a:avLst/>
          </a:prstGeom>
          <a:solidFill>
            <a:srgbClr val="F5EFE0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852160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97680" y="585216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de discordances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32320" y="5852160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library(epitools); oddsratio(...)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5943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install.packages(c("effsize", "rstatix", "effectsize", "epitools"))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 · Module 2 · Heaven Elijah Service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CAS D'ÉCOLE · WORKFLOW COMPLET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100" kern="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essai randomisé de A à Z.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: essai bras A (nouveau) vs bras B (standard) chez 60 patients diabétiques. Variable principale = HbA1c à 12 semaines. Voici le workflow et le visuel final attendu.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6766560" cy="3429000"/>
          </a:xfrm>
          <a:prstGeom prst="roundRect">
            <a:avLst>
              <a:gd name="adj" fmla="val 1333"/>
            </a:avLst>
          </a:prstGeom>
          <a:solidFill>
            <a:srgbClr val="1A2541"/>
          </a:solidFill>
          <a:ln w="6350">
            <a:solidFill>
              <a:srgbClr val="F090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898648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F0904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9864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64922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Exploration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table(donnees$bras)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by(donnees$hba1c, donnees$bras, summary)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Vérifs préalables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shapiro.test(donnees$hba1c[donnees$bras == "A"])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shapiro.test(donnees$hba1c[donnees$bras == "B"])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Test principal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t.test(hba1c ~ bras, data = donnees,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var.equal = FALSE)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Taille d'effet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library(effsize)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cohen.d(hba1c ~ bras, data = donnees)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589520" y="2788920"/>
            <a:ext cx="4142232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0" y="2825496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HbA1c bras A vs bras B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01000" y="5852160"/>
            <a:ext cx="3593592" cy="0"/>
          </a:xfrm>
          <a:prstGeom prst="line">
            <a:avLst/>
          </a:prstGeom>
          <a:noFill/>
          <a:ln w="9525">
            <a:solidFill>
              <a:srgbClr val="0E172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01000" y="3108960"/>
            <a:ext cx="0" cy="2743200"/>
          </a:xfrm>
          <a:prstGeom prst="line">
            <a:avLst/>
          </a:prstGeom>
          <a:noFill/>
          <a:ln w="9525">
            <a:solidFill>
              <a:srgbClr val="0E17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5943600"/>
            <a:ext cx="3593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 rot="-5400000">
            <a:off x="7607808" y="3108960"/>
            <a:ext cx="365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899398" y="5852160"/>
            <a:ext cx="0" cy="-53340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74799" y="5852160"/>
            <a:ext cx="449199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99398" y="4480560"/>
            <a:ext cx="0" cy="-76200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74799" y="3718560"/>
            <a:ext cx="449199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50199" y="4480560"/>
            <a:ext cx="898398" cy="838200"/>
          </a:xfrm>
          <a:prstGeom prst="rect">
            <a:avLst/>
          </a:prstGeom>
          <a:solidFill>
            <a:srgbClr val="F09042"/>
          </a:solidFill>
          <a:ln w="12700">
            <a:solidFill>
              <a:srgbClr val="F090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50199" y="4861560"/>
            <a:ext cx="898398" cy="0"/>
          </a:xfrm>
          <a:prstGeom prst="line">
            <a:avLst/>
          </a:prstGeom>
          <a:noFill/>
          <a:ln w="19050">
            <a:solidFill>
              <a:srgbClr val="F090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01000" y="5897880"/>
            <a:ext cx="17967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nouveau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696194" y="5090160"/>
            <a:ext cx="0" cy="-53340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71595" y="5090160"/>
            <a:ext cx="449199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696194" y="3718560"/>
            <a:ext cx="0" cy="-60960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71595" y="3108960"/>
            <a:ext cx="449199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246995" y="3718560"/>
            <a:ext cx="898398" cy="83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172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46995" y="4175760"/>
            <a:ext cx="898398" cy="0"/>
          </a:xfrm>
          <a:prstGeom prst="line">
            <a:avLst/>
          </a:prstGeom>
          <a:noFill/>
          <a:ln w="19050">
            <a:solidFill>
              <a:srgbClr val="0E172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97796" y="5897880"/>
            <a:ext cx="17967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standard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 · Module 2 · Heaven Elijah Service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CINQ PIÈGES OBSERVÉS EN PRE-SOUTENANCE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spc="-100" kern="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erreurs qui font mal en soutenance.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CF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20240"/>
            <a:ext cx="73152" cy="8229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574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2029968"/>
            <a:ext cx="9966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 indépendant sur données appariées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235915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détruis l'information de pairage et tu perds en puissance. Le jury repère ça en 30 secondes.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CF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788920"/>
            <a:ext cx="73152" cy="8229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9260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2898648"/>
            <a:ext cx="9966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significative sans Tukey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00200" y="322783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dit « il y a une différence » sans dire où. Sans post-hoc, ta conclusion sur quel groupe est inutilisable.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CF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657600"/>
            <a:ext cx="73152" cy="8229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794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00200" y="3767328"/>
            <a:ext cx="9966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Chi² avec effectifs attendus &lt; 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00200" y="409651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test est invalide. Utilise Fisher exact à la place — il marche dans tous les cas.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52628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CF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526280"/>
            <a:ext cx="73152" cy="8229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6634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600200" y="4636008"/>
            <a:ext cx="9966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 des tests sans correction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00200" y="496519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fais 15 comparaisons sur le même jeu de données, tu trouves 3 « significatifs ». Bonferroni ou BH, sinon c'est du hasard.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39496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6CF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5394960"/>
            <a:ext cx="73152" cy="8229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5321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600200" y="5504688"/>
            <a:ext cx="9966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Rapporter p sans taille d'effet ni IC95%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600200" y="583387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triade test + IC95% + taille d'effet. Une p-value seule, c'est un mémoire fragile.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 · Module 2 · Heaven Elijah Service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0" y="2743200"/>
            <a:ext cx="6400800" cy="6400800"/>
          </a:xfrm>
          <a:prstGeom prst="ellipse">
            <a:avLst/>
          </a:prstGeom>
          <a:solidFill>
            <a:srgbClr val="F09042">
              <a:alpha val="12000"/>
            </a:srgbClr>
          </a:solidFill>
          <a:ln/>
        </p:spPr>
      </p:sp>
      <p:pic>
        <p:nvPicPr>
          <p:cNvPr id="5" name="Image 0" descr="E:\Projets\heaven-elijah-site\public\logo-picto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10424160" y="27432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 SUITE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37160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sais comparer.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 aux associations.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347472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Module 3 entre dans le détail des associations : corrélation, régression linéaire, régression logistique, OR ajustés. Là où ton mémoire devient explicatif, pas seulement descriptif.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tu veux qu'on regarde ta méthodo sur un cas concret en attendant : 15 minutes de diagnostic, sans engagement.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516636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25D366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2303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direct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55778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+221 76 387 34 28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309360" y="5166360"/>
            <a:ext cx="5422392" cy="1005840"/>
          </a:xfrm>
          <a:prstGeom prst="roundRect">
            <a:avLst>
              <a:gd name="adj" fmla="val 9091"/>
            </a:avLst>
          </a:prstGeom>
          <a:solidFill>
            <a:srgbClr val="F09042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52303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web HES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92240" y="55778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heavenelijahservice.org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Heaven Elijah Service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Comparer des groupes — Module 2</dc:title>
  <dc:subject>Formation HES — Biostatistique</dc:subject>
  <dc:creator>Heaven Elijah Service</dc:creator>
  <cp:lastModifiedBy>Heaven Elijah Service</cp:lastModifiedBy>
  <cp:revision>1</cp:revision>
  <dcterms:created xsi:type="dcterms:W3CDTF">2026-05-14T19:43:49Z</dcterms:created>
  <dcterms:modified xsi:type="dcterms:W3CDTF">2026-05-14T19:43:49Z</dcterms:modified>
</cp:coreProperties>
</file>