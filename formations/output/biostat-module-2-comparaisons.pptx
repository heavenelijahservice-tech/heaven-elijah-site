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4572000" cy="45720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BIOSTAT · MODULE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</a:t>
            </a:r>
            <a:endParaRPr lang="en-US" sz="6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groupes.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test, lancer la commande R, défendre la sortie.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slides · ~50 min · M2 et doctorants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POURQUOI CE MODULE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 mémoire compare. Voilà ce qui se joue.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7040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majorité des mémoires en santé publique et en médecine sont des études comparatives — deux traitements, deux populations, un avant/après, plusieurs centres. C'est mathématiquement la situation où on te demandera le plus de comptes en soutenance.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7040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c'est aussi là que les erreurs coûtent le plus cher : un mauvais choix de test invalide une conclusion principale. Pas un détail méthodologique annexe — la conclusion. Le jury le sait. Il sait aussi quels pièges chercher.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955280" y="1920240"/>
            <a:ext cx="3794760" cy="4023360"/>
          </a:xfrm>
          <a:prstGeom prst="roundRect">
            <a:avLst>
              <a:gd name="adj" fmla="val 2410"/>
            </a:avLst>
          </a:prstGeom>
          <a:solidFill>
            <a:srgbClr val="0E1729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21031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MODULE COUVRE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38160" y="251460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0" dirty="0"/>
          </a:p>
        </p:txBody>
      </p:sp>
      <p:sp>
        <p:nvSpPr>
          <p:cNvPr id="11" name="Text 9"/>
          <p:cNvSpPr/>
          <p:nvPr/>
        </p:nvSpPr>
        <p:spPr>
          <a:xfrm>
            <a:off x="8138160" y="35661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qui couvrent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90 % des comparaisons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rencontrées en mémoire.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38160" y="5029200"/>
            <a:ext cx="3383280" cy="18288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516636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chacun : quand l'utiliser, comment le coder, comment lire la sortie, ce que le jury va demander.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CARTE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en trois questions.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coder, ouvre-toi mentalement cet arbre. Trois questions à se poser dans l'ordre — la quatrième dépend du verdict de Shapiro.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GROUPES INDÉPENDANTS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vs B, traitement vs contrôle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Welch (slide 4)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Mann-Whitney (slide 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· Fisher (8, 9)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GROUPES APPARIÉS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/ après, droite / gauche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9704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t-test apparié (6)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9704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9704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Wilcoxon signed-rank (6)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89704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9704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 (slide 10)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65008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02168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GROUPES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02168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traitements, centres, régions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65008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02168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2168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 + Tukey (7)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02168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Kruskal-Wallis + Dunn (8)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02168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02168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d'homogénéité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numéros entre parenthèses pointent vers les slides où chaque test est détaillé.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GROUPES INDÉPENDANTS · QUANTITATIF 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par défaut. Student en exception.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est robuste aux variances inégales ET aussi puissant que Student quand elles sont égales. En routine, je le lance directement. Si ton encadreur insiste pour Student, vérifie d'abord Levene.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Welch sans hypothèse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sur les variances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t.test(hba1c ~ groupe,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var.equal = FALSE)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Taille d'effet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cohen.d(hba1c ~ groupe,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data = donnees)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Welch t-test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-3.42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0.0013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[-1.42, -0.36]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Cohen's d = -0.78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(moyen-fort)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 · bras A vs bras B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762238" y="5486400"/>
            <a:ext cx="0" cy="-46123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26209" y="5486400"/>
            <a:ext cx="472059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2238" y="4432151"/>
            <a:ext cx="0" cy="-527125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26209" y="3905026"/>
            <a:ext cx="472059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0179" y="4432151"/>
            <a:ext cx="944118" cy="593015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0179" y="4761604"/>
            <a:ext cx="944118" cy="0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5532120"/>
            <a:ext cx="18882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0650474" y="4893385"/>
            <a:ext cx="0" cy="-395344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414445" y="4893385"/>
            <a:ext cx="472059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50474" y="3839135"/>
            <a:ext cx="0" cy="-593015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14445" y="3246120"/>
            <a:ext cx="472059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78415" y="3839135"/>
            <a:ext cx="944118" cy="658906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78415" y="4168588"/>
            <a:ext cx="944118" cy="0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06356" y="5532120"/>
            <a:ext cx="18882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jury va demander : « Pourquoi Welch et pas Student ? » Réponse blindée : Welch est valide sans condition, Student exige l'égalité des variances.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GROUPES INDÉPENDANTS · QUANTITATIF NON-NORMAL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quand la normalité décroche.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Shapiro rejette et que le QQ-plot le confirme, Mann-Whitney prend le relais. Pas d'hypothèse de normalité, compare les rangs au lieu des moyennes. Aussi appelé Wilcoxon rank-sum — c'est le même test.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Mann-Whitney / Wilcoxon rank-sum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wilcox.test(score ~ groupe,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conf.int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Taille d'effet r = Z / sqrt(N)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wilcox_effsize(donnees, score ~ groupe)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Wilcoxon rank sum test with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continuity correction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312, p-value = 0.018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CI [-2.5, -0.3]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(différence des médianes)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 size r = 0.31 (medium)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soutenance : « Vous avez utilisé Mann-Whitney parce que… ? » Réponse : « Shapiro p = 0.003, QQ-plot écart aux extrêmes — donc test non paramétrique. »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DONNÉES APPARIÉES · LE MÊME SUJET MESURÉ DEUX FOIS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/ après, droite / gauche, deux observateurs.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N°1 sur les données appariées : appliquer un t-test indépendant. Tu détruis l'information de pairage et tu perds en puissance. Le jury va te le rappeler. Le bon test dépend de la normalité — des DIFFÉRENCES, pas des valeurs brutes.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5486400" cy="2468880"/>
          </a:xfrm>
          <a:prstGeom prst="roundRect">
            <a:avLst>
              <a:gd name="adj" fmla="val 1852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930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930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840480"/>
            <a:ext cx="5212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différences normales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t.test(donnees$apres,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donnees$avant,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paired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 normalité des diff.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 &lt;- donnees$apres -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donnees$avant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shapiro.test(diff)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383280"/>
            <a:ext cx="5330952" cy="2468880"/>
          </a:xfrm>
          <a:prstGeom prst="roundRect">
            <a:avLst>
              <a:gd name="adj" fmla="val 1852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34930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4930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3840480"/>
            <a:ext cx="505663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différences non-normales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wilcox.test(donnees$apres,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donnees$avant,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paired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conf.int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Wilcoxon signed-rank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(à ne pas confondre avec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Wilcoxon rank-sum)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Shapiro sur la SÉRIE DES DIFFÉRENCES (apres − avant), pas sur chaque mesure séparément. C'est cette série qui doit être normale pour le t-test apparié.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≥ 3 GROUPES · QUANTITATIF 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dit « ça bouge ». Tukey dit « où ».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répond à « y a-t-il une différence quelque part ? ». Si oui, elle ne te dit pas entre quels groupes — c'est Tukey HSD (post-hoc) qui le précise. Sans Tukey, ton ANOVA significative n'est pas utilisable pour conclure.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 préalables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leveneTest(score ~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ANOVA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aov(score ~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Post-hoc Tukey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TukeyHSD(modele)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8.31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0.0006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Tukey HSD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B-A  diff +1.2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 = 0.012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C-A  diff +2.4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 &lt; 0.001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C-B  diff +1.2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 = 0.014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par région · A &lt; B &lt; 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447532" y="5486400"/>
            <a:ext cx="0" cy="-37338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0179" y="5486400"/>
            <a:ext cx="31470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47532" y="4573693"/>
            <a:ext cx="0" cy="-331893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0179" y="4241800"/>
            <a:ext cx="31470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2826" y="4573693"/>
            <a:ext cx="629412" cy="539327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2826" y="4864100"/>
            <a:ext cx="629412" cy="0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706356" y="5071533"/>
            <a:ext cx="0" cy="-414867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49003" y="5071533"/>
            <a:ext cx="31470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06356" y="4034367"/>
            <a:ext cx="0" cy="-331893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49003" y="3702473"/>
            <a:ext cx="31470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91650" y="4034367"/>
            <a:ext cx="629412" cy="62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172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91650" y="4366260"/>
            <a:ext cx="629412" cy="0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76944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0965180" y="4656667"/>
            <a:ext cx="0" cy="-49784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807827" y="4656667"/>
            <a:ext cx="31470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965180" y="3578013"/>
            <a:ext cx="0" cy="-331893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807827" y="3246120"/>
            <a:ext cx="31470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50474" y="3578013"/>
            <a:ext cx="629412" cy="580813"/>
          </a:xfrm>
          <a:prstGeom prst="rect">
            <a:avLst/>
          </a:prstGeom>
          <a:solidFill>
            <a:srgbClr val="F09042"/>
          </a:solidFill>
          <a:ln w="12700">
            <a:solidFill>
              <a:srgbClr val="F090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650474" y="3868420"/>
            <a:ext cx="629412" cy="0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35768" y="5532120"/>
            <a:ext cx="1258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Levene rejette : ANOVA de Welch (oneway.test) puis Games-Howell en post-hoc. Plus robuste sur variances inégales.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≥ 3 GROUPES · QUANTITATIF NON-NORMAL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L'alternative non-paramétrique de l'ANOVA.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logique que ANOVA, sans hypothèse de normalité. Si Kruskal-Wallis rejette H₀, le post-hoc Dunn dit entre quels groupes la différence se trouve, avec ajustement pour les comparaisons multiples.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Kruskal-Wallis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kruskal.test(score ~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Post-hoc Dunn (avec ajust.)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library(dunn.test)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dunn.test(donnees$score,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donnees$region,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method = "bh")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Kruskal-Wallis rank sum 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Kruskal-Wallis chi² = 14.2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2, p-value = 0.0008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Dunn (Benjamini-Hochberg)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A-B : Z = 2.1, p_adj = 0.034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A-C : Z = 3.6, p_adj = 0.0009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B-C : Z = 1.8, p_adj = 0.052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Dunn est l'équivalent de Tukey pour la version non-paramétrique. Le `method = "bh"` applique BH pour les comparaisons multiples.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PROPORTIONS · GRANDS EFFECTIFS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Chi² d'indépendance.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deux proportions (succès vs échec, exposés vs non-exposés). Hypothèse à vérifier : effectifs attendus ≥ 5 dans chaque cellule. Sinon, Fisher exact (slide suivante).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de contingence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table(donnees$exposition,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donnees$maladie)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Chi² + OR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chisq.test(tab)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oddsratio(tab)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Pearson's Chi-squared 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Yates' continuity correction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X² = 12.3, df = 1, p = 0.0005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Odds Ratio   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Maladie    2.45   [1.51, 3.97]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Exposition associée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à la maladie.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soutenance : rapporte OR avec IC95%, pas la p-value seule. C'est la mesure d'effet attendue en épidémiologie.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PROPORTIONS · PETITS EFFECTIFS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exact : à utiliser large.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une cellule attendue est &lt; 5, Chi² devient instable. Fisher exact reste valide quelle que soit la taille — c'est même légitime de l'utiliser par défaut sur du 2×2. Il y a peu de raisons de s'en priver.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2×2 avec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effectifs réduits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matrix(c(3, 2,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8, 27), nrow = 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fisher.test(tab)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Pour des tableaux plus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grands, simulate.p.value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fisher.test(tab,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simulate.p.value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Fisher's Exact Test for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 Data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p-value = 0.027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alternative hypothesis: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true odds ratio is not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equal to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CI: [1.02, 47.5]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OR estimate: 4.86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L'IC95% large signale ici un petit échantillon. Conclusion à nuancer — l'effet existe peut-être, mais sa magnitude est imprécise.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PROPORTIONS APPARIÉES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: le test des discordances.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chaque sujet est mesuré à deux moments (test A vs test B sur les mêmes patients, dépistage avant vs après formation), McNemar compare uniquement les discordances. C'est l'équivalent du t-test apparié, mais pour les proportions.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2×2 apparié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Lignes = avant, Colonnes = après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(++) (+-)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(-+) (--)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matrix(c(45, 12,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28, 15), nrow = 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mcnemar.test(tab,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correct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McNemar's Chi-squared 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continuity correction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 tab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McNemar's chi² = 5.625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1, p-value = 0.0177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Différence significative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entre les deux moments.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ignore les concordances (cellules ++ et --) — seules les bascules (+− et −+) portent l'information. C'est subtil et il faut le savoir.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AU-DELÀ DE LA p-VALUE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test, sa mesure d'effet.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rappel le plus martelé du Module 1 : ne jamais rapporter une p-value seule. Pour chaque test ci-dessous, l'indice de taille d'effet correspondant — c'est ce que tu colles dans ton tableau de résultats à côté de 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11091672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3649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0" y="33649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D'EFFET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132320" y="33649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749040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(Welch, Student, apparié)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0" y="374904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Cohen's 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3749040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library(effsize); cohen.d(...)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4169664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9664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Mann-Whitney, Wilcoxon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97680" y="4169664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Z / √N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0" y="4169664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library(rstatix); wilcox_effsize(...)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4590288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90288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97680" y="4590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η² (eta carré) ou ω²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459028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library(effectsize); eta_squared(modele)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5010912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010912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Kruskal-Wallis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297680" y="5010912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 (epsilon carré)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0" y="5010912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library(rstatix); kruskal_effsize(...)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5431536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5431536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Chi², Fisher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97680" y="5431536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avec IC95%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5431536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library(epitools); oddsratio(tab)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852160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852160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97680" y="585216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de discordances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0" y="5852160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library(epitools); oddsratio(...)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Tous ces packages s'installent une fois pour toutes : install.packages(c("effsize", "rstatix", "effectsize", "epitools"))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CAS D'ÉCOLE · WORKFLOW COMPLET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randomisé de A à Z.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: essai bras A (nouveau) vs bras B (standard) chez 60 patients diabétiques. Variable principale = HbA1c à 12 semaines. Voici exactement ce que tu présentes au jury — workflow et résultat.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6858000" cy="3429000"/>
          </a:xfrm>
          <a:prstGeom prst="roundRect">
            <a:avLst>
              <a:gd name="adj" fmla="val 133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9443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658368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Exploration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table(donnees$bras)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by(donnees$hba1c, donnees$bras, summary)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Vérifs préalables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shapiro.test(donnees$hba1c[donnees$bras == "A"])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shapiro.test(donnees$hba1c[donnees$bras == "B"])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leveneTest(hba1c ~ bras,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Test principal (Welch direct)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t.test(hba1c ~ bras,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var.equal = FALSE)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Taille d'effet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cohen.d(hba1c ~ bras, data = donnees)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80960" y="2834640"/>
            <a:ext cx="4050792" cy="3429000"/>
          </a:xfrm>
          <a:prstGeom prst="roundRect">
            <a:avLst>
              <a:gd name="adj" fmla="val 2667"/>
            </a:avLst>
          </a:prstGeom>
          <a:solidFill>
            <a:srgbClr val="0E1729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0" y="2971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VA EN TABLEAU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863840" y="33832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A · n = 30 · HbA1c moy. 7,1 (ET 0,8)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B · n = 30 · HbA1c moy. 8,0 (ET 0,9)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63840" y="4434840"/>
            <a:ext cx="3749040" cy="18288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0" y="45720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Différence moyenne −0,9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[−1,42 ; −0,36]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0,0013 (Welch)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Cohen's d = −0,78 (effet moyen-fort)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63840" y="5943600"/>
            <a:ext cx="3749040" cy="18288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0" y="59893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: effet cliniquement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(HbA1c −0,9 %).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CINQ PIÈGES OBSERVÉS EN PRE-SOUTENANCE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erreurs qui font mal en soutenance.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02996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indépendant sur données appariées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359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détruis l'information de pairage et tu perds en puissance. Le jury repère ça en 30 secondes.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289864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significative sans Tukey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227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dit « il y a une différence » sans dire où. Sans post-hoc, ta conclusion sur quel groupe est inutilisable.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65760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94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6732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Chi² avec effectifs attendus &lt; 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00200" y="40965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test est invalide. Utilise Fisher exact à la place — il marche dans tous les cas.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52628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663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0200" y="463600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 des tests sans correction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0200" y="49651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fais 15 comparaisons sur le même jeu de données, tu trouves 3 « significatifs ». Bonferroni ou BH, sinon c'est du hasard.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9496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39496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600200" y="550468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p sans taille d'effet ni IC95%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00200" y="583387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triade test + IC95% + taille d'effet. Une p-value seule, c'est un mémoire fragile.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6400800" cy="64008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SUITE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sais comparer.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aux associations.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347472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 3 entre dans le détail des associations : corrélation, régression linéaire, régression logistique, OR ajustés. Là où ton mémoire devient explicatif, pas seulement descriptif.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veux qu'on regarde ta méthodo sur un cas concret en attendant : 15 minutes de diagnostic, sans engagement.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2303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57784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09360" y="5166360"/>
            <a:ext cx="5422392" cy="1005840"/>
          </a:xfrm>
          <a:prstGeom prst="roundRect">
            <a:avLst>
              <a:gd name="adj" fmla="val 9091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52303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HES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55778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Comparer des groupes — Module 2</dc:title>
  <dc:subject>Formation HES — Biostatistique</dc:subject>
  <dc:creator>Heaven Elijah Service</dc:creator>
  <cp:lastModifiedBy>Heaven Elijah Service</cp:lastModifiedBy>
  <cp:revision>1</cp:revision>
  <dcterms:created xsi:type="dcterms:W3CDTF">2026-05-14T18:57:44Z</dcterms:created>
  <dcterms:modified xsi:type="dcterms:W3CDTF">2026-05-14T18:57:44Z</dcterms:modified>
</cp:coreProperties>
</file>