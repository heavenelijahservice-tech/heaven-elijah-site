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-1828800"/>
            <a:ext cx="4572000" cy="4572000"/>
          </a:xfrm>
          <a:prstGeom prst="ellipse">
            <a:avLst/>
          </a:prstGeom>
          <a:solidFill>
            <a:srgbClr val="F09042">
              <a:alpha val="12000"/>
            </a:srgbClr>
          </a:solidFill>
          <a:ln/>
        </p:spPr>
      </p:sp>
      <p:pic>
        <p:nvPicPr>
          <p:cNvPr id="3" name="Image 0" descr="E:\Projets\heaven-elijah-site\public\logo-picto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10515600" y="5303520"/>
            <a:ext cx="1188720" cy="11887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400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FORMATION HES · BIOSTAT · MODULE 2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40080" y="1737360"/>
            <a:ext cx="109728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6200" b="1" spc="-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Comparer</a:t>
            </a:r>
            <a:endParaRPr lang="en-US" sz="6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200" b="1" spc="-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groupes.</a:t>
            </a:r>
            <a:endParaRPr lang="en-US" sz="6200" dirty="0"/>
          </a:p>
        </p:txBody>
      </p:sp>
      <p:sp>
        <p:nvSpPr>
          <p:cNvPr id="6" name="Shape 3"/>
          <p:cNvSpPr/>
          <p:nvPr/>
        </p:nvSpPr>
        <p:spPr>
          <a:xfrm>
            <a:off x="640080" y="4617720"/>
            <a:ext cx="1371600" cy="54864"/>
          </a:xfrm>
          <a:prstGeom prst="rect">
            <a:avLst/>
          </a:prstGeom>
          <a:solidFill>
            <a:srgbClr val="F09042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4800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C9C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Choisir le test, lancer la commande R, défendre la sortie.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40080" y="59436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90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slides · ~50 min · M2 et doctorants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486400" y="5943600"/>
            <a:ext cx="62453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CF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heavenelijahservice.org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2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POURQUOI CE MODULE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0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 mémoire compare. Voilà ce qui se joue.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40080" y="1920240"/>
            <a:ext cx="70408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majorité des mémoires en santé publique et en médecine sont des études comparatives — deux traitements, deux populations, un avant/après, plusieurs centres. C'est mathématiquement la situation où on te demandera le plus de comptes en soutenance.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657600"/>
            <a:ext cx="704088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c'est aussi là que les erreurs coûtent le plus cher : un mauvais choix de test invalide une conclusion principale. Pas un détail méthodologique annexe — la conclusion. Le jury le sait. Il sait aussi quels pièges chercher.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955280" y="1920240"/>
            <a:ext cx="3794760" cy="4023360"/>
          </a:xfrm>
          <a:prstGeom prst="roundRect">
            <a:avLst>
              <a:gd name="adj" fmla="val 2410"/>
            </a:avLst>
          </a:prstGeom>
          <a:solidFill>
            <a:srgbClr val="0E1729"/>
          </a:solidFill>
          <a:ln/>
        </p:spPr>
      </p:sp>
      <p:sp>
        <p:nvSpPr>
          <p:cNvPr id="9" name="Text 7"/>
          <p:cNvSpPr/>
          <p:nvPr/>
        </p:nvSpPr>
        <p:spPr>
          <a:xfrm>
            <a:off x="8138160" y="210312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MODULE COUVRE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138160" y="2514600"/>
            <a:ext cx="3474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0" b="1" dirty="0">
                <a:solidFill>
                  <a:srgbClr val="F090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9000" dirty="0"/>
          </a:p>
        </p:txBody>
      </p:sp>
      <p:sp>
        <p:nvSpPr>
          <p:cNvPr id="11" name="Text 9"/>
          <p:cNvSpPr/>
          <p:nvPr/>
        </p:nvSpPr>
        <p:spPr>
          <a:xfrm>
            <a:off x="8138160" y="3566160"/>
            <a:ext cx="3474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qui couvrent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90 % des comparaisons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rencontrées en mémoire.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138160" y="5029200"/>
            <a:ext cx="3383280" cy="18288"/>
          </a:xfrm>
          <a:prstGeom prst="rect">
            <a:avLst/>
          </a:prstGeom>
          <a:solidFill>
            <a:srgbClr val="F09042"/>
          </a:solidFill>
          <a:ln/>
        </p:spPr>
      </p:sp>
      <p:sp>
        <p:nvSpPr>
          <p:cNvPr id="13" name="Text 11"/>
          <p:cNvSpPr/>
          <p:nvPr/>
        </p:nvSpPr>
        <p:spPr>
          <a:xfrm>
            <a:off x="8138160" y="5166360"/>
            <a:ext cx="3474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C9C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chacun : quand l'utiliser, comment le coder, comment lire la sortie, ce que le jury va demander.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2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LA CARTE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0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Choisir en trois questions.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Avant de coder, ouvre-toi mentalement cet arbre. Trois questions à se poser dans l'ordre — la quatrième dépend du verdict de Shapiro.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926080"/>
            <a:ext cx="3621024" cy="640080"/>
          </a:xfrm>
          <a:prstGeom prst="rect">
            <a:avLst/>
          </a:prstGeom>
          <a:solidFill>
            <a:srgbClr val="F09042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999232"/>
            <a:ext cx="33467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GROUPES INDÉPENDANTS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77240" y="3273552"/>
            <a:ext cx="33467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vs B, traitement vs contrôle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3566160"/>
            <a:ext cx="3621024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3703320"/>
            <a:ext cx="33467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Quantitatif normal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77240" y="3931920"/>
            <a:ext cx="33467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Welch (slide 4)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77240" y="4480560"/>
            <a:ext cx="33467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Quantitatif non normal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77240" y="4709160"/>
            <a:ext cx="33467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Mann-Whitney (slide 5)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77240" y="5257800"/>
            <a:ext cx="33467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Qualitatif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77240" y="5486400"/>
            <a:ext cx="33467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Chi² · Fisher (8, 9)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352544" y="2926080"/>
            <a:ext cx="3621024" cy="640080"/>
          </a:xfrm>
          <a:prstGeom prst="rect">
            <a:avLst/>
          </a:prstGeom>
          <a:solidFill>
            <a:srgbClr val="F09042"/>
          </a:solidFill>
          <a:ln/>
        </p:spPr>
      </p:sp>
      <p:sp>
        <p:nvSpPr>
          <p:cNvPr id="18" name="Text 16"/>
          <p:cNvSpPr/>
          <p:nvPr/>
        </p:nvSpPr>
        <p:spPr>
          <a:xfrm>
            <a:off x="4489704" y="2999232"/>
            <a:ext cx="33467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GROUPES APPARIÉS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489704" y="3273552"/>
            <a:ext cx="33467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Avant / après, droite / gauche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352544" y="3566160"/>
            <a:ext cx="3621024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89704" y="3703320"/>
            <a:ext cx="33467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Quantitatif normal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489704" y="3931920"/>
            <a:ext cx="33467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t-test apparié (6)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489704" y="4480560"/>
            <a:ext cx="33467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Quantitatif non normal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489704" y="4709160"/>
            <a:ext cx="33467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Wilcoxon signed-rank (6)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489704" y="5257800"/>
            <a:ext cx="33467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Qualitatif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489704" y="5486400"/>
            <a:ext cx="33467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McNemar (slide 10)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065008" y="2926080"/>
            <a:ext cx="3621024" cy="640080"/>
          </a:xfrm>
          <a:prstGeom prst="rect">
            <a:avLst/>
          </a:prstGeom>
          <a:solidFill>
            <a:srgbClr val="F09042"/>
          </a:solidFill>
          <a:ln/>
        </p:spPr>
      </p:sp>
      <p:sp>
        <p:nvSpPr>
          <p:cNvPr id="28" name="Text 26"/>
          <p:cNvSpPr/>
          <p:nvPr/>
        </p:nvSpPr>
        <p:spPr>
          <a:xfrm>
            <a:off x="8202168" y="2999232"/>
            <a:ext cx="33467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3 GROUPES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202168" y="3273552"/>
            <a:ext cx="33467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Plusieurs traitements, centres, régions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065008" y="3566160"/>
            <a:ext cx="3621024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02168" y="3703320"/>
            <a:ext cx="33467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Quantitatif normal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202168" y="3931920"/>
            <a:ext cx="33467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ANOVA + Tukey (7)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202168" y="4480560"/>
            <a:ext cx="33467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Quantitatif non normal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202168" y="4709160"/>
            <a:ext cx="33467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Kruskal-Wallis + Dunn (8)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02168" y="5257800"/>
            <a:ext cx="33467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Qualitatif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8202168" y="5486400"/>
            <a:ext cx="33467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Chi² d'homogénéité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40080" y="6400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numéros entre parenthèses pointent vers les slides où chaque test est détaillé.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2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2 GROUPES INDÉPENDANTS · QUANTITATIF NORMAL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Welch par défaut. Student en exception.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Welch est robuste aux variances inégales ET aussi puissant que Student quand elles sont égales. En routine, je le lance directement. Si ton encadreur insiste pour Student, vérifie d'abord Levene.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3246120"/>
            <a:ext cx="5486400" cy="2606040"/>
          </a:xfrm>
          <a:prstGeom prst="roundRect">
            <a:avLst>
              <a:gd name="adj" fmla="val 1754"/>
            </a:avLst>
          </a:prstGeom>
          <a:solidFill>
            <a:srgbClr val="1A2541"/>
          </a:solidFill>
          <a:ln w="6350">
            <a:solidFill>
              <a:srgbClr val="F0904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3355848"/>
            <a:ext cx="365760" cy="256032"/>
          </a:xfrm>
          <a:prstGeom prst="roundRect">
            <a:avLst>
              <a:gd name="adj" fmla="val 14286"/>
            </a:avLst>
          </a:prstGeom>
          <a:solidFill>
            <a:srgbClr val="F09042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35584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703320"/>
            <a:ext cx="5212080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Welch : pas d'hypothèse sur les variances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t.test(hba1c ~ groupe, data = donnees,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var.equal = FALSE)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Cohen's d pour la taille d'effet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library(effsize)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cohen.d(hba1c ~ groupe, data = donnees)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0" y="3246120"/>
            <a:ext cx="5330952" cy="2606040"/>
          </a:xfrm>
          <a:prstGeom prst="roundRect">
            <a:avLst>
              <a:gd name="adj" fmla="val 1754"/>
            </a:avLst>
          </a:prstGeom>
          <a:solidFill>
            <a:srgbClr val="1A2541"/>
          </a:solidFill>
          <a:ln w="6350">
            <a:solidFill>
              <a:srgbClr val="6B7280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6537960" y="333756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9C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583680" y="3611880"/>
            <a:ext cx="505663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Welch Two Sample t-test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 = -3.42, df = 47.8, p = 0.0013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IC95% [-1.42, -0.36]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mean grp A = 7.1, grp B = 8.0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Cohen's d: -0.78 (medium-large)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Différence significative et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cliniquement pertinente.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le jury va demander : « Pourquoi Welch et pas Student ? » Réponse blindée : Welch est valide sans condition, Student exige l'égalité des variances.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2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2 GROUPES INDÉPENDANTS · QUANTITATIF NON-NORMAL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Mann-Whitney quand la normalité décroche.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Shapiro rejette et que le QQ-plot le confirme, Mann-Whitney prend le relais. Pas d'hypothèse de normalité, compare les rangs au lieu des moyennes. Aussi appelé Wilcoxon rank-sum — c'est le même test.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3246120"/>
            <a:ext cx="5486400" cy="2606040"/>
          </a:xfrm>
          <a:prstGeom prst="roundRect">
            <a:avLst>
              <a:gd name="adj" fmla="val 1754"/>
            </a:avLst>
          </a:prstGeom>
          <a:solidFill>
            <a:srgbClr val="1A2541"/>
          </a:solidFill>
          <a:ln w="6350">
            <a:solidFill>
              <a:srgbClr val="F0904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3355848"/>
            <a:ext cx="365760" cy="256032"/>
          </a:xfrm>
          <a:prstGeom prst="roundRect">
            <a:avLst>
              <a:gd name="adj" fmla="val 14286"/>
            </a:avLst>
          </a:prstGeom>
          <a:solidFill>
            <a:srgbClr val="F09042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35584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703320"/>
            <a:ext cx="5212080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Mann-Whitney / Wilcoxon rank-sum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wilcox.test(score ~ groupe,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data = donnees,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conf.int = TRUE)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Taille d'effet r = Z / sqrt(N)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library(rstatix)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wilcox_effsize(donnees, score ~ groupe)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0" y="3246120"/>
            <a:ext cx="5330952" cy="2606040"/>
          </a:xfrm>
          <a:prstGeom prst="roundRect">
            <a:avLst>
              <a:gd name="adj" fmla="val 1754"/>
            </a:avLst>
          </a:prstGeom>
          <a:solidFill>
            <a:srgbClr val="1A2541"/>
          </a:solidFill>
          <a:ln w="6350">
            <a:solidFill>
              <a:srgbClr val="6B7280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6537960" y="333756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9C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583680" y="3611880"/>
            <a:ext cx="505663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Wilcoxon rank sum test with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continuity correction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 = 312, p-value = 0.018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95% CI [-2.5, -0.3]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(différence des médianes)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Effect size r = 0.31 (medium)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soutenance : « Vous avez utilisé Mann-Whitney parce que… ? » Réponse : « Shapiro p = 0.003, QQ-plot écart aux extrêmes — donc test non paramétrique. »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2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DONNÉES APPARIÉES · LE MÊME SUJET MESURÉ DEUX FOIS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Avant / après, droite / gauche, deux observateurs.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187452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L'erreur N°1 sur les données appariées : appliquer un t-test indépendant. Tu détruis l'information de pairage et tu perds en puissance. Le jury va te le rappeler. Le bon test dépend de la normalité — des DIFFÉRENCES, pas des valeurs brutes.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5486400" cy="2468880"/>
          </a:xfrm>
          <a:prstGeom prst="roundRect">
            <a:avLst>
              <a:gd name="adj" fmla="val 1852"/>
            </a:avLst>
          </a:prstGeom>
          <a:solidFill>
            <a:srgbClr val="1A2541"/>
          </a:solidFill>
          <a:ln w="6350">
            <a:solidFill>
              <a:srgbClr val="F0904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3493008"/>
            <a:ext cx="365760" cy="256032"/>
          </a:xfrm>
          <a:prstGeom prst="roundRect">
            <a:avLst>
              <a:gd name="adj" fmla="val 14286"/>
            </a:avLst>
          </a:prstGeom>
          <a:solidFill>
            <a:srgbClr val="F09042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49300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840480"/>
            <a:ext cx="52120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Si différences normales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t.test(donnees$apres,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donnees$avant,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paired = TRUE)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Vérif normalité des diff.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diff &lt;- donnees$apres -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donnees$avant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shapiro.test(diff)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0" y="3383280"/>
            <a:ext cx="5330952" cy="2468880"/>
          </a:xfrm>
          <a:prstGeom prst="roundRect">
            <a:avLst>
              <a:gd name="adj" fmla="val 1852"/>
            </a:avLst>
          </a:prstGeom>
          <a:solidFill>
            <a:srgbClr val="1A2541"/>
          </a:solidFill>
          <a:ln w="6350">
            <a:solidFill>
              <a:srgbClr val="F0904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37960" y="3493008"/>
            <a:ext cx="365760" cy="256032"/>
          </a:xfrm>
          <a:prstGeom prst="roundRect">
            <a:avLst>
              <a:gd name="adj" fmla="val 14286"/>
            </a:avLst>
          </a:prstGeom>
          <a:solidFill>
            <a:srgbClr val="F09042"/>
          </a:solidFill>
          <a:ln/>
        </p:spPr>
      </p:sp>
      <p:sp>
        <p:nvSpPr>
          <p:cNvPr id="13" name="Text 11"/>
          <p:cNvSpPr/>
          <p:nvPr/>
        </p:nvSpPr>
        <p:spPr>
          <a:xfrm>
            <a:off x="6537960" y="349300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583680" y="3840480"/>
            <a:ext cx="5056632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Si différences non-normales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wilcox.test(donnees$apres,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donnees$avant,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paired = TRUE,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conf.int = TRUE)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Wilcoxon signed-rank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(à ne pas confondre avec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Wilcoxon rank-sum)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Vérifie Shapiro sur la SÉRIE DES DIFFÉRENCES (apres − avant), pas sur chaque mesure séparément. C'est cette série qui doit être normale pour le t-test apparié.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2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≥ 3 GROUPES · QUANTITATIF NORMAL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ANOVA dit « ça bouge ». Tukey dit « où ».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ANOVA répond à « y a-t-il une différence quelque part ? ». Si oui, elle ne te dit pas entre quels groupes. C'est Tukey HSD (post-hoc) qui le précise — sans Tukey, ton ANOVA significative n'est pas utilisable pour conclure.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3246120"/>
            <a:ext cx="5486400" cy="2606040"/>
          </a:xfrm>
          <a:prstGeom prst="roundRect">
            <a:avLst>
              <a:gd name="adj" fmla="val 1754"/>
            </a:avLst>
          </a:prstGeom>
          <a:solidFill>
            <a:srgbClr val="1A2541"/>
          </a:solidFill>
          <a:ln w="6350">
            <a:solidFill>
              <a:srgbClr val="F0904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3355848"/>
            <a:ext cx="365760" cy="256032"/>
          </a:xfrm>
          <a:prstGeom prst="roundRect">
            <a:avLst>
              <a:gd name="adj" fmla="val 14286"/>
            </a:avLst>
          </a:prstGeom>
          <a:solidFill>
            <a:srgbClr val="F09042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35584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703320"/>
            <a:ext cx="5212080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Vérif préalables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library(car)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leveneTest(score ~ region, data = donnees)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ANOVA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modele &lt;- aov(score ~ region, data = donnees)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summary(modele)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Post-hoc Tukey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TukeyHSD(modele)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0" y="3246120"/>
            <a:ext cx="5330952" cy="2606040"/>
          </a:xfrm>
          <a:prstGeom prst="roundRect">
            <a:avLst>
              <a:gd name="adj" fmla="val 1754"/>
            </a:avLst>
          </a:prstGeom>
          <a:solidFill>
            <a:srgbClr val="1A2541"/>
          </a:solidFill>
          <a:ln w="6350">
            <a:solidFill>
              <a:srgbClr val="6B7280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6537960" y="333756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9C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583680" y="3611880"/>
            <a:ext cx="505663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  Sum Sq  F value  Pr(&gt;F)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region       2  124.5   8.31    0.0006 ***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Residuals   87  650.8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$region (Tukey HSD)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diff    p adj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B-A      1.2     0.012 *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C-A      2.4     0.0003 ***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C-B      1.2     0.014 *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Levene rejette : ANOVA de Welch (oneway.test) puis Games-Howell en post-hoc. Plus robuste sur variances inégales.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2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≥ 3 GROUPES · QUANTITATIF NON-NORMAL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L'alternative non-paramétrique de l'ANOVA.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Même logique que ANOVA, sans hypothèse de normalité. Si Kruskal-Wallis rejette H₀, le post-hoc Dunn dit entre quels groupes la différence se trouve, avec ajustement pour les comparaisons multiples.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3246120"/>
            <a:ext cx="5486400" cy="2606040"/>
          </a:xfrm>
          <a:prstGeom prst="roundRect">
            <a:avLst>
              <a:gd name="adj" fmla="val 1754"/>
            </a:avLst>
          </a:prstGeom>
          <a:solidFill>
            <a:srgbClr val="1A2541"/>
          </a:solidFill>
          <a:ln w="6350">
            <a:solidFill>
              <a:srgbClr val="F0904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3355848"/>
            <a:ext cx="365760" cy="256032"/>
          </a:xfrm>
          <a:prstGeom prst="roundRect">
            <a:avLst>
              <a:gd name="adj" fmla="val 14286"/>
            </a:avLst>
          </a:prstGeom>
          <a:solidFill>
            <a:srgbClr val="F09042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35584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703320"/>
            <a:ext cx="5212080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Kruskal-Wallis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kruskal.test(score ~ region,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data = donnees)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Post-hoc Dunn (avec ajust.)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library(dunn.test)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dunn.test(donnees$score,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donnees$region,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method = "bh")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0" y="3246120"/>
            <a:ext cx="5330952" cy="2606040"/>
          </a:xfrm>
          <a:prstGeom prst="roundRect">
            <a:avLst>
              <a:gd name="adj" fmla="val 1754"/>
            </a:avLst>
          </a:prstGeom>
          <a:solidFill>
            <a:srgbClr val="1A2541"/>
          </a:solidFill>
          <a:ln w="6350">
            <a:solidFill>
              <a:srgbClr val="6B7280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6537960" y="333756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9C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583680" y="3611880"/>
            <a:ext cx="505663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Kruskal-Wallis rank sum test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Kruskal-Wallis chi² = 14.2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 = 2, p-value = 0.0008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Dunn (Benjamini-Hochberg)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A-B : Z = 2.1, p_adj = 0.034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A-C : Z = 3.6, p_adj = 0.0009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B-C : Z = 1.8, p_adj = 0.052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Dunn est l'équivalent de Tukey pour la version non-paramétrique. Le `method = "bh"` applique BH pour les comparaisons multiples.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2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2 PROPORTIONS · GRANDS EFFECTIFS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Chi² d'indépendance.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deux proportions (succès vs échec, exposés vs non-exposés). Hypothèse à vérifier : effectifs attendus ≥ 5 dans chaque cellule. Sinon, Fisher exact (slide suivante).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3246120"/>
            <a:ext cx="5486400" cy="2606040"/>
          </a:xfrm>
          <a:prstGeom prst="roundRect">
            <a:avLst>
              <a:gd name="adj" fmla="val 1754"/>
            </a:avLst>
          </a:prstGeom>
          <a:solidFill>
            <a:srgbClr val="1A2541"/>
          </a:solidFill>
          <a:ln w="6350">
            <a:solidFill>
              <a:srgbClr val="F0904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3355848"/>
            <a:ext cx="365760" cy="256032"/>
          </a:xfrm>
          <a:prstGeom prst="roundRect">
            <a:avLst>
              <a:gd name="adj" fmla="val 14286"/>
            </a:avLst>
          </a:prstGeom>
          <a:solidFill>
            <a:srgbClr val="F09042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35584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703320"/>
            <a:ext cx="5212080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Tableau de contingence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tab &lt;- table(donnees$exposition,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donnees$maladie)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Chi² + OR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chisq.test(tab)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library(epitools)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oddsratio(tab)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0" y="3246120"/>
            <a:ext cx="5330952" cy="2606040"/>
          </a:xfrm>
          <a:prstGeom prst="roundRect">
            <a:avLst>
              <a:gd name="adj" fmla="val 1754"/>
            </a:avLst>
          </a:prstGeom>
          <a:solidFill>
            <a:srgbClr val="1A2541"/>
          </a:solidFill>
          <a:ln w="6350">
            <a:solidFill>
              <a:srgbClr val="6B7280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6537960" y="333756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9C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583680" y="3611880"/>
            <a:ext cx="505663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Pearson's Chi-squared test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Yates' continuity correction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X² = 12.3, df = 1, p = 0.0005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Odds Ratio   IC95%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Maladie    2.45   [1.51, 3.97]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Exposition associée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à la maladie.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soutenance : rapporte OR avec IC95%, pas la p-value seule. C'est la mesure d'effet attendue en épidémiologie.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2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2 PROPORTIONS · PETITS EFFECTIFS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Fisher exact : à utiliser large.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 une cellule attendue est &lt; 5, Chi² devient instable. Fisher exact reste valide quelle que soit la taille — c'est même légitime de l'utiliser par défaut sur du 2×2. Il y a peu de raisons de s'en priver.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3246120"/>
            <a:ext cx="5486400" cy="2606040"/>
          </a:xfrm>
          <a:prstGeom prst="roundRect">
            <a:avLst>
              <a:gd name="adj" fmla="val 1754"/>
            </a:avLst>
          </a:prstGeom>
          <a:solidFill>
            <a:srgbClr val="1A2541"/>
          </a:solidFill>
          <a:ln w="6350">
            <a:solidFill>
              <a:srgbClr val="F0904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3355848"/>
            <a:ext cx="365760" cy="256032"/>
          </a:xfrm>
          <a:prstGeom prst="roundRect">
            <a:avLst>
              <a:gd name="adj" fmla="val 14286"/>
            </a:avLst>
          </a:prstGeom>
          <a:solidFill>
            <a:srgbClr val="F09042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35584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703320"/>
            <a:ext cx="5212080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Tableau 2×2 avec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effectifs réduits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tab &lt;- matrix(c(3, 2,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8, 27), nrow = 2)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fisher.test(tab)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Pour des tableaux plus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grands, simulate.p.value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fisher.test(tab,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simulate.p.value = TRUE)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0" y="3246120"/>
            <a:ext cx="5330952" cy="2606040"/>
          </a:xfrm>
          <a:prstGeom prst="roundRect">
            <a:avLst>
              <a:gd name="adj" fmla="val 1754"/>
            </a:avLst>
          </a:prstGeom>
          <a:solidFill>
            <a:srgbClr val="1A2541"/>
          </a:solidFill>
          <a:ln w="6350">
            <a:solidFill>
              <a:srgbClr val="6B7280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6537960" y="333756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9C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583680" y="3611880"/>
            <a:ext cx="505663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Fisher's Exact Test for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 Data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p-value = 0.027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alternative hypothesis: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true odds ratio is not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equal to 1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95% CI: [1.02, 47.5]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sample OR estimate: 4.86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L'IC95% large signale ici un petit échantillon. Conclusion à nuancer — l'effet existe peut-être, mais sa magnitude est imprécise.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2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PROPORTIONS APPARIÉES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McNemar : le test des discordances.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 chaque sujet est mesuré à deux moments (test A vs test B sur les mêmes patients, dépistage avant vs après formation), McNemar compare uniquement les discordances. C'est l'équivalent du t-test apparié, mais pour les proportions.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3246120"/>
            <a:ext cx="5486400" cy="2606040"/>
          </a:xfrm>
          <a:prstGeom prst="roundRect">
            <a:avLst>
              <a:gd name="adj" fmla="val 1754"/>
            </a:avLst>
          </a:prstGeom>
          <a:solidFill>
            <a:srgbClr val="1A2541"/>
          </a:solidFill>
          <a:ln w="6350">
            <a:solidFill>
              <a:srgbClr val="F0904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3355848"/>
            <a:ext cx="365760" cy="256032"/>
          </a:xfrm>
          <a:prstGeom prst="roundRect">
            <a:avLst>
              <a:gd name="adj" fmla="val 14286"/>
            </a:avLst>
          </a:prstGeom>
          <a:solidFill>
            <a:srgbClr val="F09042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35584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703320"/>
            <a:ext cx="5212080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Tableau 2×2 apparié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Lignes = avant, Colonnes = après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(++) (+-)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(-+) (--)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tab &lt;- matrix(c(45, 12,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28, 15), nrow = 2)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mcnemar.test(tab,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correct = TRUE)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0" y="3246120"/>
            <a:ext cx="5330952" cy="2606040"/>
          </a:xfrm>
          <a:prstGeom prst="roundRect">
            <a:avLst>
              <a:gd name="adj" fmla="val 1754"/>
            </a:avLst>
          </a:prstGeom>
          <a:solidFill>
            <a:srgbClr val="1A2541"/>
          </a:solidFill>
          <a:ln w="6350">
            <a:solidFill>
              <a:srgbClr val="6B7280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6537960" y="333756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9C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583680" y="3611880"/>
            <a:ext cx="505663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McNemar's Chi-squared test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continuity correction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data:  tab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McNemar's chi² = 5.625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 = 1, p-value = 0.0177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Différence significative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entre les deux moments.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McNemar ignore les concordances (cellules ++ et --) — seules les bascules (+− et −+) portent l'information. C'est subtil et il faut le savoir.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2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AU-DELÀ DE LA p-VALUE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chaque test, sa mesure d'effet.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87452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rappel le plus martelé du Module 1 : ne jamais rapporter une p-value seule. Pour chaque test ci-dessous, l'indice de taille d'effet correspondant — c'est ce que tu colles dans ton tableau de résultats à côté de p.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3337560"/>
            <a:ext cx="11091672" cy="365760"/>
          </a:xfrm>
          <a:prstGeom prst="rect">
            <a:avLst/>
          </a:prstGeom>
          <a:solidFill>
            <a:srgbClr val="0E1729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3364992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297680" y="336499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TAILLE D'EFFET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132320" y="336499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 R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40080" y="3749040"/>
            <a:ext cx="11091672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6CF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749040"/>
            <a:ext cx="34747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t-test (Welch, Student, apparié)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297680" y="3749040"/>
            <a:ext cx="27432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Cohen's 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132320" y="3749040"/>
            <a:ext cx="45720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library(effsize); cohen.d(...)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40080" y="4169664"/>
            <a:ext cx="11091672" cy="420624"/>
          </a:xfrm>
          <a:prstGeom prst="rect">
            <a:avLst/>
          </a:prstGeom>
          <a:solidFill>
            <a:srgbClr val="F5EFE0"/>
          </a:solidFill>
          <a:ln w="6350">
            <a:solidFill>
              <a:srgbClr val="D6CFB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4169664"/>
            <a:ext cx="34747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Mann-Whitney, Wilcoxon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297680" y="4169664"/>
            <a:ext cx="27432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Z / √N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132320" y="4169664"/>
            <a:ext cx="45720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library(rstatix); wilcox_effsize(...)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40080" y="4590288"/>
            <a:ext cx="11091672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6CFB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4590288"/>
            <a:ext cx="34747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ANOVA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297680" y="4590288"/>
            <a:ext cx="27432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η² (eta carré) ou ω²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132320" y="4590288"/>
            <a:ext cx="45720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library(effectsize); eta_squared(modele)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40080" y="5010912"/>
            <a:ext cx="11091672" cy="420624"/>
          </a:xfrm>
          <a:prstGeom prst="rect">
            <a:avLst/>
          </a:prstGeom>
          <a:solidFill>
            <a:srgbClr val="F5EFE0"/>
          </a:solidFill>
          <a:ln w="6350">
            <a:solidFill>
              <a:srgbClr val="D6CFB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5010912"/>
            <a:ext cx="34747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Kruskal-Wallis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297680" y="5010912"/>
            <a:ext cx="27432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ε² (epsilon carré)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132320" y="5010912"/>
            <a:ext cx="45720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library(rstatix); kruskal_effsize(...)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" y="5431536"/>
            <a:ext cx="11091672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6CFB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7240" y="5431536"/>
            <a:ext cx="34747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Chi², Fisher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297680" y="5431536"/>
            <a:ext cx="27432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avec IC95%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132320" y="5431536"/>
            <a:ext cx="45720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library(epitools); oddsratio(tab)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40080" y="5852160"/>
            <a:ext cx="11091672" cy="420624"/>
          </a:xfrm>
          <a:prstGeom prst="rect">
            <a:avLst/>
          </a:prstGeom>
          <a:solidFill>
            <a:srgbClr val="F5EFE0"/>
          </a:solidFill>
          <a:ln w="6350">
            <a:solidFill>
              <a:srgbClr val="D6CFB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77240" y="5852160"/>
            <a:ext cx="34747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McNemar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297680" y="5852160"/>
            <a:ext cx="27432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de discordances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132320" y="5852160"/>
            <a:ext cx="45720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library(epitools); oddsratio(...)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40080" y="594360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Tous ces packages s'installent une fois pour toutes : install.packages(c("effsize", "rstatix", "effectsize", "epitools"))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2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CAS D'ÉCOLE · WORKFLOW COMPLET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0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essai randomisé de A à Z.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Scénario : essai bras A (nouveau) vs bras B (standard) chez 60 patients diabétiques. Variable principale = HbA1c à 12 semaines. Voici exactement ce que tu présentes au jury — workflow et résultat.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834640"/>
            <a:ext cx="6858000" cy="3429000"/>
          </a:xfrm>
          <a:prstGeom prst="roundRect">
            <a:avLst>
              <a:gd name="adj" fmla="val 1333"/>
            </a:avLst>
          </a:prstGeom>
          <a:solidFill>
            <a:srgbClr val="1A2541"/>
          </a:solidFill>
          <a:ln w="6350">
            <a:solidFill>
              <a:srgbClr val="F0904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2944368"/>
            <a:ext cx="365760" cy="256032"/>
          </a:xfrm>
          <a:prstGeom prst="roundRect">
            <a:avLst>
              <a:gd name="adj" fmla="val 14286"/>
            </a:avLst>
          </a:prstGeom>
          <a:solidFill>
            <a:srgbClr val="F09042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94436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291840"/>
            <a:ext cx="6583680" cy="2880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Exploration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table(donnees$bras)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by(donnees$hba1c, donnees$bras, summary)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Vérifs préalables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shapiro.test(donnees$hba1c[donnees$bras == "A"])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shapiro.test(donnees$hba1c[donnees$bras == "B"])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library(car)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leveneTest(hba1c ~ bras, data = donnees)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 Test principal (Welch direct)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t.test(hba1c ~ bras, data = donnees,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var.equal = FALSE)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4. Taille d'effet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library(effsize)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cohen.d(hba1c ~ bras, data = donnees)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680960" y="2834640"/>
            <a:ext cx="4050792" cy="3429000"/>
          </a:xfrm>
          <a:prstGeom prst="roundRect">
            <a:avLst>
              <a:gd name="adj" fmla="val 2667"/>
            </a:avLst>
          </a:prstGeom>
          <a:solidFill>
            <a:srgbClr val="0E1729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0" y="297180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QUI VA EN TABLEAU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863840" y="3383280"/>
            <a:ext cx="3749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Bras A · n = 30 · HbA1c moy. 7,1 (ET 0,8)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Bras B · n = 30 · HbA1c moy. 8,0 (ET 0,9)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863840" y="4434840"/>
            <a:ext cx="3749040" cy="18288"/>
          </a:xfrm>
          <a:prstGeom prst="rect">
            <a:avLst/>
          </a:prstGeom>
          <a:solidFill>
            <a:srgbClr val="F09042"/>
          </a:solidFill>
          <a:ln/>
        </p:spPr>
      </p:sp>
      <p:sp>
        <p:nvSpPr>
          <p:cNvPr id="15" name="Text 13"/>
          <p:cNvSpPr/>
          <p:nvPr/>
        </p:nvSpPr>
        <p:spPr>
          <a:xfrm>
            <a:off x="7863840" y="457200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Différence moyenne −0,9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IC95% [−1,42 ; −0,36]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0,0013 (Welch)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Cohen's d = −0,78 (effet moyen-fort)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863840" y="5943600"/>
            <a:ext cx="3749040" cy="18288"/>
          </a:xfrm>
          <a:prstGeom prst="rect">
            <a:avLst/>
          </a:prstGeom>
          <a:solidFill>
            <a:srgbClr val="F09042"/>
          </a:solidFill>
          <a:ln/>
        </p:spPr>
      </p:sp>
      <p:sp>
        <p:nvSpPr>
          <p:cNvPr id="17" name="Text 15"/>
          <p:cNvSpPr/>
          <p:nvPr/>
        </p:nvSpPr>
        <p:spPr>
          <a:xfrm>
            <a:off x="7863840" y="598932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C9C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: effet cliniquement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C9C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pertinent (HbA1c −0,9 %).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2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CINQ PIÈGES OBSERVÉS EN PRE-SOUTENANCE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Cinq erreurs qui font mal en soutenance.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40080" y="1920240"/>
            <a:ext cx="11091672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920240"/>
            <a:ext cx="73152" cy="822960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05740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600200" y="2029968"/>
            <a:ext cx="9966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t-test indépendant sur données appariées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600200" y="2359152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détruis l'information de pairage et tu perds en puissance. Le jury repère ça en 30 secondes.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2788920"/>
            <a:ext cx="11091672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788920"/>
            <a:ext cx="73152" cy="822960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292608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600200" y="2898648"/>
            <a:ext cx="9966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ANOVA significative sans Tukey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600200" y="3227832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ANOVA dit « il y a une différence » sans dire où. Sans post-hoc, ta conclusion sur quel groupe est inutilisable.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3657600"/>
            <a:ext cx="11091672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3657600"/>
            <a:ext cx="73152" cy="822960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379476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600200" y="3767328"/>
            <a:ext cx="9966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Chi² avec effectifs attendus &lt; 5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600200" y="4096512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test est invalide. Utilise Fisher exact à la place — il marche dans tous les cas.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526280"/>
            <a:ext cx="11091672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4526280"/>
            <a:ext cx="73152" cy="822960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23" name="Text 21"/>
          <p:cNvSpPr/>
          <p:nvPr/>
        </p:nvSpPr>
        <p:spPr>
          <a:xfrm>
            <a:off x="822960" y="466344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1600200" y="4636008"/>
            <a:ext cx="9966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Multiplication des tests sans correction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600200" y="4965192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fais 15 comparaisons sur le même jeu de données, tu trouves 3 « significatifs ». Bonferroni ou BH, sinon c'est du hasard.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40080" y="5394960"/>
            <a:ext cx="11091672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0080" y="5394960"/>
            <a:ext cx="73152" cy="822960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" y="553212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1600200" y="5504688"/>
            <a:ext cx="9966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Rapporter p sans taille d'effet ni IC95%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600200" y="5833872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triade test + IC95% + taille d'effet. Une p-value seule, c'est un mémoire fragile.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E1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2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315200" y="2743200"/>
            <a:ext cx="6400800" cy="6400800"/>
          </a:xfrm>
          <a:prstGeom prst="ellipse">
            <a:avLst/>
          </a:prstGeom>
          <a:solidFill>
            <a:srgbClr val="F09042">
              <a:alpha val="12000"/>
            </a:srgbClr>
          </a:solidFill>
          <a:ln/>
        </p:spPr>
      </p:sp>
      <p:pic>
        <p:nvPicPr>
          <p:cNvPr id="5" name="Image 0" descr="E:\Projets\heaven-elijah-site\public\logo-picto.png">    </p:cNvPr>
          <p:cNvPicPr>
            <a:picLocks noChangeAspect="1"/>
          </p:cNvPicPr>
          <p:nvPr/>
        </p:nvPicPr>
        <p:blipFill>
          <a:blip r:embed="rId1">
            <a:alphaModFix amt="75000"/>
          </a:blip>
          <a:stretch>
            <a:fillRect/>
          </a:stretch>
        </p:blipFill>
        <p:spPr>
          <a:xfrm>
            <a:off x="10424160" y="274320"/>
            <a:ext cx="1371600" cy="1371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6400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LA SUITE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0080" y="1371600"/>
            <a:ext cx="109728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spc="-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sais comparer.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spc="-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 aux associations.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640080" y="3474720"/>
            <a:ext cx="109728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i="1" dirty="0">
                <a:solidFill>
                  <a:srgbClr val="C9C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Module 3 entre dans le détail des associations : corrélation, régression linéaire, régression logistique, OR ajustés. Là où ton mémoire devient explicatif, pas seulement descriptif.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i="1" dirty="0">
                <a:solidFill>
                  <a:srgbClr val="C9C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tu veux qu'on regarde ta méthodo sur un cas concret en attendant : 15 minutes de diagnostic, sans engagement.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40080" y="516636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25D366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5230368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direct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2960" y="5577840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+221 76 387 34 28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6309360" y="5166360"/>
            <a:ext cx="5422392" cy="1005840"/>
          </a:xfrm>
          <a:prstGeom prst="roundRect">
            <a:avLst>
              <a:gd name="adj" fmla="val 9091"/>
            </a:avLst>
          </a:prstGeom>
          <a:solidFill>
            <a:srgbClr val="F09042"/>
          </a:solidFill>
          <a:ln/>
        </p:spPr>
      </p:sp>
      <p:sp>
        <p:nvSpPr>
          <p:cNvPr id="13" name="Text 10"/>
          <p:cNvSpPr/>
          <p:nvPr/>
        </p:nvSpPr>
        <p:spPr>
          <a:xfrm>
            <a:off x="6492240" y="5230368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web HES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492240" y="557784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heavenelijahservice.org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Heaven Elijah Service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Comparer des groupes — Module 2</dc:title>
  <dc:subject>Formation HES — Biostatistique</dc:subject>
  <dc:creator>Heaven Elijah Service</dc:creator>
  <cp:lastModifiedBy>Heaven Elijah Service</cp:lastModifiedBy>
  <cp:revision>1</cp:revision>
  <dcterms:created xsi:type="dcterms:W3CDTF">2026-05-14T18:15:27Z</dcterms:created>
  <dcterms:modified xsi:type="dcterms:W3CDTF">2026-05-14T18:15:27Z</dcterms:modified>
</cp:coreProperties>
</file>