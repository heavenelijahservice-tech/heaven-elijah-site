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828800"/>
            <a:ext cx="4572000" cy="4572000"/>
          </a:xfrm>
          <a:prstGeom prst="ellipse">
            <a:avLst/>
          </a:prstGeom>
          <a:solidFill>
            <a:srgbClr val="F09042">
              <a:alpha val="12000"/>
            </a:srgbClr>
          </a:solidFill>
          <a:ln/>
        </p:spPr>
      </p:sp>
      <p:pic>
        <p:nvPicPr>
          <p:cNvPr id="3" name="Image 0" descr="E:\Projets\heaven-elijah-site\public\logo-picto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10515600" y="530352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09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FORMATION HES · BIOSTAT · MODULE 3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1737360"/>
            <a:ext cx="10972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6200" b="1" spc="-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Trouver</a:t>
            </a:r>
            <a:endParaRPr lang="en-US" sz="6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200" b="1" spc="-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liens.</a:t>
            </a:r>
            <a:endParaRPr lang="en-US" sz="6200" dirty="0"/>
          </a:p>
        </p:txBody>
      </p:sp>
      <p:sp>
        <p:nvSpPr>
          <p:cNvPr id="6" name="Shape 3"/>
          <p:cNvSpPr/>
          <p:nvPr/>
        </p:nvSpPr>
        <p:spPr>
          <a:xfrm>
            <a:off x="640080" y="4617720"/>
            <a:ext cx="1371600" cy="54864"/>
          </a:xfrm>
          <a:prstGeom prst="rect">
            <a:avLst/>
          </a:prstGeom>
          <a:solidFill>
            <a:srgbClr val="F09042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4800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9C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corrélation à la régression logistique ajustée.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40080" y="59436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9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slides · ~50 min · M2 et doctorants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0" y="5943600"/>
            <a:ext cx="6245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9CF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heavenelijahservice.org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Biostat · Module 3 · Heaven Elijah Service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1735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09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POURQUOI CE MODULE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spc="-100" kern="0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ton mémoire passe du descriptif à l'explicatif.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fois ton échantillon décrit et tes groupes comparés, ton jury voudra savoir : qu'est-ce qui explique quoi ? Quel facteur prédit la maladie une fois qu'on contrôle les autres ? C'est le passage du « combien » au « pourquoi ».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4747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temps en analyse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3794760"/>
            <a:ext cx="3514344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931920"/>
            <a:ext cx="3331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Descriptif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434840"/>
            <a:ext cx="333146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Moyennes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Fréquences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00144" y="4366260"/>
            <a:ext cx="182880" cy="0"/>
          </a:xfrm>
          <a:prstGeom prst="line">
            <a:avLst/>
          </a:prstGeom>
          <a:noFill/>
          <a:ln w="19050">
            <a:solidFill>
              <a:srgbClr val="F0904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09872" y="4293108"/>
            <a:ext cx="73152" cy="73152"/>
          </a:xfrm>
          <a:prstGeom prst="line">
            <a:avLst/>
          </a:prstGeom>
          <a:noFill/>
          <a:ln w="19050">
            <a:solidFill>
              <a:srgbClr val="F090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09872" y="4439412"/>
            <a:ext cx="73152" cy="-73152"/>
          </a:xfrm>
          <a:prstGeom prst="line">
            <a:avLst/>
          </a:prstGeom>
          <a:noFill/>
          <a:ln w="19050">
            <a:solidFill>
              <a:srgbClr val="F090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28744" y="3794760"/>
            <a:ext cx="3514344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0184" y="3931920"/>
            <a:ext cx="3331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Comparatif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20184" y="4434840"/>
            <a:ext cx="333146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selon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plan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(Module 2)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988808" y="4366260"/>
            <a:ext cx="182880" cy="0"/>
          </a:xfrm>
          <a:prstGeom prst="line">
            <a:avLst/>
          </a:prstGeom>
          <a:noFill/>
          <a:ln w="19050">
            <a:solidFill>
              <a:srgbClr val="F090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98536" y="4293108"/>
            <a:ext cx="73152" cy="73152"/>
          </a:xfrm>
          <a:prstGeom prst="line">
            <a:avLst/>
          </a:prstGeom>
          <a:noFill/>
          <a:ln w="19050">
            <a:solidFill>
              <a:srgbClr val="F0904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98536" y="4439412"/>
            <a:ext cx="73152" cy="-73152"/>
          </a:xfrm>
          <a:prstGeom prst="line">
            <a:avLst/>
          </a:prstGeom>
          <a:noFill/>
          <a:ln w="19050">
            <a:solidFill>
              <a:srgbClr val="F090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17408" y="3794760"/>
            <a:ext cx="3514344" cy="1143000"/>
          </a:xfrm>
          <a:prstGeom prst="roundRect">
            <a:avLst>
              <a:gd name="adj" fmla="val 6400"/>
            </a:avLst>
          </a:prstGeom>
          <a:solidFill>
            <a:srgbClr val="F09042"/>
          </a:solidFill>
          <a:ln w="12700">
            <a:solidFill>
              <a:srgbClr val="D977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08848" y="3931920"/>
            <a:ext cx="3331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E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Explicatif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308848" y="4434840"/>
            <a:ext cx="333146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0E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Régressions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0E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ajustés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0E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IC95%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" y="5212080"/>
            <a:ext cx="54864" cy="1005840"/>
          </a:xfrm>
          <a:prstGeom prst="rect">
            <a:avLst/>
          </a:prstGeom>
          <a:solidFill>
            <a:srgbClr val="F09042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module couvre la régression — l'outil qui te permet de modéliser un lien tout en contrôlant les facteurs de confusion. La régression logistique multivariée est sans doute LA méthode des thèses en santé publique.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Biostat · Module 3 · Heaven Elijah Service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1735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09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LA CARTE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spc="-100" kern="0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le modèle selon ta variable de sortie.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régression, c'est la NATURE de ta variable Y (à expliquer) qui détermine la famille de modèle. La nature et le nombre des variables X (explicatives) déterminent ensuite le détail.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3621024" cy="640080"/>
          </a:xfrm>
          <a:prstGeom prst="rect">
            <a:avLst/>
          </a:prstGeom>
          <a:solidFill>
            <a:srgbClr val="F0904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999232"/>
            <a:ext cx="3346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E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CONTINUE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3273552"/>
            <a:ext cx="3346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E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tension, HbA1c, score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3566160"/>
            <a:ext cx="3621024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703320"/>
            <a:ext cx="33467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variable X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3931920"/>
            <a:ext cx="3346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52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Corrélation (4)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52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Rég. linéaire simple (5)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462272"/>
            <a:ext cx="33467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X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" y="4690872"/>
            <a:ext cx="3346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52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Rég. linéaire multiple (6)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5221224"/>
            <a:ext cx="33467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Multicollinéarité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" y="5449824"/>
            <a:ext cx="3346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52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VIF (slide 7)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52544" y="2926080"/>
            <a:ext cx="3621024" cy="640080"/>
          </a:xfrm>
          <a:prstGeom prst="rect">
            <a:avLst/>
          </a:prstGeom>
          <a:solidFill>
            <a:srgbClr val="F09042"/>
          </a:solidFill>
          <a:ln/>
        </p:spPr>
      </p:sp>
      <p:sp>
        <p:nvSpPr>
          <p:cNvPr id="18" name="Text 16"/>
          <p:cNvSpPr/>
          <p:nvPr/>
        </p:nvSpPr>
        <p:spPr>
          <a:xfrm>
            <a:off x="4489704" y="2999232"/>
            <a:ext cx="3346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E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BINAIRE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89704" y="3273552"/>
            <a:ext cx="3346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E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malade / sain, décès / vie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52544" y="3566160"/>
            <a:ext cx="3621024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9704" y="3703320"/>
            <a:ext cx="33467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variable X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489704" y="3931920"/>
            <a:ext cx="3346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52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Logistique univariée (9)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89704" y="4462272"/>
            <a:ext cx="33467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X (ajusté)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489704" y="4690872"/>
            <a:ext cx="3346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52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Logistique multivariée (10)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52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aOR + IC95% (11)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489704" y="5221224"/>
            <a:ext cx="33467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Évaluer le modèle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489704" y="5449824"/>
            <a:ext cx="3346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52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AUC, Hosmer-Lemeshow (12)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065008" y="2926080"/>
            <a:ext cx="3621024" cy="640080"/>
          </a:xfrm>
          <a:prstGeom prst="rect">
            <a:avLst/>
          </a:prstGeom>
          <a:solidFill>
            <a:srgbClr val="F09042"/>
          </a:solidFill>
          <a:ln/>
        </p:spPr>
      </p:sp>
      <p:sp>
        <p:nvSpPr>
          <p:cNvPr id="28" name="Text 26"/>
          <p:cNvSpPr/>
          <p:nvPr/>
        </p:nvSpPr>
        <p:spPr>
          <a:xfrm>
            <a:off x="8202168" y="2999232"/>
            <a:ext cx="3346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E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CATÉGORIELLE OU ORDINALE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02168" y="3273552"/>
            <a:ext cx="3346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E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stade I/II/III/IV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065008" y="3566160"/>
            <a:ext cx="3621024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02168" y="3703320"/>
            <a:ext cx="33467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Multinomial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202168" y="3931920"/>
            <a:ext cx="3346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52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multinom() · nnet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202168" y="4462272"/>
            <a:ext cx="33467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proportionnel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202168" y="4690872"/>
            <a:ext cx="3346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52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polr() · MASS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202168" y="5221224"/>
            <a:ext cx="33467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Hors-scope module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202168" y="5449824"/>
            <a:ext cx="3346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52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Couvert en formation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52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individuelle HES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Biostat · Module 3 · Heaven Elijah Service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1735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09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CORRÉLATIONS · PEARSON ET SPEARMAN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spc="-100" kern="0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force du lien, pas la causalité.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mesure une relation linéaire entre deux continues normales. Spearman mesure une relation monotone sur les rangs — robuste aux données non-normales et aux valeurs extrêmes. Aucun des deux ne dit que X cause 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3931920" cy="2926080"/>
          </a:xfrm>
          <a:prstGeom prst="roundRect">
            <a:avLst>
              <a:gd name="adj" fmla="val 1563"/>
            </a:avLst>
          </a:prstGeom>
          <a:solidFill>
            <a:srgbClr val="1A2541"/>
          </a:solidFill>
          <a:ln w="6350">
            <a:solidFill>
              <a:srgbClr val="F090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035808"/>
            <a:ext cx="365760" cy="256032"/>
          </a:xfrm>
          <a:prstGeom prst="roundRect">
            <a:avLst>
              <a:gd name="adj" fmla="val 14286"/>
            </a:avLst>
          </a:prstGeom>
          <a:solidFill>
            <a:srgbClr val="F09042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03580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7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38328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Pearson (linéaire,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normales)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cor.test(donnees$age,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donnees$hba1c,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method = "pearson")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Spearman (rangs)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cor.test(donnees$age,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donnees$hba1c,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method = "spearman")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2926080"/>
            <a:ext cx="2560320" cy="2926080"/>
          </a:xfrm>
          <a:prstGeom prst="roundRect">
            <a:avLst>
              <a:gd name="adj" fmla="val 1786"/>
            </a:avLst>
          </a:prstGeom>
          <a:solidFill>
            <a:srgbClr val="1A2541"/>
          </a:solidFill>
          <a:ln w="6350">
            <a:solidFill>
              <a:srgbClr val="6B728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846320" y="3017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C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92040" y="3291840"/>
            <a:ext cx="22860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Pearson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0.49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IC95%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[0.30, 0.65]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8.7e-05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Spearman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rho = 0.46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0.0002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406640" y="2926080"/>
            <a:ext cx="4325112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0" y="2962656"/>
            <a:ext cx="4142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HbA1c en fonction de l'âge · r = 0.49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818120" y="5486400"/>
            <a:ext cx="3776472" cy="0"/>
          </a:xfrm>
          <a:prstGeom prst="line">
            <a:avLst/>
          </a:prstGeom>
          <a:noFill/>
          <a:ln w="9525">
            <a:solidFill>
              <a:srgbClr val="0E172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18120" y="3246120"/>
            <a:ext cx="0" cy="2240280"/>
          </a:xfrm>
          <a:prstGeom prst="line">
            <a:avLst/>
          </a:prstGeom>
          <a:noFill/>
          <a:ln w="9525">
            <a:solidFill>
              <a:srgbClr val="0E172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18120" y="5577840"/>
            <a:ext cx="3776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X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 rot="-5400000">
            <a:off x="7424928" y="3246120"/>
            <a:ext cx="36576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869659" y="5407304"/>
            <a:ext cx="68580" cy="68580"/>
          </a:xfrm>
          <a:prstGeom prst="ellipse">
            <a:avLst/>
          </a:prstGeom>
          <a:solidFill>
            <a:srgbClr val="0E1729"/>
          </a:solidFill>
          <a:ln/>
        </p:spPr>
      </p:sp>
      <p:sp>
        <p:nvSpPr>
          <p:cNvPr id="21" name="Shape 19"/>
          <p:cNvSpPr/>
          <p:nvPr/>
        </p:nvSpPr>
        <p:spPr>
          <a:xfrm>
            <a:off x="8041317" y="4849625"/>
            <a:ext cx="68580" cy="68580"/>
          </a:xfrm>
          <a:prstGeom prst="ellipse">
            <a:avLst/>
          </a:prstGeom>
          <a:solidFill>
            <a:srgbClr val="0E1729"/>
          </a:solidFill>
          <a:ln/>
        </p:spPr>
      </p:sp>
      <p:sp>
        <p:nvSpPr>
          <p:cNvPr id="22" name="Shape 20"/>
          <p:cNvSpPr/>
          <p:nvPr/>
        </p:nvSpPr>
        <p:spPr>
          <a:xfrm>
            <a:off x="8212975" y="5243142"/>
            <a:ext cx="68580" cy="68580"/>
          </a:xfrm>
          <a:prstGeom prst="ellipse">
            <a:avLst/>
          </a:prstGeom>
          <a:solidFill>
            <a:srgbClr val="0E1729"/>
          </a:solidFill>
          <a:ln/>
        </p:spPr>
      </p:sp>
      <p:sp>
        <p:nvSpPr>
          <p:cNvPr id="23" name="Shape 21"/>
          <p:cNvSpPr/>
          <p:nvPr/>
        </p:nvSpPr>
        <p:spPr>
          <a:xfrm>
            <a:off x="8384632" y="4902486"/>
            <a:ext cx="68580" cy="68580"/>
          </a:xfrm>
          <a:prstGeom prst="ellipse">
            <a:avLst/>
          </a:prstGeom>
          <a:solidFill>
            <a:srgbClr val="0E1729"/>
          </a:solidFill>
          <a:ln/>
        </p:spPr>
      </p:sp>
      <p:sp>
        <p:nvSpPr>
          <p:cNvPr id="24" name="Shape 22"/>
          <p:cNvSpPr/>
          <p:nvPr/>
        </p:nvSpPr>
        <p:spPr>
          <a:xfrm>
            <a:off x="8556290" y="4930398"/>
            <a:ext cx="68580" cy="68580"/>
          </a:xfrm>
          <a:prstGeom prst="ellipse">
            <a:avLst/>
          </a:prstGeom>
          <a:solidFill>
            <a:srgbClr val="0E1729"/>
          </a:solidFill>
          <a:ln/>
        </p:spPr>
      </p:sp>
      <p:sp>
        <p:nvSpPr>
          <p:cNvPr id="25" name="Shape 23"/>
          <p:cNvSpPr/>
          <p:nvPr/>
        </p:nvSpPr>
        <p:spPr>
          <a:xfrm>
            <a:off x="8727948" y="4816240"/>
            <a:ext cx="68580" cy="68580"/>
          </a:xfrm>
          <a:prstGeom prst="ellipse">
            <a:avLst/>
          </a:prstGeom>
          <a:solidFill>
            <a:srgbClr val="0E1729"/>
          </a:solidFill>
          <a:ln/>
        </p:spPr>
      </p:sp>
      <p:sp>
        <p:nvSpPr>
          <p:cNvPr id="26" name="Shape 24"/>
          <p:cNvSpPr/>
          <p:nvPr/>
        </p:nvSpPr>
        <p:spPr>
          <a:xfrm>
            <a:off x="8899606" y="4652153"/>
            <a:ext cx="68580" cy="68580"/>
          </a:xfrm>
          <a:prstGeom prst="ellipse">
            <a:avLst/>
          </a:prstGeom>
          <a:solidFill>
            <a:srgbClr val="0E1729"/>
          </a:solidFill>
          <a:ln/>
        </p:spPr>
      </p:sp>
      <p:sp>
        <p:nvSpPr>
          <p:cNvPr id="27" name="Shape 25"/>
          <p:cNvSpPr/>
          <p:nvPr/>
        </p:nvSpPr>
        <p:spPr>
          <a:xfrm>
            <a:off x="9071264" y="4828471"/>
            <a:ext cx="68580" cy="68580"/>
          </a:xfrm>
          <a:prstGeom prst="ellipse">
            <a:avLst/>
          </a:prstGeom>
          <a:solidFill>
            <a:srgbClr val="0E1729"/>
          </a:solidFill>
          <a:ln/>
        </p:spPr>
      </p:sp>
      <p:sp>
        <p:nvSpPr>
          <p:cNvPr id="28" name="Shape 26"/>
          <p:cNvSpPr/>
          <p:nvPr/>
        </p:nvSpPr>
        <p:spPr>
          <a:xfrm>
            <a:off x="9242921" y="4669264"/>
            <a:ext cx="68580" cy="68580"/>
          </a:xfrm>
          <a:prstGeom prst="ellipse">
            <a:avLst/>
          </a:prstGeom>
          <a:solidFill>
            <a:srgbClr val="0E1729"/>
          </a:solidFill>
          <a:ln/>
        </p:spPr>
      </p:sp>
      <p:sp>
        <p:nvSpPr>
          <p:cNvPr id="29" name="Shape 27"/>
          <p:cNvSpPr/>
          <p:nvPr/>
        </p:nvSpPr>
        <p:spPr>
          <a:xfrm>
            <a:off x="9414579" y="4484796"/>
            <a:ext cx="68580" cy="68580"/>
          </a:xfrm>
          <a:prstGeom prst="ellipse">
            <a:avLst/>
          </a:prstGeom>
          <a:solidFill>
            <a:srgbClr val="0E1729"/>
          </a:solidFill>
          <a:ln/>
        </p:spPr>
      </p:sp>
      <p:sp>
        <p:nvSpPr>
          <p:cNvPr id="30" name="Shape 28"/>
          <p:cNvSpPr/>
          <p:nvPr/>
        </p:nvSpPr>
        <p:spPr>
          <a:xfrm>
            <a:off x="9586237" y="4181302"/>
            <a:ext cx="68580" cy="68580"/>
          </a:xfrm>
          <a:prstGeom prst="ellipse">
            <a:avLst/>
          </a:prstGeom>
          <a:solidFill>
            <a:srgbClr val="0E1729"/>
          </a:solidFill>
          <a:ln/>
        </p:spPr>
      </p:sp>
      <p:sp>
        <p:nvSpPr>
          <p:cNvPr id="31" name="Shape 29"/>
          <p:cNvSpPr/>
          <p:nvPr/>
        </p:nvSpPr>
        <p:spPr>
          <a:xfrm>
            <a:off x="9757895" y="4190844"/>
            <a:ext cx="68580" cy="68580"/>
          </a:xfrm>
          <a:prstGeom prst="ellipse">
            <a:avLst/>
          </a:prstGeom>
          <a:solidFill>
            <a:srgbClr val="0E1729"/>
          </a:solidFill>
          <a:ln/>
        </p:spPr>
      </p:sp>
      <p:sp>
        <p:nvSpPr>
          <p:cNvPr id="32" name="Shape 30"/>
          <p:cNvSpPr/>
          <p:nvPr/>
        </p:nvSpPr>
        <p:spPr>
          <a:xfrm>
            <a:off x="9929553" y="4464824"/>
            <a:ext cx="68580" cy="68580"/>
          </a:xfrm>
          <a:prstGeom prst="ellipse">
            <a:avLst/>
          </a:prstGeom>
          <a:solidFill>
            <a:srgbClr val="0E1729"/>
          </a:solidFill>
          <a:ln/>
        </p:spPr>
      </p:sp>
      <p:sp>
        <p:nvSpPr>
          <p:cNvPr id="33" name="Shape 31"/>
          <p:cNvSpPr/>
          <p:nvPr/>
        </p:nvSpPr>
        <p:spPr>
          <a:xfrm>
            <a:off x="10101211" y="3954737"/>
            <a:ext cx="68580" cy="68580"/>
          </a:xfrm>
          <a:prstGeom prst="ellipse">
            <a:avLst/>
          </a:prstGeom>
          <a:solidFill>
            <a:srgbClr val="0E1729"/>
          </a:solidFill>
          <a:ln/>
        </p:spPr>
      </p:sp>
      <p:sp>
        <p:nvSpPr>
          <p:cNvPr id="34" name="Shape 32"/>
          <p:cNvSpPr/>
          <p:nvPr/>
        </p:nvSpPr>
        <p:spPr>
          <a:xfrm>
            <a:off x="10272868" y="3979776"/>
            <a:ext cx="68580" cy="68580"/>
          </a:xfrm>
          <a:prstGeom prst="ellipse">
            <a:avLst/>
          </a:prstGeom>
          <a:solidFill>
            <a:srgbClr val="0E1729"/>
          </a:solidFill>
          <a:ln/>
        </p:spPr>
      </p:sp>
      <p:sp>
        <p:nvSpPr>
          <p:cNvPr id="35" name="Shape 33"/>
          <p:cNvSpPr/>
          <p:nvPr/>
        </p:nvSpPr>
        <p:spPr>
          <a:xfrm>
            <a:off x="10444526" y="4109694"/>
            <a:ext cx="68580" cy="68580"/>
          </a:xfrm>
          <a:prstGeom prst="ellipse">
            <a:avLst/>
          </a:prstGeom>
          <a:solidFill>
            <a:srgbClr val="0E1729"/>
          </a:solidFill>
          <a:ln/>
        </p:spPr>
      </p:sp>
      <p:sp>
        <p:nvSpPr>
          <p:cNvPr id="36" name="Shape 34"/>
          <p:cNvSpPr/>
          <p:nvPr/>
        </p:nvSpPr>
        <p:spPr>
          <a:xfrm>
            <a:off x="10616184" y="3777611"/>
            <a:ext cx="68580" cy="68580"/>
          </a:xfrm>
          <a:prstGeom prst="ellipse">
            <a:avLst/>
          </a:prstGeom>
          <a:solidFill>
            <a:srgbClr val="0E1729"/>
          </a:solidFill>
          <a:ln/>
        </p:spPr>
      </p:sp>
      <p:sp>
        <p:nvSpPr>
          <p:cNvPr id="37" name="Shape 35"/>
          <p:cNvSpPr/>
          <p:nvPr/>
        </p:nvSpPr>
        <p:spPr>
          <a:xfrm>
            <a:off x="10787842" y="3971229"/>
            <a:ext cx="68580" cy="68580"/>
          </a:xfrm>
          <a:prstGeom prst="ellipse">
            <a:avLst/>
          </a:prstGeom>
          <a:solidFill>
            <a:srgbClr val="0E1729"/>
          </a:solidFill>
          <a:ln/>
        </p:spPr>
      </p:sp>
      <p:sp>
        <p:nvSpPr>
          <p:cNvPr id="38" name="Shape 36"/>
          <p:cNvSpPr/>
          <p:nvPr/>
        </p:nvSpPr>
        <p:spPr>
          <a:xfrm>
            <a:off x="10959500" y="3787042"/>
            <a:ext cx="68580" cy="68580"/>
          </a:xfrm>
          <a:prstGeom prst="ellipse">
            <a:avLst/>
          </a:prstGeom>
          <a:solidFill>
            <a:srgbClr val="0E1729"/>
          </a:solidFill>
          <a:ln/>
        </p:spPr>
      </p:sp>
      <p:sp>
        <p:nvSpPr>
          <p:cNvPr id="39" name="Shape 37"/>
          <p:cNvSpPr/>
          <p:nvPr/>
        </p:nvSpPr>
        <p:spPr>
          <a:xfrm>
            <a:off x="11131157" y="3888643"/>
            <a:ext cx="68580" cy="68580"/>
          </a:xfrm>
          <a:prstGeom prst="ellipse">
            <a:avLst/>
          </a:prstGeom>
          <a:solidFill>
            <a:srgbClr val="0E1729"/>
          </a:solidFill>
          <a:ln/>
        </p:spPr>
      </p:sp>
      <p:sp>
        <p:nvSpPr>
          <p:cNvPr id="40" name="Shape 38"/>
          <p:cNvSpPr/>
          <p:nvPr/>
        </p:nvSpPr>
        <p:spPr>
          <a:xfrm>
            <a:off x="11302815" y="3582007"/>
            <a:ext cx="68580" cy="68580"/>
          </a:xfrm>
          <a:prstGeom prst="ellipse">
            <a:avLst/>
          </a:prstGeom>
          <a:solidFill>
            <a:srgbClr val="0E1729"/>
          </a:solidFill>
          <a:ln/>
        </p:spPr>
      </p:sp>
      <p:sp>
        <p:nvSpPr>
          <p:cNvPr id="41" name="Shape 39"/>
          <p:cNvSpPr/>
          <p:nvPr/>
        </p:nvSpPr>
        <p:spPr>
          <a:xfrm>
            <a:off x="11474473" y="3620595"/>
            <a:ext cx="68580" cy="68580"/>
          </a:xfrm>
          <a:prstGeom prst="ellipse">
            <a:avLst/>
          </a:prstGeom>
          <a:solidFill>
            <a:srgbClr val="0E1729"/>
          </a:solidFill>
          <a:ln/>
        </p:spPr>
      </p:sp>
      <p:sp>
        <p:nvSpPr>
          <p:cNvPr id="42" name="Shape 40"/>
          <p:cNvSpPr/>
          <p:nvPr/>
        </p:nvSpPr>
        <p:spPr>
          <a:xfrm>
            <a:off x="7818120" y="5217566"/>
            <a:ext cx="3776472" cy="-1568196"/>
          </a:xfrm>
          <a:prstGeom prst="line">
            <a:avLst/>
          </a:prstGeom>
          <a:noFill/>
          <a:ln w="19050">
            <a:solidFill>
              <a:srgbClr val="F0904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soutenance, évite « X cause Y » — dis « X est associé à Y ». Une corrélation n'est jamais une preuve de causalité, même r = 0.95.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Biostat · Module 3 · Heaven Elijah Service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1735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09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RÉGRESSION LINÉAIRE SIMPLE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spc="-100" kern="0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β₀ + β₁X + ε. Une équation à défendre.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Modélise Y comme fonction linéaire de X. β₁ se lit : « pour 1 unité d'augmentation de X, Y change de β₁ unités, en moyenne ». R² indique la part de variance de Y expliquée par X.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3931920" cy="2926080"/>
          </a:xfrm>
          <a:prstGeom prst="roundRect">
            <a:avLst>
              <a:gd name="adj" fmla="val 1563"/>
            </a:avLst>
          </a:prstGeom>
          <a:solidFill>
            <a:srgbClr val="1A2541"/>
          </a:solidFill>
          <a:ln w="6350">
            <a:solidFill>
              <a:srgbClr val="F090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035808"/>
            <a:ext cx="365760" cy="256032"/>
          </a:xfrm>
          <a:prstGeom prst="roundRect">
            <a:avLst>
              <a:gd name="adj" fmla="val 14286"/>
            </a:avLst>
          </a:prstGeom>
          <a:solidFill>
            <a:srgbClr val="F09042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03580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7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38328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Régression simple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modele &lt;- lm(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hba1c ~ age,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 = donnees)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summary(modele)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Diagnostics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par(mfrow = c(2, 2))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plot(modele)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2926080"/>
            <a:ext cx="2560320" cy="2926080"/>
          </a:xfrm>
          <a:prstGeom prst="roundRect">
            <a:avLst>
              <a:gd name="adj" fmla="val 1786"/>
            </a:avLst>
          </a:prstGeom>
          <a:solidFill>
            <a:srgbClr val="1A2541"/>
          </a:solidFill>
          <a:ln w="6350">
            <a:solidFill>
              <a:srgbClr val="6B728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846320" y="3017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C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92040" y="3291840"/>
            <a:ext cx="22860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Coefficients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(Intercept) 4.21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 &lt;3e-08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        0.052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 &lt;1e-05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R² = 0.27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p &lt; 1e-05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406640" y="2926080"/>
            <a:ext cx="4325112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0" y="2962656"/>
            <a:ext cx="4142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4.21 + 0.052·âge · R² = 0.27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818120" y="5486400"/>
            <a:ext cx="3776472" cy="0"/>
          </a:xfrm>
          <a:prstGeom prst="line">
            <a:avLst/>
          </a:prstGeom>
          <a:noFill/>
          <a:ln w="9525">
            <a:solidFill>
              <a:srgbClr val="0E172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18120" y="3246120"/>
            <a:ext cx="0" cy="2240280"/>
          </a:xfrm>
          <a:prstGeom prst="line">
            <a:avLst/>
          </a:prstGeom>
          <a:noFill/>
          <a:ln w="9525">
            <a:solidFill>
              <a:srgbClr val="0E172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18120" y="5577840"/>
            <a:ext cx="3776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X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 rot="-5400000">
            <a:off x="7424928" y="3246120"/>
            <a:ext cx="36576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869659" y="5312093"/>
            <a:ext cx="68580" cy="68580"/>
          </a:xfrm>
          <a:prstGeom prst="ellipse">
            <a:avLst/>
          </a:prstGeom>
          <a:solidFill>
            <a:srgbClr val="0E1729"/>
          </a:solidFill>
          <a:ln/>
        </p:spPr>
      </p:sp>
      <p:sp>
        <p:nvSpPr>
          <p:cNvPr id="21" name="Shape 19"/>
          <p:cNvSpPr/>
          <p:nvPr/>
        </p:nvSpPr>
        <p:spPr>
          <a:xfrm>
            <a:off x="8041317" y="4843117"/>
            <a:ext cx="68580" cy="68580"/>
          </a:xfrm>
          <a:prstGeom prst="ellipse">
            <a:avLst/>
          </a:prstGeom>
          <a:solidFill>
            <a:srgbClr val="0E1729"/>
          </a:solidFill>
          <a:ln/>
        </p:spPr>
      </p:sp>
      <p:sp>
        <p:nvSpPr>
          <p:cNvPr id="22" name="Shape 20"/>
          <p:cNvSpPr/>
          <p:nvPr/>
        </p:nvSpPr>
        <p:spPr>
          <a:xfrm>
            <a:off x="8212975" y="5174442"/>
            <a:ext cx="68580" cy="68580"/>
          </a:xfrm>
          <a:prstGeom prst="ellipse">
            <a:avLst/>
          </a:prstGeom>
          <a:solidFill>
            <a:srgbClr val="0E1729"/>
          </a:solidFill>
          <a:ln/>
        </p:spPr>
      </p:sp>
      <p:sp>
        <p:nvSpPr>
          <p:cNvPr id="23" name="Shape 21"/>
          <p:cNvSpPr/>
          <p:nvPr/>
        </p:nvSpPr>
        <p:spPr>
          <a:xfrm>
            <a:off x="8384632" y="4893957"/>
            <a:ext cx="68580" cy="68580"/>
          </a:xfrm>
          <a:prstGeom prst="ellipse">
            <a:avLst/>
          </a:prstGeom>
          <a:solidFill>
            <a:srgbClr val="0E1729"/>
          </a:solidFill>
          <a:ln/>
        </p:spPr>
      </p:sp>
      <p:sp>
        <p:nvSpPr>
          <p:cNvPr id="24" name="Shape 22"/>
          <p:cNvSpPr/>
          <p:nvPr/>
        </p:nvSpPr>
        <p:spPr>
          <a:xfrm>
            <a:off x="8556290" y="4920611"/>
            <a:ext cx="68580" cy="68580"/>
          </a:xfrm>
          <a:prstGeom prst="ellipse">
            <a:avLst/>
          </a:prstGeom>
          <a:solidFill>
            <a:srgbClr val="0E1729"/>
          </a:solidFill>
          <a:ln/>
        </p:spPr>
      </p:sp>
      <p:sp>
        <p:nvSpPr>
          <p:cNvPr id="25" name="Shape 23"/>
          <p:cNvSpPr/>
          <p:nvPr/>
        </p:nvSpPr>
        <p:spPr>
          <a:xfrm>
            <a:off x="8727948" y="4828873"/>
            <a:ext cx="68580" cy="68580"/>
          </a:xfrm>
          <a:prstGeom prst="ellipse">
            <a:avLst/>
          </a:prstGeom>
          <a:solidFill>
            <a:srgbClr val="0E1729"/>
          </a:solidFill>
          <a:ln/>
        </p:spPr>
      </p:sp>
      <p:sp>
        <p:nvSpPr>
          <p:cNvPr id="26" name="Shape 24"/>
          <p:cNvSpPr/>
          <p:nvPr/>
        </p:nvSpPr>
        <p:spPr>
          <a:xfrm>
            <a:off x="8899606" y="4695529"/>
            <a:ext cx="68580" cy="68580"/>
          </a:xfrm>
          <a:prstGeom prst="ellipse">
            <a:avLst/>
          </a:prstGeom>
          <a:solidFill>
            <a:srgbClr val="0E1729"/>
          </a:solidFill>
          <a:ln/>
        </p:spPr>
      </p:sp>
      <p:sp>
        <p:nvSpPr>
          <p:cNvPr id="27" name="Shape 25"/>
          <p:cNvSpPr/>
          <p:nvPr/>
        </p:nvSpPr>
        <p:spPr>
          <a:xfrm>
            <a:off x="9071264" y="4845854"/>
            <a:ext cx="68580" cy="68580"/>
          </a:xfrm>
          <a:prstGeom prst="ellipse">
            <a:avLst/>
          </a:prstGeom>
          <a:solidFill>
            <a:srgbClr val="0E1729"/>
          </a:solidFill>
          <a:ln/>
        </p:spPr>
      </p:sp>
      <p:sp>
        <p:nvSpPr>
          <p:cNvPr id="28" name="Shape 26"/>
          <p:cNvSpPr/>
          <p:nvPr/>
        </p:nvSpPr>
        <p:spPr>
          <a:xfrm>
            <a:off x="9242921" y="4716576"/>
            <a:ext cx="68580" cy="68580"/>
          </a:xfrm>
          <a:prstGeom prst="ellipse">
            <a:avLst/>
          </a:prstGeom>
          <a:solidFill>
            <a:srgbClr val="0E1729"/>
          </a:solidFill>
          <a:ln/>
        </p:spPr>
      </p:sp>
      <p:sp>
        <p:nvSpPr>
          <p:cNvPr id="29" name="Shape 27"/>
          <p:cNvSpPr/>
          <p:nvPr/>
        </p:nvSpPr>
        <p:spPr>
          <a:xfrm>
            <a:off x="9414579" y="4566247"/>
            <a:ext cx="68580" cy="68580"/>
          </a:xfrm>
          <a:prstGeom prst="ellipse">
            <a:avLst/>
          </a:prstGeom>
          <a:solidFill>
            <a:srgbClr val="0E1729"/>
          </a:solidFill>
          <a:ln/>
        </p:spPr>
      </p:sp>
      <p:sp>
        <p:nvSpPr>
          <p:cNvPr id="30" name="Shape 28"/>
          <p:cNvSpPr/>
          <p:nvPr/>
        </p:nvSpPr>
        <p:spPr>
          <a:xfrm>
            <a:off x="9586237" y="4316731"/>
            <a:ext cx="68580" cy="68580"/>
          </a:xfrm>
          <a:prstGeom prst="ellipse">
            <a:avLst/>
          </a:prstGeom>
          <a:solidFill>
            <a:srgbClr val="0E1729"/>
          </a:solidFill>
          <a:ln/>
        </p:spPr>
      </p:sp>
      <p:sp>
        <p:nvSpPr>
          <p:cNvPr id="31" name="Shape 29"/>
          <p:cNvSpPr/>
          <p:nvPr/>
        </p:nvSpPr>
        <p:spPr>
          <a:xfrm>
            <a:off x="9757895" y="4328077"/>
            <a:ext cx="68580" cy="68580"/>
          </a:xfrm>
          <a:prstGeom prst="ellipse">
            <a:avLst/>
          </a:prstGeom>
          <a:solidFill>
            <a:srgbClr val="0E1729"/>
          </a:solidFill>
          <a:ln/>
        </p:spPr>
      </p:sp>
      <p:sp>
        <p:nvSpPr>
          <p:cNvPr id="32" name="Shape 30"/>
          <p:cNvSpPr/>
          <p:nvPr/>
        </p:nvSpPr>
        <p:spPr>
          <a:xfrm>
            <a:off x="9929553" y="4559787"/>
            <a:ext cx="68580" cy="68580"/>
          </a:xfrm>
          <a:prstGeom prst="ellipse">
            <a:avLst/>
          </a:prstGeom>
          <a:solidFill>
            <a:srgbClr val="0E1729"/>
          </a:solidFill>
          <a:ln/>
        </p:spPr>
      </p:sp>
      <p:sp>
        <p:nvSpPr>
          <p:cNvPr id="33" name="Shape 31"/>
          <p:cNvSpPr/>
          <p:nvPr/>
        </p:nvSpPr>
        <p:spPr>
          <a:xfrm>
            <a:off x="10101211" y="4138109"/>
            <a:ext cx="68580" cy="68580"/>
          </a:xfrm>
          <a:prstGeom prst="ellipse">
            <a:avLst/>
          </a:prstGeom>
          <a:solidFill>
            <a:srgbClr val="0E1729"/>
          </a:solidFill>
          <a:ln/>
        </p:spPr>
      </p:sp>
      <p:sp>
        <p:nvSpPr>
          <p:cNvPr id="34" name="Shape 32"/>
          <p:cNvSpPr/>
          <p:nvPr/>
        </p:nvSpPr>
        <p:spPr>
          <a:xfrm>
            <a:off x="10272868" y="4162370"/>
            <a:ext cx="68580" cy="68580"/>
          </a:xfrm>
          <a:prstGeom prst="ellipse">
            <a:avLst/>
          </a:prstGeom>
          <a:solidFill>
            <a:srgbClr val="0E1729"/>
          </a:solidFill>
          <a:ln/>
        </p:spPr>
      </p:sp>
      <p:sp>
        <p:nvSpPr>
          <p:cNvPr id="35" name="Shape 33"/>
          <p:cNvSpPr/>
          <p:nvPr/>
        </p:nvSpPr>
        <p:spPr>
          <a:xfrm>
            <a:off x="10444526" y="4274029"/>
            <a:ext cx="68580" cy="68580"/>
          </a:xfrm>
          <a:prstGeom prst="ellipse">
            <a:avLst/>
          </a:prstGeom>
          <a:solidFill>
            <a:srgbClr val="0E1729"/>
          </a:solidFill>
          <a:ln/>
        </p:spPr>
      </p:sp>
      <p:sp>
        <p:nvSpPr>
          <p:cNvPr id="36" name="Shape 34"/>
          <p:cNvSpPr/>
          <p:nvPr/>
        </p:nvSpPr>
        <p:spPr>
          <a:xfrm>
            <a:off x="10616184" y="4000687"/>
            <a:ext cx="68580" cy="68580"/>
          </a:xfrm>
          <a:prstGeom prst="ellipse">
            <a:avLst/>
          </a:prstGeom>
          <a:solidFill>
            <a:srgbClr val="0E1729"/>
          </a:solidFill>
          <a:ln/>
        </p:spPr>
      </p:sp>
      <p:sp>
        <p:nvSpPr>
          <p:cNvPr id="37" name="Shape 35"/>
          <p:cNvSpPr/>
          <p:nvPr/>
        </p:nvSpPr>
        <p:spPr>
          <a:xfrm>
            <a:off x="10787842" y="4165430"/>
            <a:ext cx="68580" cy="68580"/>
          </a:xfrm>
          <a:prstGeom prst="ellipse">
            <a:avLst/>
          </a:prstGeom>
          <a:solidFill>
            <a:srgbClr val="0E1729"/>
          </a:solidFill>
          <a:ln/>
        </p:spPr>
      </p:sp>
      <p:sp>
        <p:nvSpPr>
          <p:cNvPr id="38" name="Shape 36"/>
          <p:cNvSpPr/>
          <p:nvPr/>
        </p:nvSpPr>
        <p:spPr>
          <a:xfrm>
            <a:off x="10959500" y="4015335"/>
            <a:ext cx="68580" cy="68580"/>
          </a:xfrm>
          <a:prstGeom prst="ellipse">
            <a:avLst/>
          </a:prstGeom>
          <a:solidFill>
            <a:srgbClr val="0E1729"/>
          </a:solidFill>
          <a:ln/>
        </p:spPr>
      </p:sp>
      <p:sp>
        <p:nvSpPr>
          <p:cNvPr id="39" name="Shape 37"/>
          <p:cNvSpPr/>
          <p:nvPr/>
        </p:nvSpPr>
        <p:spPr>
          <a:xfrm>
            <a:off x="11131157" y="4103397"/>
            <a:ext cx="68580" cy="68580"/>
          </a:xfrm>
          <a:prstGeom prst="ellipse">
            <a:avLst/>
          </a:prstGeom>
          <a:solidFill>
            <a:srgbClr val="0E1729"/>
          </a:solidFill>
          <a:ln/>
        </p:spPr>
      </p:sp>
      <p:sp>
        <p:nvSpPr>
          <p:cNvPr id="40" name="Shape 38"/>
          <p:cNvSpPr/>
          <p:nvPr/>
        </p:nvSpPr>
        <p:spPr>
          <a:xfrm>
            <a:off x="11302815" y="3851261"/>
            <a:ext cx="68580" cy="68580"/>
          </a:xfrm>
          <a:prstGeom prst="ellipse">
            <a:avLst/>
          </a:prstGeom>
          <a:solidFill>
            <a:srgbClr val="0E1729"/>
          </a:solidFill>
          <a:ln/>
        </p:spPr>
      </p:sp>
      <p:sp>
        <p:nvSpPr>
          <p:cNvPr id="41" name="Shape 39"/>
          <p:cNvSpPr/>
          <p:nvPr/>
        </p:nvSpPr>
        <p:spPr>
          <a:xfrm>
            <a:off x="11474473" y="3886813"/>
            <a:ext cx="68580" cy="68580"/>
          </a:xfrm>
          <a:prstGeom prst="ellipse">
            <a:avLst/>
          </a:prstGeom>
          <a:solidFill>
            <a:srgbClr val="0E1729"/>
          </a:solidFill>
          <a:ln/>
        </p:spPr>
      </p:sp>
      <p:sp>
        <p:nvSpPr>
          <p:cNvPr id="42" name="Shape 40"/>
          <p:cNvSpPr/>
          <p:nvPr/>
        </p:nvSpPr>
        <p:spPr>
          <a:xfrm>
            <a:off x="7818120" y="5150358"/>
            <a:ext cx="3776472" cy="-1232154"/>
          </a:xfrm>
          <a:prstGeom prst="line">
            <a:avLst/>
          </a:prstGeom>
          <a:noFill/>
          <a:ln w="19050">
            <a:solidFill>
              <a:srgbClr val="F0904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plot(modele) affiche 4 graphes de diagnostic : linéarité, normalité des résidus, homoscédasticité, valeurs influentes. À vérifier avant de défendre les coefficients.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Biostat · Module 3 · Heaven Elijah Service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1735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09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RÉGRESSION LINÉAIRE MULTIPLE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spc="-100" kern="0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X. Le coefficient devient « ajusté ».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coefficient β_i se lit maintenant : « effet de X_i sur Y, à toutes les autres variables fixées ». C'est ce qu'on appelle l'ajustement — la base du contrôle des facteurs de confusion en épidémiologie.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3931920" cy="2926080"/>
          </a:xfrm>
          <a:prstGeom prst="roundRect">
            <a:avLst>
              <a:gd name="adj" fmla="val 1563"/>
            </a:avLst>
          </a:prstGeom>
          <a:solidFill>
            <a:srgbClr val="1A2541"/>
          </a:solidFill>
          <a:ln w="6350">
            <a:solidFill>
              <a:srgbClr val="F090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035808"/>
            <a:ext cx="365760" cy="256032"/>
          </a:xfrm>
          <a:prstGeom prst="roundRect">
            <a:avLst>
              <a:gd name="adj" fmla="val 14286"/>
            </a:avLst>
          </a:prstGeom>
          <a:solidFill>
            <a:srgbClr val="F09042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03580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7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38328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Régression multiple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modele &lt;- lm(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hba1c ~ age + sexe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+ bmi + region,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 = donnees)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summary(modele)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Comparaison modèles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anova(modele_simple,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modele)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2926080"/>
            <a:ext cx="7022592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2971800"/>
            <a:ext cx="68397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 ajustés · effet sur HbA1c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752204" y="3246120"/>
            <a:ext cx="0" cy="224028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4800600" y="3361563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811175" y="3526155"/>
            <a:ext cx="180844" cy="0"/>
          </a:xfrm>
          <a:prstGeom prst="line">
            <a:avLst/>
          </a:prstGeom>
          <a:noFill/>
          <a:ln w="19050">
            <a:solidFill>
              <a:srgbClr val="F090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811175" y="3471291"/>
            <a:ext cx="0" cy="109728"/>
          </a:xfrm>
          <a:prstGeom prst="line">
            <a:avLst/>
          </a:prstGeom>
          <a:noFill/>
          <a:ln w="19050">
            <a:solidFill>
              <a:srgbClr val="F090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92018" y="3471291"/>
            <a:ext cx="0" cy="109728"/>
          </a:xfrm>
          <a:prstGeom prst="line">
            <a:avLst/>
          </a:prstGeom>
          <a:noFill/>
          <a:ln w="19050">
            <a:solidFill>
              <a:srgbClr val="F090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37588" y="3462147"/>
            <a:ext cx="128016" cy="128016"/>
          </a:xfrm>
          <a:prstGeom prst="rect">
            <a:avLst/>
          </a:prstGeom>
          <a:solidFill>
            <a:srgbClr val="F09042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3921633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sexe F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07886" y="4086225"/>
            <a:ext cx="2437456" cy="0"/>
          </a:xfrm>
          <a:prstGeom prst="line">
            <a:avLst/>
          </a:prstGeom>
          <a:noFill/>
          <a:ln w="19050">
            <a:solidFill>
              <a:srgbClr val="0E172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07886" y="4031361"/>
            <a:ext cx="0" cy="109728"/>
          </a:xfrm>
          <a:prstGeom prst="line">
            <a:avLst/>
          </a:prstGeom>
          <a:noFill/>
          <a:ln w="19050">
            <a:solidFill>
              <a:srgbClr val="0E172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5342" y="4031361"/>
            <a:ext cx="0" cy="109728"/>
          </a:xfrm>
          <a:prstGeom prst="line">
            <a:avLst/>
          </a:prstGeom>
          <a:noFill/>
          <a:ln w="19050">
            <a:solidFill>
              <a:srgbClr val="0E172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62606" y="4022217"/>
            <a:ext cx="128016" cy="128016"/>
          </a:xfrm>
          <a:prstGeom prst="rect">
            <a:avLst/>
          </a:prstGeom>
          <a:solidFill>
            <a:srgbClr val="0E1729"/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4481703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811175" y="4646295"/>
            <a:ext cx="235883" cy="0"/>
          </a:xfrm>
          <a:prstGeom prst="line">
            <a:avLst/>
          </a:prstGeom>
          <a:noFill/>
          <a:ln w="19050">
            <a:solidFill>
              <a:srgbClr val="F0904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11175" y="4591431"/>
            <a:ext cx="0" cy="109728"/>
          </a:xfrm>
          <a:prstGeom prst="line">
            <a:avLst/>
          </a:prstGeom>
          <a:noFill/>
          <a:ln w="19050">
            <a:solidFill>
              <a:srgbClr val="F0904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47057" y="4591431"/>
            <a:ext cx="0" cy="109728"/>
          </a:xfrm>
          <a:prstGeom prst="line">
            <a:avLst/>
          </a:prstGeom>
          <a:noFill/>
          <a:ln w="19050">
            <a:solidFill>
              <a:srgbClr val="F0904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65108" y="4582287"/>
            <a:ext cx="128016" cy="128016"/>
          </a:xfrm>
          <a:prstGeom prst="rect">
            <a:avLst/>
          </a:prstGeom>
          <a:solidFill>
            <a:srgbClr val="F09042"/>
          </a:solidFill>
          <a:ln/>
        </p:spPr>
      </p:sp>
      <p:sp>
        <p:nvSpPr>
          <p:cNvPr id="29" name="Text 27"/>
          <p:cNvSpPr/>
          <p:nvPr/>
        </p:nvSpPr>
        <p:spPr>
          <a:xfrm>
            <a:off x="4800600" y="5041773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région B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791518" y="5206365"/>
            <a:ext cx="2358828" cy="0"/>
          </a:xfrm>
          <a:prstGeom prst="line">
            <a:avLst/>
          </a:prstGeom>
          <a:noFill/>
          <a:ln w="19050">
            <a:solidFill>
              <a:srgbClr val="F0904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791518" y="5151501"/>
            <a:ext cx="0" cy="109728"/>
          </a:xfrm>
          <a:prstGeom prst="line">
            <a:avLst/>
          </a:prstGeom>
          <a:noFill/>
          <a:ln w="19050">
            <a:solidFill>
              <a:srgbClr val="F0904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150346" y="5151501"/>
            <a:ext cx="0" cy="109728"/>
          </a:xfrm>
          <a:prstGeom prst="line">
            <a:avLst/>
          </a:prstGeom>
          <a:noFill/>
          <a:ln w="19050">
            <a:solidFill>
              <a:srgbClr val="F0904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906924" y="5142357"/>
            <a:ext cx="128016" cy="128016"/>
          </a:xfrm>
          <a:prstGeom prst="rect">
            <a:avLst/>
          </a:prstGeom>
          <a:solidFill>
            <a:srgbClr val="F09042"/>
          </a:solidFill>
          <a:ln/>
        </p:spPr>
      </p:sp>
      <p:sp>
        <p:nvSpPr>
          <p:cNvPr id="34" name="Shape 32"/>
          <p:cNvSpPr/>
          <p:nvPr/>
        </p:nvSpPr>
        <p:spPr>
          <a:xfrm>
            <a:off x="6263640" y="5532120"/>
            <a:ext cx="5330952" cy="0"/>
          </a:xfrm>
          <a:prstGeom prst="line">
            <a:avLst/>
          </a:prstGeom>
          <a:noFill/>
          <a:ln w="6350">
            <a:solidFill>
              <a:srgbClr val="0E172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69324" y="55778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263640" y="5715000"/>
            <a:ext cx="5330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β (effet par unité)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variable explicative dont la p-value &gt; 0.05 peut quand même rester dans le modèle si elle est un facteur de confusion connu. Justifie toujours.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Biostat · Module 3 · Heaven Elijah Service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1735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09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MULTICOLLINÉARITÉ · LE PIÈGE INVISIBLE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spc="-100" kern="0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variables X qui mesurent la même chose.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deux variables explicatives se chevauchent fortement (BMI et tour de taille, taille et poids), le modèle ne sait plus laquelle est responsable. Coefficients instables, IC très larges, p-values trompeuses. Le VIF le détecte.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291840"/>
            <a:ext cx="5029200" cy="2743200"/>
          </a:xfrm>
          <a:prstGeom prst="roundRect">
            <a:avLst>
              <a:gd name="adj" fmla="val 1667"/>
            </a:avLst>
          </a:prstGeom>
          <a:solidFill>
            <a:srgbClr val="1A2541"/>
          </a:solidFill>
          <a:ln w="6350">
            <a:solidFill>
              <a:srgbClr val="F090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401568"/>
            <a:ext cx="365760" cy="256032"/>
          </a:xfrm>
          <a:prstGeom prst="roundRect">
            <a:avLst>
              <a:gd name="adj" fmla="val 14286"/>
            </a:avLst>
          </a:prstGeom>
          <a:solidFill>
            <a:srgbClr val="F09042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40156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7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749040"/>
            <a:ext cx="47548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Vérifier la multicollinéarité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library(car)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vif(modele)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 VIF &gt; 5 → suspect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 VIF &gt; 10 → retirer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une des variables corrélées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Vérifier corrélations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cor(donnees[, c("age",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"bmi","poids")])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852160" y="3337560"/>
            <a:ext cx="5879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et poids · forte multicollinéarité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473163" y="3968496"/>
            <a:ext cx="1755648" cy="1755648"/>
          </a:xfrm>
          <a:prstGeom prst="ellipse">
            <a:avLst/>
          </a:prstGeom>
          <a:solidFill>
            <a:srgbClr val="F09042">
              <a:alpha val="35000"/>
            </a:srgbClr>
          </a:solidFill>
          <a:ln w="19050">
            <a:solidFill>
              <a:srgbClr val="D977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55101" y="3968496"/>
            <a:ext cx="1755648" cy="1755648"/>
          </a:xfrm>
          <a:prstGeom prst="ellipse">
            <a:avLst/>
          </a:prstGeom>
          <a:solidFill>
            <a:srgbClr val="0E1729">
              <a:alpha val="35000"/>
            </a:srgbClr>
          </a:solidFill>
          <a:ln w="19050">
            <a:solidFill>
              <a:srgbClr val="1A25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15963" y="3511296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70669" y="3511296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6126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classique en soutenance : « Avez-vous vérifié la multicollinéarité dans votre modèle ? » Réponse blindée : « Oui, VIF tous &lt; 5 sauf BMI/poids — j'ai gardé le BMI. »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Biostat · Module 3 · Heaven Elijah Service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1735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09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VARIABLES QUALITATIVES · CODAGE DUMMY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spc="-100" kern="0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déclarer la catégorie de référence.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X est qualitative (région, profession), R crée automatiquement des variables binaires (« dummy »). Une modalité sert de référence — les autres sont comparées à elle. Ce choix de référence change la lecture des coefficients.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246120"/>
            <a:ext cx="5486400" cy="2743200"/>
          </a:xfrm>
          <a:prstGeom prst="roundRect">
            <a:avLst>
              <a:gd name="adj" fmla="val 1667"/>
            </a:avLst>
          </a:prstGeom>
          <a:solidFill>
            <a:srgbClr val="1A2541"/>
          </a:solidFill>
          <a:ln w="6350">
            <a:solidFill>
              <a:srgbClr val="F090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355848"/>
            <a:ext cx="365760" cy="256032"/>
          </a:xfrm>
          <a:prstGeom prst="roundRect">
            <a:avLst>
              <a:gd name="adj" fmla="val 14286"/>
            </a:avLst>
          </a:prstGeom>
          <a:solidFill>
            <a:srgbClr val="F09042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35584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7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703320"/>
            <a:ext cx="52120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Déclarer en facteur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donnees$region &lt;- factor(donnees$region)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Voir la référence par défaut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levels(donnees$region)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[1] "A" "B" "C"  → A = référence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Changer la référence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donnees$region &lt;- relevel(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donnees$region, ref = "B")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Le modèle compare maintenant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 vs B et C vs B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0" y="3246120"/>
            <a:ext cx="5330952" cy="2743200"/>
          </a:xfrm>
          <a:prstGeom prst="roundRect">
            <a:avLst>
              <a:gd name="adj" fmla="val 1667"/>
            </a:avLst>
          </a:prstGeom>
          <a:solidFill>
            <a:srgbClr val="1A2541"/>
          </a:solidFill>
          <a:ln w="6350">
            <a:solidFill>
              <a:srgbClr val="6B728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537960" y="33375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C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583680" y="3611880"/>
            <a:ext cx="5056632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Coefficients (ref = B):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Estimate  Pr(&gt;|t|)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(Intercept)   7.45      &lt;2e-16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regionA      -0.42       0.03 *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regionC       0.18       0.31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Région A a 0,42 d'HbA1c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 MOINS que B (p = 0,03).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Région C ne diffère pas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significativement de B.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6126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ton tableau de résultats, mentionne explicitement « catégorie de référence : B ». Sinon, le lecteur ne sait pas ce qu'il compare.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Biostat · Module 3 · Heaven Elijah Service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1735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09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RÉGRESSION LOGISTIQUE UNIVARIÉE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spc="-100" kern="0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est binaire. Logit, OR, et la sortie qui piège.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Y est binaire, tu utilises la régression logistique. Elle modélise la probabilité de Y = 1 via une fonction sigmoïde. Subtilité : R sort les coefficients en log-odds. Pour obtenir l'OR, il faut exponentier.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3931920" cy="2926080"/>
          </a:xfrm>
          <a:prstGeom prst="roundRect">
            <a:avLst>
              <a:gd name="adj" fmla="val 1563"/>
            </a:avLst>
          </a:prstGeom>
          <a:solidFill>
            <a:srgbClr val="1A2541"/>
          </a:solidFill>
          <a:ln w="6350">
            <a:solidFill>
              <a:srgbClr val="F090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035808"/>
            <a:ext cx="365760" cy="256032"/>
          </a:xfrm>
          <a:prstGeom prst="roundRect">
            <a:avLst>
              <a:gd name="adj" fmla="val 14286"/>
            </a:avLst>
          </a:prstGeom>
          <a:solidFill>
            <a:srgbClr val="F09042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03580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7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38328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Régression logistique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modele &lt;- glm(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maladie ~ age,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 = donnees,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family = binomial)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summary(modele)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Conversion en OR + IC95%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exp(coef(modele))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exp(confint(modele))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2926080"/>
            <a:ext cx="2560320" cy="2926080"/>
          </a:xfrm>
          <a:prstGeom prst="roundRect">
            <a:avLst>
              <a:gd name="adj" fmla="val 1786"/>
            </a:avLst>
          </a:prstGeom>
          <a:solidFill>
            <a:srgbClr val="1A2541"/>
          </a:solidFill>
          <a:ln w="6350">
            <a:solidFill>
              <a:srgbClr val="6B728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846320" y="3017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C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92040" y="3291840"/>
            <a:ext cx="22860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Coefficients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0.062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 0.0003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Exponentiation: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 age = 1.064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IC95%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[1.029, 1.101]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+1 an = +6.4 %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d'odds.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406640" y="2926080"/>
            <a:ext cx="4325112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0" y="2962656"/>
            <a:ext cx="4142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P(maladie) selon X · courbe sigmoïde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818120" y="5486400"/>
            <a:ext cx="3776472" cy="0"/>
          </a:xfrm>
          <a:prstGeom prst="line">
            <a:avLst/>
          </a:prstGeom>
          <a:noFill/>
          <a:ln w="9525">
            <a:solidFill>
              <a:srgbClr val="0E172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18120" y="3246120"/>
            <a:ext cx="0" cy="2240280"/>
          </a:xfrm>
          <a:prstGeom prst="line">
            <a:avLst/>
          </a:prstGeom>
          <a:noFill/>
          <a:ln w="9525">
            <a:solidFill>
              <a:srgbClr val="0E172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18120" y="5577840"/>
            <a:ext cx="3776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(prédicteur)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 rot="-5400000">
            <a:off x="7424928" y="3246120"/>
            <a:ext cx="36576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P(Y = 1)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818120" y="4366260"/>
            <a:ext cx="3776472" cy="0"/>
          </a:xfrm>
          <a:prstGeom prst="line">
            <a:avLst/>
          </a:prstGeom>
          <a:noFill/>
          <a:ln w="6350">
            <a:solidFill>
              <a:srgbClr val="6B7280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7818120" y="5480861"/>
            <a:ext cx="94412" cy="-1932"/>
          </a:xfrm>
          <a:prstGeom prst="line">
            <a:avLst/>
          </a:prstGeom>
          <a:noFill/>
          <a:ln w="25400">
            <a:solidFill>
              <a:srgbClr val="F0904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12532" y="5478929"/>
            <a:ext cx="94412" cy="-2602"/>
          </a:xfrm>
          <a:prstGeom prst="line">
            <a:avLst/>
          </a:prstGeom>
          <a:noFill/>
          <a:ln w="25400">
            <a:solidFill>
              <a:srgbClr val="F0904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06944" y="5476327"/>
            <a:ext cx="94412" cy="-3503"/>
          </a:xfrm>
          <a:prstGeom prst="line">
            <a:avLst/>
          </a:prstGeom>
          <a:noFill/>
          <a:ln w="25400">
            <a:solidFill>
              <a:srgbClr val="F0904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01355" y="5472824"/>
            <a:ext cx="94412" cy="-4711"/>
          </a:xfrm>
          <a:prstGeom prst="line">
            <a:avLst/>
          </a:prstGeom>
          <a:noFill/>
          <a:ln w="25400">
            <a:solidFill>
              <a:srgbClr val="F0904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95767" y="5468114"/>
            <a:ext cx="94412" cy="-6327"/>
          </a:xfrm>
          <a:prstGeom prst="line">
            <a:avLst/>
          </a:prstGeom>
          <a:noFill/>
          <a:ln w="25400">
            <a:solidFill>
              <a:srgbClr val="F0904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90179" y="5461786"/>
            <a:ext cx="94412" cy="-8484"/>
          </a:xfrm>
          <a:prstGeom prst="line">
            <a:avLst/>
          </a:prstGeom>
          <a:noFill/>
          <a:ln w="25400">
            <a:solidFill>
              <a:srgbClr val="F0904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84591" y="5453302"/>
            <a:ext cx="94412" cy="-11350"/>
          </a:xfrm>
          <a:prstGeom prst="line">
            <a:avLst/>
          </a:prstGeom>
          <a:noFill/>
          <a:ln w="25400">
            <a:solidFill>
              <a:srgbClr val="F0904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479003" y="5441952"/>
            <a:ext cx="94412" cy="-15137"/>
          </a:xfrm>
          <a:prstGeom prst="line">
            <a:avLst/>
          </a:prstGeom>
          <a:noFill/>
          <a:ln w="25400">
            <a:solidFill>
              <a:srgbClr val="F0904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73414" y="5426815"/>
            <a:ext cx="94412" cy="-20105"/>
          </a:xfrm>
          <a:prstGeom prst="line">
            <a:avLst/>
          </a:prstGeom>
          <a:noFill/>
          <a:ln w="25400">
            <a:solidFill>
              <a:srgbClr val="F0904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67826" y="5406711"/>
            <a:ext cx="94412" cy="-26558"/>
          </a:xfrm>
          <a:prstGeom prst="line">
            <a:avLst/>
          </a:prstGeom>
          <a:noFill/>
          <a:ln w="25400">
            <a:solidFill>
              <a:srgbClr val="F0904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762238" y="5380153"/>
            <a:ext cx="94412" cy="-34831"/>
          </a:xfrm>
          <a:prstGeom prst="line">
            <a:avLst/>
          </a:prstGeom>
          <a:noFill/>
          <a:ln w="25400">
            <a:solidFill>
              <a:srgbClr val="F0904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856650" y="5345322"/>
            <a:ext cx="94412" cy="-45252"/>
          </a:xfrm>
          <a:prstGeom prst="line">
            <a:avLst/>
          </a:prstGeom>
          <a:noFill/>
          <a:ln w="25400">
            <a:solidFill>
              <a:srgbClr val="F0904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951062" y="5300070"/>
            <a:ext cx="94412" cy="-58077"/>
          </a:xfrm>
          <a:prstGeom prst="line">
            <a:avLst/>
          </a:prstGeom>
          <a:noFill/>
          <a:ln w="25400">
            <a:solidFill>
              <a:srgbClr val="F0904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45473" y="5241993"/>
            <a:ext cx="94412" cy="-73379"/>
          </a:xfrm>
          <a:prstGeom prst="line">
            <a:avLst/>
          </a:prstGeom>
          <a:noFill/>
          <a:ln w="25400">
            <a:solidFill>
              <a:srgbClr val="F0904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139885" y="5168614"/>
            <a:ext cx="94412" cy="-90898"/>
          </a:xfrm>
          <a:prstGeom prst="line">
            <a:avLst/>
          </a:prstGeom>
          <a:noFill/>
          <a:ln w="25400">
            <a:solidFill>
              <a:srgbClr val="F0904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234297" y="5077716"/>
            <a:ext cx="94412" cy="-109885"/>
          </a:xfrm>
          <a:prstGeom prst="line">
            <a:avLst/>
          </a:prstGeom>
          <a:noFill/>
          <a:ln w="25400">
            <a:solidFill>
              <a:srgbClr val="F0904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328709" y="4967831"/>
            <a:ext cx="94412" cy="-128985"/>
          </a:xfrm>
          <a:prstGeom prst="line">
            <a:avLst/>
          </a:prstGeom>
          <a:noFill/>
          <a:ln w="25400">
            <a:solidFill>
              <a:srgbClr val="F0904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423121" y="4838846"/>
            <a:ext cx="94412" cy="-146275"/>
          </a:xfrm>
          <a:prstGeom prst="line">
            <a:avLst/>
          </a:prstGeom>
          <a:noFill/>
          <a:ln w="25400">
            <a:solidFill>
              <a:srgbClr val="F0904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517532" y="4692571"/>
            <a:ext cx="94412" cy="-159539"/>
          </a:xfrm>
          <a:prstGeom prst="line">
            <a:avLst/>
          </a:prstGeom>
          <a:noFill/>
          <a:ln w="25400">
            <a:solidFill>
              <a:srgbClr val="F0904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11944" y="4533032"/>
            <a:ext cx="94412" cy="-166772"/>
          </a:xfrm>
          <a:prstGeom prst="line">
            <a:avLst/>
          </a:prstGeom>
          <a:noFill/>
          <a:ln w="25400">
            <a:solidFill>
              <a:srgbClr val="F0904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706356" y="4366260"/>
            <a:ext cx="94412" cy="-166772"/>
          </a:xfrm>
          <a:prstGeom prst="line">
            <a:avLst/>
          </a:prstGeom>
          <a:noFill/>
          <a:ln w="25400">
            <a:solidFill>
              <a:srgbClr val="F0904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800768" y="4199488"/>
            <a:ext cx="94412" cy="-159539"/>
          </a:xfrm>
          <a:prstGeom prst="line">
            <a:avLst/>
          </a:prstGeom>
          <a:noFill/>
          <a:ln w="25400">
            <a:solidFill>
              <a:srgbClr val="F0904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895180" y="4039949"/>
            <a:ext cx="94412" cy="-146275"/>
          </a:xfrm>
          <a:prstGeom prst="line">
            <a:avLst/>
          </a:prstGeom>
          <a:noFill/>
          <a:ln w="25400">
            <a:solidFill>
              <a:srgbClr val="F0904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989591" y="3893674"/>
            <a:ext cx="94412" cy="-128985"/>
          </a:xfrm>
          <a:prstGeom prst="line">
            <a:avLst/>
          </a:prstGeom>
          <a:noFill/>
          <a:ln w="25400">
            <a:solidFill>
              <a:srgbClr val="F0904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084003" y="3764689"/>
            <a:ext cx="94412" cy="-109885"/>
          </a:xfrm>
          <a:prstGeom prst="line">
            <a:avLst/>
          </a:prstGeom>
          <a:noFill/>
          <a:ln w="25400">
            <a:solidFill>
              <a:srgbClr val="F0904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178415" y="3654804"/>
            <a:ext cx="94412" cy="-90898"/>
          </a:xfrm>
          <a:prstGeom prst="line">
            <a:avLst/>
          </a:prstGeom>
          <a:noFill/>
          <a:ln w="25400">
            <a:solidFill>
              <a:srgbClr val="F0904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272827" y="3563906"/>
            <a:ext cx="94412" cy="-73379"/>
          </a:xfrm>
          <a:prstGeom prst="line">
            <a:avLst/>
          </a:prstGeom>
          <a:noFill/>
          <a:ln w="25400">
            <a:solidFill>
              <a:srgbClr val="F0904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367239" y="3490527"/>
            <a:ext cx="94412" cy="-58077"/>
          </a:xfrm>
          <a:prstGeom prst="line">
            <a:avLst/>
          </a:prstGeom>
          <a:noFill/>
          <a:ln w="25400">
            <a:solidFill>
              <a:srgbClr val="F0904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461650" y="3432450"/>
            <a:ext cx="94412" cy="-45252"/>
          </a:xfrm>
          <a:prstGeom prst="line">
            <a:avLst/>
          </a:prstGeom>
          <a:noFill/>
          <a:ln w="25400">
            <a:solidFill>
              <a:srgbClr val="F0904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556062" y="3387198"/>
            <a:ext cx="94412" cy="-34831"/>
          </a:xfrm>
          <a:prstGeom prst="line">
            <a:avLst/>
          </a:prstGeom>
          <a:noFill/>
          <a:ln w="25400">
            <a:solidFill>
              <a:srgbClr val="F0904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650474" y="3352367"/>
            <a:ext cx="94412" cy="-26558"/>
          </a:xfrm>
          <a:prstGeom prst="line">
            <a:avLst/>
          </a:prstGeom>
          <a:noFill/>
          <a:ln w="25400">
            <a:solidFill>
              <a:srgbClr val="F0904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744886" y="3325809"/>
            <a:ext cx="94412" cy="-20105"/>
          </a:xfrm>
          <a:prstGeom prst="line">
            <a:avLst/>
          </a:prstGeom>
          <a:noFill/>
          <a:ln w="25400">
            <a:solidFill>
              <a:srgbClr val="F0904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839298" y="3305705"/>
            <a:ext cx="94412" cy="-15137"/>
          </a:xfrm>
          <a:prstGeom prst="line">
            <a:avLst/>
          </a:prstGeom>
          <a:noFill/>
          <a:ln w="25400">
            <a:solidFill>
              <a:srgbClr val="F0904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933709" y="3290568"/>
            <a:ext cx="94412" cy="-11350"/>
          </a:xfrm>
          <a:prstGeom prst="line">
            <a:avLst/>
          </a:prstGeom>
          <a:noFill/>
          <a:ln w="25400">
            <a:solidFill>
              <a:srgbClr val="F0904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028121" y="3279218"/>
            <a:ext cx="94412" cy="-8484"/>
          </a:xfrm>
          <a:prstGeom prst="line">
            <a:avLst/>
          </a:prstGeom>
          <a:noFill/>
          <a:ln w="25400">
            <a:solidFill>
              <a:srgbClr val="F0904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122533" y="3270734"/>
            <a:ext cx="94412" cy="-6327"/>
          </a:xfrm>
          <a:prstGeom prst="line">
            <a:avLst/>
          </a:prstGeom>
          <a:noFill/>
          <a:ln w="25400">
            <a:solidFill>
              <a:srgbClr val="F0904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216945" y="3264406"/>
            <a:ext cx="94412" cy="-4711"/>
          </a:xfrm>
          <a:prstGeom prst="line">
            <a:avLst/>
          </a:prstGeom>
          <a:noFill/>
          <a:ln w="25400">
            <a:solidFill>
              <a:srgbClr val="F0904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311357" y="3259696"/>
            <a:ext cx="94412" cy="-3503"/>
          </a:xfrm>
          <a:prstGeom prst="line">
            <a:avLst/>
          </a:prstGeom>
          <a:noFill/>
          <a:ln w="25400">
            <a:solidFill>
              <a:srgbClr val="F0904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405768" y="3256193"/>
            <a:ext cx="94412" cy="-2602"/>
          </a:xfrm>
          <a:prstGeom prst="line">
            <a:avLst/>
          </a:prstGeom>
          <a:noFill/>
          <a:ln w="25400">
            <a:solidFill>
              <a:srgbClr val="F0904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500180" y="3253591"/>
            <a:ext cx="94412" cy="-1932"/>
          </a:xfrm>
          <a:prstGeom prst="line">
            <a:avLst/>
          </a:prstGeom>
          <a:noFill/>
          <a:ln w="25400">
            <a:solidFill>
              <a:srgbClr val="F0904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`exp()`, tes coefficients sont en échelle log et ininterprétables cliniquement. Beaucoup d'étudiants rapportent les log-odds par erreur — c'est l'erreur classique.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Biostat · Module 3 · Heaven Elijah Service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1735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09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RÉGRESSION LOGISTIQUE MULTIVARIÉE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spc="-100" kern="0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 ajusté : LE modèle des thèses santé publique.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épidémiologie, on cherche presque toujours à mesurer l'effet d'une exposition AJUSTÉ pour des facteurs de confusion (âge, sexe, comorbidités). Le résultat = aOR (adjusted Odds Ratio).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108960"/>
            <a:ext cx="5029200" cy="2926080"/>
          </a:xfrm>
          <a:prstGeom prst="roundRect">
            <a:avLst>
              <a:gd name="adj" fmla="val 1563"/>
            </a:avLst>
          </a:prstGeom>
          <a:solidFill>
            <a:srgbClr val="1A2541"/>
          </a:solidFill>
          <a:ln w="6350">
            <a:solidFill>
              <a:srgbClr val="F090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218688"/>
            <a:ext cx="365760" cy="256032"/>
          </a:xfrm>
          <a:prstGeom prst="roundRect">
            <a:avLst>
              <a:gd name="adj" fmla="val 14286"/>
            </a:avLst>
          </a:prstGeom>
          <a:solidFill>
            <a:srgbClr val="F09042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21868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7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566160"/>
            <a:ext cx="47548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Modèle ajusté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modele &lt;- glm(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maladie ~ exposition +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age + sexe + tabac,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 = donnees,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family = binomial)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library(broom)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tidy(modele, exponentiate = TRUE,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conf.int = TRUE)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852160" y="3108960"/>
            <a:ext cx="5879592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3154680"/>
            <a:ext cx="56967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aOR ajustés · IC95%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134811" y="3429000"/>
            <a:ext cx="0" cy="224028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5943600" y="3544443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529463" y="3709035"/>
            <a:ext cx="1903615" cy="0"/>
          </a:xfrm>
          <a:prstGeom prst="line">
            <a:avLst/>
          </a:prstGeom>
          <a:noFill/>
          <a:ln w="19050">
            <a:solidFill>
              <a:srgbClr val="F090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29463" y="3654171"/>
            <a:ext cx="0" cy="109728"/>
          </a:xfrm>
          <a:prstGeom prst="line">
            <a:avLst/>
          </a:prstGeom>
          <a:noFill/>
          <a:ln w="19050">
            <a:solidFill>
              <a:srgbClr val="F090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433078" y="3654171"/>
            <a:ext cx="0" cy="109728"/>
          </a:xfrm>
          <a:prstGeom prst="line">
            <a:avLst/>
          </a:prstGeom>
          <a:noFill/>
          <a:ln w="19050">
            <a:solidFill>
              <a:srgbClr val="F090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92852" y="3645027"/>
            <a:ext cx="128016" cy="128016"/>
          </a:xfrm>
          <a:prstGeom prst="rect">
            <a:avLst/>
          </a:prstGeom>
          <a:solidFill>
            <a:srgbClr val="F09042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0" y="4104513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150288" y="4269105"/>
            <a:ext cx="30953" cy="0"/>
          </a:xfrm>
          <a:prstGeom prst="line">
            <a:avLst/>
          </a:prstGeom>
          <a:noFill/>
          <a:ln w="19050">
            <a:solidFill>
              <a:srgbClr val="0E172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50288" y="4214241"/>
            <a:ext cx="0" cy="109728"/>
          </a:xfrm>
          <a:prstGeom prst="line">
            <a:avLst/>
          </a:prstGeom>
          <a:noFill/>
          <a:ln w="19050">
            <a:solidFill>
              <a:srgbClr val="0E172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81241" y="4214241"/>
            <a:ext cx="0" cy="109728"/>
          </a:xfrm>
          <a:prstGeom prst="line">
            <a:avLst/>
          </a:prstGeom>
          <a:noFill/>
          <a:ln w="19050">
            <a:solidFill>
              <a:srgbClr val="0E172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01756" y="4205097"/>
            <a:ext cx="128016" cy="128016"/>
          </a:xfrm>
          <a:prstGeom prst="rect">
            <a:avLst/>
          </a:prstGeom>
          <a:solidFill>
            <a:srgbClr val="0E1729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0" y="4664583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sexe F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755636" y="4829175"/>
            <a:ext cx="518464" cy="0"/>
          </a:xfrm>
          <a:prstGeom prst="line">
            <a:avLst/>
          </a:prstGeom>
          <a:noFill/>
          <a:ln w="19050">
            <a:solidFill>
              <a:srgbClr val="0E172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55636" y="4774311"/>
            <a:ext cx="0" cy="109728"/>
          </a:xfrm>
          <a:prstGeom prst="line">
            <a:avLst/>
          </a:prstGeom>
          <a:noFill/>
          <a:ln w="19050">
            <a:solidFill>
              <a:srgbClr val="0E172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74100" y="4774311"/>
            <a:ext cx="0" cy="109728"/>
          </a:xfrm>
          <a:prstGeom prst="line">
            <a:avLst/>
          </a:prstGeom>
          <a:noFill/>
          <a:ln w="19050">
            <a:solidFill>
              <a:srgbClr val="0E172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00561" y="4765167"/>
            <a:ext cx="128016" cy="128016"/>
          </a:xfrm>
          <a:prstGeom prst="rect">
            <a:avLst/>
          </a:prstGeom>
          <a:solidFill>
            <a:srgbClr val="0E1729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0" y="5224653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tabac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869947" y="5389245"/>
            <a:ext cx="2375649" cy="0"/>
          </a:xfrm>
          <a:prstGeom prst="line">
            <a:avLst/>
          </a:prstGeom>
          <a:noFill/>
          <a:ln w="19050">
            <a:solidFill>
              <a:srgbClr val="F0904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869947" y="5334381"/>
            <a:ext cx="0" cy="109728"/>
          </a:xfrm>
          <a:prstGeom prst="line">
            <a:avLst/>
          </a:prstGeom>
          <a:noFill/>
          <a:ln w="19050">
            <a:solidFill>
              <a:srgbClr val="F0904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245596" y="5334381"/>
            <a:ext cx="0" cy="109728"/>
          </a:xfrm>
          <a:prstGeom prst="line">
            <a:avLst/>
          </a:prstGeom>
          <a:noFill/>
          <a:ln w="19050">
            <a:solidFill>
              <a:srgbClr val="F0904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711317" y="5325237"/>
            <a:ext cx="128016" cy="128016"/>
          </a:xfrm>
          <a:prstGeom prst="rect">
            <a:avLst/>
          </a:prstGeom>
          <a:solidFill>
            <a:srgbClr val="F09042"/>
          </a:solidFill>
          <a:ln/>
        </p:spPr>
      </p:sp>
      <p:sp>
        <p:nvSpPr>
          <p:cNvPr id="34" name="Shape 32"/>
          <p:cNvSpPr/>
          <p:nvPr/>
        </p:nvSpPr>
        <p:spPr>
          <a:xfrm>
            <a:off x="7406640" y="5715000"/>
            <a:ext cx="4187952" cy="0"/>
          </a:xfrm>
          <a:prstGeom prst="line">
            <a:avLst/>
          </a:prstGeom>
          <a:noFill/>
          <a:ln w="6350">
            <a:solidFill>
              <a:srgbClr val="0E172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51931" y="57607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406640" y="5897880"/>
            <a:ext cx="4187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 Ratio ajusté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40080" y="6126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de 10 : pour une logistique stable, il faut au moins 10 « événements » par variable explicative. Sinon, surajustement (overfitting).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Biostat · Module 3 · Heaven Elijah Service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1735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09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LIRE UN TABLEAU D'OR · LE TEST DE LA SOUTENANCE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spc="-100" kern="0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lectures à maîtriser parfaitement.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président de jury va te demander d'interpréter UNE LIGNE de ton tableau de résultats. Voici les trois cas types — et la phrase exacte à dire.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361188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01752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 LE RISQUE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38328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aOR = 2,45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52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IC95% [1,51 ; 3,97]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97764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Les exposés ont 2,45 fois plus de chances de développer la maladie que les non-exposés, à âge, sexe et tabac fixés. »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498348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ne croise pas 1 → association statistiquement significative.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3400" y="2880360"/>
            <a:ext cx="361188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301752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PROTÈGE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26280" y="338328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aOR = 0,42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52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IC95% [0,28 ; 0,65]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26280" y="397764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Les exposés ont 58 % de chances en moins de développer la maladie, à covariables fixées. »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26280" y="498348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aOR &lt; 1 = effet protecteur. (1 − 0,42) × 100 = 58 % de réduction.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46720" y="2880360"/>
            <a:ext cx="361188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9050">
            <a:solidFill>
              <a:srgbClr val="6B72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301752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CONCLUSION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0" y="338328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aOR = 1,30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52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IC95% [0,85 ; 1,98]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0" y="397764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Pas d'association statistiquement significative entre l'exposition et la maladie dans notre étude. »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0" y="498348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croise 1. On ne dit JAMAIS « pas d'effet » — on dit « pas mis en évidence ».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Biostat · Module 3 · Heaven Elijah Service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1735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09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ÉVALUER UN MODÈLE LOGISTIQUE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spc="-100" kern="0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AUC, calibration, R² : trois angles à connaître.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fois ton modèle posé, le jury va demander : est-il bon ? Trois indicateurs — discrimination (AUC), calibration (Hosmer-Lemeshow), explication (R² de McFadden ou Nagelkerke).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3931920" cy="2926080"/>
          </a:xfrm>
          <a:prstGeom prst="roundRect">
            <a:avLst>
              <a:gd name="adj" fmla="val 1563"/>
            </a:avLst>
          </a:prstGeom>
          <a:solidFill>
            <a:srgbClr val="1A2541"/>
          </a:solidFill>
          <a:ln w="6350">
            <a:solidFill>
              <a:srgbClr val="F090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035808"/>
            <a:ext cx="365760" cy="256032"/>
          </a:xfrm>
          <a:prstGeom prst="roundRect">
            <a:avLst>
              <a:gd name="adj" fmla="val 14286"/>
            </a:avLst>
          </a:prstGeom>
          <a:solidFill>
            <a:srgbClr val="F09042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03580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7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38328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Discrimination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library(pROC)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proba &lt;- predict(modele,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type = "response")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auc(donnees$maladie, proba)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roc_obj &lt;- roc(donnees$maladie,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proba)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plot(roc_obj)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Calibration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library(ResourceSelection)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hoslem.test(donnees$maladie,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proba, g = 10)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2926080"/>
            <a:ext cx="2560320" cy="2926080"/>
          </a:xfrm>
          <a:prstGeom prst="roundRect">
            <a:avLst>
              <a:gd name="adj" fmla="val 1786"/>
            </a:avLst>
          </a:prstGeom>
          <a:solidFill>
            <a:srgbClr val="1A2541"/>
          </a:solidFill>
          <a:ln w="6350">
            <a:solidFill>
              <a:srgbClr val="6B728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846320" y="3017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C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92040" y="3291840"/>
            <a:ext cx="22860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AUC = 0.782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IC95%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[0.71, 0.85]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discrimination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correcte.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HL X² = 8.4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0.39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calibration OK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(p &gt; 0.05 = bon).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406640" y="2926080"/>
            <a:ext cx="4325112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0" y="2962656"/>
            <a:ext cx="4142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Courbe ROC · modèle logistique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818120" y="5486400"/>
            <a:ext cx="3776472" cy="0"/>
          </a:xfrm>
          <a:prstGeom prst="line">
            <a:avLst/>
          </a:prstGeom>
          <a:noFill/>
          <a:ln w="9525">
            <a:solidFill>
              <a:srgbClr val="0E172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18120" y="3246120"/>
            <a:ext cx="0" cy="2240280"/>
          </a:xfrm>
          <a:prstGeom prst="line">
            <a:avLst/>
          </a:prstGeom>
          <a:noFill/>
          <a:ln w="9525">
            <a:solidFill>
              <a:srgbClr val="0E172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18120" y="5577840"/>
            <a:ext cx="3776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1 − Spécificité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 rot="-5400000">
            <a:off x="7424928" y="3246120"/>
            <a:ext cx="36576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Sensibilité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818120" y="5486400"/>
            <a:ext cx="3776472" cy="-2240280"/>
          </a:xfrm>
          <a:prstGeom prst="line">
            <a:avLst/>
          </a:prstGeom>
          <a:noFill/>
          <a:ln w="9525">
            <a:solidFill>
              <a:srgbClr val="6B7280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7818120" y="5486400"/>
            <a:ext cx="151059" cy="-403250"/>
          </a:xfrm>
          <a:prstGeom prst="line">
            <a:avLst/>
          </a:prstGeom>
          <a:noFill/>
          <a:ln w="25400">
            <a:solidFill>
              <a:srgbClr val="F0904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69179" y="5083150"/>
            <a:ext cx="151059" cy="-313639"/>
          </a:xfrm>
          <a:prstGeom prst="line">
            <a:avLst/>
          </a:prstGeom>
          <a:noFill/>
          <a:ln w="25400">
            <a:solidFill>
              <a:srgbClr val="F0904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20238" y="4769510"/>
            <a:ext cx="151059" cy="-291236"/>
          </a:xfrm>
          <a:prstGeom prst="line">
            <a:avLst/>
          </a:prstGeom>
          <a:noFill/>
          <a:ln w="25400">
            <a:solidFill>
              <a:srgbClr val="F0904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71297" y="4478274"/>
            <a:ext cx="226588" cy="-291236"/>
          </a:xfrm>
          <a:prstGeom prst="line">
            <a:avLst/>
          </a:prstGeom>
          <a:noFill/>
          <a:ln w="25400">
            <a:solidFill>
              <a:srgbClr val="F0904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97885" y="4187038"/>
            <a:ext cx="264353" cy="-224028"/>
          </a:xfrm>
          <a:prstGeom prst="line">
            <a:avLst/>
          </a:prstGeom>
          <a:noFill/>
          <a:ln w="25400">
            <a:solidFill>
              <a:srgbClr val="F0904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62238" y="3963010"/>
            <a:ext cx="302118" cy="-179222"/>
          </a:xfrm>
          <a:prstGeom prst="line">
            <a:avLst/>
          </a:prstGeom>
          <a:noFill/>
          <a:ln w="25400">
            <a:solidFill>
              <a:srgbClr val="F0904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64356" y="3783787"/>
            <a:ext cx="339882" cy="-134417"/>
          </a:xfrm>
          <a:prstGeom prst="line">
            <a:avLst/>
          </a:prstGeom>
          <a:noFill/>
          <a:ln w="25400">
            <a:solidFill>
              <a:srgbClr val="F0904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404238" y="3649370"/>
            <a:ext cx="377647" cy="-112014"/>
          </a:xfrm>
          <a:prstGeom prst="line">
            <a:avLst/>
          </a:prstGeom>
          <a:noFill/>
          <a:ln w="25400">
            <a:solidFill>
              <a:srgbClr val="F0904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781885" y="3537356"/>
            <a:ext cx="377647" cy="-89611"/>
          </a:xfrm>
          <a:prstGeom prst="line">
            <a:avLst/>
          </a:prstGeom>
          <a:noFill/>
          <a:ln w="25400">
            <a:solidFill>
              <a:srgbClr val="F0904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159533" y="3447745"/>
            <a:ext cx="377647" cy="-67208"/>
          </a:xfrm>
          <a:prstGeom prst="line">
            <a:avLst/>
          </a:prstGeom>
          <a:noFill/>
          <a:ln w="25400">
            <a:solidFill>
              <a:srgbClr val="F0904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537180" y="3380537"/>
            <a:ext cx="377647" cy="-44806"/>
          </a:xfrm>
          <a:prstGeom prst="line">
            <a:avLst/>
          </a:prstGeom>
          <a:noFill/>
          <a:ln w="25400">
            <a:solidFill>
              <a:srgbClr val="F0904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914827" y="3335731"/>
            <a:ext cx="302118" cy="-44806"/>
          </a:xfrm>
          <a:prstGeom prst="line">
            <a:avLst/>
          </a:prstGeom>
          <a:noFill/>
          <a:ln w="25400">
            <a:solidFill>
              <a:srgbClr val="F0904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216945" y="3290926"/>
            <a:ext cx="377647" cy="-44806"/>
          </a:xfrm>
          <a:prstGeom prst="line">
            <a:avLst/>
          </a:prstGeom>
          <a:noFill/>
          <a:ln w="25400">
            <a:solidFill>
              <a:srgbClr val="F0904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95180" y="4478274"/>
            <a:ext cx="151058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9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0.78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piège Hosmer-Lemeshow : un p &gt; 0.05 est BON (le modèle calibre bien). Inverse de la lecture habituelle. Beaucoup d'étudiants se plantent là-dessus.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Biostat · Module 3 · Heaven Elijah Service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1735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09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CAS D'ÉCOLE · ÉTUDE CAS-TÉMOIN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spc="-100" kern="0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 du col, exposition HPV, ajustement complet.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cas, 400 témoins. Exposition principale = HPV. Facteurs de confusion : âge, parité, tabac, statut socioéconomique. Voici le tableau final aOR — exactement ce qu'on attend dans une thèse.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4846320" cy="3108960"/>
          </a:xfrm>
          <a:prstGeom prst="roundRect">
            <a:avLst>
              <a:gd name="adj" fmla="val 1471"/>
            </a:avLst>
          </a:prstGeom>
          <a:solidFill>
            <a:srgbClr val="1A2541"/>
          </a:solidFill>
          <a:ln w="6350">
            <a:solidFill>
              <a:srgbClr val="F090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035808"/>
            <a:ext cx="365760" cy="256032"/>
          </a:xfrm>
          <a:prstGeom prst="roundRect">
            <a:avLst>
              <a:gd name="adj" fmla="val 14286"/>
            </a:avLst>
          </a:prstGeom>
          <a:solidFill>
            <a:srgbClr val="F09042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03580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7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383280"/>
            <a:ext cx="45720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Modèle ajusté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mod_aj &lt;- glm(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 ~ hpv + age + parite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+ tabac + ses,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 = donnees,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family = binomial)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library(broom)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tidy(mod_aj,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exponentiate = TRUE,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conf.int = TRUE)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0" y="2926080"/>
            <a:ext cx="6062472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2971800"/>
            <a:ext cx="5879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aOR · facteurs de risque cancer du col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607066" y="3246120"/>
            <a:ext cx="0" cy="242316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5760720" y="332384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HPV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713123" y="3488436"/>
            <a:ext cx="2517233" cy="0"/>
          </a:xfrm>
          <a:prstGeom prst="line">
            <a:avLst/>
          </a:prstGeom>
          <a:noFill/>
          <a:ln w="19050">
            <a:solidFill>
              <a:srgbClr val="F090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13123" y="3433572"/>
            <a:ext cx="0" cy="109728"/>
          </a:xfrm>
          <a:prstGeom prst="line">
            <a:avLst/>
          </a:prstGeom>
          <a:noFill/>
          <a:ln w="19050">
            <a:solidFill>
              <a:srgbClr val="F090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30356" y="3433572"/>
            <a:ext cx="0" cy="109728"/>
          </a:xfrm>
          <a:prstGeom prst="line">
            <a:avLst/>
          </a:prstGeom>
          <a:noFill/>
          <a:ln w="19050">
            <a:solidFill>
              <a:srgbClr val="F090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2612" y="3424428"/>
            <a:ext cx="128016" cy="128016"/>
          </a:xfrm>
          <a:prstGeom prst="rect">
            <a:avLst/>
          </a:prstGeom>
          <a:solidFill>
            <a:srgbClr val="F09042"/>
          </a:solidFill>
          <a:ln/>
        </p:spPr>
      </p:sp>
      <p:sp>
        <p:nvSpPr>
          <p:cNvPr id="19" name="Text 17"/>
          <p:cNvSpPr/>
          <p:nvPr/>
        </p:nvSpPr>
        <p:spPr>
          <a:xfrm>
            <a:off x="5760720" y="3808476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610880" y="3973068"/>
            <a:ext cx="15256" cy="0"/>
          </a:xfrm>
          <a:prstGeom prst="line">
            <a:avLst/>
          </a:prstGeom>
          <a:noFill/>
          <a:ln w="19050">
            <a:solidFill>
              <a:srgbClr val="0E172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10880" y="3918204"/>
            <a:ext cx="0" cy="109728"/>
          </a:xfrm>
          <a:prstGeom prst="line">
            <a:avLst/>
          </a:prstGeom>
          <a:noFill/>
          <a:ln w="19050">
            <a:solidFill>
              <a:srgbClr val="0E172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26136" y="3918204"/>
            <a:ext cx="0" cy="109728"/>
          </a:xfrm>
          <a:prstGeom prst="line">
            <a:avLst/>
          </a:prstGeom>
          <a:noFill/>
          <a:ln w="19050">
            <a:solidFill>
              <a:srgbClr val="0E172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54500" y="3909060"/>
            <a:ext cx="128016" cy="128016"/>
          </a:xfrm>
          <a:prstGeom prst="rect">
            <a:avLst/>
          </a:prstGeom>
          <a:solidFill>
            <a:srgbClr val="0E1729"/>
          </a:solidFill>
          <a:ln/>
        </p:spPr>
      </p:sp>
      <p:sp>
        <p:nvSpPr>
          <p:cNvPr id="24" name="Text 22"/>
          <p:cNvSpPr/>
          <p:nvPr/>
        </p:nvSpPr>
        <p:spPr>
          <a:xfrm>
            <a:off x="5760720" y="429310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parité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683346" y="4457700"/>
            <a:ext cx="629308" cy="0"/>
          </a:xfrm>
          <a:prstGeom prst="line">
            <a:avLst/>
          </a:prstGeom>
          <a:noFill/>
          <a:ln w="19050">
            <a:solidFill>
              <a:srgbClr val="0E172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3346" y="4402836"/>
            <a:ext cx="0" cy="109728"/>
          </a:xfrm>
          <a:prstGeom prst="line">
            <a:avLst/>
          </a:prstGeom>
          <a:noFill/>
          <a:ln w="19050">
            <a:solidFill>
              <a:srgbClr val="0E172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12654" y="4402836"/>
            <a:ext cx="0" cy="109728"/>
          </a:xfrm>
          <a:prstGeom prst="line">
            <a:avLst/>
          </a:prstGeom>
          <a:noFill/>
          <a:ln w="19050">
            <a:solidFill>
              <a:srgbClr val="0E172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67247" y="4393692"/>
            <a:ext cx="128016" cy="128016"/>
          </a:xfrm>
          <a:prstGeom prst="rect">
            <a:avLst/>
          </a:prstGeom>
          <a:solidFill>
            <a:srgbClr val="0E1729"/>
          </a:solidFill>
          <a:ln/>
        </p:spPr>
      </p:sp>
      <p:sp>
        <p:nvSpPr>
          <p:cNvPr id="29" name="Text 27"/>
          <p:cNvSpPr/>
          <p:nvPr/>
        </p:nvSpPr>
        <p:spPr>
          <a:xfrm>
            <a:off x="5760720" y="477774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tabac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587996" y="4942332"/>
            <a:ext cx="450051" cy="0"/>
          </a:xfrm>
          <a:prstGeom prst="line">
            <a:avLst/>
          </a:prstGeom>
          <a:noFill/>
          <a:ln w="19050">
            <a:solidFill>
              <a:srgbClr val="0E172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87996" y="4887468"/>
            <a:ext cx="0" cy="109728"/>
          </a:xfrm>
          <a:prstGeom prst="line">
            <a:avLst/>
          </a:prstGeom>
          <a:noFill/>
          <a:ln w="19050">
            <a:solidFill>
              <a:srgbClr val="0E172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38047" y="4887468"/>
            <a:ext cx="0" cy="109728"/>
          </a:xfrm>
          <a:prstGeom prst="line">
            <a:avLst/>
          </a:prstGeom>
          <a:noFill/>
          <a:ln w="19050">
            <a:solidFill>
              <a:srgbClr val="0E172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03246" y="4878324"/>
            <a:ext cx="128016" cy="128016"/>
          </a:xfrm>
          <a:prstGeom prst="rect">
            <a:avLst/>
          </a:prstGeom>
          <a:solidFill>
            <a:srgbClr val="0E1729"/>
          </a:solidFill>
          <a:ln/>
        </p:spPr>
      </p:sp>
      <p:sp>
        <p:nvSpPr>
          <p:cNvPr id="34" name="Text 32"/>
          <p:cNvSpPr/>
          <p:nvPr/>
        </p:nvSpPr>
        <p:spPr>
          <a:xfrm>
            <a:off x="5760720" y="5262372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bas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626136" y="5426964"/>
            <a:ext cx="587354" cy="0"/>
          </a:xfrm>
          <a:prstGeom prst="line">
            <a:avLst/>
          </a:prstGeom>
          <a:noFill/>
          <a:ln w="19050">
            <a:solidFill>
              <a:srgbClr val="0E172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626136" y="5372100"/>
            <a:ext cx="0" cy="109728"/>
          </a:xfrm>
          <a:prstGeom prst="line">
            <a:avLst/>
          </a:prstGeom>
          <a:noFill/>
          <a:ln w="19050">
            <a:solidFill>
              <a:srgbClr val="0E172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13490" y="5372100"/>
            <a:ext cx="0" cy="109728"/>
          </a:xfrm>
          <a:prstGeom prst="line">
            <a:avLst/>
          </a:prstGeom>
          <a:noFill/>
          <a:ln w="19050">
            <a:solidFill>
              <a:srgbClr val="0E172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790967" y="5362956"/>
            <a:ext cx="128016" cy="128016"/>
          </a:xfrm>
          <a:prstGeom prst="rect">
            <a:avLst/>
          </a:prstGeom>
          <a:solidFill>
            <a:srgbClr val="0E1729"/>
          </a:solidFill>
          <a:ln/>
        </p:spPr>
      </p:sp>
      <p:sp>
        <p:nvSpPr>
          <p:cNvPr id="39" name="Shape 37"/>
          <p:cNvSpPr/>
          <p:nvPr/>
        </p:nvSpPr>
        <p:spPr>
          <a:xfrm>
            <a:off x="7223760" y="5715000"/>
            <a:ext cx="4370832" cy="0"/>
          </a:xfrm>
          <a:prstGeom prst="line">
            <a:avLst/>
          </a:prstGeom>
          <a:noFill/>
          <a:ln w="6350">
            <a:solidFill>
              <a:srgbClr val="0E172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24186" y="57607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223760" y="5897880"/>
            <a:ext cx="43708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 Ratio ajusté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40080" y="6080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: HPV reste le facteur de risque dominant, même après ajustement. aOR = 6,4 (IC95% [3,9 ; 10,5]).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Biostat · Module 3 · Heaven Elijah Service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1735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09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CINQ PIÈGES SPÉCIFIQUES AUX RÉGRESSIONS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spc="-100" kern="0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Cinq erreurs qui font perdre des points.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11091672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6CF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920240"/>
            <a:ext cx="73152" cy="8229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574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00200" y="2029968"/>
            <a:ext cx="9966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Confondre association et causalité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00200" y="2359152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corrélation forte ou un aOR significatif ne PROUVE pas que X cause Y. Toujours dire « associé à », pas « cause de ».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788920"/>
            <a:ext cx="11091672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6CF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788920"/>
            <a:ext cx="73152" cy="8229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9260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00200" y="2898648"/>
            <a:ext cx="9966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 de variables dans un modèle logistique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00200" y="3227832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règle des 10 événements par variable. 50 cas / 5 variables = limite. 30 cas / 7 variables = surajustement assuré.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657600"/>
            <a:ext cx="11091672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6CF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657600"/>
            <a:ext cx="73152" cy="8229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7947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600200" y="3767328"/>
            <a:ext cx="9966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Ignorer la multicollinéarité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600200" y="4096512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X corrélées entre elles. Coefficients instables, IC énormes. VIF &gt; 5 = à retirer.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526280"/>
            <a:ext cx="11091672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6CF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4526280"/>
            <a:ext cx="73152" cy="8229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6634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600200" y="4636008"/>
            <a:ext cx="9966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Mauvaise catégorie de référence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600200" y="4965192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prend la première par ordre alphabétique. Si ce n'est pas celle qui te sert, déclare-le explicitement avec relevel().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5394960"/>
            <a:ext cx="11091672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6CF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5394960"/>
            <a:ext cx="73152" cy="8229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55321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600200" y="5504688"/>
            <a:ext cx="9966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Rapporter des log-odds au lieu d'OR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600200" y="5833872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 brute de glm = log-odds. Sans exp(), tes nombres ne veulent rien dire cliniquement. Erreur classique.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Biostat · Module 3 · Heaven Elijah Service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1735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15200" y="2743200"/>
            <a:ext cx="6400800" cy="6400800"/>
          </a:xfrm>
          <a:prstGeom prst="ellipse">
            <a:avLst/>
          </a:prstGeom>
          <a:solidFill>
            <a:srgbClr val="F09042">
              <a:alpha val="12000"/>
            </a:srgbClr>
          </a:solidFill>
          <a:ln/>
        </p:spPr>
      </p:sp>
      <p:pic>
        <p:nvPicPr>
          <p:cNvPr id="5" name="Image 0" descr="E:\Projets\heaven-elijah-site\public\logo-picto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10424160" y="274320"/>
            <a:ext cx="1371600" cy="137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09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LA SUITE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1371600"/>
            <a:ext cx="10972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sais ajuster.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 aux outils biomédicaux.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640080" y="365760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C9C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Module 4 entre dans le détail des outils spécifiques au biomédical : courbes ROC, sensibilité et spécificité, Kappa de Cohen pour la concordance, Kaplan-Meier et Cox pour la survie.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5257800"/>
            <a:ext cx="5303520" cy="914400"/>
          </a:xfrm>
          <a:prstGeom prst="roundRect">
            <a:avLst>
              <a:gd name="adj" fmla="val 10000"/>
            </a:avLst>
          </a:prstGeom>
          <a:solidFill>
            <a:srgbClr val="25D366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5303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direct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" y="5650992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+221 76 387 34 28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6309360" y="5257800"/>
            <a:ext cx="5422392" cy="914400"/>
          </a:xfrm>
          <a:prstGeom prst="roundRect">
            <a:avLst>
              <a:gd name="adj" fmla="val 10000"/>
            </a:avLst>
          </a:prstGeom>
          <a:solidFill>
            <a:srgbClr val="F09042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5303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web HES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92240" y="565099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7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heavenelijahservice.org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Heaven Elijah Service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Trouver les liens — Module 3</dc:title>
  <dc:subject>Formation HES — Biostatistique</dc:subject>
  <dc:creator>Heaven Elijah Service</dc:creator>
  <cp:lastModifiedBy>Heaven Elijah Service</cp:lastModifiedBy>
  <cp:revision>1</cp:revision>
  <dcterms:created xsi:type="dcterms:W3CDTF">2026-05-14T19:46:47Z</dcterms:created>
  <dcterms:modified xsi:type="dcterms:W3CDTF">2026-05-14T19:46:47Z</dcterms:modified>
</cp:coreProperties>
</file>