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4572000" cy="45720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3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0515600" y="530352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FORMATION HES · BIOSTAT · MODULE 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Trouver</a:t>
            </a:r>
            <a:endParaRPr lang="en-US" sz="6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liens.</a:t>
            </a:r>
            <a:endParaRPr lang="en-US" sz="6200" dirty="0"/>
          </a:p>
        </p:txBody>
      </p:sp>
      <p:sp>
        <p:nvSpPr>
          <p:cNvPr id="6" name="Shape 3"/>
          <p:cNvSpPr/>
          <p:nvPr/>
        </p:nvSpPr>
        <p:spPr>
          <a:xfrm>
            <a:off x="640080" y="4617720"/>
            <a:ext cx="1371600" cy="54864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4800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corrélation à la régression logistique ajustée.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slides · ~50 min · M2 et doctorants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0" y="5943600"/>
            <a:ext cx="6245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POURQUOI CE MODULE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ton mémoire passe du descriptif à l'explicatif.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7040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que tu as décrit ton échantillon et comparé tes groupes, ton jury voudra savoir : qu'est-ce qui explique quoi ? Quelles variables sont liées entre elles ? Quel facteur prédit la maladie une fois qu'on contrôle les autres 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749040"/>
            <a:ext cx="7040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passage du « combien » au « pourquoi ». Et c'est là que les outils deviennent plus puissants — la régression logistique multivariée est sans doute LA méthode des thèses en santé publique. C'est aussi là que les pièges deviennent plus subtils.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955280" y="1920240"/>
            <a:ext cx="3794760" cy="4023360"/>
          </a:xfrm>
          <a:prstGeom prst="roundRect">
            <a:avLst>
              <a:gd name="adj" fmla="val 2410"/>
            </a:avLst>
          </a:prstGeom>
          <a:solidFill>
            <a:srgbClr val="0E1729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21031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MODULE COUVRE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138160" y="251460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000" dirty="0"/>
          </a:p>
        </p:txBody>
      </p:sp>
      <p:sp>
        <p:nvSpPr>
          <p:cNvPr id="11" name="Text 9"/>
          <p:cNvSpPr/>
          <p:nvPr/>
        </p:nvSpPr>
        <p:spPr>
          <a:xfrm>
            <a:off x="8138160" y="35661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familles d'outils :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corrélation, régression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linéaire, logistique,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ajustement, diagnostic.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5029200"/>
            <a:ext cx="3383280" cy="18288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0" y="516636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: théorie courte, code R, sortie commentée, ce que le jury va creuser.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CARTE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modèle selon ta variable de sortie.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régression, c'est la NATURE de ta variable Y (à expliquer) qui détermine la famille de modèle. La nature et le nombre des variables X (explicatives) déterminent ensuite le détail.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CONTINUE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tension, HbA1c, score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variable X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3931920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Corrélation (4)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Rég. linéaire simple (5)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X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4690872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Rég. linéaire multiple (6)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qualitatives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5449824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Codage dummy (8)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VIF si plusieurs (7)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52544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8" name="Text 16"/>
          <p:cNvSpPr/>
          <p:nvPr/>
        </p:nvSpPr>
        <p:spPr>
          <a:xfrm>
            <a:off x="4489704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BINAIRE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9704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malade / sain, décès / vie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52544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9704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variable X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89704" y="3931920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Régression logistique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univariée (9)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89704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X (ajusté)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89704" y="4690872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Logistique multivariée (10)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aOR + IC95%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489704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le modèle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489704" y="5449824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AUC, Hosmer-Lemeshow (12)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65008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8" name="Text 26"/>
          <p:cNvSpPr/>
          <p:nvPr/>
        </p:nvSpPr>
        <p:spPr>
          <a:xfrm>
            <a:off x="8202168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CATÉGORIELLE OU ORDINALE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02168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stade I/II/III/IV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65008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02168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Multinomial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02168" y="3931920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multinom() · nnet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02168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 proportionnel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02168" y="4690872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polr() · MASS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02168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Hors-scope module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02168" y="5449824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Couvert en formation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individuelle HES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numéros entre parenthèses pointent vers les slides où chaque méthode est détaillée.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CORRÉLATIONS · PEARSON ET SPEARMAN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force du lien, pas la causalité.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mesure une relation linéaire entre deux continues normales. Spearman mesure une relation monotone sur les rangs — robuste aux données non-normales et aux valeurs extrêmes. Aucun des deux ne dit que X cause 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Pearson (linéaire,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normales)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cor.test(donnees$age,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donnees$hba1c,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method = "pearson")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Spearman (rangs,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non-normales)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cor.test(donnees$age,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donnees$hba1c,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method = "spearman")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Pearson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0.49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[0.30, 0.65]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8.7e-05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Spearman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rho = 0.46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0.0002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HbA1c en fonction de l'âge · r = 0.49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0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X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Y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869659" y="540730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1" name="Shape 19"/>
          <p:cNvSpPr/>
          <p:nvPr/>
        </p:nvSpPr>
        <p:spPr>
          <a:xfrm>
            <a:off x="8041317" y="4849625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2" name="Shape 20"/>
          <p:cNvSpPr/>
          <p:nvPr/>
        </p:nvSpPr>
        <p:spPr>
          <a:xfrm>
            <a:off x="8212975" y="5243142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4632" y="4902486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4" name="Shape 22"/>
          <p:cNvSpPr/>
          <p:nvPr/>
        </p:nvSpPr>
        <p:spPr>
          <a:xfrm>
            <a:off x="8556290" y="4930398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5" name="Shape 23"/>
          <p:cNvSpPr/>
          <p:nvPr/>
        </p:nvSpPr>
        <p:spPr>
          <a:xfrm>
            <a:off x="8727948" y="4816240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6" name="Shape 24"/>
          <p:cNvSpPr/>
          <p:nvPr/>
        </p:nvSpPr>
        <p:spPr>
          <a:xfrm>
            <a:off x="8899606" y="4652153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7" name="Shape 25"/>
          <p:cNvSpPr/>
          <p:nvPr/>
        </p:nvSpPr>
        <p:spPr>
          <a:xfrm>
            <a:off x="9071264" y="4828471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8" name="Shape 26"/>
          <p:cNvSpPr/>
          <p:nvPr/>
        </p:nvSpPr>
        <p:spPr>
          <a:xfrm>
            <a:off x="9242921" y="466926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9" name="Shape 27"/>
          <p:cNvSpPr/>
          <p:nvPr/>
        </p:nvSpPr>
        <p:spPr>
          <a:xfrm>
            <a:off x="9414579" y="4484796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0" name="Shape 28"/>
          <p:cNvSpPr/>
          <p:nvPr/>
        </p:nvSpPr>
        <p:spPr>
          <a:xfrm>
            <a:off x="9586237" y="4181302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1" name="Shape 29"/>
          <p:cNvSpPr/>
          <p:nvPr/>
        </p:nvSpPr>
        <p:spPr>
          <a:xfrm>
            <a:off x="9757895" y="419084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2" name="Shape 30"/>
          <p:cNvSpPr/>
          <p:nvPr/>
        </p:nvSpPr>
        <p:spPr>
          <a:xfrm>
            <a:off x="9929553" y="446482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3" name="Shape 31"/>
          <p:cNvSpPr/>
          <p:nvPr/>
        </p:nvSpPr>
        <p:spPr>
          <a:xfrm>
            <a:off x="10101211" y="395473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4" name="Shape 32"/>
          <p:cNvSpPr/>
          <p:nvPr/>
        </p:nvSpPr>
        <p:spPr>
          <a:xfrm>
            <a:off x="10272868" y="3979776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4526" y="410969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6" name="Shape 34"/>
          <p:cNvSpPr/>
          <p:nvPr/>
        </p:nvSpPr>
        <p:spPr>
          <a:xfrm>
            <a:off x="10616184" y="3777611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7" name="Shape 35"/>
          <p:cNvSpPr/>
          <p:nvPr/>
        </p:nvSpPr>
        <p:spPr>
          <a:xfrm>
            <a:off x="10787842" y="3971229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8" name="Shape 36"/>
          <p:cNvSpPr/>
          <p:nvPr/>
        </p:nvSpPr>
        <p:spPr>
          <a:xfrm>
            <a:off x="10959500" y="3787042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9" name="Shape 37"/>
          <p:cNvSpPr/>
          <p:nvPr/>
        </p:nvSpPr>
        <p:spPr>
          <a:xfrm>
            <a:off x="11131157" y="3888643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02815" y="358200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1" name="Shape 39"/>
          <p:cNvSpPr/>
          <p:nvPr/>
        </p:nvSpPr>
        <p:spPr>
          <a:xfrm>
            <a:off x="11474473" y="3620595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2" name="Shape 40"/>
          <p:cNvSpPr/>
          <p:nvPr/>
        </p:nvSpPr>
        <p:spPr>
          <a:xfrm>
            <a:off x="7818120" y="5217566"/>
            <a:ext cx="3776472" cy="-1568196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soutenance, évite « X cause Y » — dis « X est associé à Y ». Une corrélation n'est jamais une preuve de causalité, même r = 0.95.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RÉGRESSION LINÉAIRE SIMPLE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β₀ + β₁X + ε. Une équation à défendre.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Modélise Y comme fonction linéaire de X. β₁ se lit : « pour 1 unité d'augmentation de X, Y change de β₁ unités, en moyenne ». R² indique la part de variance de Y expliquée par X.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Régression simple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hba1c ~ age,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Diagnostics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par(mfrow = c(2, 2))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plot(modele)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Coefficients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(Intercept) 4.21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 &lt;3e-08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        0.052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 &lt;1e-05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R² = 0.27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p &lt; 1e-05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4.21 + 0.052·âge · R² = 0.27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0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X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Y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869659" y="5312093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1" name="Shape 19"/>
          <p:cNvSpPr/>
          <p:nvPr/>
        </p:nvSpPr>
        <p:spPr>
          <a:xfrm>
            <a:off x="8041317" y="484311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2" name="Shape 20"/>
          <p:cNvSpPr/>
          <p:nvPr/>
        </p:nvSpPr>
        <p:spPr>
          <a:xfrm>
            <a:off x="8212975" y="5174442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4632" y="489395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4" name="Shape 22"/>
          <p:cNvSpPr/>
          <p:nvPr/>
        </p:nvSpPr>
        <p:spPr>
          <a:xfrm>
            <a:off x="8556290" y="4920611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5" name="Shape 23"/>
          <p:cNvSpPr/>
          <p:nvPr/>
        </p:nvSpPr>
        <p:spPr>
          <a:xfrm>
            <a:off x="8727948" y="4828873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6" name="Shape 24"/>
          <p:cNvSpPr/>
          <p:nvPr/>
        </p:nvSpPr>
        <p:spPr>
          <a:xfrm>
            <a:off x="8899606" y="4695529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7" name="Shape 25"/>
          <p:cNvSpPr/>
          <p:nvPr/>
        </p:nvSpPr>
        <p:spPr>
          <a:xfrm>
            <a:off x="9071264" y="484585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8" name="Shape 26"/>
          <p:cNvSpPr/>
          <p:nvPr/>
        </p:nvSpPr>
        <p:spPr>
          <a:xfrm>
            <a:off x="9242921" y="4716576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9" name="Shape 27"/>
          <p:cNvSpPr/>
          <p:nvPr/>
        </p:nvSpPr>
        <p:spPr>
          <a:xfrm>
            <a:off x="9414579" y="456624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0" name="Shape 28"/>
          <p:cNvSpPr/>
          <p:nvPr/>
        </p:nvSpPr>
        <p:spPr>
          <a:xfrm>
            <a:off x="9586237" y="4316731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1" name="Shape 29"/>
          <p:cNvSpPr/>
          <p:nvPr/>
        </p:nvSpPr>
        <p:spPr>
          <a:xfrm>
            <a:off x="9757895" y="432807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2" name="Shape 30"/>
          <p:cNvSpPr/>
          <p:nvPr/>
        </p:nvSpPr>
        <p:spPr>
          <a:xfrm>
            <a:off x="9929553" y="455978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3" name="Shape 31"/>
          <p:cNvSpPr/>
          <p:nvPr/>
        </p:nvSpPr>
        <p:spPr>
          <a:xfrm>
            <a:off x="10101211" y="4138109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4" name="Shape 32"/>
          <p:cNvSpPr/>
          <p:nvPr/>
        </p:nvSpPr>
        <p:spPr>
          <a:xfrm>
            <a:off x="10272868" y="4162370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4526" y="4274029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6" name="Shape 34"/>
          <p:cNvSpPr/>
          <p:nvPr/>
        </p:nvSpPr>
        <p:spPr>
          <a:xfrm>
            <a:off x="10616184" y="400068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7" name="Shape 35"/>
          <p:cNvSpPr/>
          <p:nvPr/>
        </p:nvSpPr>
        <p:spPr>
          <a:xfrm>
            <a:off x="10787842" y="4165430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8" name="Shape 36"/>
          <p:cNvSpPr/>
          <p:nvPr/>
        </p:nvSpPr>
        <p:spPr>
          <a:xfrm>
            <a:off x="10959500" y="4015335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9" name="Shape 37"/>
          <p:cNvSpPr/>
          <p:nvPr/>
        </p:nvSpPr>
        <p:spPr>
          <a:xfrm>
            <a:off x="11131157" y="410339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02815" y="3851261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1" name="Shape 39"/>
          <p:cNvSpPr/>
          <p:nvPr/>
        </p:nvSpPr>
        <p:spPr>
          <a:xfrm>
            <a:off x="11474473" y="3886813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2" name="Shape 40"/>
          <p:cNvSpPr/>
          <p:nvPr/>
        </p:nvSpPr>
        <p:spPr>
          <a:xfrm>
            <a:off x="7818120" y="5150358"/>
            <a:ext cx="3776472" cy="-123215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plot(modele) affiche 4 graphes de diagnostic : linéarité, normalité des résidus, homoscédasticité, valeurs influentes. À vérifier avant de défendre les coefficients.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RÉGRESSION LINÉAIRE MULTIPLE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X. Le coefficient devient « ajusté ».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coefficient β_i se lit maintenant : « effet de X_i sur Y, à toutes les autres variables fixées ». C'est ce qu'on appelle l'ajustement — la base du contrôle des facteurs de confusion en épidémiologie.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Régression multiple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hba1c ~ age + sexe + bmi + 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Comparaison avec et sans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anova(modele_simple, modele)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Coefficients: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Estimate  Pr(&gt;|t|)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       0.038      0.001 **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sexeF     -0.21       0.18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bmi        0.045      0.003 **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regionB    0.31       0.04 *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R² = 0.42, F = 18.3, p &lt; 0.001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Effet de l'âge persiste après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ajustement.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variable explicative dont la p-value &gt; 0.05 peut quand même rester dans le modèle si elle est un facteur de confusion connu. Justifier toujours.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MULTICOLLINÉARITÉ · LE PIÈGE INVISIBLE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variables X qui mesurent la même chose.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deux variables explicatives sont fortement corrélées (BMI et tour de taille, taille et poids), le modèle ne sait plus laquelle est responsable. Coefficients instables, IC très larges, p-values trompeuses. Le VIF (Variance Inflation Factor) le détecte.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Vérifier la multicollinéarité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library(car)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vif(modele)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VIF &gt; 5 → suspect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VIF &gt; 10 → retirer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une des variables corrélées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Vérifier les corrélations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cor(donnees[, c("age","bmi","poids")])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GVIF Df GVIF^(1/(2*Df))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   1.12  1   1.06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sexe   1.05  1   1.02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bmi    8.74  1   2.96  ← suspect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poids  9.21  1   3.03  ← suspect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 1.31  2   1.07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bmi et poids redondants.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Garder un seul.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classique en soutenance : « Avez-vous vérifié la multicollinéarité dans votre modèle ? » Réponse blindée : « Oui, VIF tous &lt; 5 sauf BMI/poids — j'ai gardé le BMI. »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VARIABLES QUALITATIVES · CODAGE DUMMY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déclarer la catégorie de référence.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X est qualitative (région, profession), R crée automatiquement des variables binaires (« dummy »). Une modalité sert de référence — les autres sont comparées à elle. Ce choix de référence n'est PAS anodin : il change la lecture des coefficients.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Déclarer en facteur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donnees$region &lt;- factor(donnees$region)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Voir la référence par défaut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levels(donnees$region)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[1] "A" "B" "C"  → A = référence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Changer la référence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donnees$region &lt;- relevel(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donnees$region, ref = "B")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 modèle compare maintenant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vs B et C vs B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Coefficients: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Estimate  Pr(&gt;|t|)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(Intercept)    7.45      &lt;2e-16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regionA       -0.42       0.03 *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regionC        0.18       0.31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B est la référence ici.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Région A a 0,42 d'HbA1c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 MOINS que B (p = 0,03).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Région C ne diffère pas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significativement de B.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ton tableau de résultats, mentionne explicitement « catégorie de référence : B ». Sinon, le lecteur ne sait pas ce qu'il compare.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RÉGRESSION LOGISTIQUE UNIVARIÉE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est binaire. Logit, OR, et la sortie qui piège.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Y est binaire (malade/sain, décès/vie), tu utilises la régression logistique. Subtilité : R sort les coefficients en log-odds. Pour obtenir l'OR, il faut exponentier. Toujours.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Régression logistique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glm(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maladie ~ age,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family = binomial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Conversion en OR + IC95%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exp(coef(modele))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exp(confint(modele))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Coefficients: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Estimate Pr(&gt;|z|)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(Intercept) -4.21    1e-08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         0.062    0.0003 ***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Exponentiation: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OR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(Intercept) 0.015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        1.064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age: [1.029, 1.101]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+1 an d'âge = OR 1,064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(6,4 % d'odds supplémentaires).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`exp()`, tes coefficients sont en échelle log et ininterprétables cliniquement. Beaucoup d'étudiants rapportent les log-odds par erreur — c'est l'erreur classique.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RÉGRESSION LOGISTIQUE MULTIVARIÉE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 ajusté : LE modèle des thèses santé publique.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épidémiologie, on cherche presque toujours à mesurer l'effet d'une exposition AJUSTÉ pour des facteurs de confusion (âge, sexe, comorbidités). C'est exactement ce que fait la logistique multivariée. Le résultat = aOR (adjusted Odds Ratio).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Modèle ajusté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glm(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maladie ~ exposition + age + sexe + tabac,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family = binomial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Tableau d'OR ajustés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library(broom)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tidy(modele, exponentiate = TRUE,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conf.int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       estimate  conf.low conf.high  p.value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exposition  2.45      1.51     3.97       0.0003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        1.04      1.02     1.06       0.001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sexeF       0.78      0.51     1.18       0.24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tabac       3.12      1.95     5.02       &lt;0.001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aOR exposition = 2.45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(1.51 — 3.97), p = 0.0003.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Tabac est aussi un facteur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fort, indépendamment.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de 10 (rule of ten events per variable) : pour une régression logistique stable, il faut au moins 10 « événements » par variable explicative. Sinon, surajustement (overfitting).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LIRE UN TABLEAU D'OR · LE TEST DE LA SOUTENANCE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lectures à maîtriser parfaitement.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président de jury va te demander d'interpréter UNE LIGNE de ton tableau de résultats. Voici les trois cas types — et la phrase exacte à dire.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01752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 LE RISQUE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aOR = 2,45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[1,51 ; 3,97]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97764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Les exposés ont 2,45 fois plus de chances de développer la maladie que les non-exposés, à âge, sexe et tabac fixés. »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9834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ne croise pas 1 → association statistiquement significative.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4340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301752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PROTÈGE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26280" y="3383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aOR = 0,42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[0,28 ; 0,65]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397764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Les exposés ont 58 % de chances en moins de développer la maladie, à covariables fixées. »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26280" y="49834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 &lt; 1 = effet protecteur. (1 − 0,42) × 100 = 58 % de réduction.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301752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CONCLUSION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3383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aOR = 1,30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[0,85 ; 1,98]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0" y="397764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Pas d'association statistiquement significative entre l'exposition et la maladie dans notre étude. »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0" y="49834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croise 1. On ne dit JAMAIS « pas d'effet » — on dit « pas mis en évidence ».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ÉVALUER UN MODÈLE LOGISTIQUE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AUC, calibration, R² : trois angles à connaître.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ton modèle posé, le jury va demander : est-il bon ? Trois indicateurs — discrimination (AUC), calibration (Hosmer-Lemeshow), explication (R² de McFadden ou Nagelkerke).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Discrimination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library(pROC)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proba &lt;- predict(modele,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type = "response")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auc(donnees$maladie, proba)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roc_obj &lt;- roc(donnees$maladie,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proba)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plot(roc_obj)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Calibration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library(ResourceSelection)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hoslem.test(donnees$maladie,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proba, g = 10)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 = 0.782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[0.71, 0.85]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discrimination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correcte.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HL X² = 8.4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0.39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calibration OK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(p &gt; 0.05 = bon).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 ROC · modèle logistique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0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Spécificité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Sensibilité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818120" y="5486400"/>
            <a:ext cx="3776472" cy="-2240280"/>
          </a:xfrm>
          <a:prstGeom prst="line">
            <a:avLst/>
          </a:prstGeom>
          <a:noFill/>
          <a:ln w="9525">
            <a:solidFill>
              <a:srgbClr val="6B728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818120" y="5486400"/>
            <a:ext cx="151059" cy="-403250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69179" y="5083150"/>
            <a:ext cx="151059" cy="-313639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20238" y="4769510"/>
            <a:ext cx="151059" cy="-29123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71297" y="4478274"/>
            <a:ext cx="226588" cy="-29123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97885" y="4187038"/>
            <a:ext cx="264353" cy="-22402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62238" y="3963010"/>
            <a:ext cx="302118" cy="-17922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64356" y="3783787"/>
            <a:ext cx="339882" cy="-134417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404238" y="3649370"/>
            <a:ext cx="377647" cy="-11201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781885" y="3537356"/>
            <a:ext cx="377647" cy="-89611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59533" y="3447745"/>
            <a:ext cx="377647" cy="-6720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537180" y="3380537"/>
            <a:ext cx="377647" cy="-4480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914827" y="3335731"/>
            <a:ext cx="302118" cy="-4480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216945" y="3290926"/>
            <a:ext cx="377647" cy="-4480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95180" y="4478274"/>
            <a:ext cx="15105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0.78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piège Hosmer-Lemeshow : un p &gt; 0.05 est BON (le modèle calibre bien). Inverse de la lecture habituelle. Beaucoup d'étudiants se plantent là-dessus.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CAS D'ÉCOLE · ÉTUDE CAS-TÉMOIN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du col, exposition HPV, ajustement.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cas-témoin : 200 cas (cancer du col), 400 témoins. Exposition principale = HPV. Facteurs de confusion à contrôler : âge, parité, tabac, statut socioéconomique. Voilà le workflow complet attendu.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6858000" cy="3429000"/>
          </a:xfrm>
          <a:prstGeom prst="roundRect">
            <a:avLst>
              <a:gd name="adj" fmla="val 133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94436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94436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291840"/>
            <a:ext cx="658368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Modèle univarié (HPV seul)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mod_univ &lt;- glm(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cas ~ hpv,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family = binomial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Modèle ajusté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mod_aj &lt;- glm(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cas ~ hpv + age + parite + tabac + ses,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family = binomial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Tableau final aOR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library(broom)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tidy(mod_aj, exponentiate = TRUE,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conf.int = TRUE)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Vérifs : VIF + AUC + HL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library(car); vif(mod_aj)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library(pROC); auc(donnees$cas,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predict(mod_aj, type = "response"))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680960" y="2834640"/>
            <a:ext cx="4050792" cy="3429000"/>
          </a:xfrm>
          <a:prstGeom prst="roundRect">
            <a:avLst>
              <a:gd name="adj" fmla="val 2667"/>
            </a:avLst>
          </a:prstGeom>
          <a:solidFill>
            <a:srgbClr val="0E1729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0" y="29718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FINAL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863840" y="3337560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univarié HPV = 8,3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 [5,2 ; 13,2]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 ajusté HPV = 6,4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 [3,9 ; 10,5]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0,001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63840" y="4937760"/>
            <a:ext cx="3749040" cy="18288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0" y="502920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VIF max : 2,1 (OK)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: 0,84 (bon)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Hosmer-Lemeshow : p = 0,42 (OK)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63840" y="58978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: HPV reste un facteur de risque fort après ajustement.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CINQ PIÈGES SPÉCIFIQUES AUX RÉGRESSIONS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 erreurs qui font perdre des points.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92024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574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202996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Confondre association et causalité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35915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corrélation forte ou un aOR significatif ne PROUVE pas que X cause Y. Toujours dire « associé à », pas « cause de ».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8892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26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289864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de variables dans un modèle logistique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00200" y="322783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des 10 événements par variable. 50 cas / 5 variables = limite. 30 cas / 7 variables = surajustement assuré.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65760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794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00200" y="376732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Ignorer la multicollinéarité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00200" y="40965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X corrélées entre elles. Coefficients instables, IC énormes. VIF &gt; 5 = à retirer.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2628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52628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6634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600200" y="463600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Mauvaise catégorie de référence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00200" y="496519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prend la première par ordre alphabétique. Si ce n'est pas celle qui te sert, déclare-le explicitement avec relevel().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39496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539496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532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600200" y="550468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Rapporter des log-odds au lieu d'OR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600200" y="583387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brute de glm = log-odds. Sans exp(), tes nombres ne veulent rien dire cliniquement. Erreur classique.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0"/>
            <a:ext cx="6400800" cy="64008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5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424160" y="27432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SUITE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sais ajuster.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 aux outils biomédicaux.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40080" y="36576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Module 4 entre dans le détail des outils spécifiques au biomédical : courbes ROC, sensibilité et spécificité, Kappa de Cohen pour la concordance, Kaplan-Meier et Cox pour la survie. C'est là que tu deviens autonome sur les méthodes d'évaluation diagnostique et de pronostic.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5257800"/>
            <a:ext cx="5303520" cy="914400"/>
          </a:xfrm>
          <a:prstGeom prst="roundRect">
            <a:avLst>
              <a:gd name="adj" fmla="val 10000"/>
            </a:avLst>
          </a:prstGeom>
          <a:solidFill>
            <a:srgbClr val="25D366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303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direct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565099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+221 76 387 34 28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309360" y="5257800"/>
            <a:ext cx="5422392" cy="914400"/>
          </a:xfrm>
          <a:prstGeom prst="roundRect">
            <a:avLst>
              <a:gd name="adj" fmla="val 10000"/>
            </a:avLst>
          </a:prstGeom>
          <a:solidFill>
            <a:srgbClr val="F09042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5303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web HES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92240" y="56509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Heaven Elijah Service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Trouver les liens — Module 3</dc:title>
  <dc:subject>Formation HES — Biostatistique</dc:subject>
  <dc:creator>Heaven Elijah Service</dc:creator>
  <cp:lastModifiedBy>Heaven Elijah Service</cp:lastModifiedBy>
  <cp:revision>1</cp:revision>
  <dcterms:created xsi:type="dcterms:W3CDTF">2026-05-14T19:00:10Z</dcterms:created>
  <dcterms:modified xsi:type="dcterms:W3CDTF">2026-05-14T19:00:10Z</dcterms:modified>
</cp:coreProperties>
</file>