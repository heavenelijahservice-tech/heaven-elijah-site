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liens.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corrélation à la régression logistique ajustée.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ton mémoire passe du descriptif à l'explicatif.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7040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que tu as décrit ton échantillon et comparé tes groupes, ton jury voudra savoir : qu'est-ce qui explique quoi ? Quelles variables sont liées entre elles ? Quel facteur prédit la maladie une fois qu'on contrôle les autres 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7040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passage du « combien » au « pourquoi ». Et c'est là que les outils deviennent plus puissants — la régression logistique multivariée est sans doute LA méthode des thèses en santé publique. C'est aussi là que les pièges deviennent plus subtils.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55280" y="1920240"/>
            <a:ext cx="3794760" cy="4023360"/>
          </a:xfrm>
          <a:prstGeom prst="roundRect">
            <a:avLst>
              <a:gd name="adj" fmla="val 2410"/>
            </a:avLst>
          </a:prstGeom>
          <a:solidFill>
            <a:srgbClr val="0E1729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21031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COUVRE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38160" y="25146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8138160" y="35661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 d'outils :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corrélation, régression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linéaire, logistique,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ajustement, diagnostic.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5029200"/>
            <a:ext cx="338328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51663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: théorie courte, code R, sortie commentée, ce que le jury va creuser.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modèle selon ta variable de sortie.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régression, c'est la NATURE de ta variable Y (à expliquer) qui détermine la famille de modèle. La nature et le nombre des variables X (explicatives) déterminent ensuite le détail.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CONTINUE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tension, HbA1c, score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Corrélation (4)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simple (5)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multiple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qualitatives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Codage dummy (8)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 si plusieurs (7)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BINAIRE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/ sain, décès / vie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Régression logistique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univariée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 (ajusté)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Logistique multivariée (10)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+ IC95%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 modèle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AUC, Hosmer-Lemeshow (12)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CATÉGORIELLE OU ORDINALE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I/II/III/IV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multinom() · nnet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proportionnel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polr() · MASS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Hors-scope module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Couvert en formation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individuelle HES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numéros entre parenthèses pointent vers les slides où chaque méthode est détaillée.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CORRÉLATIONS · PEARSON ET SPEARMAN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force du lien, pas la causalité.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mesure une relation linéaire entre deux variables continues normales. Spearman mesure une relation monotone, sur les rangs — robuste aux données non-normales et aux valeurs extrêmes. Aucun des deux ne dit que X cause 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Pearson (linéaire, normales)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"pearson")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Spearman (rangs, non-normales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 relation monotone)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"spearman")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Pearson's product-moment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correlation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4.21, df = 58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p-value = 8.7e-05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[0.30, 0.65]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0.49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Spearman's rank correlation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rho = 0.46, p = 0.0002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Lien modéré et significatif.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soutenance, évite « X cause Y » — dis « X est associé à Y ». Une corrélation n'est jamais une preuve de causalité, même r = 0.95.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SIMPLE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 + ε. Une équation à défendre.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 Y comme fonction linéaire de X. Le coefficient β₁ se lit : « pour 1 unité d'augmentation de X, Y change de β₁ unités, en moyenne ». Le R² indique la part de variance de Y expliquée par X.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linéaire simple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lm(hba1c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Vérifs visuelles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par(mfrow = c(2, 2))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Estimate  Std.Err  t 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 4.21     0.65    6.5  3e-08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 0.052    0.011   4.7  1e-05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Multiple R² = 0.27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F-statistic = 22.1, p = 1e-05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Chaque année d'âge ajoute en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moyenne 0,052 % d'HbA1c.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plot(modele) affiche 4 graphes de diagnostic : linéarité, normalité des résidus, homoscédasticité, valeurs influentes. À vérifier avant de défendre les coefficients.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MULTIPLE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X. Le coefficient devient « ajusté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coefficient β_i se lit maintenant : « effet de X_i sur Y, à toutes les autres variables fixées ». C'est ce qu'on appelle l'ajustement — la base du contrôle des facteurs de confusion en épidémiologie.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multiple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 + sexe + bmi +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avec et sans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anova(modele_simple, 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Estimate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0.038      0.001 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sexeF     -0.21       0.18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bmi        0.045      0.003 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regionB    0.31       0.04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= 0.42, F = 18.3, p &lt;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Effet de l'âge persiste après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ajustement.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explicative dont la p-value &gt; 0.05 peut quand même rester dans le modèle si elle est un facteur de confusion connu. Justifier toujours.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MULTICOLLINÉARITÉ · LE PIÈGE INVISIBLE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variables X qui mesurent la même chose.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deux variables explicatives sont fortement corrélées (BMI et tour de taille, taille et poids), le modèle ne sait plus laquelle est responsable. Coefficients instables, IC très larges, p-values trompeuses. Le VIF (Variance Inflation Factor) le détecte.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la multicollinéarité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5 → suspect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10 → retirer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une des variables corrélées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les corrélations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cor(donnees[, c("age","bmi","poids")])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GVIF Df GVIF^(1/(2*Df))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1.12  1   1.06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sexe   1.05  1   1.02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bmi    8.74  1   2.96  ← suspect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poids  9.21  1   3.03  ← suspect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 1.31  2   1.07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bmi et poids redondants.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Garder un seul.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classique en soutenance : « Avez-vous vérifié la multicollinéarité dans votre modèle ? » Réponse blindée : « Oui, VIF tous &lt; 5 sauf BMI/poids — j'ai gardé le BMI. »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VARIABLES QUALITATIVES · CODAGE DUMMY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déclarer la catégorie de référence.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X est qualitative (région, profession), R crée automatiquement des variables binaires (« dummy »). Une modalité sert de référence — les autres sont comparées à elle. Ce choix de référence n'est PAS anodin : il change la lecture des coefficients.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Déclarer en facteur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factor(donnees$region)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Voir la référence par défaut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levels(donnees$region)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[1] "A" "B" "C"  → A =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Changer la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relevel(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donnees$region, ref = "B")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 modèle compare maintenant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vs B et C vs 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Estimate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   7.45      &lt;2e-16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regionA       -0.42       0.03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regionC        0.18       0.31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B est la référence ici.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A a 0,42 d'HbA1c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MOINS que B (p = 0,03).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C ne diffère pas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significativement de B.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ton tableau de résultats, mentionne explicitement « catégorie de référence : B ». Sinon, le lecteur ne sait pas ce qu'il compare.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UNIVARIÉE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est binaire. Logit, OR, et la sortie qui piège.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Y est binaire (malade/sain, décès/vie), tu utilises la régression logistique. Subtilité : R sort les coefficients en log-odds. Pour obtenir l'OR, il faut exponentier. Toujours.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logistique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Conversion en OR + IC95%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exp(coef(modele))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exp(confint(modele))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Estimate Pr(&gt;|z|)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-4.21    1e-08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 0.062    0.0003 ***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Exponentiation: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0.015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1.064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age: [1.029, 1.101]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+1 an d'âge = OR 1,064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(6,4 % d'odds supplémentaires).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`exp()`, tes coefficients sont en échelle log et ininterprétables cliniquement. Beaucoup d'étudiants rapportent les log-odds par erreur — c'est l'erreur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MULTIVARIÉE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 ajusté : LE modèle des thèses santé publique.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épidémiologie, on cherche presque toujours à mesurer l'effet d'une exposition AJUSTÉ pour des facteurs de confusion (âge, sexe, comorbidités). C'est exactement ce que fait la logistique multivariée. Le résultat = aOR (adjusted Odds Ratio).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exposition + age + sexe + tabac,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d'OR ajustés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tidy(modele,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       estimate  conf.low conf.high  p.value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exposition  2.45      1.51     3.97       0.0003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1.04      1.02     1.06      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sexeF       0.78      0.51     1.18       0.24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tabac       3.12      1.95     5.02       &lt;0.001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aOR exposition = 2.45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(1.51 — 3.97), p = 0.0003.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Tabac est aussi un facteur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fort, indépendamment.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de 10 (rule of ten events per variable) : pour une régression logistique stable, il faut au moins 10 « événements » par variable explicative. Sinon, surajustement (overfitting).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LIRE UN TABLEAU D'OR · LE TEST DE LA 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lectures à maîtriser parfaitement.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président de jury va te demander d'interpréter UNE LIGNE de ton tableau de résultats. Voici les trois cas types — et la phrase exacte à dire.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 LE RISQUE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2,45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[1,51 ; 3,97]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2,45 fois plus de chances de développer la maladie que les non-exposés, à âge, sexe et tabac fixés. 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ne croise pas 1 → association statistiquement significative.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0,42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[0,28 ; 0,65]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58 % de chances en moins de développer la maladie, à covariables fixées. 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&lt; 1 = effet protecteur. (1 − 0,42) × 100 = 58 % de réduction.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CONCLUSION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1,30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[0,85 ; 1,98]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Pas d'association statistiquement significative entre l'exposition et la maladie dans notre étude. 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croise 1. On ne dit JAMAIS « pas d'effet » — on dit « pas mis en évidence ».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ÉVALUER UN MODÈLE LOGISTIQUE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calibration, R² : trois angles à connaître.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ton modèle posé, le jury va te demander : est-il bon ? Trois indicateurs à rapporter — discrimination (AUC), calibration (Hosmer-Lemeshow), explication (R² de McFadden ou Nagelkerke).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Discrimination : aire sous ROC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proba &lt;- predict(modele, type = "response")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auc(donnees$maladie,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Calibration : Hosmer-Lemeshow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library(ResourceSelection)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hoslem.test(donnees$maladie, proba, g = 10)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Pseudo-R²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library(DescTools)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PseudoR2(modele, which = "Nagelkerke")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AUC: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(95% CI: 0.71 — 0.85)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 correcte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(&gt; 0.7 acceptable, &gt; 0.8 bon)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Hosmer-Lemeshow X² = 8.4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8, p = 0.39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 &gt; 0.05 = calibration OK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(paradoxalement, p élevé = bon)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Nagelkerke R² = 0.31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Hosmer-Lemeshow : un p &gt; 0.05 est BON (le modèle calibre bien). Inverse de la lecture habituelle. Beaucoup d'étudiants se plantent là-dessus.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ÉTUDE CAS-TÉMOIN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du col, exposition HPV, ajustement.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cas-témoin : 200 cas (cancer du col), 400 témoins. Exposition principale = HPV. Facteurs de confusion à contrôler : âge, parité, tabac, statut socioéconomique. Voilà le workflow complet attendu.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6858000" cy="3429000"/>
          </a:xfrm>
          <a:prstGeom prst="roundRect">
            <a:avLst>
              <a:gd name="adj" fmla="val 133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9443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658368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Modèle univarié (HPV seul)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mod_univ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 ~ hpv,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mod_aj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 ~ hpv + age + parite + tabac + ses,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Tableau final aOR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tidy(mod_aj,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Vérifs : VIF + AUC + HL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library(car); vif(mod_aj)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library(pROC); auc(donnees$cas,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predict(mod_aj, type = "response"))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0" y="2834640"/>
            <a:ext cx="4050792" cy="3429000"/>
          </a:xfrm>
          <a:prstGeom prst="roundRect">
            <a:avLst>
              <a:gd name="adj" fmla="val 2667"/>
            </a:avLst>
          </a:prstGeom>
          <a:solidFill>
            <a:srgbClr val="0E1729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FINAL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63840" y="333756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univarié HPV = 8,3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[5,2 ; 13,2]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ajusté HPV = 6,4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[3,9 ; 10,5]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0,001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493776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max : 2,1 (OK)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: 0,84 (bon)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Hosmer-Lemeshow : p = 0,42 (OK)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897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HPV reste un facteur de risque fort après ajustement.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AUX RÉGRESSIONS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perdre des points.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association et causalité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ou un aOR significatif ne PROUVE pas que X cause Y. Toujours dire « associé à », pas « cause de ».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variables dans un modèle logistique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des 10 événements par variable. 50 cas / 5 variables = limite. 30 cas / 7 variables = surajustement assuré.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Ignorer la multicollinéarité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X corrélées entre elles. Coefficients instables, IC énormes. VIF &gt; 5 = à retirer.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Mauvaise catégorie de référence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prend la première par ordre alphabétique. Si ce n'est pas celle qui te sert, déclare-le explicitement avec relevel().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des log-odds au lieu d'OR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brute de glm = log-odds. Sans exp(), tes nombres ne veulent rien dire cliniquement. 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ajuster.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outils biomédicaux.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4 entre dans le détail des outils spécifiques au biomédical : courbes ROC, sensibilité et spécificité, Kappa de Cohen pour la concordance, Kaplan-Meier et Cox pour la survie. C'est là que tu deviens autonome sur les méthodes d'évaluation diagnostique et de pronostic.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Trouver les liens — Module 3</dc:title>
  <dc:subject>Formation HES — Biostatistique</dc:subject>
  <dc:creator>Heaven Elijah Service</dc:creator>
  <cp:lastModifiedBy>Heaven Elijah Service</cp:lastModifiedBy>
  <cp:revision>1</cp:revision>
  <dcterms:created xsi:type="dcterms:W3CDTF">2026-05-14T18:30:47Z</dcterms:created>
  <dcterms:modified xsi:type="dcterms:W3CDTF">2026-05-14T18:30:47Z</dcterms:modified>
</cp:coreProperties>
</file>