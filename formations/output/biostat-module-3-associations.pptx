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4572000" cy="45720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3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10515600" y="530352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FORMATION HES · BIOSTAT · MODULE 3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40080" y="173736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Trouver</a:t>
            </a:r>
            <a:endParaRPr lang="en-US" sz="6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liens.</a:t>
            </a:r>
            <a:endParaRPr lang="en-US" sz="6200" dirty="0"/>
          </a:p>
        </p:txBody>
      </p:sp>
      <p:sp>
        <p:nvSpPr>
          <p:cNvPr id="6" name="Shape 3"/>
          <p:cNvSpPr/>
          <p:nvPr/>
        </p:nvSpPr>
        <p:spPr>
          <a:xfrm>
            <a:off x="640080" y="4617720"/>
            <a:ext cx="1371600" cy="54864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4800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corrélation à la régression logistique ajustée.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40080" y="59436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090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slides · ~50 min · M2 et doctorants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0" y="5943600"/>
            <a:ext cx="62453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POURQUOI CE MODULE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ton mémoire passe du descriptif à l'explicatif.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échantillon décrit et tes groupes comparés, ton jury voudra savoir : qu'est-ce qui explique quoi ? Quel facteur prédit la maladie une fois qu'on contrôle les autres ? C'est le passage du « combien » au « pourquoi ».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temps en analyse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Fréquences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00144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09872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309872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28744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184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20184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selon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plan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(Module 2)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88808" y="4366260"/>
            <a:ext cx="182880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98536" y="4293108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8098536" y="4366260"/>
            <a:ext cx="73152" cy="7315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17408" y="3794760"/>
            <a:ext cx="3514344" cy="1143000"/>
          </a:xfrm>
          <a:prstGeom prst="roundRect">
            <a:avLst>
              <a:gd name="adj" fmla="val 6400"/>
            </a:avLst>
          </a:prstGeom>
          <a:solidFill>
            <a:srgbClr val="F09042"/>
          </a:solidFill>
          <a:ln w="12700">
            <a:solidFill>
              <a:srgbClr val="D97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08848" y="3931920"/>
            <a:ext cx="33314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Explicatif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08848" y="4434840"/>
            <a:ext cx="3331464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ajustés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" y="5212080"/>
            <a:ext cx="54864" cy="100584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525780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module couvre la régression — l'outil qui te permet de modéliser un lien tout en contrôlant les facteurs de confusion. La régression logistique multivariée est sans doute LA méthode des thèses en santé publique.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CARTE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modèle selon ta variable de sortie.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régression, c'est la NATURE de ta variable Y (à expliquer) qui détermine la famille de modèle. La nature et le nombre des variables X (explicatives) déterminent ensuite le détail.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CONTINUE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tension, HbA1c, score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77240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Corrélation (4)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simple (5)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77240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Rég. linéaire multiple (6)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Multicollinéarité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77240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 (slide 7)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52544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8" name="Text 16"/>
          <p:cNvSpPr/>
          <p:nvPr/>
        </p:nvSpPr>
        <p:spPr>
          <a:xfrm>
            <a:off x="4489704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BINAIRE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89704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malade / sain, décès / vie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9704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variable X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89704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univariée (9)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489704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 (ajusté)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489704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Logistique multivariée (10)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+ IC95% (11)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489704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Évaluer le modèle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489704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AUC, Hosmer-Lemeshow (12)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065008" y="2926080"/>
            <a:ext cx="3621024" cy="640080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02168" y="299923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CATÉGORIELLE OU ORDINALE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02168" y="3273552"/>
            <a:ext cx="3346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stade I/II/III/IV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65008" y="3566160"/>
            <a:ext cx="3621024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02168" y="3703320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Multinomial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02168" y="3931920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multinom() · nnet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202168" y="4462272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Ordinal proportionnel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02168" y="4690872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polr() · MASS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202168" y="5221224"/>
            <a:ext cx="33467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Hors-scope module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202168" y="5449824"/>
            <a:ext cx="33467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Couvert en formation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individuelle HES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CORRÉLATIONS · PEARSON ET SPEARMAN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force du lien, pas la causalité.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mesure une relation linéaire entre deux continues normales. Spearman mesure une relation monotone sur les rangs — robuste aux données non-normales et aux valeurs extrêmes. Aucun des deux ne dit que X cause 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Pearson (linéaire,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normales)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"pearson")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Spearman (rangs)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cor.test(donnees$age,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donnees$hba1c,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method = "spearman")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Pearson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0.49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[0.30, 0.65]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8.7e-05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Spearman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rho = 0.46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0.0002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HbA1c en fonction de l'âge · r = 0.49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40730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962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2431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90248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30398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1624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5215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2847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66926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48479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18130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19084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46482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395473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39797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10969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3777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39712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37870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388864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58200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62059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7818120" y="3649370"/>
            <a:ext cx="3776472" cy="1568196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soutenance, évite « X cause Y » — dis « X est associé à Y ». Une corrélation n'est jamais une preuve de causalité, même r = 0.95.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SIMPLE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β₀ + β₁X + ε. Une équation à défendre.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Modélise Y comme fonction linéaire de X. β₁ se lit : « pour 1 unité d'augmentation de X, Y change de β₁ unités, en moyenne ». R² indique la part de variance de Y expliquée par X.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simple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Diagnostics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par(mfrow = c(2, 2))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4.21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&lt;3e-08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        0.052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&lt;1e-05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 = 0.27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p &lt; 1e-05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4.21 + 0.052·âge · R² = 0.27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X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Y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69659" y="531209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1" name="Shape 19"/>
          <p:cNvSpPr/>
          <p:nvPr/>
        </p:nvSpPr>
        <p:spPr>
          <a:xfrm>
            <a:off x="8041317" y="484311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2" name="Shape 20"/>
          <p:cNvSpPr/>
          <p:nvPr/>
        </p:nvSpPr>
        <p:spPr>
          <a:xfrm>
            <a:off x="8212975" y="5174442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4632" y="489395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4" name="Shape 22"/>
          <p:cNvSpPr/>
          <p:nvPr/>
        </p:nvSpPr>
        <p:spPr>
          <a:xfrm>
            <a:off x="8556290" y="492061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5" name="Shape 23"/>
          <p:cNvSpPr/>
          <p:nvPr/>
        </p:nvSpPr>
        <p:spPr>
          <a:xfrm>
            <a:off x="8727948" y="482887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99606" y="46955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7" name="Shape 25"/>
          <p:cNvSpPr/>
          <p:nvPr/>
        </p:nvSpPr>
        <p:spPr>
          <a:xfrm>
            <a:off x="9071264" y="4845854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8" name="Shape 26"/>
          <p:cNvSpPr/>
          <p:nvPr/>
        </p:nvSpPr>
        <p:spPr>
          <a:xfrm>
            <a:off x="9242921" y="4716576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29" name="Shape 27"/>
          <p:cNvSpPr/>
          <p:nvPr/>
        </p:nvSpPr>
        <p:spPr>
          <a:xfrm>
            <a:off x="9414579" y="456624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0" name="Shape 28"/>
          <p:cNvSpPr/>
          <p:nvPr/>
        </p:nvSpPr>
        <p:spPr>
          <a:xfrm>
            <a:off x="9586237" y="431673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1" name="Shape 29"/>
          <p:cNvSpPr/>
          <p:nvPr/>
        </p:nvSpPr>
        <p:spPr>
          <a:xfrm>
            <a:off x="9757895" y="432807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2" name="Shape 30"/>
          <p:cNvSpPr/>
          <p:nvPr/>
        </p:nvSpPr>
        <p:spPr>
          <a:xfrm>
            <a:off x="9929553" y="45597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3" name="Shape 31"/>
          <p:cNvSpPr/>
          <p:nvPr/>
        </p:nvSpPr>
        <p:spPr>
          <a:xfrm>
            <a:off x="10101211" y="413810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4" name="Shape 32"/>
          <p:cNvSpPr/>
          <p:nvPr/>
        </p:nvSpPr>
        <p:spPr>
          <a:xfrm>
            <a:off x="10272868" y="416237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4526" y="4274029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16184" y="400068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787842" y="4165430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8" name="Shape 36"/>
          <p:cNvSpPr/>
          <p:nvPr/>
        </p:nvSpPr>
        <p:spPr>
          <a:xfrm>
            <a:off x="10959500" y="4015335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11131157" y="4103397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0" name="Shape 38"/>
          <p:cNvSpPr/>
          <p:nvPr/>
        </p:nvSpPr>
        <p:spPr>
          <a:xfrm>
            <a:off x="11302815" y="3851261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1" name="Shape 39"/>
          <p:cNvSpPr/>
          <p:nvPr/>
        </p:nvSpPr>
        <p:spPr>
          <a:xfrm>
            <a:off x="11474473" y="3886813"/>
            <a:ext cx="68580" cy="68580"/>
          </a:xfrm>
          <a:prstGeom prst="ellipse">
            <a:avLst/>
          </a:prstGeom>
          <a:solidFill>
            <a:srgbClr val="0E1729"/>
          </a:solidFill>
          <a:ln/>
        </p:spPr>
      </p:sp>
      <p:sp>
        <p:nvSpPr>
          <p:cNvPr id="42" name="Shape 40"/>
          <p:cNvSpPr/>
          <p:nvPr/>
        </p:nvSpPr>
        <p:spPr>
          <a:xfrm flipV="1">
            <a:off x="7818120" y="3918204"/>
            <a:ext cx="3776472" cy="1232154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plot(modele) affiche 4 graphes de diagnostic : linéarité, normalité des résidus, homoscédasticité, valeurs influentes. À vérifier avant de défendre les coefficients.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LINÉAIRE MULTIPLE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X. Le coefficient devient « ajusté ».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coefficient β_i se lit maintenant : « effet de X_i sur Y, à toutes les autres variables fixées ». C'est ce qu'on appelle l'ajustement — la base du contrôle des facteurs de confusion en épidémiologie.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multiple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hba1c ~ age + sexe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bmi + region,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Comparaison modèles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anova(modele_simple,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modele)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702259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2971800"/>
            <a:ext cx="6839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Coefficients ajustés · effet sur HbA1c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752204" y="3246120"/>
            <a:ext cx="4572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4800600" y="336156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811175" y="3526155"/>
            <a:ext cx="180844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811175" y="347129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92018" y="347129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37588" y="346214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392163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07886" y="4086225"/>
            <a:ext cx="2437456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07886" y="403136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5342" y="403136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2606" y="402221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448170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811175" y="4646295"/>
            <a:ext cx="235883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11175" y="459143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047057" y="459143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865108" y="458228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29" name="Text 27"/>
          <p:cNvSpPr/>
          <p:nvPr/>
        </p:nvSpPr>
        <p:spPr>
          <a:xfrm>
            <a:off x="4800600" y="504177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B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791518" y="5206365"/>
            <a:ext cx="2358828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1518" y="515150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150346" y="515150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06924" y="514235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6263640" y="5532120"/>
            <a:ext cx="5330952" cy="4572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69324" y="557784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263640" y="5715000"/>
            <a:ext cx="5330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β (effet par unité)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explicative dont la p-value &gt; 0.05 peut quand même rester dans le modèle si elle est un facteur de confusion connu. Justifie toujours.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MULTICOLLINÉARITÉ · LE PIÈGE INVISIBLE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variables X qui mesurent la même chose.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deux variables explicatives se chevauchent fortement (BMI et tour de taille, taille et poids), le modèle ne sait plus laquelle est responsable. Coefficients instables, IC très larges, p-values trompeuses. Le VIF le détecte.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50292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40156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40156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la multicollinéarité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library(car)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vif(modele)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5 → suspect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 VIF &gt; 10 → retirer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une des variables corrélées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Vérifier corrélations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cor(donnees[, c("age",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"bmi","poids")])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0" y="3337560"/>
            <a:ext cx="58795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et poids · forte multicollinéarité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73163" y="3968496"/>
            <a:ext cx="1755648" cy="1755648"/>
          </a:xfrm>
          <a:prstGeom prst="ellipse">
            <a:avLst/>
          </a:prstGeom>
          <a:solidFill>
            <a:srgbClr val="F09042">
              <a:alpha val="35000"/>
            </a:srgbClr>
          </a:solidFill>
          <a:ln w="19050">
            <a:solidFill>
              <a:srgbClr val="D977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55101" y="3968496"/>
            <a:ext cx="1755648" cy="1755648"/>
          </a:xfrm>
          <a:prstGeom prst="ellipse">
            <a:avLst/>
          </a:prstGeom>
          <a:solidFill>
            <a:srgbClr val="0E1729">
              <a:alpha val="35000"/>
            </a:srgbClr>
          </a:solidFill>
          <a:ln w="19050">
            <a:solidFill>
              <a:srgbClr val="1A2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15963" y="351129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977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470669" y="351129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classique en soutenance : « Avez-vous vérifié la multicollinéarité dans votre modèle ? » Réponse blindée : « Oui, VIF tous &lt; 5 sauf BMI/poids — j'ai gardé le BMI. »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VARIABLES QUALITATIVES · CODAGE DUMMY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déclarer la catégorie de référence.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X est qualitative (région, profession), R crée automatiquement des variables binaires (« dummy »). Une modalité sert de référence — les autres sont comparées à elle. Ce choix de référence change la lecture des coefficients.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00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35584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35584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70332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Déclarer en facteur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factor(donnees$region)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Voir la référence par défaut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levels(donnees$region)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[1] "A" "B" "C"  → A =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Changer la référence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donnees$region &lt;- relevel(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donnees$region, ref = "B")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 modèle compare maintenant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vs B et C vs B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0" y="3246120"/>
            <a:ext cx="5330952" cy="2743200"/>
          </a:xfrm>
          <a:prstGeom prst="roundRect">
            <a:avLst>
              <a:gd name="adj" fmla="val 1667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6537960" y="333756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3611880"/>
            <a:ext cx="505663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 (ref = B):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Estimate  Pr(&gt;|t|)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(Intercept)   7.45      &lt;2e-16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regionA      -0.42       0.03 *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regionC       0.18       0.31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A a 0,42 d'HbA1c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 MOINS que B (p = 0,03).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Région C ne diffère pas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significativement de B.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ton tableau de résultats, mentionne explicitement « catégorie de référence : B ». Sinon, le lecteur ne sait pas ce qu'il compare.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UNIVARIÉE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est binaire. Logit, OR, et la sortie qui piège.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 Y est binaire, tu utilises la régression logistique. Elle modélise la probabilité de Y = 1 via une fonction sigmoïde. Subtilité : R sort les coefficients en log-odds. Pour obtenir l'OR, il faut exponentier.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Régression logistique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age,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summary(modele)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Conversion en OR + IC95%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exp(coef(modele))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exp(confint(modele))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Coefficients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 0.062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 0.0003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Exponentiation: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age = 1.064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[1.029, 1.101]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+1 an = +6.4 %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d'odds.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P(maladie) selon X · courbe sigmoïde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(prédicteur)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P(Y = 1)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818120" y="4366260"/>
            <a:ext cx="3776472" cy="4572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478929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12532" y="5476327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006944" y="5472824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101355" y="5468114"/>
            <a:ext cx="94412" cy="471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195767" y="5461786"/>
            <a:ext cx="94412" cy="632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290179" y="5453302"/>
            <a:ext cx="94412" cy="848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8384591" y="5441952"/>
            <a:ext cx="94412" cy="113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8479003" y="5426815"/>
            <a:ext cx="94412" cy="1513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8573414" y="5406711"/>
            <a:ext cx="94412" cy="2010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667826" y="5380153"/>
            <a:ext cx="94412" cy="2655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8762238" y="5345322"/>
            <a:ext cx="94412" cy="3483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8856650" y="5300070"/>
            <a:ext cx="94412" cy="4525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8951062" y="5241993"/>
            <a:ext cx="94412" cy="5807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9045473" y="5168614"/>
            <a:ext cx="94412" cy="7337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9139885" y="5077716"/>
            <a:ext cx="94412" cy="9089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9234297" y="4967831"/>
            <a:ext cx="94412" cy="1098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9328709" y="4838846"/>
            <a:ext cx="94412" cy="1289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9423121" y="4692571"/>
            <a:ext cx="94412" cy="14627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9517532" y="4533032"/>
            <a:ext cx="94412" cy="1595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9611944" y="4366260"/>
            <a:ext cx="94412" cy="1667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9706356" y="4199488"/>
            <a:ext cx="94412" cy="1667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800768" y="4039949"/>
            <a:ext cx="94412" cy="1595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9895180" y="3893674"/>
            <a:ext cx="94412" cy="14627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9989591" y="3764689"/>
            <a:ext cx="94412" cy="1289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084003" y="3654804"/>
            <a:ext cx="94412" cy="10988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178415" y="3563906"/>
            <a:ext cx="94412" cy="9089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272827" y="3490527"/>
            <a:ext cx="94412" cy="7337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367239" y="3432450"/>
            <a:ext cx="94412" cy="5807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10461650" y="3387198"/>
            <a:ext cx="94412" cy="4525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6062" y="3352367"/>
            <a:ext cx="94412" cy="3483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650474" y="3325809"/>
            <a:ext cx="94412" cy="2655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10744886" y="3305705"/>
            <a:ext cx="94412" cy="20105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10839298" y="3290568"/>
            <a:ext cx="94412" cy="1513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0933709" y="3279218"/>
            <a:ext cx="94412" cy="113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11028121" y="3270734"/>
            <a:ext cx="94412" cy="848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1122533" y="3264406"/>
            <a:ext cx="94412" cy="632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1216945" y="3259696"/>
            <a:ext cx="94412" cy="471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1311357" y="3256193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1405768" y="3253591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1500180" y="3251659"/>
            <a:ext cx="94412" cy="457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`exp()`, tes coefficients sont en échelle log et ininterprétables cliniquement. Beaucoup d'étudiants rapportent les log-odds par erreur — c'est l'erreur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RÉGRESSION LOGISTIQUE MULTIVARIÉE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 ajusté : LE modèle des thèses santé publique.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épidémiologie, on cherche presque toujours à mesurer l'effet d'une exposition AJUSTÉ pour des facteurs de confusion (âge, sexe, comorbidités). Le résultat = aOR (adjusted Odds Ratio).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502920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21868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2186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modele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maladie ~ exposition +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age + sexe + tabac,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tidy(modele,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852160" y="3108960"/>
            <a:ext cx="587959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3154680"/>
            <a:ext cx="56967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ajustés · IC95%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134811" y="3429000"/>
            <a:ext cx="4572" cy="224028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943600" y="354444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529463" y="3709035"/>
            <a:ext cx="1903615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29463" y="365417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433078" y="365417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92852" y="364502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0" y="410451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150288" y="4269105"/>
            <a:ext cx="30953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0288" y="421424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1241" y="421424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01756" y="420509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943600" y="466458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sexe F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755636" y="4829175"/>
            <a:ext cx="518464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755636" y="477431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74100" y="4774311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00561" y="4765167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5224653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869947" y="5389245"/>
            <a:ext cx="2375649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69947" y="533438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245596" y="5334381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711317" y="5325237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34" name="Shape 32"/>
          <p:cNvSpPr/>
          <p:nvPr/>
        </p:nvSpPr>
        <p:spPr>
          <a:xfrm>
            <a:off x="7406640" y="5715000"/>
            <a:ext cx="4187952" cy="4572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951931" y="57607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406640" y="5897880"/>
            <a:ext cx="418795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Ratio ajusté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de 10 : pour une logistique stable, il faut au moins 10 « événements » par variable explicative. Sinon, surajustement (overfitting).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LIRE UN TABLEAU D'OR · LE TEST DE LA SOUTENANCE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lectures à maîtriser parfaitement.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président de jury va te demander d'interpréter UNE LIGNE de ton tableau de résultats. Voici les trois cas types — et la phrase exacte à dire.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AUGMENTE LE RISQUE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2,45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[1,51 ; 3,97]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2,45 fois plus de chances de développer la maladie que les non-exposés, à âge, sexe et tabac fixés. »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ne croise pas 1 → association statistiquement significative.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4340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2628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0,42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[0,28 ; 0,65]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2628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Les exposés ont 58 % de chances en moins de développer la maladie, à covariables fixées. »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2628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&lt; 1 = effet protecteur. (1 − 0,42) × 100 = 58 % de réduction.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46720" y="288036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3017520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CONCLUSION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aOR = 1,30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523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 [0,85 ; 1,98]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229600" y="397764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Pas d'association statistiquement significative entre l'exposition et la maladie dans notre étude. »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croise 1. On ne dit JAMAIS « pas d'effet » — on dit « pas mis en évidence ».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ÉVALUER UN MODÈLE LOGISTIQUE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AUC, calibration, R² : trois angles à connaître.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ton modèle posé, le jury va demander : est-il bon ? Trois indicateurs — discrimination (AUC), calibration (Hosmer-Lemeshow), explication (R² de McFadden ou Nagelkerke).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931920" cy="2926080"/>
          </a:xfrm>
          <a:prstGeom prst="roundRect">
            <a:avLst>
              <a:gd name="adj" fmla="val 1563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3657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Discrimination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library(pROC)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proba &lt;- predict(modele,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type = "response")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auc(donnees$maladie,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roc_obj &lt;- roc(donnees$maladie,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proba)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plot(roc_obj)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Calibration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library(ResourceSelection)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hoslem.test(donnees$maladie,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proba, g = 10)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2926080"/>
            <a:ext cx="2560320" cy="2926080"/>
          </a:xfrm>
          <a:prstGeom prst="roundRect">
            <a:avLst>
              <a:gd name="adj" fmla="val 1786"/>
            </a:avLst>
          </a:prstGeom>
          <a:solidFill>
            <a:srgbClr val="1A2541"/>
          </a:solidFill>
          <a:ln w="6350">
            <a:solidFill>
              <a:srgbClr val="6B728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4846320" y="30175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92040" y="3291840"/>
            <a:ext cx="2286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 = 0.782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IC95%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[0.71, 0.85]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discrimination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correcte.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HL X² = 8.4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0.39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calibration OK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(p &gt; 0.05 = bon).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406640" y="2926080"/>
            <a:ext cx="4325112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0" y="2962656"/>
            <a:ext cx="41422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ROC · modèle logistique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818120" y="5486400"/>
            <a:ext cx="3776472" cy="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18120" y="3246120"/>
            <a:ext cx="0" cy="2240280"/>
          </a:xfrm>
          <a:prstGeom prst="line">
            <a:avLst/>
          </a:prstGeom>
          <a:noFill/>
          <a:ln w="9525">
            <a:solidFill>
              <a:srgbClr val="0E17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18120" y="5577840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Spécificité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 rot="-5400000">
            <a:off x="7424928" y="3246120"/>
            <a:ext cx="36576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Sensibilité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 flipV="1">
            <a:off x="7818120" y="3246120"/>
            <a:ext cx="3776472" cy="2240280"/>
          </a:xfrm>
          <a:prstGeom prst="line">
            <a:avLst/>
          </a:prstGeom>
          <a:noFill/>
          <a:ln w="9525">
            <a:solidFill>
              <a:srgbClr val="6B728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V="1">
            <a:off x="7818120" y="5083150"/>
            <a:ext cx="151059" cy="403250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969179" y="4769510"/>
            <a:ext cx="151059" cy="313639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120238" y="4478274"/>
            <a:ext cx="151059" cy="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8271297" y="4187038"/>
            <a:ext cx="226588" cy="29123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8497885" y="3963010"/>
            <a:ext cx="264353" cy="22402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8762238" y="3783787"/>
            <a:ext cx="302118" cy="179222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9064356" y="3649370"/>
            <a:ext cx="339882" cy="134417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9404238" y="3537356"/>
            <a:ext cx="377647" cy="112014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9781885" y="3447745"/>
            <a:ext cx="377647" cy="89611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10159533" y="3380537"/>
            <a:ext cx="377647" cy="67208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10537180" y="3335731"/>
            <a:ext cx="377647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10914827" y="3290926"/>
            <a:ext cx="302118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11216945" y="3246120"/>
            <a:ext cx="377647" cy="44806"/>
          </a:xfrm>
          <a:prstGeom prst="line">
            <a:avLst/>
          </a:prstGeom>
          <a:noFill/>
          <a:ln w="25400">
            <a:solidFill>
              <a:srgbClr val="F0904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5180" y="4478274"/>
            <a:ext cx="151058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0.78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piège Hosmer-Lemeshow : un p &gt; 0.05 est BON (le modèle calibre bien). Inverse de la lecture habituelle. Beaucoup d'étudiants se plantent là-dessus.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CAS D'ÉCOLE · ÉTUDE CAS-TÉMOIN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du col, exposition HPV, ajustement complet.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cas, 400 témoins. Exposition principale = HPV. Facteurs de confusion : âge, parité, tabac, statut socioéconomique. Voici le tableau final aOR — exactement ce qu'on attend dans une thèse.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4846320" cy="3108960"/>
          </a:xfrm>
          <a:prstGeom prst="roundRect">
            <a:avLst>
              <a:gd name="adj" fmla="val 1471"/>
            </a:avLst>
          </a:prstGeom>
          <a:solidFill>
            <a:srgbClr val="1A2541"/>
          </a:solidFill>
          <a:ln w="6350">
            <a:solidFill>
              <a:srgbClr val="F0904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3035808"/>
            <a:ext cx="365760" cy="256032"/>
          </a:xfrm>
          <a:prstGeom prst="roundRect">
            <a:avLst>
              <a:gd name="adj" fmla="val 14286"/>
            </a:avLst>
          </a:prstGeom>
          <a:solidFill>
            <a:srgbClr val="F09042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30358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Modèle ajusté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mod_aj &lt;- glm(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cas ~ hpv + age + parite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+ tabac + ses,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data = donnees,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family = binomial)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library(broom)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tidy(mod_aj,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exponentiate = TRUE,</a:t>
            </a:r>
            <a:endParaRPr lang="en-US" sz="10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E8E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conf.int = TRUE)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0" y="2926080"/>
            <a:ext cx="6062472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C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60720" y="2971800"/>
            <a:ext cx="587959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 · facteurs de risque cancer du col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607066" y="3246120"/>
            <a:ext cx="4572" cy="2423160"/>
          </a:xfrm>
          <a:prstGeom prst="line">
            <a:avLst/>
          </a:prstGeom>
          <a:noFill/>
          <a:ln w="12700">
            <a:solidFill>
              <a:srgbClr val="6B728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5760720" y="3323844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713123" y="3488436"/>
            <a:ext cx="2517233" cy="4572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13123" y="3433572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230356" y="3433572"/>
            <a:ext cx="4572" cy="109728"/>
          </a:xfrm>
          <a:prstGeom prst="line">
            <a:avLst/>
          </a:prstGeom>
          <a:noFill/>
          <a:ln w="19050">
            <a:solidFill>
              <a:srgbClr val="F0904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02612" y="3424428"/>
            <a:ext cx="128016" cy="128016"/>
          </a:xfrm>
          <a:prstGeom prst="rect">
            <a:avLst/>
          </a:prstGeom>
          <a:solidFill>
            <a:srgbClr val="F09042"/>
          </a:solidFill>
          <a:ln/>
        </p:spPr>
      </p:sp>
      <p:sp>
        <p:nvSpPr>
          <p:cNvPr id="19" name="Text 17"/>
          <p:cNvSpPr/>
          <p:nvPr/>
        </p:nvSpPr>
        <p:spPr>
          <a:xfrm>
            <a:off x="5760720" y="3808476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âge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0880" y="3973068"/>
            <a:ext cx="15256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10880" y="3918204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26136" y="3918204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54500" y="3909060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4" name="Text 22"/>
          <p:cNvSpPr/>
          <p:nvPr/>
        </p:nvSpPr>
        <p:spPr>
          <a:xfrm>
            <a:off x="5760720" y="4293108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parité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683346" y="4457700"/>
            <a:ext cx="629308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3346" y="4402836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12654" y="4402836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7247" y="4393692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29" name="Text 27"/>
          <p:cNvSpPr/>
          <p:nvPr/>
        </p:nvSpPr>
        <p:spPr>
          <a:xfrm>
            <a:off x="5760720" y="477774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587996" y="4942332"/>
            <a:ext cx="450051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87996" y="4887468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038047" y="4887468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03246" y="4878324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4" name="Text 32"/>
          <p:cNvSpPr/>
          <p:nvPr/>
        </p:nvSpPr>
        <p:spPr>
          <a:xfrm>
            <a:off x="5760720" y="5262372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bas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626136" y="5426964"/>
            <a:ext cx="587354" cy="4572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26136" y="5372100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13490" y="5372100"/>
            <a:ext cx="4572" cy="109728"/>
          </a:xfrm>
          <a:prstGeom prst="line">
            <a:avLst/>
          </a:prstGeom>
          <a:noFill/>
          <a:ln w="19050">
            <a:solidFill>
              <a:srgbClr val="0E172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90967" y="5362956"/>
            <a:ext cx="128016" cy="128016"/>
          </a:xfrm>
          <a:prstGeom prst="rect">
            <a:avLst/>
          </a:prstGeom>
          <a:solidFill>
            <a:srgbClr val="0E1729"/>
          </a:solidFill>
          <a:ln/>
        </p:spPr>
      </p:sp>
      <p:sp>
        <p:nvSpPr>
          <p:cNvPr id="39" name="Shape 37"/>
          <p:cNvSpPr/>
          <p:nvPr/>
        </p:nvSpPr>
        <p:spPr>
          <a:xfrm>
            <a:off x="7223760" y="5715000"/>
            <a:ext cx="4370832" cy="4572"/>
          </a:xfrm>
          <a:prstGeom prst="line">
            <a:avLst/>
          </a:prstGeom>
          <a:noFill/>
          <a:ln w="6350">
            <a:solidFill>
              <a:srgbClr val="0E172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24186" y="5760720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223760" y="5897880"/>
            <a:ext cx="43708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Ratio ajusté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40080" y="6080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: HPV reste le facteur de risque dominant, même après ajustement. aOR = 6,4 (IC95% [3,9 ; 10,5]).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4572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CINQ PIÈGES SPÉCIFIQUES AUX RÉGRESSIONS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8229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-100" kern="0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 erreurs qui font perdre des points.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92024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5740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600200" y="202996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Confondre association et causalité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0200" y="235915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ou un aOR significatif ne PROUVE pas que X cause Y. Toujours dire « associé à », pas « cause de ».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8892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2608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00200" y="289864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de variables dans un modèle logistique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00200" y="322783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des 10 événements par variable. 50 cas / 5 variables = limite. 30 cas / 7 variables = surajustement assuré.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65760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65760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79476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600200" y="376732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Ignorer la multicollinéarité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600200" y="40965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X corrélées entre elles. Coefficients instables, IC énormes. VIF &gt; 5 = à retirer.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2628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452628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66344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600200" y="463600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Mauvaise catégorie de référence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600200" y="496519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prend la première par ordre alphabétique. Si ce n'est pas celle qui te sert, déclare-le explicitement avec relevel().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" y="5394960"/>
            <a:ext cx="11091672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6CFB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5394960"/>
            <a:ext cx="73152" cy="82296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532120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600200" y="5504688"/>
            <a:ext cx="99669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Rapporter des log-odds au lieu d'OR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600200" y="583387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Sortie brute de glm = log-odds. Sans exp(), tes nombres ne veulent rien dire cliniquement. Erreur classique.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Biostat · Module 3 · Heaven Elijah Service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817352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0" y="2743200"/>
            <a:ext cx="6400800" cy="6400800"/>
          </a:xfrm>
          <a:prstGeom prst="ellipse">
            <a:avLst/>
          </a:prstGeom>
          <a:solidFill>
            <a:srgbClr val="F09042">
              <a:alpha val="12000"/>
            </a:srgbClr>
          </a:solidFill>
          <a:ln/>
        </p:spPr>
      </p:sp>
      <p:pic>
        <p:nvPicPr>
          <p:cNvPr id="5" name="Image 0" descr="E:\Projets\heaven-elijah-site\public\logo-picto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10424160" y="2743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09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 SUITE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371600"/>
            <a:ext cx="109728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sais ajuster.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spc="-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 aux outils biomédicaux.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40080" y="365760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C9CF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Module 4 entre dans le détail des outils spécifiques au biomédical : courbes ROC, sensibilité et spécificité, Kappa de Cohen pour la concordance, Kaplan-Meier et Cox pour la survie.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5257800"/>
            <a:ext cx="5303520" cy="914400"/>
          </a:xfrm>
          <a:prstGeom prst="roundRect">
            <a:avLst>
              <a:gd name="adj" fmla="val 10000"/>
            </a:avLst>
          </a:prstGeom>
          <a:solidFill>
            <a:srgbClr val="25D366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303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direct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5650992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+221 76 387 34 28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309360" y="5257800"/>
            <a:ext cx="5422392" cy="914400"/>
          </a:xfrm>
          <a:prstGeom prst="roundRect">
            <a:avLst>
              <a:gd name="adj" fmla="val 10000"/>
            </a:avLst>
          </a:prstGeom>
          <a:solidFill>
            <a:srgbClr val="F09042"/>
          </a:solidFill>
          <a:ln/>
        </p:spPr>
      </p:sp>
      <p:sp>
        <p:nvSpPr>
          <p:cNvPr id="13" name="Text 10"/>
          <p:cNvSpPr/>
          <p:nvPr/>
        </p:nvSpPr>
        <p:spPr>
          <a:xfrm>
            <a:off x="6492240" y="53035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17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HES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92240" y="56509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172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heavenelijahservice.org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Heaven Elijah Service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Trouver les liens — Module 3</dc:title>
  <dc:subject>Formation HES — Biostatistique</dc:subject>
  <dc:creator>Heaven Elijah Service</dc:creator>
  <cp:lastModifiedBy>Heaven Elijah Service</cp:lastModifiedBy>
  <cp:revision>1</cp:revision>
  <dcterms:created xsi:type="dcterms:W3CDTF">2026-05-14T20:13:32Z</dcterms:created>
  <dcterms:modified xsi:type="dcterms:W3CDTF">2026-05-14T20:13:32Z</dcterms:modified>
</cp:coreProperties>
</file>