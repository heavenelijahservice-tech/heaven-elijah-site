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F09042">
              <a:alpha val="12000"/>
            </a:srgbClr>
          </a:solidFill>
          <a:ln/>
        </p:spPr>
      </p:sp>
      <p:pic>
        <p:nvPicPr>
          <p:cNvPr id="3" name="Image 0" descr="E:\Projets\heaven-elijah-site\public\logo-picto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0515600" y="53035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FORMATION HES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erreurs méthodologiques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font échouer un mémoire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640080" y="4434840"/>
            <a:ext cx="1371600" cy="54864"/>
          </a:xfrm>
          <a:prstGeom prst="rect">
            <a:avLst/>
          </a:prstGeom>
          <a:solidFill>
            <a:srgbClr val="F0904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617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et comment les éviter avant ta soutenance.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5943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9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Mini-formation · 15 slides · ~30 min de lecture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0" y="5943600"/>
            <a:ext cx="6245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F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heavenelijahservice.org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Heaven Elijah Service · Formation méthodo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CONTEXTE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formation 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6858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2021, Heaven Elijah Service accompagne des étudiants en master, des doctorants et des chercheurs sur leur mémoire, thèse ou article.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fil de 300+ projets,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mêmes 5 erreurs méthodologiques reviennent — encore et encore.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Elles sont identifiables, évitables, et pourtant elles plombent les mémoires les mieux travaillés.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201168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0E1729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208483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9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692640" y="21488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mémoires, thèses 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accompagnés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0" y="315468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0E1729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322783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9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98 %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9692640" y="32918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mention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obtenu par les clients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429768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0E1729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437083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9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692640" y="44348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couverts dans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sous-région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54864" cy="640080"/>
          </a:xfrm>
          <a:prstGeom prst="rect">
            <a:avLst/>
          </a:prstGeom>
          <a:solidFill>
            <a:srgbClr val="F0904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440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fin de cette mini-formation, tu reconnaîtras les 5 erreurs dans ton propre mémoire et tu sauras quoi corriger.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Heaven Elijah Service · Formation méthodo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 PROGRAMME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erreurs, dans l'ordre.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CF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9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103120" y="202996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mal formulée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03120" y="2377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de recherche floue ou non testable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CF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260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9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103120" y="294436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d'échantillon arbitraire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03120" y="3291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calcul a priori, puissance inconnue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CF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8404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9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2103120" y="385876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 choix de test statistique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0312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des tests non vérifiées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6634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CF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7548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9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2103120" y="477316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 &lt; 0,05 » comme preuve d'importance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103120" y="5120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entre significativité statistique et pertinence clinique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5778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CF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6692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9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2103120" y="568756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manquantes ignorées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10312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silencieuse, sans analyse de sensibilité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Heaven Elijah Service · Formation méthodo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F09042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F09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0" dirty="0"/>
          </a:p>
        </p:txBody>
      </p:sp>
      <p:sp>
        <p:nvSpPr>
          <p:cNvPr id="6" name="Text 4"/>
          <p:cNvSpPr/>
          <p:nvPr/>
        </p:nvSpPr>
        <p:spPr>
          <a:xfrm>
            <a:off x="5029200" y="640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ERREUR N°01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109728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mal formulée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0" y="2926080"/>
            <a:ext cx="6675120" cy="1463040"/>
          </a:xfrm>
          <a:prstGeom prst="roundRect">
            <a:avLst>
              <a:gd name="adj" fmla="val 5000"/>
            </a:avLst>
          </a:prstGeom>
          <a:solidFill>
            <a:srgbClr val="1A2541"/>
          </a:solidFill>
          <a:ln w="9525">
            <a:solidFill>
              <a:srgbClr val="F09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3017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338328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de recherche tient en une phrase floue : « Étudier le diabète à Dakar ». Pas de population claire, pas de variable mesurable, pas de comparaison.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4572000"/>
            <a:ext cx="6675120" cy="1463040"/>
          </a:xfrm>
          <a:prstGeom prst="roundRect">
            <a:avLst>
              <a:gd name="adj" fmla="val 5000"/>
            </a:avLst>
          </a:prstGeom>
          <a:solidFill>
            <a:srgbClr val="1A2541"/>
          </a:solidFill>
          <a:ln w="9525">
            <a:solidFill>
              <a:srgbClr val="F09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4663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ÇA TUE TON MÉMOIRE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502920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jury ne sait pas ce que tu cherches à démontrer. Tes analyses paraissent décousues, ta conclusion forcément approximative.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Heaven Elijah Service · Formation méthodo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SOLUTION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Formuler avec PICO / PEO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640080" cy="640080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240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une question testable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57860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 d'action + variable mesurable + relation hypothétique entre deux concepts.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Décompose en PICO ou PEO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35387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Population · I/E = Intervention ou Exposition · C = Comparateur · O = Outcome mesurable.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640080" cy="640080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: ta question rentre-t-elle en une phrase de 25 mots maximum 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4988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oui, tu peux la défendre devant le jury. Sinon, elle est trop large.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166360"/>
            <a:ext cx="640080" cy="640080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166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6304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validé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54589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Chez les femmes diabétiques type 2 de 40-65 ans à Dakar (P), l'adhérence au traitement (E) est-elle associée à un meilleur contrôle de l'HbA1c (O) ? »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62356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0E1729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715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HES TIP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40280" y="56692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diagnostic gratuit de 15 minutes inclut une validation rapide de ta problématique.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Heaven Elijah Service · Formation méthodo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F09042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F09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0" dirty="0"/>
          </a:p>
        </p:txBody>
      </p:sp>
      <p:sp>
        <p:nvSpPr>
          <p:cNvPr id="6" name="Text 4"/>
          <p:cNvSpPr/>
          <p:nvPr/>
        </p:nvSpPr>
        <p:spPr>
          <a:xfrm>
            <a:off x="5029200" y="640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ERREUR N°02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109728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d'échantillon arbitraire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0" y="2926080"/>
            <a:ext cx="6675120" cy="1463040"/>
          </a:xfrm>
          <a:prstGeom prst="roundRect">
            <a:avLst>
              <a:gd name="adj" fmla="val 5000"/>
            </a:avLst>
          </a:prstGeom>
          <a:solidFill>
            <a:srgbClr val="1A2541"/>
          </a:solidFill>
          <a:ln w="9525">
            <a:solidFill>
              <a:srgbClr val="F09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3017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338328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J'ai pris 50 patients parce que c'est ce que j'ai pu recruter » ou « Mon directeur a dit 100 ». Aucune justification statistique a priori.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4572000"/>
            <a:ext cx="6675120" cy="1463040"/>
          </a:xfrm>
          <a:prstGeom prst="roundRect">
            <a:avLst>
              <a:gd name="adj" fmla="val 5000"/>
            </a:avLst>
          </a:prstGeom>
          <a:solidFill>
            <a:srgbClr val="1A2541"/>
          </a:solidFill>
          <a:ln w="9525">
            <a:solidFill>
              <a:srgbClr val="F09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4663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ÇA TUE TON MÉMOIRE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502920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jury demandera : « Avez-vous la puissance statistique pour détecter une différence cliniquement pertinente ? » Si tu n'as pas de réponse rédigée, c'est mauvais signe.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Heaven Elijah Service · Formation méthodo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SOLUTION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la taille a priori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640080" cy="640080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240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Définis l'effet cliniquement pertinent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57860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différence minimale veux-tu pouvoir détecter ? (ex : 10% de différence de prévalence, OR ≥ 2, etc.)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 alpha et puissance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35387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Conventionnellement alpha = 5%, puissance (1−β) = 80% — ou 90% si tu vises une publication.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640080" cy="640080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un outil dédié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4988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G*Power (gratuit), R package `pwr` ou OpenEpi en ligne. Documente la formule utilisée dans la méthode.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166360"/>
            <a:ext cx="640080" cy="640080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166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6304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 la justification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54589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ligne dans la méthodologie : « Pour détecter une différence de X avec α=5% et β=20%, n = Y sujets nécessaires (G*Power v3.1). »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62356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0E1729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715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HES TIP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40280" y="56692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rédige le calcul + sa justification ensemble en une séance de 1 h.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Heaven Elijah Service · Formation méthodo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F09042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F09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0" dirty="0"/>
          </a:p>
        </p:txBody>
      </p:sp>
      <p:sp>
        <p:nvSpPr>
          <p:cNvPr id="6" name="Text 4"/>
          <p:cNvSpPr/>
          <p:nvPr/>
        </p:nvSpPr>
        <p:spPr>
          <a:xfrm>
            <a:off x="5029200" y="640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ERREUR N°03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109728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 choix de test statistique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0" y="2926080"/>
            <a:ext cx="6675120" cy="1463040"/>
          </a:xfrm>
          <a:prstGeom prst="roundRect">
            <a:avLst>
              <a:gd name="adj" fmla="val 5000"/>
            </a:avLst>
          </a:prstGeom>
          <a:solidFill>
            <a:srgbClr val="1A2541"/>
          </a:solidFill>
          <a:ln w="9525">
            <a:solidFill>
              <a:srgbClr val="F09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3017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338328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de Student sur des données ordinales (échelles Likert), Chi² avec moins de 5 sujets par cellule, ANOVA quand les variances sont inégales.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4572000"/>
            <a:ext cx="6675120" cy="1463040"/>
          </a:xfrm>
          <a:prstGeom prst="roundRect">
            <a:avLst>
              <a:gd name="adj" fmla="val 5000"/>
            </a:avLst>
          </a:prstGeom>
          <a:solidFill>
            <a:srgbClr val="1A2541"/>
          </a:solidFill>
          <a:ln w="9525">
            <a:solidFill>
              <a:srgbClr val="F09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4663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ÇA TUE TON MÉMOIRE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502920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inappropriés = p-values invalides = conclusions fausses. Un jury de biostat repère ces erreurs en 2 minutes.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Heaven Elijah Service · Formation méthodo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SOLUTION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 décision méthodologique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640080" cy="640080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240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 le type de tes variables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57860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Quantitatives (continue / discrète) ou qualitatives (nominale / ordinale) — c'est le point de départ.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les groupes à comparer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35387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groupes vs ≥ 3 groupes, indépendants ou appariés (même sujet mesuré 2 fois).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640080" cy="640080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les hypothèses du test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4988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Normalité (Shapiro-Wilk), homogénéité des variances (Levene). Si violées → version non paramétrique.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166360"/>
            <a:ext cx="640080" cy="640080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166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6304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ton choix dans la méthode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54589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Comparaison par test de Mann-Whitney en raison de la distribution non normale (Shapiro p &lt; 0.05). »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62356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0E1729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715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HES TIP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40280" y="56692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revoit ton plan d'analyse statistique avant que tu lances quoi que ce soit.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Heaven Elijah Service · Formation méthodo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F09042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F09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8000" dirty="0"/>
          </a:p>
        </p:txBody>
      </p:sp>
      <p:sp>
        <p:nvSpPr>
          <p:cNvPr id="6" name="Text 4"/>
          <p:cNvSpPr/>
          <p:nvPr/>
        </p:nvSpPr>
        <p:spPr>
          <a:xfrm>
            <a:off x="5029200" y="640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ERREUR N°04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109728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 &lt; 0,05 » comme preuve d'importance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0" y="2926080"/>
            <a:ext cx="6675120" cy="1463040"/>
          </a:xfrm>
          <a:prstGeom prst="roundRect">
            <a:avLst>
              <a:gd name="adj" fmla="val 5000"/>
            </a:avLst>
          </a:prstGeom>
          <a:solidFill>
            <a:srgbClr val="1A2541"/>
          </a:solidFill>
          <a:ln w="9525">
            <a:solidFill>
              <a:srgbClr val="F09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3017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338328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résultats qui n'affiche que des p-values. Pas d'intervalle de confiance. Pas de taille d'effet. Conclusion : « différence significative ».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4572000"/>
            <a:ext cx="6675120" cy="1463040"/>
          </a:xfrm>
          <a:prstGeom prst="roundRect">
            <a:avLst>
              <a:gd name="adj" fmla="val 5000"/>
            </a:avLst>
          </a:prstGeom>
          <a:solidFill>
            <a:srgbClr val="1A2541"/>
          </a:solidFill>
          <a:ln w="9525">
            <a:solidFill>
              <a:srgbClr val="F09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4663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ÇA TUE TON MÉMOIRE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502920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p-value n'indique pas l'importance clinique. Sur N = 10 000, une différence de 0,5 mmHg est « significative » sans être pertinente.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Heaven Elijah Service · Formation méthodo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SOLUTION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Rapporter taille d'effet + IC95%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640080" cy="640080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240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la taille d'effet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57860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(continues), OR ou RR avec IC95% (qualitatives), différence absolue brute pour le concret.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systématiquement l'IC95%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35387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informatif que la p-value seule. Un IC large = peu de précision, même si p &lt; 0.05.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640080" cy="640080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dans la discussion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4988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Association statistiquement significative (p = 0,02) ET cliniquement pertinente (OR = 2,4 ; IC95% [1,3 ; 4,5]). 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166360"/>
            <a:ext cx="640080" cy="640080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166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6304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 les formulations dichotomiques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54589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 que « significatif vs non significatif », parle de « niveau de preuve » et de « pertinence clinique ».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62356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0E1729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715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HES TIP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40280" y="56692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tableaux d'analyse HES intègrent OR / IC95% / p, prêts à coller dans ton mémoire.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Heaven Elijah Service · Formation méthodo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F09042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71600"/>
            <a:ext cx="457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F09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8000" dirty="0"/>
          </a:p>
        </p:txBody>
      </p:sp>
      <p:sp>
        <p:nvSpPr>
          <p:cNvPr id="6" name="Text 4"/>
          <p:cNvSpPr/>
          <p:nvPr/>
        </p:nvSpPr>
        <p:spPr>
          <a:xfrm>
            <a:off x="5029200" y="640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ERREUR N°05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109728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manquantes ignorées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0" y="2926080"/>
            <a:ext cx="6675120" cy="1463040"/>
          </a:xfrm>
          <a:prstGeom prst="roundRect">
            <a:avLst>
              <a:gd name="adj" fmla="val 5000"/>
            </a:avLst>
          </a:prstGeom>
          <a:solidFill>
            <a:srgbClr val="1A2541"/>
          </a:solidFill>
          <a:ln w="9525">
            <a:solidFill>
              <a:srgbClr val="F09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3017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338328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100 répondants, 30 ont laissé certaines questions vides. Tu les supprimes silencieusement (listwise) et tu présentes N = 70 comme si de rien n'était.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4572000"/>
            <a:ext cx="6675120" cy="1463040"/>
          </a:xfrm>
          <a:prstGeom prst="roundRect">
            <a:avLst>
              <a:gd name="adj" fmla="val 5000"/>
            </a:avLst>
          </a:prstGeom>
          <a:solidFill>
            <a:srgbClr val="1A2541"/>
          </a:solidFill>
          <a:ln w="9525">
            <a:solidFill>
              <a:srgbClr val="F09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4663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ÇA TUE TON MÉMOIRE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502920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manquants ne sont presque jamais aléatoires. Les plus malades ne répondent pas. Tu introduis un biais de sélection — souvent grave.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Heaven Elijah Service · Formation méthodo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SOLUTION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Décrire, traiter, et documenter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640080" cy="640080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240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 d'abord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57860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manquants par variable ? Présente un tableau avant traitement. Le jury le demande presque toujours.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 le mécanisme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35387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MCAR (Missing Completely At Random) · MAR (Missing At Random) · MNAR (Not At Random). Justifie ta lecture.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640080" cy="640080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 une stratégie justifiée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4988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Listwise si &lt; 5% manquants et MCAR · Imputation simple ou multiple sinon (R package `mice`).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166360"/>
            <a:ext cx="640080" cy="640080"/>
          </a:xfrm>
          <a:prstGeom prst="ellipse">
            <a:avLst/>
          </a:prstGeom>
          <a:solidFill>
            <a:srgbClr val="F0904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166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6304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Mène une analyse de sensibilité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54589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Refais l'analyse avec une autre stratégie. Si la conclusion change, tes résultats sont fragiles — il faut le dire.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62356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0E1729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715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HES TIP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40280" y="56692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gère les données manquantes méthodiquement en une séance — avant que ton jury en fasse un problème.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Heaven Elijah Service · Formation méthodo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SYNTHÈSE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fil rouge.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669280" cy="4114800"/>
          </a:xfrm>
          <a:prstGeom prst="roundRect">
            <a:avLst>
              <a:gd name="adj" fmla="val 2667"/>
            </a:avLst>
          </a:prstGeom>
          <a:solidFill>
            <a:srgbClr val="0E1729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194560"/>
            <a:ext cx="73152" cy="3566160"/>
          </a:xfrm>
          <a:prstGeom prst="rect">
            <a:avLst/>
          </a:prstGeom>
          <a:solidFill>
            <a:srgbClr val="F09042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1280160" y="274320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erreurs ont une cause commune :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son plan d'analyse APRÈS avoir collecté les données.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5486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Méthodo HES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2011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9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0" y="1965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0" y="23042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Reformulée en PICO / PEO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2834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9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0" y="2788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0" y="31272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a priori (G*Power)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3657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9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0" y="36118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statistique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0" y="39502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 décision documenté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4480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9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0" y="4434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0" y="47731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avec taille d'effet + IC95%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53035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9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0" y="5257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manquantes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0" y="55961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Décrites, traitées, analyse de sensibilité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Heaven Elijah Service · Formation méthodo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315200" y="2743200"/>
            <a:ext cx="7315200" cy="7315200"/>
          </a:xfrm>
          <a:prstGeom prst="ellipse">
            <a:avLst/>
          </a:prstGeom>
          <a:solidFill>
            <a:srgbClr val="F09042">
              <a:alpha val="12000"/>
            </a:srgbClr>
          </a:solidFill>
          <a:ln/>
        </p:spPr>
      </p:sp>
      <p:pic>
        <p:nvPicPr>
          <p:cNvPr id="5" name="Image 0" descr="E:\Projets\heaven-elijah-site\public\logo-picto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0424160" y="27432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09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DERNIÈRE ÉTAPE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28016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veux qu'on regarde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méthodo ensemble ?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4008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gratuit de 15 minutes, sans engagement.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identifions les corrections prioritaires sur ton projet.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484632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25D366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9377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WhatsApp direct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5303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+221 76 387 34 28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309360" y="4846320"/>
            <a:ext cx="5422392" cy="1097280"/>
          </a:xfrm>
          <a:prstGeom prst="roundRect">
            <a:avLst>
              <a:gd name="adj" fmla="val 8333"/>
            </a:avLst>
          </a:prstGeom>
          <a:solidFill>
            <a:srgbClr val="F09042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4937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Site web officiel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92240" y="53035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7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heavenelijahservice.org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Heaven Elijah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5 erreurs méthodologiques qui font échouer un mémoire</dc:title>
  <dc:subject>Formation HES — Méthodologie de recherche</dc:subject>
  <dc:creator>Heaven Elijah Service</dc:creator>
  <cp:lastModifiedBy>Heaven Elijah Service</cp:lastModifiedBy>
  <cp:revision>1</cp:revision>
  <dcterms:created xsi:type="dcterms:W3CDTF">2026-05-14T16:35:49Z</dcterms:created>
  <dcterms:modified xsi:type="dcterms:W3CDTF">2026-05-14T16:35:49Z</dcterms:modified>
</cp:coreProperties>
</file>