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MODULE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statistiques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biomédical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640080" y="434340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Fondations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applicatif · théorie + code R + interprétation · ~45 min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 · Doctorants · Chercheurs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1.1 · LOGIQUE DU TEST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stat répond à une seule question.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864" cy="82296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745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hasard, à lui seul, peut-il expliquer ce que j'observe dans mes données ? »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0E172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 —  HYPOTHÈSE NULLE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Il n'y a pas de différence. »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Il n'y a pas d'effet. »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Il n'y a pas d'association. »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51663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l'hypothèse qu'on cherche 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réfuter — par défaut elle est vraie.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91072" y="320040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  —  HYPOTHÈSE ALTERNATIVE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374904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Il y a une différence. »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Il y a un effet. »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Il y a une association. »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51663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 que tu défends. Si la p-value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assez faible, tu rejettes H₀ → H₁ retenue.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1.2 · RISQUES D'ERREUR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scénarios. Deux erreurs.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0" y="1554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RÉALITÉ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vraie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 vraie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DÉCISION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rejeter H₀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Rejeter H₀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0" y="2286000"/>
            <a:ext cx="45720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24688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Bonne décision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949440" y="32004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confiance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(1 − α)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0" y="2286000"/>
            <a:ext cx="45720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521440" y="24688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Erreur β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521440" y="32004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rate un vrai effet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3931920"/>
            <a:ext cx="45720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41148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Erreur α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949440" y="48463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« trouve » un effet inexistant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430000" y="3931920"/>
            <a:ext cx="4572000" cy="1645920"/>
          </a:xfrm>
          <a:prstGeom prst="rect">
            <a:avLst/>
          </a:prstGeom>
          <a:solidFill>
            <a:srgbClr val="F09042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521440" y="41148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Puissance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1521440" y="48463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(1 − β)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 qu'on veut maximiser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Conventionnel : α ≤ 5 %  ·  puissance (1 − β) ≥ 80 %  ·  les deux sont fixés AVANT le recueil des données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1.3 · DIRECTION DU TEST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Bilatéral ou unilatéral 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BILATÉRAL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 : « Il y a une différence. 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ne préjuges pas du sens. La différence peut aller dans les deux sens : groupe A &gt; B OU groupe A &lt; B.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4297680"/>
            <a:ext cx="502920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UTILISER PAR DÉFAUT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7548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99 % des publications biomédicales utilisent un test bilatéral. Plus prudent, plus robuste.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1072" y="1920240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3952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UNILATÉRAL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73952" y="2560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 : « A &gt; B » ou « A &lt; B 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3108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déclares à l'avance le sens attendu. Plus puissant si la direction est correcte, mais risqué.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73952" y="4297680"/>
            <a:ext cx="502920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JUSTIFIER ABSOLUMENT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73952" y="47548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Doit être déclaré dans le protocole AVANT le recueil. Ne jamais choisir unilatéral juste pour obtenir une p-value plus petite.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1.4 · LA p-VALUE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p-value dit. Ce qu'elle ne dit PAS.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CE QU'ELLE DIT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d'observer ces données — ou des données encore plus extrêmes — SI H₀ est vraie.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931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0,04 signifie : « si le hasard seul était à l'œuvre, j'aurais 4 % de chances de voir ce résultat. 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 p &lt; α (souvent 5 %), on REJETTE H₀.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91072" y="1920240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CE QU'ELLE NE DIT PAS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73952" y="2606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probabilité que H₀ soit vraie.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73952" y="3108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le résultat soit important.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73952" y="3611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l'effet soit cliniquement pertinent.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73952" y="420624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0,06 n'est pas « presque » significatif. p = 0,04 n'est pas « plus fort » que p = 0,049. Le seuil 5 % est arbitraire.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1.5 · TAILLE D'EFFET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Significatif ≠ Important.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0E1729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ÉTUDE · PETIT EFFET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10 000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de tension : 0,5 mmHg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 0,001  ★ statistiquement significatif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cliniquement INSIGNIFIANT.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91072" y="19202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0E1729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2057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ÉTUDE · GROS EFFET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73952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20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73952" y="2788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de tension : 12 mmHg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73952" y="3200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0,08  ✗ non significatif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73952" y="3703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pourtant cliniquement TRÈS pertinent.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17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INDICES DE TAILLE D'EFFET À TOUJOURS RAPPORTER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Cohen's d  — différence standardisée pour moyennes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3492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 ou r²  — force d'association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50292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 · RR · HR  — ratios pour variables qualitatives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0" y="53492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Différence absolue brute  — ne jamais l'oublier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1.6 · INTERVALLE DE CONFIANCE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L'IC95 % : plus informatif que la p-value.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l'étude était répétée 100 fois, 95 intervalles sur 100 contiendraient la « vraie » valeur dans la population.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3611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4612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ÉTROIT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= 2,4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42062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[1,9 ; 3,0]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800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précise. Effet clairement supérieur à 1 → association robuste.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3108960"/>
            <a:ext cx="3611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24612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LARGE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6118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= 2,4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26280" y="42062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[0,7 ; 8,2]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26280" y="4800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imprécise. L'IC croise 1 → on ne peut pas conclure à une association.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3108960"/>
            <a:ext cx="3611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24612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ASYMÉTRIQUE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36118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= 5,1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29600" y="42062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[3,2 ; 8,1]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fort et précis. Largement supérieur à 1 → association très forte.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simple : un IC95 % qui ne croise pas 0 (pour une différence) ou 1 (pour un ratio) équivaut à p &lt; 0,05 — mais en plus tu vois la précision.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2.1 · PRÉALABLES AUX TESTS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test a ses conditions d'application.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Violer les hypothèses sous-jacentes d'un test = résultats invalides, même si le logiciel produit un nombre.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5486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NORMALITÉ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0" y="2743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suivent-elles une distribution gaussienne 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27432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· ANOVA · régression linéaire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429000"/>
            <a:ext cx="5486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4290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HOMOGÉNÉITÉ DES VARIANCES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variances des groupes comparés sont-elles égales 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83880" y="34290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de Student · ANOVA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486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14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INDÉPENDANCE DES OBSERVATIONS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4114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sujet est-il indépendant des autres 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83880" y="41148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Presque tous les tests classiques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5486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8006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LINÉARITÉ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006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relation entre variables est-elle linéaire 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83880" y="4800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Régression linéaire · corrélation Pearson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486400"/>
            <a:ext cx="5486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4864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EFFECTIFS MINIMAUX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0" y="54864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cellule a-t-elle ≥ 5 sujets attendus ?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83880" y="5486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(sinon Fisher exact)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2.2 · TEST DE NORMALITÉ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+ QQ-plot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: les données suivent une loi normale.    H₁ : elles ne la suivent pas.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si p &lt; 0,05 → on rejette la normalité → utiliser un test non paramétrique.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48640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9443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443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de Shapiro-Wilk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shapiro.test(donnees$tension)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Visualisation QQ-plot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qqnorm(donnees$tension,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main = "QQ-plot tension")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qqline(donnees$tension,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col = "red", lwd = 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5330952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537960" y="29260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83680" y="3200400"/>
            <a:ext cx="505663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Shapiro-Wilk normality test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 donnees$tension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0.987, p-value = 0.234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 &gt; 0,05 : on ne rejette pas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la normalité.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t-test acceptable.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0E172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8064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ATTENTION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57607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un grand échantillon (N &gt; 300), Shapiro-Wilk rejette presque tout. Compléter SYSTÉMATIQUEMENT par un QQ-plot visuel.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2.3 · HOMOGÉNÉITÉ DES VARIANCES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Levene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: les variances des groupes comparés sont égales.    H₁ : au moins une variance diffère.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si p &lt; 0,05 → variances inégales → utiliser t-test de Welch au lieu de Student.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48640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9443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443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Levene Test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(Plus robuste que Bartlett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car ne dépend pas de la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normalité.)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leveneTest(tension ~ groupe,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5330952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537960" y="29260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83680" y="3200400"/>
            <a:ext cx="505663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Levene's Test for Homogeneity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 Variance (center = median)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Df  F value  Pr(&gt;F)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  1  4.521    0.038 *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58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 &lt; 0,05 : variances inégales.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Utiliser t.test(..., var.equal = F)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0E172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8064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HES TIP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57607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pratique, lancer directement Welch (var.equal = FALSE) — robuste aux variances inégales sans test préalable nécessaire.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2.4 · COMPARAISONS MULTIPLES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fais 20 tests ? Tu auras 1 faux positif.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α = 5 % et k tests indépendants, la probabilité d'au moins un faux positif = 1 − (1 − 0,05)^k. Pour 20 tests : 64 %.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BONFERRONI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corrigé = α / 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simple. Très conservateur. À privilégier quand peu de tests et confirmatoires.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p.adjust(pvals, method = "bonferroni")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278892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BENJAMINI-HOCHBERG  (FDR)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32918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le taux de fausses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découvertes — pas l'erreur globale.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73952" y="4023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strict. À privilégier en exploratoire ou avec beaucoup de tests (génomique, métabolomique).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73952" y="47548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p.adjust(pvals, method = "BH")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documenter dans la méthode : « k = 12 tests, correction de Bonferroni appliquée (α corrigé = 0,0042). »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3 · QUEL TEST POUR QUELLE QUESTION 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L'arbre de décision (vue d'ensemble).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2697480" cy="50292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INDÉP.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269748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517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NORMALE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28803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Student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200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(Welch si var ≠)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6576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NON-NORMALE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886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Mann-Whitney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· Fisher exact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011680"/>
            <a:ext cx="2697480" cy="50292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7" name="Text 15"/>
          <p:cNvSpPr/>
          <p:nvPr/>
        </p:nvSpPr>
        <p:spPr>
          <a:xfrm>
            <a:off x="3520440" y="2011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APPARIÉS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29000" y="2514600"/>
            <a:ext cx="269748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26517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NORMALE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66160" y="28803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apparié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566160" y="34290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NON-NORMALE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66160" y="36576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signed-rank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66160" y="42062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66160" y="44348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2011680"/>
            <a:ext cx="2697480" cy="50292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2011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GROUPES INDÉP.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2514600"/>
            <a:ext cx="269748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26517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NORMALE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355080" y="28803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 + post-hoc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3200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(Tukey HSD)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55080" y="36576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NON-NORMALE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55080" y="38862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4434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55080" y="4663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· Fisher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006840" y="2011680"/>
            <a:ext cx="2697480" cy="50292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2011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006840" y="2514600"/>
            <a:ext cx="269748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0" y="26517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NORMALE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0" y="28803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 · rég. lin.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144000" y="34290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QUANT. NON-NORMALE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144000" y="365760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Spearman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144000" y="42062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144000" y="44348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logistique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ces tests sont couverts en détail dans les Modules 2 (Comparaisons) et 3 (Associations).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4 · DÉMARRAGE PRATIQUE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lignes de R pour démarrer toute analyse.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6858000" cy="4251960"/>
          </a:xfrm>
          <a:prstGeom prst="roundRect">
            <a:avLst>
              <a:gd name="adj" fmla="val 1075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21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21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658368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Charger les données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 &lt;- read.csv("data.csv")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Inspecter rapidement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head(donnees)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summary(donnees)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str(donnees)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Vérifier la normalité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shapiro.test(donnees$tension)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Vérifier les variances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leveneTest(tension ~ groupe, data = donnees)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Lancer le test approprié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t.test(tension ~ groupe, data = donnees,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Calculer la taille d'effet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cohen.d(tension ~ groupe, data = donnees)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0" y="2011680"/>
            <a:ext cx="4050792" cy="4251960"/>
          </a:xfrm>
          <a:prstGeom prst="roundRect">
            <a:avLst>
              <a:gd name="adj" fmla="val 2257"/>
            </a:avLst>
          </a:prstGeom>
          <a:solidFill>
            <a:srgbClr val="0E1729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0" y="21488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CE CODE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0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75320" y="26060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les données depuis un CSV.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63840" y="31546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3154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structure, types, statistiques de base.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3703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75320" y="3703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 la normalité (Shapiro-Wilk).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863840" y="42519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75320" y="42519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 l'homogénéité des variances (Levene).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63840" y="4800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75320" y="4800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 un t-test de Welch (robuste).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863840" y="53492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75320" y="5349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 l'effet (Cohen's d).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0" y="594360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60350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ce squelette en favori — tu le réutiliseras sur 90 % de tes analyses.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CHAPITRE 5 · RÉCAPITULATIF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6 réflexes à intégrer.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914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83080" y="199339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Formuler H₀ et H₁ AVANT le recueil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tu pêches dans les données (p-hacking).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51760"/>
            <a:ext cx="914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272491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Bilatéral par défaut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01752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Unilatéral seulement si justifié théoriquement et déclaré ex ante.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383280"/>
            <a:ext cx="914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83080" y="345643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les hypothèses du test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83080" y="374904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Normalité + variances + effectifs minimaux avant tout test paramétrique.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114800"/>
            <a:ext cx="914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783080" y="418795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taille d'effet + IC95 % + p-value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783080" y="448056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une p-value seule. Toujours les trois.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846320"/>
            <a:ext cx="914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783080" y="491947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 si comparaisons multiples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783080" y="521208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Bonferroni (strict, confirmatoire) ou BH (exploratoire).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57784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577840"/>
            <a:ext cx="914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783080" y="565099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ses choix dans la méthode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783080" y="594360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Comparaison par Mann-Whitney en raison de la non-normalité (Shapiro p &lt; 0,05). »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1 — Fondations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7315200" cy="73152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PROCHAINE ÉTAPE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28016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posé les fondations.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comparaisons.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3383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Comparaisons (t-test, ANOVA, Chi², McNemar, Mann-Whitney…) à venir.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attendant, un diagnostic gratuit de 15 minutes pour valider ta méthodo sur ton projet réel.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48463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937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WhatsApp direct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5303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309360" y="4846320"/>
            <a:ext cx="5422392" cy="1097280"/>
          </a:xfrm>
          <a:prstGeom prst="roundRect">
            <a:avLst>
              <a:gd name="adj" fmla="val 8333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49377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Site web officiel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53035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 statistiques en biomédical — Module 1 · Fondations</dc:title>
  <dc:subject>Formation HES — Biostatistique</dc:subject>
  <dc:creator>Heaven Elijah Service</dc:creator>
  <cp:lastModifiedBy>Heaven Elijah Service</cp:lastModifiedBy>
  <cp:revision>1</cp:revision>
  <dcterms:created xsi:type="dcterms:W3CDTF">2026-05-14T17:10:34Z</dcterms:created>
  <dcterms:modified xsi:type="dcterms:W3CDTF">2026-05-14T17:10:34Z</dcterms:modified>
</cp:coreProperties>
</file>