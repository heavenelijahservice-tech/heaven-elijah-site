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9"/>
        </a:solidFill>
      </p:bgPr>
    </p:bg>
    <p:spTree>
      <p:nvGrpSpPr>
        <p:cNvPr id="1" name=""/>
        <p:cNvGrpSpPr/>
        <p:nvPr/>
      </p:nvGrpSpPr>
      <p:grpSpPr>
        <a:xfrm>
          <a:off x="0" y="0"/>
          <a:ext cx="0" cy="0"/>
          <a:chOff x="0" y="0"/>
          <a:chExt cx="0" cy="0"/>
        </a:xfrm>
      </p:grpSpPr>
      <p:sp>
        <p:nvSpPr>
          <p:cNvPr id="2" name="Shape 0"/>
          <p:cNvSpPr/>
          <p:nvPr/>
        </p:nvSpPr>
        <p:spPr>
          <a:xfrm>
            <a:off x="8229600" y="-1828800"/>
            <a:ext cx="5486400" cy="5486400"/>
          </a:xfrm>
          <a:prstGeom prst="ellipse">
            <a:avLst/>
          </a:prstGeom>
          <a:solidFill>
            <a:srgbClr val="F09042">
              <a:alpha val="12000"/>
            </a:srgbClr>
          </a:solidFill>
          <a:ln/>
        </p:spPr>
      </p:sp>
      <p:pic>
        <p:nvPicPr>
          <p:cNvPr id="3" name="Image 0" descr="E:\Projets\heaven-elijah-site\public\logo-picto.png">    </p:cNvPr>
          <p:cNvPicPr>
            <a:picLocks noChangeAspect="1"/>
          </p:cNvPicPr>
          <p:nvPr/>
        </p:nvPicPr>
        <p:blipFill>
          <a:blip r:embed="rId1">
            <a:alphaModFix amt="70000"/>
          </a:blip>
          <a:stretch>
            <a:fillRect/>
          </a:stretch>
        </p:blipFill>
        <p:spPr>
          <a:xfrm>
            <a:off x="10515600" y="5303520"/>
            <a:ext cx="1188720" cy="1188720"/>
          </a:xfrm>
          <a:prstGeom prst="rect">
            <a:avLst/>
          </a:prstGeom>
        </p:spPr>
      </p:pic>
      <p:sp>
        <p:nvSpPr>
          <p:cNvPr id="4" name="Text 1"/>
          <p:cNvSpPr/>
          <p:nvPr/>
        </p:nvSpPr>
        <p:spPr>
          <a:xfrm>
            <a:off x="640080" y="640080"/>
            <a:ext cx="8229600" cy="365760"/>
          </a:xfrm>
          <a:prstGeom prst="rect">
            <a:avLst/>
          </a:prstGeom>
          <a:noFill/>
          <a:ln/>
        </p:spPr>
        <p:txBody>
          <a:bodyPr wrap="square" rtlCol="0" anchor="ctr"/>
          <a:lstStyle/>
          <a:p>
            <a:pPr indent="0" marL="0">
              <a:buNone/>
            </a:pPr>
            <a:r>
              <a:rPr lang="en-US" sz="1300" b="1" spc="500" kern="0" dirty="0">
                <a:solidFill>
                  <a:srgbClr val="F09042"/>
                </a:solidFill>
                <a:latin typeface="Calibri" pitchFamily="34" charset="0"/>
                <a:ea typeface="Calibri" pitchFamily="34" charset="-122"/>
                <a:cs typeface="Calibri" pitchFamily="34" charset="-120"/>
              </a:rPr>
              <a:t>— FORMATION HES · BIOSTAT · MODULE 1</a:t>
            </a:r>
            <a:endParaRPr lang="en-US" sz="1300" dirty="0"/>
          </a:p>
        </p:txBody>
      </p:sp>
      <p:sp>
        <p:nvSpPr>
          <p:cNvPr id="5" name="Text 2"/>
          <p:cNvSpPr/>
          <p:nvPr/>
        </p:nvSpPr>
        <p:spPr>
          <a:xfrm>
            <a:off x="640080" y="1737360"/>
            <a:ext cx="10972800" cy="2560320"/>
          </a:xfrm>
          <a:prstGeom prst="rect">
            <a:avLst/>
          </a:prstGeom>
          <a:noFill/>
          <a:ln/>
        </p:spPr>
        <p:txBody>
          <a:bodyPr wrap="square" rtlCol="0" anchor="ctr"/>
          <a:lstStyle/>
          <a:p>
            <a:pPr indent="0" marL="0">
              <a:lnSpc>
                <a:spcPct val="100000"/>
              </a:lnSpc>
              <a:buNone/>
            </a:pPr>
            <a:r>
              <a:rPr lang="en-US" sz="6200" b="1" spc="-200" kern="0" dirty="0">
                <a:solidFill>
                  <a:srgbClr val="FFFFFF"/>
                </a:solidFill>
                <a:latin typeface="Calibri" pitchFamily="34" charset="0"/>
                <a:ea typeface="Calibri" pitchFamily="34" charset="-122"/>
                <a:cs typeface="Calibri" pitchFamily="34" charset="-120"/>
              </a:rPr>
              <a:t>Avant le test,</a:t>
            </a:r>
            <a:endParaRPr lang="en-US" sz="6200" dirty="0"/>
          </a:p>
          <a:p>
            <a:pPr indent="0" marL="0">
              <a:lnSpc>
                <a:spcPct val="100000"/>
              </a:lnSpc>
              <a:buNone/>
            </a:pPr>
            <a:r>
              <a:rPr lang="en-US" sz="6200" b="1" spc="-200" kern="0" dirty="0">
                <a:solidFill>
                  <a:srgbClr val="FFFFFF"/>
                </a:solidFill>
                <a:latin typeface="Calibri" pitchFamily="34" charset="0"/>
                <a:ea typeface="Calibri" pitchFamily="34" charset="-122"/>
                <a:cs typeface="Calibri" pitchFamily="34" charset="-120"/>
              </a:rPr>
              <a:t>la méthode.</a:t>
            </a:r>
            <a:endParaRPr lang="en-US" sz="6200" dirty="0"/>
          </a:p>
        </p:txBody>
      </p:sp>
      <p:sp>
        <p:nvSpPr>
          <p:cNvPr id="6" name="Shape 3"/>
          <p:cNvSpPr/>
          <p:nvPr/>
        </p:nvSpPr>
        <p:spPr>
          <a:xfrm>
            <a:off x="640080" y="4617720"/>
            <a:ext cx="1371600" cy="54864"/>
          </a:xfrm>
          <a:prstGeom prst="rect">
            <a:avLst/>
          </a:prstGeom>
          <a:solidFill>
            <a:srgbClr val="F09042"/>
          </a:solidFill>
          <a:ln/>
        </p:spPr>
      </p:sp>
      <p:sp>
        <p:nvSpPr>
          <p:cNvPr id="7" name="Text 4"/>
          <p:cNvSpPr/>
          <p:nvPr/>
        </p:nvSpPr>
        <p:spPr>
          <a:xfrm>
            <a:off x="640080" y="4800600"/>
            <a:ext cx="10058400" cy="548640"/>
          </a:xfrm>
          <a:prstGeom prst="rect">
            <a:avLst/>
          </a:prstGeom>
          <a:noFill/>
          <a:ln/>
        </p:spPr>
        <p:txBody>
          <a:bodyPr wrap="square" rtlCol="0" anchor="ctr"/>
          <a:lstStyle/>
          <a:p>
            <a:pPr indent="0" marL="0">
              <a:buNone/>
            </a:pPr>
            <a:r>
              <a:rPr lang="en-US" sz="2200" i="1" dirty="0">
                <a:solidFill>
                  <a:srgbClr val="C9CFDC"/>
                </a:solidFill>
                <a:latin typeface="Calibri" pitchFamily="34" charset="0"/>
                <a:ea typeface="Calibri" pitchFamily="34" charset="-122"/>
                <a:cs typeface="Calibri" pitchFamily="34" charset="-120"/>
              </a:rPr>
              <a:t>Six concepts que ton jury va sonder en soutenance.</a:t>
            </a:r>
            <a:endParaRPr lang="en-US" sz="2200" dirty="0"/>
          </a:p>
        </p:txBody>
      </p:sp>
      <p:sp>
        <p:nvSpPr>
          <p:cNvPr id="8" name="Text 5"/>
          <p:cNvSpPr/>
          <p:nvPr/>
        </p:nvSpPr>
        <p:spPr>
          <a:xfrm>
            <a:off x="640080" y="5943600"/>
            <a:ext cx="6400800" cy="274320"/>
          </a:xfrm>
          <a:prstGeom prst="rect">
            <a:avLst/>
          </a:prstGeom>
          <a:noFill/>
          <a:ln/>
        </p:spPr>
        <p:txBody>
          <a:bodyPr wrap="square" rtlCol="0" anchor="ctr"/>
          <a:lstStyle/>
          <a:p>
            <a:pPr indent="0" marL="0">
              <a:buNone/>
            </a:pPr>
            <a:r>
              <a:rPr lang="en-US" sz="1100" dirty="0">
                <a:solidFill>
                  <a:srgbClr val="F09042"/>
                </a:solidFill>
                <a:latin typeface="Consolas" pitchFamily="34" charset="0"/>
                <a:ea typeface="Consolas" pitchFamily="34" charset="-122"/>
                <a:cs typeface="Consolas" pitchFamily="34" charset="-120"/>
              </a:rPr>
              <a:t>15 slides · ~45 min · M2 et doctorants</a:t>
            </a:r>
            <a:endParaRPr lang="en-US" sz="1100" dirty="0"/>
          </a:p>
        </p:txBody>
      </p:sp>
      <p:sp>
        <p:nvSpPr>
          <p:cNvPr id="9" name="Text 6"/>
          <p:cNvSpPr/>
          <p:nvPr/>
        </p:nvSpPr>
        <p:spPr>
          <a:xfrm>
            <a:off x="5486400" y="5943600"/>
            <a:ext cx="6245352" cy="274320"/>
          </a:xfrm>
          <a:prstGeom prst="rect">
            <a:avLst/>
          </a:prstGeom>
          <a:noFill/>
          <a:ln/>
        </p:spPr>
        <p:txBody>
          <a:bodyPr wrap="square" rtlCol="0" anchor="ctr"/>
          <a:lstStyle/>
          <a:p>
            <a:pPr algn="r" indent="0" marL="0">
              <a:buNone/>
            </a:pPr>
            <a:r>
              <a:rPr lang="en-US" sz="1100" dirty="0">
                <a:solidFill>
                  <a:srgbClr val="C9CFDC"/>
                </a:solidFill>
                <a:latin typeface="Consolas" pitchFamily="34" charset="0"/>
                <a:ea typeface="Consolas" pitchFamily="34" charset="-122"/>
                <a:cs typeface="Consolas" pitchFamily="34" charset="-120"/>
              </a:rPr>
              <a:t>heavenelijahservice.org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POURQUOI CE MODULE EXISTE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Ta méthode pèse plus lourd que tu ne penses.</a:t>
            </a:r>
            <a:endParaRPr lang="en-US" sz="2800" dirty="0"/>
          </a:p>
        </p:txBody>
      </p:sp>
      <p:sp>
        <p:nvSpPr>
          <p:cNvPr id="6" name="Text 4"/>
          <p:cNvSpPr/>
          <p:nvPr/>
        </p:nvSpPr>
        <p:spPr>
          <a:xfrm>
            <a:off x="640080" y="1828800"/>
            <a:ext cx="10972800" cy="128016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Quand un président de jury ouvre ton mémoire, il passe en général plus de temps sur tes pages méthodologie que sur tes résultats. C'est dans la méthode qu'il décide s'il peut faire confiance à tes chiffres.</a:t>
            </a:r>
            <a:endParaRPr lang="en-US" sz="1400" dirty="0"/>
          </a:p>
        </p:txBody>
      </p:sp>
      <p:sp>
        <p:nvSpPr>
          <p:cNvPr id="7" name="Text 5"/>
          <p:cNvSpPr/>
          <p:nvPr/>
        </p:nvSpPr>
        <p:spPr>
          <a:xfrm>
            <a:off x="640080" y="3383280"/>
            <a:ext cx="11091672" cy="274320"/>
          </a:xfrm>
          <a:prstGeom prst="rect">
            <a:avLst/>
          </a:prstGeom>
          <a:noFill/>
          <a:ln/>
        </p:spPr>
        <p:txBody>
          <a:bodyPr wrap="square" rtlCol="0" anchor="ctr"/>
          <a:lstStyle/>
          <a:p>
            <a:pPr algn="ctr" indent="0" marL="0">
              <a:buNone/>
            </a:pPr>
            <a:r>
              <a:rPr lang="en-US" sz="1100" b="1" dirty="0">
                <a:solidFill>
                  <a:srgbClr val="15233F"/>
                </a:solidFill>
                <a:latin typeface="Calibri" pitchFamily="34" charset="0"/>
                <a:ea typeface="Calibri" pitchFamily="34" charset="-122"/>
                <a:cs typeface="Calibri" pitchFamily="34" charset="-120"/>
              </a:rPr>
              <a:t>Ton parcours · où la méthode joue son rôle</a:t>
            </a:r>
            <a:endParaRPr lang="en-US" sz="1100" dirty="0"/>
          </a:p>
        </p:txBody>
      </p:sp>
      <p:sp>
        <p:nvSpPr>
          <p:cNvPr id="8" name="Shape 6"/>
          <p:cNvSpPr/>
          <p:nvPr/>
        </p:nvSpPr>
        <p:spPr>
          <a:xfrm>
            <a:off x="640080" y="3703320"/>
            <a:ext cx="1998878" cy="1143000"/>
          </a:xfrm>
          <a:prstGeom prst="roundRect">
            <a:avLst>
              <a:gd name="adj" fmla="val 6400"/>
            </a:avLst>
          </a:prstGeom>
          <a:solidFill>
            <a:srgbClr val="FFFFFF"/>
          </a:solidFill>
          <a:ln w="12700">
            <a:solidFill>
              <a:srgbClr val="D6CFB8"/>
            </a:solidFill>
            <a:prstDash val="solid"/>
          </a:ln>
        </p:spPr>
      </p:sp>
      <p:sp>
        <p:nvSpPr>
          <p:cNvPr id="9" name="Text 7"/>
          <p:cNvSpPr/>
          <p:nvPr/>
        </p:nvSpPr>
        <p:spPr>
          <a:xfrm>
            <a:off x="731520"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15233F"/>
                </a:solidFill>
                <a:latin typeface="Calibri" pitchFamily="34" charset="0"/>
                <a:ea typeface="Calibri" pitchFamily="34" charset="-122"/>
                <a:cs typeface="Calibri" pitchFamily="34" charset="-120"/>
              </a:rPr>
              <a:t>Protocole</a:t>
            </a:r>
            <a:endParaRPr lang="en-US" sz="1100" dirty="0"/>
          </a:p>
        </p:txBody>
      </p:sp>
      <p:sp>
        <p:nvSpPr>
          <p:cNvPr id="10" name="Text 8"/>
          <p:cNvSpPr/>
          <p:nvPr/>
        </p:nvSpPr>
        <p:spPr>
          <a:xfrm>
            <a:off x="731520" y="4343400"/>
            <a:ext cx="1815998" cy="365760"/>
          </a:xfrm>
          <a:prstGeom prst="rect">
            <a:avLst/>
          </a:prstGeom>
          <a:noFill/>
          <a:ln/>
        </p:spPr>
        <p:txBody>
          <a:bodyPr wrap="square" rtlCol="0" anchor="t"/>
          <a:lstStyle/>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PICO/PEO</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Méthode</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Échantillon</a:t>
            </a:r>
            <a:endParaRPr lang="en-US" sz="900" dirty="0"/>
          </a:p>
        </p:txBody>
      </p:sp>
      <p:sp>
        <p:nvSpPr>
          <p:cNvPr id="11" name="Shape 9"/>
          <p:cNvSpPr/>
          <p:nvPr/>
        </p:nvSpPr>
        <p:spPr>
          <a:xfrm>
            <a:off x="2684678" y="4274820"/>
            <a:ext cx="182880" cy="0"/>
          </a:xfrm>
          <a:prstGeom prst="line">
            <a:avLst/>
          </a:prstGeom>
          <a:noFill/>
          <a:ln w="19050">
            <a:solidFill>
              <a:srgbClr val="F09042"/>
            </a:solidFill>
            <a:prstDash val="solid"/>
          </a:ln>
        </p:spPr>
      </p:sp>
      <p:sp>
        <p:nvSpPr>
          <p:cNvPr id="12" name="Shape 10"/>
          <p:cNvSpPr/>
          <p:nvPr/>
        </p:nvSpPr>
        <p:spPr>
          <a:xfrm>
            <a:off x="2794406" y="4201668"/>
            <a:ext cx="73152" cy="73152"/>
          </a:xfrm>
          <a:prstGeom prst="line">
            <a:avLst/>
          </a:prstGeom>
          <a:noFill/>
          <a:ln w="19050">
            <a:solidFill>
              <a:srgbClr val="F09042"/>
            </a:solidFill>
            <a:prstDash val="solid"/>
          </a:ln>
        </p:spPr>
      </p:sp>
      <p:sp>
        <p:nvSpPr>
          <p:cNvPr id="13" name="Shape 11"/>
          <p:cNvSpPr/>
          <p:nvPr/>
        </p:nvSpPr>
        <p:spPr>
          <a:xfrm>
            <a:off x="2794406" y="4347972"/>
            <a:ext cx="73152" cy="-73152"/>
          </a:xfrm>
          <a:prstGeom prst="line">
            <a:avLst/>
          </a:prstGeom>
          <a:noFill/>
          <a:ln w="19050">
            <a:solidFill>
              <a:srgbClr val="F09042"/>
            </a:solidFill>
            <a:prstDash val="solid"/>
          </a:ln>
        </p:spPr>
      </p:sp>
      <p:sp>
        <p:nvSpPr>
          <p:cNvPr id="14" name="Shape 12"/>
          <p:cNvSpPr/>
          <p:nvPr/>
        </p:nvSpPr>
        <p:spPr>
          <a:xfrm>
            <a:off x="2913278" y="3703320"/>
            <a:ext cx="1998878" cy="1143000"/>
          </a:xfrm>
          <a:prstGeom prst="roundRect">
            <a:avLst>
              <a:gd name="adj" fmla="val 6400"/>
            </a:avLst>
          </a:prstGeom>
          <a:solidFill>
            <a:srgbClr val="FFFFFF"/>
          </a:solidFill>
          <a:ln w="12700">
            <a:solidFill>
              <a:srgbClr val="D6CFB8"/>
            </a:solidFill>
            <a:prstDash val="solid"/>
          </a:ln>
        </p:spPr>
      </p:sp>
      <p:sp>
        <p:nvSpPr>
          <p:cNvPr id="15" name="Text 13"/>
          <p:cNvSpPr/>
          <p:nvPr/>
        </p:nvSpPr>
        <p:spPr>
          <a:xfrm>
            <a:off x="3004718"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15233F"/>
                </a:solidFill>
                <a:latin typeface="Calibri" pitchFamily="34" charset="0"/>
                <a:ea typeface="Calibri" pitchFamily="34" charset="-122"/>
                <a:cs typeface="Calibri" pitchFamily="34" charset="-120"/>
              </a:rPr>
              <a:t>Recueil</a:t>
            </a:r>
            <a:endParaRPr lang="en-US" sz="1100" dirty="0"/>
          </a:p>
        </p:txBody>
      </p:sp>
      <p:sp>
        <p:nvSpPr>
          <p:cNvPr id="16" name="Text 14"/>
          <p:cNvSpPr/>
          <p:nvPr/>
        </p:nvSpPr>
        <p:spPr>
          <a:xfrm>
            <a:off x="3004718" y="4343400"/>
            <a:ext cx="1815998" cy="365760"/>
          </a:xfrm>
          <a:prstGeom prst="rect">
            <a:avLst/>
          </a:prstGeom>
          <a:noFill/>
          <a:ln/>
        </p:spPr>
        <p:txBody>
          <a:bodyPr wrap="square" rtlCol="0" anchor="t"/>
          <a:lstStyle/>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Collecte</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Vérifs qualité</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Censures</a:t>
            </a:r>
            <a:endParaRPr lang="en-US" sz="900" dirty="0"/>
          </a:p>
        </p:txBody>
      </p:sp>
      <p:sp>
        <p:nvSpPr>
          <p:cNvPr id="17" name="Shape 15"/>
          <p:cNvSpPr/>
          <p:nvPr/>
        </p:nvSpPr>
        <p:spPr>
          <a:xfrm>
            <a:off x="4957877" y="4274820"/>
            <a:ext cx="182880" cy="0"/>
          </a:xfrm>
          <a:prstGeom prst="line">
            <a:avLst/>
          </a:prstGeom>
          <a:noFill/>
          <a:ln w="19050">
            <a:solidFill>
              <a:srgbClr val="F09042"/>
            </a:solidFill>
            <a:prstDash val="solid"/>
          </a:ln>
        </p:spPr>
      </p:sp>
      <p:sp>
        <p:nvSpPr>
          <p:cNvPr id="18" name="Shape 16"/>
          <p:cNvSpPr/>
          <p:nvPr/>
        </p:nvSpPr>
        <p:spPr>
          <a:xfrm>
            <a:off x="5067605" y="4201668"/>
            <a:ext cx="73152" cy="73152"/>
          </a:xfrm>
          <a:prstGeom prst="line">
            <a:avLst/>
          </a:prstGeom>
          <a:noFill/>
          <a:ln w="19050">
            <a:solidFill>
              <a:srgbClr val="F09042"/>
            </a:solidFill>
            <a:prstDash val="solid"/>
          </a:ln>
        </p:spPr>
      </p:sp>
      <p:sp>
        <p:nvSpPr>
          <p:cNvPr id="19" name="Shape 17"/>
          <p:cNvSpPr/>
          <p:nvPr/>
        </p:nvSpPr>
        <p:spPr>
          <a:xfrm>
            <a:off x="5067605" y="4347972"/>
            <a:ext cx="73152" cy="-73152"/>
          </a:xfrm>
          <a:prstGeom prst="line">
            <a:avLst/>
          </a:prstGeom>
          <a:noFill/>
          <a:ln w="19050">
            <a:solidFill>
              <a:srgbClr val="F09042"/>
            </a:solidFill>
            <a:prstDash val="solid"/>
          </a:ln>
        </p:spPr>
      </p:sp>
      <p:sp>
        <p:nvSpPr>
          <p:cNvPr id="20" name="Shape 18"/>
          <p:cNvSpPr/>
          <p:nvPr/>
        </p:nvSpPr>
        <p:spPr>
          <a:xfrm>
            <a:off x="5186477" y="3703320"/>
            <a:ext cx="1998878" cy="1143000"/>
          </a:xfrm>
          <a:prstGeom prst="roundRect">
            <a:avLst>
              <a:gd name="adj" fmla="val 6400"/>
            </a:avLst>
          </a:prstGeom>
          <a:solidFill>
            <a:srgbClr val="FFFFFF"/>
          </a:solidFill>
          <a:ln w="12700">
            <a:solidFill>
              <a:srgbClr val="D6CFB8"/>
            </a:solidFill>
            <a:prstDash val="solid"/>
          </a:ln>
        </p:spPr>
      </p:sp>
      <p:sp>
        <p:nvSpPr>
          <p:cNvPr id="21" name="Text 19"/>
          <p:cNvSpPr/>
          <p:nvPr/>
        </p:nvSpPr>
        <p:spPr>
          <a:xfrm>
            <a:off x="5277917"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15233F"/>
                </a:solidFill>
                <a:latin typeface="Calibri" pitchFamily="34" charset="0"/>
                <a:ea typeface="Calibri" pitchFamily="34" charset="-122"/>
                <a:cs typeface="Calibri" pitchFamily="34" charset="-120"/>
              </a:rPr>
              <a:t>Analyse</a:t>
            </a:r>
            <a:endParaRPr lang="en-US" sz="1100" dirty="0"/>
          </a:p>
        </p:txBody>
      </p:sp>
      <p:sp>
        <p:nvSpPr>
          <p:cNvPr id="22" name="Text 20"/>
          <p:cNvSpPr/>
          <p:nvPr/>
        </p:nvSpPr>
        <p:spPr>
          <a:xfrm>
            <a:off x="5277917" y="4343400"/>
            <a:ext cx="1815998" cy="365760"/>
          </a:xfrm>
          <a:prstGeom prst="rect">
            <a:avLst/>
          </a:prstGeom>
          <a:noFill/>
          <a:ln/>
        </p:spPr>
        <p:txBody>
          <a:bodyPr wrap="square" rtlCol="0" anchor="t"/>
          <a:lstStyle/>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Préalables</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Tests</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Tailles d'effet</a:t>
            </a:r>
            <a:endParaRPr lang="en-US" sz="900" dirty="0"/>
          </a:p>
        </p:txBody>
      </p:sp>
      <p:sp>
        <p:nvSpPr>
          <p:cNvPr id="23" name="Shape 21"/>
          <p:cNvSpPr/>
          <p:nvPr/>
        </p:nvSpPr>
        <p:spPr>
          <a:xfrm>
            <a:off x="7231075" y="4274820"/>
            <a:ext cx="182880" cy="0"/>
          </a:xfrm>
          <a:prstGeom prst="line">
            <a:avLst/>
          </a:prstGeom>
          <a:noFill/>
          <a:ln w="19050">
            <a:solidFill>
              <a:srgbClr val="F09042"/>
            </a:solidFill>
            <a:prstDash val="solid"/>
          </a:ln>
        </p:spPr>
      </p:sp>
      <p:sp>
        <p:nvSpPr>
          <p:cNvPr id="24" name="Shape 22"/>
          <p:cNvSpPr/>
          <p:nvPr/>
        </p:nvSpPr>
        <p:spPr>
          <a:xfrm>
            <a:off x="7340803" y="4201668"/>
            <a:ext cx="73152" cy="73152"/>
          </a:xfrm>
          <a:prstGeom prst="line">
            <a:avLst/>
          </a:prstGeom>
          <a:noFill/>
          <a:ln w="19050">
            <a:solidFill>
              <a:srgbClr val="F09042"/>
            </a:solidFill>
            <a:prstDash val="solid"/>
          </a:ln>
        </p:spPr>
      </p:sp>
      <p:sp>
        <p:nvSpPr>
          <p:cNvPr id="25" name="Shape 23"/>
          <p:cNvSpPr/>
          <p:nvPr/>
        </p:nvSpPr>
        <p:spPr>
          <a:xfrm>
            <a:off x="7340803" y="4347972"/>
            <a:ext cx="73152" cy="-73152"/>
          </a:xfrm>
          <a:prstGeom prst="line">
            <a:avLst/>
          </a:prstGeom>
          <a:noFill/>
          <a:ln w="19050">
            <a:solidFill>
              <a:srgbClr val="F09042"/>
            </a:solidFill>
            <a:prstDash val="solid"/>
          </a:ln>
        </p:spPr>
      </p:sp>
      <p:sp>
        <p:nvSpPr>
          <p:cNvPr id="26" name="Shape 24"/>
          <p:cNvSpPr/>
          <p:nvPr/>
        </p:nvSpPr>
        <p:spPr>
          <a:xfrm>
            <a:off x="7459675" y="3703320"/>
            <a:ext cx="1998878" cy="1143000"/>
          </a:xfrm>
          <a:prstGeom prst="roundRect">
            <a:avLst>
              <a:gd name="adj" fmla="val 6400"/>
            </a:avLst>
          </a:prstGeom>
          <a:solidFill>
            <a:srgbClr val="FFFFFF"/>
          </a:solidFill>
          <a:ln w="12700">
            <a:solidFill>
              <a:srgbClr val="D6CFB8"/>
            </a:solidFill>
            <a:prstDash val="solid"/>
          </a:ln>
        </p:spPr>
      </p:sp>
      <p:sp>
        <p:nvSpPr>
          <p:cNvPr id="27" name="Text 25"/>
          <p:cNvSpPr/>
          <p:nvPr/>
        </p:nvSpPr>
        <p:spPr>
          <a:xfrm>
            <a:off x="7551115"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15233F"/>
                </a:solidFill>
                <a:latin typeface="Calibri" pitchFamily="34" charset="0"/>
                <a:ea typeface="Calibri" pitchFamily="34" charset="-122"/>
                <a:cs typeface="Calibri" pitchFamily="34" charset="-120"/>
              </a:rPr>
              <a:t>Rédaction</a:t>
            </a:r>
            <a:endParaRPr lang="en-US" sz="1100" dirty="0"/>
          </a:p>
        </p:txBody>
      </p:sp>
      <p:sp>
        <p:nvSpPr>
          <p:cNvPr id="28" name="Text 26"/>
          <p:cNvSpPr/>
          <p:nvPr/>
        </p:nvSpPr>
        <p:spPr>
          <a:xfrm>
            <a:off x="7551115" y="4343400"/>
            <a:ext cx="1815998" cy="365760"/>
          </a:xfrm>
          <a:prstGeom prst="rect">
            <a:avLst/>
          </a:prstGeom>
          <a:noFill/>
          <a:ln/>
        </p:spPr>
        <p:txBody>
          <a:bodyPr wrap="square" rtlCol="0" anchor="t"/>
          <a:lstStyle/>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Tableaux</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IC95%</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Vancouver</a:t>
            </a:r>
            <a:endParaRPr lang="en-US" sz="900" dirty="0"/>
          </a:p>
        </p:txBody>
      </p:sp>
      <p:sp>
        <p:nvSpPr>
          <p:cNvPr id="29" name="Shape 27"/>
          <p:cNvSpPr/>
          <p:nvPr/>
        </p:nvSpPr>
        <p:spPr>
          <a:xfrm>
            <a:off x="9504274" y="4274820"/>
            <a:ext cx="182880" cy="0"/>
          </a:xfrm>
          <a:prstGeom prst="line">
            <a:avLst/>
          </a:prstGeom>
          <a:noFill/>
          <a:ln w="19050">
            <a:solidFill>
              <a:srgbClr val="F09042"/>
            </a:solidFill>
            <a:prstDash val="solid"/>
          </a:ln>
        </p:spPr>
      </p:sp>
      <p:sp>
        <p:nvSpPr>
          <p:cNvPr id="30" name="Shape 28"/>
          <p:cNvSpPr/>
          <p:nvPr/>
        </p:nvSpPr>
        <p:spPr>
          <a:xfrm>
            <a:off x="9614002" y="4201668"/>
            <a:ext cx="73152" cy="73152"/>
          </a:xfrm>
          <a:prstGeom prst="line">
            <a:avLst/>
          </a:prstGeom>
          <a:noFill/>
          <a:ln w="19050">
            <a:solidFill>
              <a:srgbClr val="F09042"/>
            </a:solidFill>
            <a:prstDash val="solid"/>
          </a:ln>
        </p:spPr>
      </p:sp>
      <p:sp>
        <p:nvSpPr>
          <p:cNvPr id="31" name="Shape 29"/>
          <p:cNvSpPr/>
          <p:nvPr/>
        </p:nvSpPr>
        <p:spPr>
          <a:xfrm>
            <a:off x="9614002" y="4347972"/>
            <a:ext cx="73152" cy="-73152"/>
          </a:xfrm>
          <a:prstGeom prst="line">
            <a:avLst/>
          </a:prstGeom>
          <a:noFill/>
          <a:ln w="19050">
            <a:solidFill>
              <a:srgbClr val="F09042"/>
            </a:solidFill>
            <a:prstDash val="solid"/>
          </a:ln>
        </p:spPr>
      </p:sp>
      <p:sp>
        <p:nvSpPr>
          <p:cNvPr id="32" name="Shape 30"/>
          <p:cNvSpPr/>
          <p:nvPr/>
        </p:nvSpPr>
        <p:spPr>
          <a:xfrm>
            <a:off x="9732874" y="3703320"/>
            <a:ext cx="1998878" cy="1143000"/>
          </a:xfrm>
          <a:prstGeom prst="roundRect">
            <a:avLst>
              <a:gd name="adj" fmla="val 6400"/>
            </a:avLst>
          </a:prstGeom>
          <a:solidFill>
            <a:srgbClr val="F09042"/>
          </a:solidFill>
          <a:ln w="12700">
            <a:solidFill>
              <a:srgbClr val="D9772B"/>
            </a:solidFill>
            <a:prstDash val="solid"/>
          </a:ln>
        </p:spPr>
      </p:sp>
      <p:sp>
        <p:nvSpPr>
          <p:cNvPr id="33" name="Text 31"/>
          <p:cNvSpPr/>
          <p:nvPr/>
        </p:nvSpPr>
        <p:spPr>
          <a:xfrm>
            <a:off x="9824314"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0E1729"/>
                </a:solidFill>
                <a:latin typeface="Calibri" pitchFamily="34" charset="0"/>
                <a:ea typeface="Calibri" pitchFamily="34" charset="-122"/>
                <a:cs typeface="Calibri" pitchFamily="34" charset="-120"/>
              </a:rPr>
              <a:t>Soutenance</a:t>
            </a:r>
            <a:endParaRPr lang="en-US" sz="1100" dirty="0"/>
          </a:p>
        </p:txBody>
      </p:sp>
      <p:sp>
        <p:nvSpPr>
          <p:cNvPr id="34" name="Text 32"/>
          <p:cNvSpPr/>
          <p:nvPr/>
        </p:nvSpPr>
        <p:spPr>
          <a:xfrm>
            <a:off x="9824314" y="4343400"/>
            <a:ext cx="1815998" cy="365760"/>
          </a:xfrm>
          <a:prstGeom prst="rect">
            <a:avLst/>
          </a:prstGeom>
          <a:noFill/>
          <a:ln/>
        </p:spPr>
        <p:txBody>
          <a:bodyPr wrap="square" rtlCol="0" anchor="t"/>
          <a:lstStyle/>
          <a:p>
            <a:pPr algn="ctr" indent="0" marL="0">
              <a:lnSpc>
                <a:spcPct val="130000"/>
              </a:lnSpc>
              <a:buNone/>
            </a:pPr>
            <a:r>
              <a:rPr lang="en-US" sz="900" i="1" dirty="0">
                <a:solidFill>
                  <a:srgbClr val="0E1729"/>
                </a:solidFill>
                <a:latin typeface="Calibri" pitchFamily="34" charset="0"/>
                <a:ea typeface="Calibri" pitchFamily="34" charset="-122"/>
                <a:cs typeface="Calibri" pitchFamily="34" charset="-120"/>
              </a:rPr>
              <a:t>Réponse aux</a:t>
            </a:r>
            <a:endParaRPr lang="en-US" sz="900" dirty="0"/>
          </a:p>
          <a:p>
            <a:pPr algn="ctr" indent="0" marL="0">
              <a:lnSpc>
                <a:spcPct val="130000"/>
              </a:lnSpc>
              <a:buNone/>
            </a:pPr>
            <a:r>
              <a:rPr lang="en-US" sz="900" i="1" dirty="0">
                <a:solidFill>
                  <a:srgbClr val="0E1729"/>
                </a:solidFill>
                <a:latin typeface="Calibri" pitchFamily="34" charset="0"/>
                <a:ea typeface="Calibri" pitchFamily="34" charset="-122"/>
                <a:cs typeface="Calibri" pitchFamily="34" charset="-120"/>
              </a:rPr>
              <a:t>questions</a:t>
            </a:r>
            <a:endParaRPr lang="en-US" sz="900" dirty="0"/>
          </a:p>
          <a:p>
            <a:pPr algn="ctr" indent="0" marL="0">
              <a:lnSpc>
                <a:spcPct val="130000"/>
              </a:lnSpc>
              <a:buNone/>
            </a:pPr>
            <a:r>
              <a:rPr lang="en-US" sz="900" i="1" dirty="0">
                <a:solidFill>
                  <a:srgbClr val="0E1729"/>
                </a:solidFill>
                <a:latin typeface="Calibri" pitchFamily="34" charset="0"/>
                <a:ea typeface="Calibri" pitchFamily="34" charset="-122"/>
                <a:cs typeface="Calibri" pitchFamily="34" charset="-120"/>
              </a:rPr>
              <a:t>méthodo</a:t>
            </a:r>
            <a:endParaRPr lang="en-US" sz="900" dirty="0"/>
          </a:p>
        </p:txBody>
      </p:sp>
      <p:sp>
        <p:nvSpPr>
          <p:cNvPr id="35" name="Shape 33"/>
          <p:cNvSpPr/>
          <p:nvPr/>
        </p:nvSpPr>
        <p:spPr>
          <a:xfrm>
            <a:off x="640080" y="5120640"/>
            <a:ext cx="54864" cy="1005840"/>
          </a:xfrm>
          <a:prstGeom prst="rect">
            <a:avLst/>
          </a:prstGeom>
          <a:solidFill>
            <a:srgbClr val="F09042"/>
          </a:solidFill>
          <a:ln/>
        </p:spPr>
      </p:sp>
      <p:sp>
        <p:nvSpPr>
          <p:cNvPr id="36" name="Text 34"/>
          <p:cNvSpPr/>
          <p:nvPr/>
        </p:nvSpPr>
        <p:spPr>
          <a:xfrm>
            <a:off x="868680" y="5166360"/>
            <a:ext cx="10972800" cy="1005840"/>
          </a:xfrm>
          <a:prstGeom prst="rect">
            <a:avLst/>
          </a:prstGeom>
          <a:noFill/>
          <a:ln/>
        </p:spPr>
        <p:txBody>
          <a:bodyPr wrap="square" rtlCol="0" anchor="ctr"/>
          <a:lstStyle/>
          <a:p>
            <a:pPr indent="0" marL="0">
              <a:lnSpc>
                <a:spcPct val="140000"/>
              </a:lnSpc>
              <a:buNone/>
            </a:pPr>
            <a:r>
              <a:rPr lang="en-US" sz="1300" i="1" dirty="0">
                <a:solidFill>
                  <a:srgbClr val="15233F"/>
                </a:solidFill>
                <a:latin typeface="Calibri" pitchFamily="34" charset="0"/>
                <a:ea typeface="Calibri" pitchFamily="34" charset="-122"/>
                <a:cs typeface="Calibri" pitchFamily="34" charset="-120"/>
              </a:rPr>
              <a:t>La méthode irrigue les cinq étapes. Maîtrise les concepts du Module 1, et chaque étape devient plus solide. C'est l'objet de ces 15 slides.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N°1 · LE DÉPART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400" b="1" spc="-100" kern="0" dirty="0">
                <a:solidFill>
                  <a:srgbClr val="15233F"/>
                </a:solidFill>
                <a:latin typeface="Calibri" pitchFamily="34" charset="0"/>
                <a:ea typeface="Calibri" pitchFamily="34" charset="-122"/>
                <a:cs typeface="Calibri" pitchFamily="34" charset="-120"/>
              </a:rPr>
              <a:t>Avant « quel test ? », il y a « qu'est-ce que je teste ? »</a:t>
            </a:r>
            <a:endParaRPr lang="en-US" sz="2400" dirty="0"/>
          </a:p>
        </p:txBody>
      </p:sp>
      <p:sp>
        <p:nvSpPr>
          <p:cNvPr id="6" name="Text 4"/>
          <p:cNvSpPr/>
          <p:nvPr/>
        </p:nvSpPr>
        <p:spPr>
          <a:xfrm>
            <a:off x="640080" y="1874520"/>
            <a:ext cx="10972800" cy="128016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premier piège : démarrer une analyse en se demandant « quel test je dois lancer ? ». La bonne première question, c'est « qu'est-ce que je cherche à montrer ? ». Tu formules H₀ et H₁ — avec des mots — avant d'ouvrir le logiciel.</a:t>
            </a:r>
            <a:endParaRPr lang="en-US" sz="1400" dirty="0"/>
          </a:p>
        </p:txBody>
      </p:sp>
      <p:sp>
        <p:nvSpPr>
          <p:cNvPr id="7" name="Shape 5"/>
          <p:cNvSpPr/>
          <p:nvPr/>
        </p:nvSpPr>
        <p:spPr>
          <a:xfrm>
            <a:off x="640080" y="3429000"/>
            <a:ext cx="5440680" cy="2286000"/>
          </a:xfrm>
          <a:prstGeom prst="roundRect">
            <a:avLst>
              <a:gd name="adj" fmla="val 4000"/>
            </a:avLst>
          </a:prstGeom>
          <a:solidFill>
            <a:srgbClr val="0E1729"/>
          </a:solidFill>
          <a:ln/>
        </p:spPr>
      </p:sp>
      <p:sp>
        <p:nvSpPr>
          <p:cNvPr id="8" name="Text 6"/>
          <p:cNvSpPr/>
          <p:nvPr/>
        </p:nvSpPr>
        <p:spPr>
          <a:xfrm>
            <a:off x="822960" y="3566160"/>
            <a:ext cx="5120640" cy="365760"/>
          </a:xfrm>
          <a:prstGeom prst="rect">
            <a:avLst/>
          </a:prstGeom>
          <a:noFill/>
          <a:ln/>
        </p:spPr>
        <p:txBody>
          <a:bodyPr wrap="square" rtlCol="0" anchor="ctr"/>
          <a:lstStyle/>
          <a:p>
            <a:pPr indent="0" marL="0">
              <a:buNone/>
            </a:pPr>
            <a:r>
              <a:rPr lang="en-US" sz="1200" b="1" spc="300" kern="0" dirty="0">
                <a:solidFill>
                  <a:srgbClr val="F09042"/>
                </a:solidFill>
                <a:latin typeface="Calibri" pitchFamily="34" charset="0"/>
                <a:ea typeface="Calibri" pitchFamily="34" charset="-122"/>
                <a:cs typeface="Calibri" pitchFamily="34" charset="-120"/>
              </a:rPr>
              <a:t>H₀  —  L'HYPOTHÈSE PAR DÉFAUT</a:t>
            </a:r>
            <a:endParaRPr lang="en-US" sz="1200" dirty="0"/>
          </a:p>
        </p:txBody>
      </p:sp>
      <p:sp>
        <p:nvSpPr>
          <p:cNvPr id="9" name="Text 7"/>
          <p:cNvSpPr/>
          <p:nvPr/>
        </p:nvSpPr>
        <p:spPr>
          <a:xfrm>
            <a:off x="822960" y="3977640"/>
            <a:ext cx="5120640" cy="640080"/>
          </a:xfrm>
          <a:prstGeom prst="rect">
            <a:avLst/>
          </a:prstGeom>
          <a:noFill/>
          <a:ln/>
        </p:spPr>
        <p:txBody>
          <a:bodyPr wrap="square" rtlCol="0" anchor="ctr"/>
          <a:lstStyle/>
          <a:p>
            <a:pPr indent="0" marL="0">
              <a:lnSpc>
                <a:spcPct val="125000"/>
              </a:lnSpc>
              <a:buNone/>
            </a:pPr>
            <a:r>
              <a:rPr lang="en-US" sz="1400" b="1" dirty="0">
                <a:solidFill>
                  <a:srgbClr val="FFFFFF"/>
                </a:solidFill>
                <a:latin typeface="Calibri" pitchFamily="34" charset="0"/>
                <a:ea typeface="Calibri" pitchFamily="34" charset="-122"/>
                <a:cs typeface="Calibri" pitchFamily="34" charset="-120"/>
              </a:rPr>
              <a:t>« Il n'y a pas de différence, pas d'effet, pas de lien. »</a:t>
            </a:r>
            <a:endParaRPr lang="en-US" sz="1400" dirty="0"/>
          </a:p>
        </p:txBody>
      </p:sp>
      <p:sp>
        <p:nvSpPr>
          <p:cNvPr id="10" name="Text 8"/>
          <p:cNvSpPr/>
          <p:nvPr/>
        </p:nvSpPr>
        <p:spPr>
          <a:xfrm>
            <a:off x="822960" y="4800600"/>
            <a:ext cx="5120640" cy="822960"/>
          </a:xfrm>
          <a:prstGeom prst="rect">
            <a:avLst/>
          </a:prstGeom>
          <a:noFill/>
          <a:ln/>
        </p:spPr>
        <p:txBody>
          <a:bodyPr wrap="square" rtlCol="0" anchor="ctr"/>
          <a:lstStyle/>
          <a:p>
            <a:pPr indent="0" marL="0">
              <a:lnSpc>
                <a:spcPct val="130000"/>
              </a:lnSpc>
              <a:buNone/>
            </a:pPr>
            <a:r>
              <a:rPr lang="en-US" sz="1100" i="1" dirty="0">
                <a:solidFill>
                  <a:srgbClr val="C9CFDC"/>
                </a:solidFill>
                <a:latin typeface="Calibri" pitchFamily="34" charset="0"/>
                <a:ea typeface="Calibri" pitchFamily="34" charset="-122"/>
                <a:cs typeface="Calibri" pitchFamily="34" charset="-120"/>
              </a:rPr>
              <a:t>C'est l'hypothèse que tu cherches à rejeter avec tes données. Pas celle que tu cherches à « prouver ».</a:t>
            </a:r>
            <a:endParaRPr lang="en-US" sz="1100" dirty="0"/>
          </a:p>
        </p:txBody>
      </p:sp>
      <p:sp>
        <p:nvSpPr>
          <p:cNvPr id="11" name="Shape 9"/>
          <p:cNvSpPr/>
          <p:nvPr/>
        </p:nvSpPr>
        <p:spPr>
          <a:xfrm>
            <a:off x="6291072" y="3429000"/>
            <a:ext cx="5440680" cy="2286000"/>
          </a:xfrm>
          <a:prstGeom prst="roundRect">
            <a:avLst>
              <a:gd name="adj" fmla="val 4000"/>
            </a:avLst>
          </a:prstGeom>
          <a:solidFill>
            <a:srgbClr val="F09042"/>
          </a:solidFill>
          <a:ln/>
        </p:spPr>
      </p:sp>
      <p:sp>
        <p:nvSpPr>
          <p:cNvPr id="12" name="Text 10"/>
          <p:cNvSpPr/>
          <p:nvPr/>
        </p:nvSpPr>
        <p:spPr>
          <a:xfrm>
            <a:off x="6473952" y="3566160"/>
            <a:ext cx="5120640" cy="365760"/>
          </a:xfrm>
          <a:prstGeom prst="rect">
            <a:avLst/>
          </a:prstGeom>
          <a:noFill/>
          <a:ln/>
        </p:spPr>
        <p:txBody>
          <a:bodyPr wrap="square" rtlCol="0" anchor="ctr"/>
          <a:lstStyle/>
          <a:p>
            <a:pPr indent="0" marL="0">
              <a:buNone/>
            </a:pPr>
            <a:r>
              <a:rPr lang="en-US" sz="1200" b="1" spc="300" kern="0" dirty="0">
                <a:solidFill>
                  <a:srgbClr val="0E1729"/>
                </a:solidFill>
                <a:latin typeface="Calibri" pitchFamily="34" charset="0"/>
                <a:ea typeface="Calibri" pitchFamily="34" charset="-122"/>
                <a:cs typeface="Calibri" pitchFamily="34" charset="-120"/>
              </a:rPr>
              <a:t>H₁  —  CE QUE TU DÉFENDS</a:t>
            </a:r>
            <a:endParaRPr lang="en-US" sz="1200" dirty="0"/>
          </a:p>
        </p:txBody>
      </p:sp>
      <p:sp>
        <p:nvSpPr>
          <p:cNvPr id="13" name="Text 11"/>
          <p:cNvSpPr/>
          <p:nvPr/>
        </p:nvSpPr>
        <p:spPr>
          <a:xfrm>
            <a:off x="6473952" y="3977640"/>
            <a:ext cx="5120640" cy="640080"/>
          </a:xfrm>
          <a:prstGeom prst="rect">
            <a:avLst/>
          </a:prstGeom>
          <a:noFill/>
          <a:ln/>
        </p:spPr>
        <p:txBody>
          <a:bodyPr wrap="square" rtlCol="0" anchor="ctr"/>
          <a:lstStyle/>
          <a:p>
            <a:pPr indent="0" marL="0">
              <a:lnSpc>
                <a:spcPct val="125000"/>
              </a:lnSpc>
              <a:buNone/>
            </a:pPr>
            <a:r>
              <a:rPr lang="en-US" sz="1400" b="1" dirty="0">
                <a:solidFill>
                  <a:srgbClr val="0E1729"/>
                </a:solidFill>
                <a:latin typeface="Calibri" pitchFamily="34" charset="0"/>
                <a:ea typeface="Calibri" pitchFamily="34" charset="-122"/>
                <a:cs typeface="Calibri" pitchFamily="34" charset="-120"/>
              </a:rPr>
              <a:t>« Il y a une différence, un effet, un lien. »</a:t>
            </a:r>
            <a:endParaRPr lang="en-US" sz="1400" dirty="0"/>
          </a:p>
        </p:txBody>
      </p:sp>
      <p:sp>
        <p:nvSpPr>
          <p:cNvPr id="14" name="Text 12"/>
          <p:cNvSpPr/>
          <p:nvPr/>
        </p:nvSpPr>
        <p:spPr>
          <a:xfrm>
            <a:off x="6473952" y="4800600"/>
            <a:ext cx="5120640" cy="822960"/>
          </a:xfrm>
          <a:prstGeom prst="rect">
            <a:avLst/>
          </a:prstGeom>
          <a:noFill/>
          <a:ln/>
        </p:spPr>
        <p:txBody>
          <a:bodyPr wrap="square" rtlCol="0" anchor="ctr"/>
          <a:lstStyle/>
          <a:p>
            <a:pPr indent="0" marL="0">
              <a:lnSpc>
                <a:spcPct val="130000"/>
              </a:lnSpc>
              <a:buNone/>
            </a:pPr>
            <a:r>
              <a:rPr lang="en-US" sz="1100" i="1" dirty="0">
                <a:solidFill>
                  <a:srgbClr val="0E1729"/>
                </a:solidFill>
                <a:latin typeface="Calibri" pitchFamily="34" charset="0"/>
                <a:ea typeface="Calibri" pitchFamily="34" charset="-122"/>
                <a:cs typeface="Calibri" pitchFamily="34" charset="-120"/>
              </a:rPr>
              <a:t>Tu ne la « prouves » jamais directement. Tu la fais admettre lorsque H₀ devient trop improbable au vu de tes données.</a:t>
            </a:r>
            <a:endParaRPr lang="en-US" sz="1100" dirty="0"/>
          </a:p>
        </p:txBody>
      </p:sp>
      <p:sp>
        <p:nvSpPr>
          <p:cNvPr id="15" name="Text 13"/>
          <p:cNvSpPr/>
          <p:nvPr/>
        </p:nvSpPr>
        <p:spPr>
          <a:xfrm>
            <a:off x="640080" y="585216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Subtilité que les jurys aiment tester : un test ne « confirme » jamais H₁. Il rejette ou ne rejette pas H₀. Si tu maîtrises cette distinction, ta soutenance commence avec 2 points d'avance.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N°2 · LES DEUX ERREURS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α, β, et l'erreur qu'on ne voit jamais venir.</a:t>
            </a:r>
            <a:endParaRPr lang="en-US" sz="2800" dirty="0"/>
          </a:p>
        </p:txBody>
      </p:sp>
      <p:sp>
        <p:nvSpPr>
          <p:cNvPr id="6" name="Text 4"/>
          <p:cNvSpPr/>
          <p:nvPr/>
        </p:nvSpPr>
        <p:spPr>
          <a:xfrm>
            <a:off x="640080" y="182880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Un test ne te dit jamais la vérité. Il te donne une décision sous incertitude. Et l'incertitude se décline en deux types d'erreurs, qu'il faut accepter avant de commencer.</a:t>
            </a:r>
            <a:endParaRPr lang="en-US" sz="1300" dirty="0"/>
          </a:p>
        </p:txBody>
      </p:sp>
      <p:sp>
        <p:nvSpPr>
          <p:cNvPr id="7" name="Text 5"/>
          <p:cNvSpPr/>
          <p:nvPr/>
        </p:nvSpPr>
        <p:spPr>
          <a:xfrm>
            <a:off x="640080" y="2606040"/>
            <a:ext cx="5486400" cy="274320"/>
          </a:xfrm>
          <a:prstGeom prst="rect">
            <a:avLst/>
          </a:prstGeom>
          <a:noFill/>
          <a:ln/>
        </p:spPr>
        <p:txBody>
          <a:bodyPr wrap="square" rtlCol="0" anchor="ctr"/>
          <a:lstStyle/>
          <a:p>
            <a:pPr algn="ctr" indent="0" marL="0">
              <a:buNone/>
            </a:pPr>
            <a:r>
              <a:rPr lang="en-US" sz="1000" b="1" spc="300" kern="0" dirty="0">
                <a:solidFill>
                  <a:srgbClr val="6B7280"/>
                </a:solidFill>
                <a:latin typeface="Calibri" pitchFamily="34" charset="0"/>
                <a:ea typeface="Calibri" pitchFamily="34" charset="-122"/>
                <a:cs typeface="Calibri" pitchFamily="34" charset="-120"/>
              </a:rPr>
              <a:t>RÉALITÉ</a:t>
            </a:r>
            <a:endParaRPr lang="en-US" sz="1000" dirty="0"/>
          </a:p>
        </p:txBody>
      </p:sp>
      <p:sp>
        <p:nvSpPr>
          <p:cNvPr id="8" name="Text 6"/>
          <p:cNvSpPr/>
          <p:nvPr/>
        </p:nvSpPr>
        <p:spPr>
          <a:xfrm>
            <a:off x="640080" y="2880360"/>
            <a:ext cx="2743200" cy="228600"/>
          </a:xfrm>
          <a:prstGeom prst="rect">
            <a:avLst/>
          </a:prstGeom>
          <a:noFill/>
          <a:ln/>
        </p:spPr>
        <p:txBody>
          <a:bodyPr wrap="square" rtlCol="0" anchor="ctr"/>
          <a:lstStyle/>
          <a:p>
            <a:pPr algn="ctr" indent="0" marL="0">
              <a:buNone/>
            </a:pPr>
            <a:r>
              <a:rPr lang="en-US" sz="1100" b="1" dirty="0">
                <a:solidFill>
                  <a:srgbClr val="15233F"/>
                </a:solidFill>
                <a:latin typeface="Calibri" pitchFamily="34" charset="0"/>
                <a:ea typeface="Calibri" pitchFamily="34" charset="-122"/>
                <a:cs typeface="Calibri" pitchFamily="34" charset="-120"/>
              </a:rPr>
              <a:t>H₀ vraie</a:t>
            </a:r>
            <a:endParaRPr lang="en-US" sz="1100" dirty="0"/>
          </a:p>
        </p:txBody>
      </p:sp>
      <p:sp>
        <p:nvSpPr>
          <p:cNvPr id="9" name="Text 7"/>
          <p:cNvSpPr/>
          <p:nvPr/>
        </p:nvSpPr>
        <p:spPr>
          <a:xfrm>
            <a:off x="3383280" y="2880360"/>
            <a:ext cx="2743200" cy="228600"/>
          </a:xfrm>
          <a:prstGeom prst="rect">
            <a:avLst/>
          </a:prstGeom>
          <a:noFill/>
          <a:ln/>
        </p:spPr>
        <p:txBody>
          <a:bodyPr wrap="square" rtlCol="0" anchor="ctr"/>
          <a:lstStyle/>
          <a:p>
            <a:pPr algn="ctr" indent="0" marL="0">
              <a:buNone/>
            </a:pPr>
            <a:r>
              <a:rPr lang="en-US" sz="1100" b="1" dirty="0">
                <a:solidFill>
                  <a:srgbClr val="15233F"/>
                </a:solidFill>
                <a:latin typeface="Calibri" pitchFamily="34" charset="0"/>
                <a:ea typeface="Calibri" pitchFamily="34" charset="-122"/>
                <a:cs typeface="Calibri" pitchFamily="34" charset="-120"/>
              </a:rPr>
              <a:t>H₁ vraie</a:t>
            </a:r>
            <a:endParaRPr lang="en-US" sz="1100" dirty="0"/>
          </a:p>
        </p:txBody>
      </p:sp>
      <p:sp>
        <p:nvSpPr>
          <p:cNvPr id="10" name="Shape 8"/>
          <p:cNvSpPr/>
          <p:nvPr/>
        </p:nvSpPr>
        <p:spPr>
          <a:xfrm>
            <a:off x="640080" y="3108960"/>
            <a:ext cx="2743200" cy="1097280"/>
          </a:xfrm>
          <a:prstGeom prst="rect">
            <a:avLst/>
          </a:prstGeom>
          <a:solidFill>
            <a:srgbClr val="FFFFFF"/>
          </a:solidFill>
          <a:ln w="12700">
            <a:solidFill>
              <a:srgbClr val="D6CFB8"/>
            </a:solidFill>
            <a:prstDash val="solid"/>
          </a:ln>
        </p:spPr>
      </p:sp>
      <p:sp>
        <p:nvSpPr>
          <p:cNvPr id="11" name="Text 9"/>
          <p:cNvSpPr/>
          <p:nvPr/>
        </p:nvSpPr>
        <p:spPr>
          <a:xfrm>
            <a:off x="731520" y="3200400"/>
            <a:ext cx="2560320" cy="365760"/>
          </a:xfrm>
          <a:prstGeom prst="rect">
            <a:avLst/>
          </a:prstGeom>
          <a:noFill/>
          <a:ln/>
        </p:spPr>
        <p:txBody>
          <a:bodyPr wrap="square" rtlCol="0" anchor="ctr"/>
          <a:lstStyle/>
          <a:p>
            <a:pPr algn="ctr" indent="0" marL="0">
              <a:buNone/>
            </a:pPr>
            <a:r>
              <a:rPr lang="en-US" sz="1400" b="1" dirty="0">
                <a:solidFill>
                  <a:srgbClr val="15233F"/>
                </a:solidFill>
                <a:latin typeface="Calibri" pitchFamily="34" charset="0"/>
                <a:ea typeface="Calibri" pitchFamily="34" charset="-122"/>
                <a:cs typeface="Calibri" pitchFamily="34" charset="-120"/>
              </a:rPr>
              <a:t>Bonne décision</a:t>
            </a:r>
            <a:endParaRPr lang="en-US" sz="1400" dirty="0"/>
          </a:p>
        </p:txBody>
      </p:sp>
      <p:sp>
        <p:nvSpPr>
          <p:cNvPr id="12" name="Text 10"/>
          <p:cNvSpPr/>
          <p:nvPr/>
        </p:nvSpPr>
        <p:spPr>
          <a:xfrm>
            <a:off x="731520" y="3611880"/>
            <a:ext cx="2560320" cy="502920"/>
          </a:xfrm>
          <a:prstGeom prst="rect">
            <a:avLst/>
          </a:prstGeom>
          <a:noFill/>
          <a:ln/>
        </p:spPr>
        <p:txBody>
          <a:bodyPr wrap="square" rtlCol="0" anchor="ctr"/>
          <a:lstStyle/>
          <a:p>
            <a:pPr algn="ctr" indent="0" marL="0">
              <a:lnSpc>
                <a:spcPct val="120000"/>
              </a:lnSpc>
              <a:buNone/>
            </a:pPr>
            <a:r>
              <a:rPr lang="en-US" sz="900" i="1" dirty="0">
                <a:solidFill>
                  <a:srgbClr val="15233F"/>
                </a:solidFill>
                <a:latin typeface="Calibri" pitchFamily="34" charset="0"/>
                <a:ea typeface="Calibri" pitchFamily="34" charset="-122"/>
                <a:cs typeface="Calibri" pitchFamily="34" charset="-120"/>
              </a:rPr>
              <a:t>(1 − α)</a:t>
            </a:r>
            <a:endParaRPr lang="en-US" sz="900" dirty="0"/>
          </a:p>
        </p:txBody>
      </p:sp>
      <p:sp>
        <p:nvSpPr>
          <p:cNvPr id="13" name="Shape 11"/>
          <p:cNvSpPr/>
          <p:nvPr/>
        </p:nvSpPr>
        <p:spPr>
          <a:xfrm>
            <a:off x="3383280" y="3108960"/>
            <a:ext cx="2743200" cy="1097280"/>
          </a:xfrm>
          <a:prstGeom prst="rect">
            <a:avLst/>
          </a:prstGeom>
          <a:solidFill>
            <a:srgbClr val="FFFFFF"/>
          </a:solidFill>
          <a:ln w="12700">
            <a:solidFill>
              <a:srgbClr val="D6CFB8"/>
            </a:solidFill>
            <a:prstDash val="solid"/>
          </a:ln>
        </p:spPr>
      </p:sp>
      <p:sp>
        <p:nvSpPr>
          <p:cNvPr id="14" name="Text 12"/>
          <p:cNvSpPr/>
          <p:nvPr/>
        </p:nvSpPr>
        <p:spPr>
          <a:xfrm>
            <a:off x="3474720" y="3200400"/>
            <a:ext cx="2560320" cy="365760"/>
          </a:xfrm>
          <a:prstGeom prst="rect">
            <a:avLst/>
          </a:prstGeom>
          <a:noFill/>
          <a:ln/>
        </p:spPr>
        <p:txBody>
          <a:bodyPr wrap="square" rtlCol="0" anchor="ctr"/>
          <a:lstStyle/>
          <a:p>
            <a:pPr algn="ctr" indent="0" marL="0">
              <a:buNone/>
            </a:pPr>
            <a:r>
              <a:rPr lang="en-US" sz="1400" b="1" dirty="0">
                <a:solidFill>
                  <a:srgbClr val="E74C3C"/>
                </a:solidFill>
                <a:latin typeface="Calibri" pitchFamily="34" charset="0"/>
                <a:ea typeface="Calibri" pitchFamily="34" charset="-122"/>
                <a:cs typeface="Calibri" pitchFamily="34" charset="-120"/>
              </a:rPr>
              <a:t>Erreur β</a:t>
            </a:r>
            <a:endParaRPr lang="en-US" sz="1400" dirty="0"/>
          </a:p>
        </p:txBody>
      </p:sp>
      <p:sp>
        <p:nvSpPr>
          <p:cNvPr id="15" name="Text 13"/>
          <p:cNvSpPr/>
          <p:nvPr/>
        </p:nvSpPr>
        <p:spPr>
          <a:xfrm>
            <a:off x="3474720" y="3611880"/>
            <a:ext cx="2560320" cy="502920"/>
          </a:xfrm>
          <a:prstGeom prst="rect">
            <a:avLst/>
          </a:prstGeom>
          <a:noFill/>
          <a:ln/>
        </p:spPr>
        <p:txBody>
          <a:bodyPr wrap="square" rtlCol="0" anchor="ctr"/>
          <a:lstStyle/>
          <a:p>
            <a:pPr algn="ctr" indent="0" marL="0">
              <a:lnSpc>
                <a:spcPct val="120000"/>
              </a:lnSpc>
              <a:buNone/>
            </a:pPr>
            <a:r>
              <a:rPr lang="en-US" sz="900" i="1" dirty="0">
                <a:solidFill>
                  <a:srgbClr val="E74C3C"/>
                </a:solidFill>
                <a:latin typeface="Calibri" pitchFamily="34" charset="0"/>
                <a:ea typeface="Calibri" pitchFamily="34" charset="-122"/>
                <a:cs typeface="Calibri" pitchFamily="34" charset="-120"/>
              </a:rPr>
              <a:t>Faux négatif</a:t>
            </a:r>
            <a:endParaRPr lang="en-US" sz="900" dirty="0"/>
          </a:p>
        </p:txBody>
      </p:sp>
      <p:sp>
        <p:nvSpPr>
          <p:cNvPr id="16" name="Shape 14"/>
          <p:cNvSpPr/>
          <p:nvPr/>
        </p:nvSpPr>
        <p:spPr>
          <a:xfrm>
            <a:off x="640080" y="4206240"/>
            <a:ext cx="2743200" cy="1097280"/>
          </a:xfrm>
          <a:prstGeom prst="rect">
            <a:avLst/>
          </a:prstGeom>
          <a:solidFill>
            <a:srgbClr val="FFFFFF"/>
          </a:solidFill>
          <a:ln w="12700">
            <a:solidFill>
              <a:srgbClr val="D6CFB8"/>
            </a:solidFill>
            <a:prstDash val="solid"/>
          </a:ln>
        </p:spPr>
      </p:sp>
      <p:sp>
        <p:nvSpPr>
          <p:cNvPr id="17" name="Text 15"/>
          <p:cNvSpPr/>
          <p:nvPr/>
        </p:nvSpPr>
        <p:spPr>
          <a:xfrm>
            <a:off x="731520" y="4297680"/>
            <a:ext cx="2560320" cy="365760"/>
          </a:xfrm>
          <a:prstGeom prst="rect">
            <a:avLst/>
          </a:prstGeom>
          <a:noFill/>
          <a:ln/>
        </p:spPr>
        <p:txBody>
          <a:bodyPr wrap="square" rtlCol="0" anchor="ctr"/>
          <a:lstStyle/>
          <a:p>
            <a:pPr algn="ctr" indent="0" marL="0">
              <a:buNone/>
            </a:pPr>
            <a:r>
              <a:rPr lang="en-US" sz="1400" b="1" dirty="0">
                <a:solidFill>
                  <a:srgbClr val="E74C3C"/>
                </a:solidFill>
                <a:latin typeface="Calibri" pitchFamily="34" charset="0"/>
                <a:ea typeface="Calibri" pitchFamily="34" charset="-122"/>
                <a:cs typeface="Calibri" pitchFamily="34" charset="-120"/>
              </a:rPr>
              <a:t>Erreur α</a:t>
            </a:r>
            <a:endParaRPr lang="en-US" sz="1400" dirty="0"/>
          </a:p>
        </p:txBody>
      </p:sp>
      <p:sp>
        <p:nvSpPr>
          <p:cNvPr id="18" name="Text 16"/>
          <p:cNvSpPr/>
          <p:nvPr/>
        </p:nvSpPr>
        <p:spPr>
          <a:xfrm>
            <a:off x="731520" y="4709160"/>
            <a:ext cx="2560320" cy="502920"/>
          </a:xfrm>
          <a:prstGeom prst="rect">
            <a:avLst/>
          </a:prstGeom>
          <a:noFill/>
          <a:ln/>
        </p:spPr>
        <p:txBody>
          <a:bodyPr wrap="square" rtlCol="0" anchor="ctr"/>
          <a:lstStyle/>
          <a:p>
            <a:pPr algn="ctr" indent="0" marL="0">
              <a:lnSpc>
                <a:spcPct val="120000"/>
              </a:lnSpc>
              <a:buNone/>
            </a:pPr>
            <a:r>
              <a:rPr lang="en-US" sz="900" i="1" dirty="0">
                <a:solidFill>
                  <a:srgbClr val="E74C3C"/>
                </a:solidFill>
                <a:latin typeface="Calibri" pitchFamily="34" charset="0"/>
                <a:ea typeface="Calibri" pitchFamily="34" charset="-122"/>
                <a:cs typeface="Calibri" pitchFamily="34" charset="-120"/>
              </a:rPr>
              <a:t>Faux positif</a:t>
            </a:r>
            <a:endParaRPr lang="en-US" sz="900" dirty="0"/>
          </a:p>
        </p:txBody>
      </p:sp>
      <p:sp>
        <p:nvSpPr>
          <p:cNvPr id="19" name="Shape 17"/>
          <p:cNvSpPr/>
          <p:nvPr/>
        </p:nvSpPr>
        <p:spPr>
          <a:xfrm>
            <a:off x="3383280" y="4206240"/>
            <a:ext cx="2743200" cy="1097280"/>
          </a:xfrm>
          <a:prstGeom prst="rect">
            <a:avLst/>
          </a:prstGeom>
          <a:solidFill>
            <a:srgbClr val="F09042"/>
          </a:solidFill>
          <a:ln w="12700">
            <a:solidFill>
              <a:srgbClr val="D6CFB8"/>
            </a:solidFill>
            <a:prstDash val="solid"/>
          </a:ln>
        </p:spPr>
      </p:sp>
      <p:sp>
        <p:nvSpPr>
          <p:cNvPr id="20" name="Text 18"/>
          <p:cNvSpPr/>
          <p:nvPr/>
        </p:nvSpPr>
        <p:spPr>
          <a:xfrm>
            <a:off x="3474720" y="4297680"/>
            <a:ext cx="2560320" cy="365760"/>
          </a:xfrm>
          <a:prstGeom prst="rect">
            <a:avLst/>
          </a:prstGeom>
          <a:noFill/>
          <a:ln/>
        </p:spPr>
        <p:txBody>
          <a:bodyPr wrap="square" rtlCol="0" anchor="ctr"/>
          <a:lstStyle/>
          <a:p>
            <a:pPr algn="ctr" indent="0" marL="0">
              <a:buNone/>
            </a:pPr>
            <a:r>
              <a:rPr lang="en-US" sz="1400" b="1" dirty="0">
                <a:solidFill>
                  <a:srgbClr val="0E1729"/>
                </a:solidFill>
                <a:latin typeface="Calibri" pitchFamily="34" charset="0"/>
                <a:ea typeface="Calibri" pitchFamily="34" charset="-122"/>
                <a:cs typeface="Calibri" pitchFamily="34" charset="-120"/>
              </a:rPr>
              <a:t>Puissance</a:t>
            </a:r>
            <a:endParaRPr lang="en-US" sz="1400" dirty="0"/>
          </a:p>
        </p:txBody>
      </p:sp>
      <p:sp>
        <p:nvSpPr>
          <p:cNvPr id="21" name="Text 19"/>
          <p:cNvSpPr/>
          <p:nvPr/>
        </p:nvSpPr>
        <p:spPr>
          <a:xfrm>
            <a:off x="3474720" y="4709160"/>
            <a:ext cx="2560320" cy="502920"/>
          </a:xfrm>
          <a:prstGeom prst="rect">
            <a:avLst/>
          </a:prstGeom>
          <a:noFill/>
          <a:ln/>
        </p:spPr>
        <p:txBody>
          <a:bodyPr wrap="square" rtlCol="0" anchor="ctr"/>
          <a:lstStyle/>
          <a:p>
            <a:pPr algn="ctr" indent="0" marL="0">
              <a:lnSpc>
                <a:spcPct val="120000"/>
              </a:lnSpc>
              <a:buNone/>
            </a:pPr>
            <a:r>
              <a:rPr lang="en-US" sz="900" i="1" dirty="0">
                <a:solidFill>
                  <a:srgbClr val="0E1729"/>
                </a:solidFill>
                <a:latin typeface="Calibri" pitchFamily="34" charset="0"/>
                <a:ea typeface="Calibri" pitchFamily="34" charset="-122"/>
                <a:cs typeface="Calibri" pitchFamily="34" charset="-120"/>
              </a:rPr>
              <a:t>(1 − β)</a:t>
            </a:r>
            <a:endParaRPr lang="en-US" sz="900" dirty="0"/>
          </a:p>
        </p:txBody>
      </p:sp>
      <p:sp>
        <p:nvSpPr>
          <p:cNvPr id="22" name="Shape 20"/>
          <p:cNvSpPr/>
          <p:nvPr/>
        </p:nvSpPr>
        <p:spPr>
          <a:xfrm>
            <a:off x="6355080" y="2743200"/>
            <a:ext cx="5376672" cy="3200400"/>
          </a:xfrm>
          <a:prstGeom prst="rect">
            <a:avLst/>
          </a:prstGeom>
          <a:solidFill>
            <a:srgbClr val="FFFFFF"/>
          </a:solidFill>
          <a:ln w="6350">
            <a:solidFill>
              <a:srgbClr val="D6CFB8"/>
            </a:solidFill>
            <a:prstDash val="solid"/>
          </a:ln>
        </p:spPr>
      </p:sp>
      <p:sp>
        <p:nvSpPr>
          <p:cNvPr id="23" name="Text 21"/>
          <p:cNvSpPr/>
          <p:nvPr/>
        </p:nvSpPr>
        <p:spPr>
          <a:xfrm>
            <a:off x="6446520" y="2779776"/>
            <a:ext cx="5193792"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Sur 100 décisions répétées · scénario typique</a:t>
            </a:r>
            <a:endParaRPr lang="en-US" sz="900" dirty="0"/>
          </a:p>
        </p:txBody>
      </p:sp>
      <p:sp>
        <p:nvSpPr>
          <p:cNvPr id="24" name="Shape 22"/>
          <p:cNvSpPr/>
          <p:nvPr/>
        </p:nvSpPr>
        <p:spPr>
          <a:xfrm>
            <a:off x="6667988" y="3069824"/>
            <a:ext cx="158740" cy="158740"/>
          </a:xfrm>
          <a:prstGeom prst="ellipse">
            <a:avLst/>
          </a:prstGeom>
          <a:solidFill>
            <a:srgbClr val="C9CFDC"/>
          </a:solidFill>
          <a:ln/>
        </p:spPr>
      </p:sp>
      <p:sp>
        <p:nvSpPr>
          <p:cNvPr id="25" name="Shape 23"/>
          <p:cNvSpPr/>
          <p:nvPr/>
        </p:nvSpPr>
        <p:spPr>
          <a:xfrm>
            <a:off x="7178223" y="3069824"/>
            <a:ext cx="158740" cy="158740"/>
          </a:xfrm>
          <a:prstGeom prst="ellipse">
            <a:avLst/>
          </a:prstGeom>
          <a:solidFill>
            <a:srgbClr val="C9CFDC"/>
          </a:solidFill>
          <a:ln/>
        </p:spPr>
      </p:sp>
      <p:sp>
        <p:nvSpPr>
          <p:cNvPr id="26" name="Shape 24"/>
          <p:cNvSpPr/>
          <p:nvPr/>
        </p:nvSpPr>
        <p:spPr>
          <a:xfrm>
            <a:off x="7688458" y="3069824"/>
            <a:ext cx="158740" cy="158740"/>
          </a:xfrm>
          <a:prstGeom prst="ellipse">
            <a:avLst/>
          </a:prstGeom>
          <a:solidFill>
            <a:srgbClr val="C9CFDC"/>
          </a:solidFill>
          <a:ln/>
        </p:spPr>
      </p:sp>
      <p:sp>
        <p:nvSpPr>
          <p:cNvPr id="27" name="Shape 25"/>
          <p:cNvSpPr/>
          <p:nvPr/>
        </p:nvSpPr>
        <p:spPr>
          <a:xfrm>
            <a:off x="8198693" y="3069824"/>
            <a:ext cx="158740" cy="158740"/>
          </a:xfrm>
          <a:prstGeom prst="ellipse">
            <a:avLst/>
          </a:prstGeom>
          <a:solidFill>
            <a:srgbClr val="C9CFDC"/>
          </a:solidFill>
          <a:ln/>
        </p:spPr>
      </p:sp>
      <p:sp>
        <p:nvSpPr>
          <p:cNvPr id="28" name="Shape 26"/>
          <p:cNvSpPr/>
          <p:nvPr/>
        </p:nvSpPr>
        <p:spPr>
          <a:xfrm>
            <a:off x="8708928" y="3069824"/>
            <a:ext cx="158740" cy="158740"/>
          </a:xfrm>
          <a:prstGeom prst="ellipse">
            <a:avLst/>
          </a:prstGeom>
          <a:solidFill>
            <a:srgbClr val="C9CFDC"/>
          </a:solidFill>
          <a:ln/>
        </p:spPr>
      </p:sp>
      <p:sp>
        <p:nvSpPr>
          <p:cNvPr id="29" name="Shape 27"/>
          <p:cNvSpPr/>
          <p:nvPr/>
        </p:nvSpPr>
        <p:spPr>
          <a:xfrm>
            <a:off x="9219164" y="3069824"/>
            <a:ext cx="158740" cy="158740"/>
          </a:xfrm>
          <a:prstGeom prst="ellipse">
            <a:avLst/>
          </a:prstGeom>
          <a:solidFill>
            <a:srgbClr val="C9CFDC"/>
          </a:solidFill>
          <a:ln/>
        </p:spPr>
      </p:sp>
      <p:sp>
        <p:nvSpPr>
          <p:cNvPr id="30" name="Shape 28"/>
          <p:cNvSpPr/>
          <p:nvPr/>
        </p:nvSpPr>
        <p:spPr>
          <a:xfrm>
            <a:off x="9729399" y="3069824"/>
            <a:ext cx="158740" cy="158740"/>
          </a:xfrm>
          <a:prstGeom prst="ellipse">
            <a:avLst/>
          </a:prstGeom>
          <a:solidFill>
            <a:srgbClr val="C9CFDC"/>
          </a:solidFill>
          <a:ln/>
        </p:spPr>
      </p:sp>
      <p:sp>
        <p:nvSpPr>
          <p:cNvPr id="31" name="Shape 29"/>
          <p:cNvSpPr/>
          <p:nvPr/>
        </p:nvSpPr>
        <p:spPr>
          <a:xfrm>
            <a:off x="10239634" y="3069824"/>
            <a:ext cx="158740" cy="158740"/>
          </a:xfrm>
          <a:prstGeom prst="ellipse">
            <a:avLst/>
          </a:prstGeom>
          <a:solidFill>
            <a:srgbClr val="C9CFDC"/>
          </a:solidFill>
          <a:ln/>
        </p:spPr>
      </p:sp>
      <p:sp>
        <p:nvSpPr>
          <p:cNvPr id="32" name="Shape 30"/>
          <p:cNvSpPr/>
          <p:nvPr/>
        </p:nvSpPr>
        <p:spPr>
          <a:xfrm>
            <a:off x="10749869" y="3069824"/>
            <a:ext cx="158740" cy="158740"/>
          </a:xfrm>
          <a:prstGeom prst="ellipse">
            <a:avLst/>
          </a:prstGeom>
          <a:solidFill>
            <a:srgbClr val="C9CFDC"/>
          </a:solidFill>
          <a:ln/>
        </p:spPr>
      </p:sp>
      <p:sp>
        <p:nvSpPr>
          <p:cNvPr id="33" name="Shape 31"/>
          <p:cNvSpPr/>
          <p:nvPr/>
        </p:nvSpPr>
        <p:spPr>
          <a:xfrm>
            <a:off x="11260104" y="3069824"/>
            <a:ext cx="158740" cy="158740"/>
          </a:xfrm>
          <a:prstGeom prst="ellipse">
            <a:avLst/>
          </a:prstGeom>
          <a:solidFill>
            <a:srgbClr val="C9CFDC"/>
          </a:solidFill>
          <a:ln/>
        </p:spPr>
      </p:sp>
      <p:sp>
        <p:nvSpPr>
          <p:cNvPr id="34" name="Shape 32"/>
          <p:cNvSpPr/>
          <p:nvPr/>
        </p:nvSpPr>
        <p:spPr>
          <a:xfrm>
            <a:off x="6667988" y="3296595"/>
            <a:ext cx="158740" cy="158740"/>
          </a:xfrm>
          <a:prstGeom prst="ellipse">
            <a:avLst/>
          </a:prstGeom>
          <a:solidFill>
            <a:srgbClr val="C9CFDC"/>
          </a:solidFill>
          <a:ln/>
        </p:spPr>
      </p:sp>
      <p:sp>
        <p:nvSpPr>
          <p:cNvPr id="35" name="Shape 33"/>
          <p:cNvSpPr/>
          <p:nvPr/>
        </p:nvSpPr>
        <p:spPr>
          <a:xfrm>
            <a:off x="7178223" y="3296595"/>
            <a:ext cx="158740" cy="158740"/>
          </a:xfrm>
          <a:prstGeom prst="ellipse">
            <a:avLst/>
          </a:prstGeom>
          <a:solidFill>
            <a:srgbClr val="C9CFDC"/>
          </a:solidFill>
          <a:ln/>
        </p:spPr>
      </p:sp>
      <p:sp>
        <p:nvSpPr>
          <p:cNvPr id="36" name="Shape 34"/>
          <p:cNvSpPr/>
          <p:nvPr/>
        </p:nvSpPr>
        <p:spPr>
          <a:xfrm>
            <a:off x="7688458" y="3296595"/>
            <a:ext cx="158740" cy="158740"/>
          </a:xfrm>
          <a:prstGeom prst="ellipse">
            <a:avLst/>
          </a:prstGeom>
          <a:solidFill>
            <a:srgbClr val="C9CFDC"/>
          </a:solidFill>
          <a:ln/>
        </p:spPr>
      </p:sp>
      <p:sp>
        <p:nvSpPr>
          <p:cNvPr id="37" name="Shape 35"/>
          <p:cNvSpPr/>
          <p:nvPr/>
        </p:nvSpPr>
        <p:spPr>
          <a:xfrm>
            <a:off x="8198693" y="3296595"/>
            <a:ext cx="158740" cy="158740"/>
          </a:xfrm>
          <a:prstGeom prst="ellipse">
            <a:avLst/>
          </a:prstGeom>
          <a:solidFill>
            <a:srgbClr val="C9CFDC"/>
          </a:solidFill>
          <a:ln/>
        </p:spPr>
      </p:sp>
      <p:sp>
        <p:nvSpPr>
          <p:cNvPr id="38" name="Shape 36"/>
          <p:cNvSpPr/>
          <p:nvPr/>
        </p:nvSpPr>
        <p:spPr>
          <a:xfrm>
            <a:off x="8708928" y="3296595"/>
            <a:ext cx="158740" cy="158740"/>
          </a:xfrm>
          <a:prstGeom prst="ellipse">
            <a:avLst/>
          </a:prstGeom>
          <a:solidFill>
            <a:srgbClr val="C9CFDC"/>
          </a:solidFill>
          <a:ln/>
        </p:spPr>
      </p:sp>
      <p:sp>
        <p:nvSpPr>
          <p:cNvPr id="39" name="Shape 37"/>
          <p:cNvSpPr/>
          <p:nvPr/>
        </p:nvSpPr>
        <p:spPr>
          <a:xfrm>
            <a:off x="9219164" y="3296595"/>
            <a:ext cx="158740" cy="158740"/>
          </a:xfrm>
          <a:prstGeom prst="ellipse">
            <a:avLst/>
          </a:prstGeom>
          <a:solidFill>
            <a:srgbClr val="C9CFDC"/>
          </a:solidFill>
          <a:ln/>
        </p:spPr>
      </p:sp>
      <p:sp>
        <p:nvSpPr>
          <p:cNvPr id="40" name="Shape 38"/>
          <p:cNvSpPr/>
          <p:nvPr/>
        </p:nvSpPr>
        <p:spPr>
          <a:xfrm>
            <a:off x="9729399" y="3296595"/>
            <a:ext cx="158740" cy="158740"/>
          </a:xfrm>
          <a:prstGeom prst="ellipse">
            <a:avLst/>
          </a:prstGeom>
          <a:solidFill>
            <a:srgbClr val="C9CFDC"/>
          </a:solidFill>
          <a:ln/>
        </p:spPr>
      </p:sp>
      <p:sp>
        <p:nvSpPr>
          <p:cNvPr id="41" name="Shape 39"/>
          <p:cNvSpPr/>
          <p:nvPr/>
        </p:nvSpPr>
        <p:spPr>
          <a:xfrm>
            <a:off x="10239634" y="3296595"/>
            <a:ext cx="158740" cy="158740"/>
          </a:xfrm>
          <a:prstGeom prst="ellipse">
            <a:avLst/>
          </a:prstGeom>
          <a:solidFill>
            <a:srgbClr val="C9CFDC"/>
          </a:solidFill>
          <a:ln/>
        </p:spPr>
      </p:sp>
      <p:sp>
        <p:nvSpPr>
          <p:cNvPr id="42" name="Shape 40"/>
          <p:cNvSpPr/>
          <p:nvPr/>
        </p:nvSpPr>
        <p:spPr>
          <a:xfrm>
            <a:off x="10749869" y="3296595"/>
            <a:ext cx="158740" cy="158740"/>
          </a:xfrm>
          <a:prstGeom prst="ellipse">
            <a:avLst/>
          </a:prstGeom>
          <a:solidFill>
            <a:srgbClr val="C9CFDC"/>
          </a:solidFill>
          <a:ln/>
        </p:spPr>
      </p:sp>
      <p:sp>
        <p:nvSpPr>
          <p:cNvPr id="43" name="Shape 41"/>
          <p:cNvSpPr/>
          <p:nvPr/>
        </p:nvSpPr>
        <p:spPr>
          <a:xfrm>
            <a:off x="11260104" y="3296595"/>
            <a:ext cx="158740" cy="158740"/>
          </a:xfrm>
          <a:prstGeom prst="ellipse">
            <a:avLst/>
          </a:prstGeom>
          <a:solidFill>
            <a:srgbClr val="C9CFDC"/>
          </a:solidFill>
          <a:ln/>
        </p:spPr>
      </p:sp>
      <p:sp>
        <p:nvSpPr>
          <p:cNvPr id="44" name="Shape 42"/>
          <p:cNvSpPr/>
          <p:nvPr/>
        </p:nvSpPr>
        <p:spPr>
          <a:xfrm>
            <a:off x="6667988" y="3523366"/>
            <a:ext cx="158740" cy="158740"/>
          </a:xfrm>
          <a:prstGeom prst="ellipse">
            <a:avLst/>
          </a:prstGeom>
          <a:solidFill>
            <a:srgbClr val="C9CFDC"/>
          </a:solidFill>
          <a:ln/>
        </p:spPr>
      </p:sp>
      <p:sp>
        <p:nvSpPr>
          <p:cNvPr id="45" name="Shape 43"/>
          <p:cNvSpPr/>
          <p:nvPr/>
        </p:nvSpPr>
        <p:spPr>
          <a:xfrm>
            <a:off x="7178223" y="3523366"/>
            <a:ext cx="158740" cy="158740"/>
          </a:xfrm>
          <a:prstGeom prst="ellipse">
            <a:avLst/>
          </a:prstGeom>
          <a:solidFill>
            <a:srgbClr val="C9CFDC"/>
          </a:solidFill>
          <a:ln/>
        </p:spPr>
      </p:sp>
      <p:sp>
        <p:nvSpPr>
          <p:cNvPr id="46" name="Shape 44"/>
          <p:cNvSpPr/>
          <p:nvPr/>
        </p:nvSpPr>
        <p:spPr>
          <a:xfrm>
            <a:off x="7688458" y="3523366"/>
            <a:ext cx="158740" cy="158740"/>
          </a:xfrm>
          <a:prstGeom prst="ellipse">
            <a:avLst/>
          </a:prstGeom>
          <a:solidFill>
            <a:srgbClr val="C9CFDC"/>
          </a:solidFill>
          <a:ln/>
        </p:spPr>
      </p:sp>
      <p:sp>
        <p:nvSpPr>
          <p:cNvPr id="47" name="Shape 45"/>
          <p:cNvSpPr/>
          <p:nvPr/>
        </p:nvSpPr>
        <p:spPr>
          <a:xfrm>
            <a:off x="8198693" y="3523366"/>
            <a:ext cx="158740" cy="158740"/>
          </a:xfrm>
          <a:prstGeom prst="ellipse">
            <a:avLst/>
          </a:prstGeom>
          <a:solidFill>
            <a:srgbClr val="C9CFDC"/>
          </a:solidFill>
          <a:ln/>
        </p:spPr>
      </p:sp>
      <p:sp>
        <p:nvSpPr>
          <p:cNvPr id="48" name="Shape 46"/>
          <p:cNvSpPr/>
          <p:nvPr/>
        </p:nvSpPr>
        <p:spPr>
          <a:xfrm>
            <a:off x="8708928" y="3523366"/>
            <a:ext cx="158740" cy="158740"/>
          </a:xfrm>
          <a:prstGeom prst="ellipse">
            <a:avLst/>
          </a:prstGeom>
          <a:solidFill>
            <a:srgbClr val="C9CFDC"/>
          </a:solidFill>
          <a:ln/>
        </p:spPr>
      </p:sp>
      <p:sp>
        <p:nvSpPr>
          <p:cNvPr id="49" name="Shape 47"/>
          <p:cNvSpPr/>
          <p:nvPr/>
        </p:nvSpPr>
        <p:spPr>
          <a:xfrm>
            <a:off x="9219164" y="3523366"/>
            <a:ext cx="158740" cy="158740"/>
          </a:xfrm>
          <a:prstGeom prst="ellipse">
            <a:avLst/>
          </a:prstGeom>
          <a:solidFill>
            <a:srgbClr val="C9CFDC"/>
          </a:solidFill>
          <a:ln/>
        </p:spPr>
      </p:sp>
      <p:sp>
        <p:nvSpPr>
          <p:cNvPr id="50" name="Shape 48"/>
          <p:cNvSpPr/>
          <p:nvPr/>
        </p:nvSpPr>
        <p:spPr>
          <a:xfrm>
            <a:off x="9729399" y="3523366"/>
            <a:ext cx="158740" cy="158740"/>
          </a:xfrm>
          <a:prstGeom prst="ellipse">
            <a:avLst/>
          </a:prstGeom>
          <a:solidFill>
            <a:srgbClr val="C9CFDC"/>
          </a:solidFill>
          <a:ln/>
        </p:spPr>
      </p:sp>
      <p:sp>
        <p:nvSpPr>
          <p:cNvPr id="51" name="Shape 49"/>
          <p:cNvSpPr/>
          <p:nvPr/>
        </p:nvSpPr>
        <p:spPr>
          <a:xfrm>
            <a:off x="10239634" y="3523366"/>
            <a:ext cx="158740" cy="158740"/>
          </a:xfrm>
          <a:prstGeom prst="ellipse">
            <a:avLst/>
          </a:prstGeom>
          <a:solidFill>
            <a:srgbClr val="C9CFDC"/>
          </a:solidFill>
          <a:ln/>
        </p:spPr>
      </p:sp>
      <p:sp>
        <p:nvSpPr>
          <p:cNvPr id="52" name="Shape 50"/>
          <p:cNvSpPr/>
          <p:nvPr/>
        </p:nvSpPr>
        <p:spPr>
          <a:xfrm>
            <a:off x="10749869" y="3523366"/>
            <a:ext cx="158740" cy="158740"/>
          </a:xfrm>
          <a:prstGeom prst="ellipse">
            <a:avLst/>
          </a:prstGeom>
          <a:solidFill>
            <a:srgbClr val="C9CFDC"/>
          </a:solidFill>
          <a:ln/>
        </p:spPr>
      </p:sp>
      <p:sp>
        <p:nvSpPr>
          <p:cNvPr id="53" name="Shape 51"/>
          <p:cNvSpPr/>
          <p:nvPr/>
        </p:nvSpPr>
        <p:spPr>
          <a:xfrm>
            <a:off x="11260104" y="3523366"/>
            <a:ext cx="158740" cy="158740"/>
          </a:xfrm>
          <a:prstGeom prst="ellipse">
            <a:avLst/>
          </a:prstGeom>
          <a:solidFill>
            <a:srgbClr val="C9CFDC"/>
          </a:solidFill>
          <a:ln/>
        </p:spPr>
      </p:sp>
      <p:sp>
        <p:nvSpPr>
          <p:cNvPr id="54" name="Shape 52"/>
          <p:cNvSpPr/>
          <p:nvPr/>
        </p:nvSpPr>
        <p:spPr>
          <a:xfrm>
            <a:off x="6667988" y="3750137"/>
            <a:ext cx="158740" cy="158740"/>
          </a:xfrm>
          <a:prstGeom prst="ellipse">
            <a:avLst/>
          </a:prstGeom>
          <a:solidFill>
            <a:srgbClr val="C9CFDC"/>
          </a:solidFill>
          <a:ln/>
        </p:spPr>
      </p:sp>
      <p:sp>
        <p:nvSpPr>
          <p:cNvPr id="55" name="Shape 53"/>
          <p:cNvSpPr/>
          <p:nvPr/>
        </p:nvSpPr>
        <p:spPr>
          <a:xfrm>
            <a:off x="7178223" y="3750137"/>
            <a:ext cx="158740" cy="158740"/>
          </a:xfrm>
          <a:prstGeom prst="ellipse">
            <a:avLst/>
          </a:prstGeom>
          <a:solidFill>
            <a:srgbClr val="C9CFDC"/>
          </a:solidFill>
          <a:ln/>
        </p:spPr>
      </p:sp>
      <p:sp>
        <p:nvSpPr>
          <p:cNvPr id="56" name="Shape 54"/>
          <p:cNvSpPr/>
          <p:nvPr/>
        </p:nvSpPr>
        <p:spPr>
          <a:xfrm>
            <a:off x="7688458" y="3750137"/>
            <a:ext cx="158740" cy="158740"/>
          </a:xfrm>
          <a:prstGeom prst="ellipse">
            <a:avLst/>
          </a:prstGeom>
          <a:solidFill>
            <a:srgbClr val="C9CFDC"/>
          </a:solidFill>
          <a:ln/>
        </p:spPr>
      </p:sp>
      <p:sp>
        <p:nvSpPr>
          <p:cNvPr id="57" name="Shape 55"/>
          <p:cNvSpPr/>
          <p:nvPr/>
        </p:nvSpPr>
        <p:spPr>
          <a:xfrm>
            <a:off x="8198693" y="3750137"/>
            <a:ext cx="158740" cy="158740"/>
          </a:xfrm>
          <a:prstGeom prst="ellipse">
            <a:avLst/>
          </a:prstGeom>
          <a:solidFill>
            <a:srgbClr val="C9CFDC"/>
          </a:solidFill>
          <a:ln/>
        </p:spPr>
      </p:sp>
      <p:sp>
        <p:nvSpPr>
          <p:cNvPr id="58" name="Shape 56"/>
          <p:cNvSpPr/>
          <p:nvPr/>
        </p:nvSpPr>
        <p:spPr>
          <a:xfrm>
            <a:off x="8708928" y="3750137"/>
            <a:ext cx="158740" cy="158740"/>
          </a:xfrm>
          <a:prstGeom prst="ellipse">
            <a:avLst/>
          </a:prstGeom>
          <a:solidFill>
            <a:srgbClr val="C9CFDC"/>
          </a:solidFill>
          <a:ln/>
        </p:spPr>
      </p:sp>
      <p:sp>
        <p:nvSpPr>
          <p:cNvPr id="59" name="Shape 57"/>
          <p:cNvSpPr/>
          <p:nvPr/>
        </p:nvSpPr>
        <p:spPr>
          <a:xfrm>
            <a:off x="9219164" y="3750137"/>
            <a:ext cx="158740" cy="158740"/>
          </a:xfrm>
          <a:prstGeom prst="ellipse">
            <a:avLst/>
          </a:prstGeom>
          <a:solidFill>
            <a:srgbClr val="C9CFDC"/>
          </a:solidFill>
          <a:ln/>
        </p:spPr>
      </p:sp>
      <p:sp>
        <p:nvSpPr>
          <p:cNvPr id="60" name="Shape 58"/>
          <p:cNvSpPr/>
          <p:nvPr/>
        </p:nvSpPr>
        <p:spPr>
          <a:xfrm>
            <a:off x="9729399" y="3750137"/>
            <a:ext cx="158740" cy="158740"/>
          </a:xfrm>
          <a:prstGeom prst="ellipse">
            <a:avLst/>
          </a:prstGeom>
          <a:solidFill>
            <a:srgbClr val="C9CFDC"/>
          </a:solidFill>
          <a:ln/>
        </p:spPr>
      </p:sp>
      <p:sp>
        <p:nvSpPr>
          <p:cNvPr id="61" name="Shape 59"/>
          <p:cNvSpPr/>
          <p:nvPr/>
        </p:nvSpPr>
        <p:spPr>
          <a:xfrm>
            <a:off x="10239634" y="3750137"/>
            <a:ext cx="158740" cy="158740"/>
          </a:xfrm>
          <a:prstGeom prst="ellipse">
            <a:avLst/>
          </a:prstGeom>
          <a:solidFill>
            <a:srgbClr val="C9CFDC"/>
          </a:solidFill>
          <a:ln/>
        </p:spPr>
      </p:sp>
      <p:sp>
        <p:nvSpPr>
          <p:cNvPr id="62" name="Shape 60"/>
          <p:cNvSpPr/>
          <p:nvPr/>
        </p:nvSpPr>
        <p:spPr>
          <a:xfrm>
            <a:off x="10749869" y="3750137"/>
            <a:ext cx="158740" cy="158740"/>
          </a:xfrm>
          <a:prstGeom prst="ellipse">
            <a:avLst/>
          </a:prstGeom>
          <a:solidFill>
            <a:srgbClr val="C9CFDC"/>
          </a:solidFill>
          <a:ln/>
        </p:spPr>
      </p:sp>
      <p:sp>
        <p:nvSpPr>
          <p:cNvPr id="63" name="Shape 61"/>
          <p:cNvSpPr/>
          <p:nvPr/>
        </p:nvSpPr>
        <p:spPr>
          <a:xfrm>
            <a:off x="11260104" y="3750137"/>
            <a:ext cx="158740" cy="158740"/>
          </a:xfrm>
          <a:prstGeom prst="ellipse">
            <a:avLst/>
          </a:prstGeom>
          <a:solidFill>
            <a:srgbClr val="C9CFDC"/>
          </a:solidFill>
          <a:ln/>
        </p:spPr>
      </p:sp>
      <p:sp>
        <p:nvSpPr>
          <p:cNvPr id="64" name="Shape 62"/>
          <p:cNvSpPr/>
          <p:nvPr/>
        </p:nvSpPr>
        <p:spPr>
          <a:xfrm>
            <a:off x="6667988" y="3976908"/>
            <a:ext cx="158740" cy="158740"/>
          </a:xfrm>
          <a:prstGeom prst="ellipse">
            <a:avLst/>
          </a:prstGeom>
          <a:solidFill>
            <a:srgbClr val="C9CFDC"/>
          </a:solidFill>
          <a:ln/>
        </p:spPr>
      </p:sp>
      <p:sp>
        <p:nvSpPr>
          <p:cNvPr id="65" name="Shape 63"/>
          <p:cNvSpPr/>
          <p:nvPr/>
        </p:nvSpPr>
        <p:spPr>
          <a:xfrm>
            <a:off x="7178223" y="3976908"/>
            <a:ext cx="158740" cy="158740"/>
          </a:xfrm>
          <a:prstGeom prst="ellipse">
            <a:avLst/>
          </a:prstGeom>
          <a:solidFill>
            <a:srgbClr val="C9CFDC"/>
          </a:solidFill>
          <a:ln/>
        </p:spPr>
      </p:sp>
      <p:sp>
        <p:nvSpPr>
          <p:cNvPr id="66" name="Shape 64"/>
          <p:cNvSpPr/>
          <p:nvPr/>
        </p:nvSpPr>
        <p:spPr>
          <a:xfrm>
            <a:off x="7688458" y="3976908"/>
            <a:ext cx="158740" cy="158740"/>
          </a:xfrm>
          <a:prstGeom prst="ellipse">
            <a:avLst/>
          </a:prstGeom>
          <a:solidFill>
            <a:srgbClr val="C9CFDC"/>
          </a:solidFill>
          <a:ln/>
        </p:spPr>
      </p:sp>
      <p:sp>
        <p:nvSpPr>
          <p:cNvPr id="67" name="Shape 65"/>
          <p:cNvSpPr/>
          <p:nvPr/>
        </p:nvSpPr>
        <p:spPr>
          <a:xfrm>
            <a:off x="8198693" y="3976908"/>
            <a:ext cx="158740" cy="158740"/>
          </a:xfrm>
          <a:prstGeom prst="ellipse">
            <a:avLst/>
          </a:prstGeom>
          <a:solidFill>
            <a:srgbClr val="C9CFDC"/>
          </a:solidFill>
          <a:ln/>
        </p:spPr>
      </p:sp>
      <p:sp>
        <p:nvSpPr>
          <p:cNvPr id="68" name="Shape 66"/>
          <p:cNvSpPr/>
          <p:nvPr/>
        </p:nvSpPr>
        <p:spPr>
          <a:xfrm>
            <a:off x="8708928" y="3976908"/>
            <a:ext cx="158740" cy="158740"/>
          </a:xfrm>
          <a:prstGeom prst="ellipse">
            <a:avLst/>
          </a:prstGeom>
          <a:solidFill>
            <a:srgbClr val="C9CFDC"/>
          </a:solidFill>
          <a:ln/>
        </p:spPr>
      </p:sp>
      <p:sp>
        <p:nvSpPr>
          <p:cNvPr id="69" name="Shape 67"/>
          <p:cNvSpPr/>
          <p:nvPr/>
        </p:nvSpPr>
        <p:spPr>
          <a:xfrm>
            <a:off x="9219164" y="3976908"/>
            <a:ext cx="158740" cy="158740"/>
          </a:xfrm>
          <a:prstGeom prst="ellipse">
            <a:avLst/>
          </a:prstGeom>
          <a:solidFill>
            <a:srgbClr val="C9CFDC"/>
          </a:solidFill>
          <a:ln/>
        </p:spPr>
      </p:sp>
      <p:sp>
        <p:nvSpPr>
          <p:cNvPr id="70" name="Shape 68"/>
          <p:cNvSpPr/>
          <p:nvPr/>
        </p:nvSpPr>
        <p:spPr>
          <a:xfrm>
            <a:off x="9729399" y="3976908"/>
            <a:ext cx="158740" cy="158740"/>
          </a:xfrm>
          <a:prstGeom prst="ellipse">
            <a:avLst/>
          </a:prstGeom>
          <a:solidFill>
            <a:srgbClr val="C9CFDC"/>
          </a:solidFill>
          <a:ln/>
        </p:spPr>
      </p:sp>
      <p:sp>
        <p:nvSpPr>
          <p:cNvPr id="71" name="Shape 69"/>
          <p:cNvSpPr/>
          <p:nvPr/>
        </p:nvSpPr>
        <p:spPr>
          <a:xfrm>
            <a:off x="10239634" y="3976908"/>
            <a:ext cx="158740" cy="158740"/>
          </a:xfrm>
          <a:prstGeom prst="ellipse">
            <a:avLst/>
          </a:prstGeom>
          <a:solidFill>
            <a:srgbClr val="C9CFDC"/>
          </a:solidFill>
          <a:ln/>
        </p:spPr>
      </p:sp>
      <p:sp>
        <p:nvSpPr>
          <p:cNvPr id="72" name="Shape 70"/>
          <p:cNvSpPr/>
          <p:nvPr/>
        </p:nvSpPr>
        <p:spPr>
          <a:xfrm>
            <a:off x="10749869" y="3976908"/>
            <a:ext cx="158740" cy="158740"/>
          </a:xfrm>
          <a:prstGeom prst="ellipse">
            <a:avLst/>
          </a:prstGeom>
          <a:solidFill>
            <a:srgbClr val="C9CFDC"/>
          </a:solidFill>
          <a:ln/>
        </p:spPr>
      </p:sp>
      <p:sp>
        <p:nvSpPr>
          <p:cNvPr id="73" name="Shape 71"/>
          <p:cNvSpPr/>
          <p:nvPr/>
        </p:nvSpPr>
        <p:spPr>
          <a:xfrm>
            <a:off x="11260104" y="3976908"/>
            <a:ext cx="158740" cy="158740"/>
          </a:xfrm>
          <a:prstGeom prst="ellipse">
            <a:avLst/>
          </a:prstGeom>
          <a:solidFill>
            <a:srgbClr val="C9CFDC"/>
          </a:solidFill>
          <a:ln/>
        </p:spPr>
      </p:sp>
      <p:sp>
        <p:nvSpPr>
          <p:cNvPr id="74" name="Shape 72"/>
          <p:cNvSpPr/>
          <p:nvPr/>
        </p:nvSpPr>
        <p:spPr>
          <a:xfrm>
            <a:off x="6667988" y="4203680"/>
            <a:ext cx="158740" cy="158740"/>
          </a:xfrm>
          <a:prstGeom prst="ellipse">
            <a:avLst/>
          </a:prstGeom>
          <a:solidFill>
            <a:srgbClr val="C9CFDC"/>
          </a:solidFill>
          <a:ln/>
        </p:spPr>
      </p:sp>
      <p:sp>
        <p:nvSpPr>
          <p:cNvPr id="75" name="Shape 73"/>
          <p:cNvSpPr/>
          <p:nvPr/>
        </p:nvSpPr>
        <p:spPr>
          <a:xfrm>
            <a:off x="7178223" y="4203680"/>
            <a:ext cx="158740" cy="158740"/>
          </a:xfrm>
          <a:prstGeom prst="ellipse">
            <a:avLst/>
          </a:prstGeom>
          <a:solidFill>
            <a:srgbClr val="C9CFDC"/>
          </a:solidFill>
          <a:ln/>
        </p:spPr>
      </p:sp>
      <p:sp>
        <p:nvSpPr>
          <p:cNvPr id="76" name="Shape 74"/>
          <p:cNvSpPr/>
          <p:nvPr/>
        </p:nvSpPr>
        <p:spPr>
          <a:xfrm>
            <a:off x="7688458" y="4203680"/>
            <a:ext cx="158740" cy="158740"/>
          </a:xfrm>
          <a:prstGeom prst="ellipse">
            <a:avLst/>
          </a:prstGeom>
          <a:solidFill>
            <a:srgbClr val="C9CFDC"/>
          </a:solidFill>
          <a:ln/>
        </p:spPr>
      </p:sp>
      <p:sp>
        <p:nvSpPr>
          <p:cNvPr id="77" name="Shape 75"/>
          <p:cNvSpPr/>
          <p:nvPr/>
        </p:nvSpPr>
        <p:spPr>
          <a:xfrm>
            <a:off x="8198693" y="4203680"/>
            <a:ext cx="158740" cy="158740"/>
          </a:xfrm>
          <a:prstGeom prst="ellipse">
            <a:avLst/>
          </a:prstGeom>
          <a:solidFill>
            <a:srgbClr val="C9CFDC"/>
          </a:solidFill>
          <a:ln/>
        </p:spPr>
      </p:sp>
      <p:sp>
        <p:nvSpPr>
          <p:cNvPr id="78" name="Shape 76"/>
          <p:cNvSpPr/>
          <p:nvPr/>
        </p:nvSpPr>
        <p:spPr>
          <a:xfrm>
            <a:off x="8708928" y="4203680"/>
            <a:ext cx="158740" cy="158740"/>
          </a:xfrm>
          <a:prstGeom prst="ellipse">
            <a:avLst/>
          </a:prstGeom>
          <a:solidFill>
            <a:srgbClr val="C9CFDC"/>
          </a:solidFill>
          <a:ln/>
        </p:spPr>
      </p:sp>
      <p:sp>
        <p:nvSpPr>
          <p:cNvPr id="79" name="Shape 77"/>
          <p:cNvSpPr/>
          <p:nvPr/>
        </p:nvSpPr>
        <p:spPr>
          <a:xfrm>
            <a:off x="9219164" y="4203680"/>
            <a:ext cx="158740" cy="158740"/>
          </a:xfrm>
          <a:prstGeom prst="ellipse">
            <a:avLst/>
          </a:prstGeom>
          <a:solidFill>
            <a:srgbClr val="C9CFDC"/>
          </a:solidFill>
          <a:ln/>
        </p:spPr>
      </p:sp>
      <p:sp>
        <p:nvSpPr>
          <p:cNvPr id="80" name="Shape 78"/>
          <p:cNvSpPr/>
          <p:nvPr/>
        </p:nvSpPr>
        <p:spPr>
          <a:xfrm>
            <a:off x="9729399" y="4203680"/>
            <a:ext cx="158740" cy="158740"/>
          </a:xfrm>
          <a:prstGeom prst="ellipse">
            <a:avLst/>
          </a:prstGeom>
          <a:solidFill>
            <a:srgbClr val="C9CFDC"/>
          </a:solidFill>
          <a:ln/>
        </p:spPr>
      </p:sp>
      <p:sp>
        <p:nvSpPr>
          <p:cNvPr id="81" name="Shape 79"/>
          <p:cNvSpPr/>
          <p:nvPr/>
        </p:nvSpPr>
        <p:spPr>
          <a:xfrm>
            <a:off x="10239634" y="4203680"/>
            <a:ext cx="158740" cy="158740"/>
          </a:xfrm>
          <a:prstGeom prst="ellipse">
            <a:avLst/>
          </a:prstGeom>
          <a:solidFill>
            <a:srgbClr val="C9CFDC"/>
          </a:solidFill>
          <a:ln/>
        </p:spPr>
      </p:sp>
      <p:sp>
        <p:nvSpPr>
          <p:cNvPr id="82" name="Shape 80"/>
          <p:cNvSpPr/>
          <p:nvPr/>
        </p:nvSpPr>
        <p:spPr>
          <a:xfrm>
            <a:off x="10749869" y="4203680"/>
            <a:ext cx="158740" cy="158740"/>
          </a:xfrm>
          <a:prstGeom prst="ellipse">
            <a:avLst/>
          </a:prstGeom>
          <a:solidFill>
            <a:srgbClr val="C9CFDC"/>
          </a:solidFill>
          <a:ln/>
        </p:spPr>
      </p:sp>
      <p:sp>
        <p:nvSpPr>
          <p:cNvPr id="83" name="Shape 81"/>
          <p:cNvSpPr/>
          <p:nvPr/>
        </p:nvSpPr>
        <p:spPr>
          <a:xfrm>
            <a:off x="11260104" y="4203680"/>
            <a:ext cx="158740" cy="158740"/>
          </a:xfrm>
          <a:prstGeom prst="ellipse">
            <a:avLst/>
          </a:prstGeom>
          <a:solidFill>
            <a:srgbClr val="C9CFDC"/>
          </a:solidFill>
          <a:ln/>
        </p:spPr>
      </p:sp>
      <p:sp>
        <p:nvSpPr>
          <p:cNvPr id="84" name="Shape 82"/>
          <p:cNvSpPr/>
          <p:nvPr/>
        </p:nvSpPr>
        <p:spPr>
          <a:xfrm>
            <a:off x="6667988" y="4430451"/>
            <a:ext cx="158740" cy="158740"/>
          </a:xfrm>
          <a:prstGeom prst="ellipse">
            <a:avLst/>
          </a:prstGeom>
          <a:solidFill>
            <a:srgbClr val="C9CFDC"/>
          </a:solidFill>
          <a:ln/>
        </p:spPr>
      </p:sp>
      <p:sp>
        <p:nvSpPr>
          <p:cNvPr id="85" name="Shape 83"/>
          <p:cNvSpPr/>
          <p:nvPr/>
        </p:nvSpPr>
        <p:spPr>
          <a:xfrm>
            <a:off x="7178223" y="4430451"/>
            <a:ext cx="158740" cy="158740"/>
          </a:xfrm>
          <a:prstGeom prst="ellipse">
            <a:avLst/>
          </a:prstGeom>
          <a:solidFill>
            <a:srgbClr val="C9CFDC"/>
          </a:solidFill>
          <a:ln/>
        </p:spPr>
      </p:sp>
      <p:sp>
        <p:nvSpPr>
          <p:cNvPr id="86" name="Shape 84"/>
          <p:cNvSpPr/>
          <p:nvPr/>
        </p:nvSpPr>
        <p:spPr>
          <a:xfrm>
            <a:off x="7688458" y="4430451"/>
            <a:ext cx="158740" cy="158740"/>
          </a:xfrm>
          <a:prstGeom prst="ellipse">
            <a:avLst/>
          </a:prstGeom>
          <a:solidFill>
            <a:srgbClr val="C9CFDC"/>
          </a:solidFill>
          <a:ln/>
        </p:spPr>
      </p:sp>
      <p:sp>
        <p:nvSpPr>
          <p:cNvPr id="87" name="Shape 85"/>
          <p:cNvSpPr/>
          <p:nvPr/>
        </p:nvSpPr>
        <p:spPr>
          <a:xfrm>
            <a:off x="8198693" y="4430451"/>
            <a:ext cx="158740" cy="158740"/>
          </a:xfrm>
          <a:prstGeom prst="ellipse">
            <a:avLst/>
          </a:prstGeom>
          <a:solidFill>
            <a:srgbClr val="C9CFDC"/>
          </a:solidFill>
          <a:ln/>
        </p:spPr>
      </p:sp>
      <p:sp>
        <p:nvSpPr>
          <p:cNvPr id="88" name="Shape 86"/>
          <p:cNvSpPr/>
          <p:nvPr/>
        </p:nvSpPr>
        <p:spPr>
          <a:xfrm>
            <a:off x="8708928" y="4430451"/>
            <a:ext cx="158740" cy="158740"/>
          </a:xfrm>
          <a:prstGeom prst="ellipse">
            <a:avLst/>
          </a:prstGeom>
          <a:solidFill>
            <a:srgbClr val="C9CFDC"/>
          </a:solidFill>
          <a:ln/>
        </p:spPr>
      </p:sp>
      <p:sp>
        <p:nvSpPr>
          <p:cNvPr id="89" name="Shape 87"/>
          <p:cNvSpPr/>
          <p:nvPr/>
        </p:nvSpPr>
        <p:spPr>
          <a:xfrm>
            <a:off x="9219164" y="4430451"/>
            <a:ext cx="158740" cy="158740"/>
          </a:xfrm>
          <a:prstGeom prst="ellipse">
            <a:avLst/>
          </a:prstGeom>
          <a:solidFill>
            <a:srgbClr val="C9CFDC"/>
          </a:solidFill>
          <a:ln/>
        </p:spPr>
      </p:sp>
      <p:sp>
        <p:nvSpPr>
          <p:cNvPr id="90" name="Shape 88"/>
          <p:cNvSpPr/>
          <p:nvPr/>
        </p:nvSpPr>
        <p:spPr>
          <a:xfrm>
            <a:off x="9729399" y="4430451"/>
            <a:ext cx="158740" cy="158740"/>
          </a:xfrm>
          <a:prstGeom prst="ellipse">
            <a:avLst/>
          </a:prstGeom>
          <a:solidFill>
            <a:srgbClr val="C9CFDC"/>
          </a:solidFill>
          <a:ln/>
        </p:spPr>
      </p:sp>
      <p:sp>
        <p:nvSpPr>
          <p:cNvPr id="91" name="Shape 89"/>
          <p:cNvSpPr/>
          <p:nvPr/>
        </p:nvSpPr>
        <p:spPr>
          <a:xfrm>
            <a:off x="10239634" y="4430451"/>
            <a:ext cx="158740" cy="158740"/>
          </a:xfrm>
          <a:prstGeom prst="ellipse">
            <a:avLst/>
          </a:prstGeom>
          <a:solidFill>
            <a:srgbClr val="C9CFDC"/>
          </a:solidFill>
          <a:ln/>
        </p:spPr>
      </p:sp>
      <p:sp>
        <p:nvSpPr>
          <p:cNvPr id="92" name="Shape 90"/>
          <p:cNvSpPr/>
          <p:nvPr/>
        </p:nvSpPr>
        <p:spPr>
          <a:xfrm>
            <a:off x="10749869" y="4430451"/>
            <a:ext cx="158740" cy="158740"/>
          </a:xfrm>
          <a:prstGeom prst="ellipse">
            <a:avLst/>
          </a:prstGeom>
          <a:solidFill>
            <a:srgbClr val="C9CFDC"/>
          </a:solidFill>
          <a:ln/>
        </p:spPr>
      </p:sp>
      <p:sp>
        <p:nvSpPr>
          <p:cNvPr id="93" name="Shape 91"/>
          <p:cNvSpPr/>
          <p:nvPr/>
        </p:nvSpPr>
        <p:spPr>
          <a:xfrm>
            <a:off x="11260104" y="4430451"/>
            <a:ext cx="158740" cy="158740"/>
          </a:xfrm>
          <a:prstGeom prst="ellipse">
            <a:avLst/>
          </a:prstGeom>
          <a:solidFill>
            <a:srgbClr val="C9CFDC"/>
          </a:solidFill>
          <a:ln/>
        </p:spPr>
      </p:sp>
      <p:sp>
        <p:nvSpPr>
          <p:cNvPr id="94" name="Shape 92"/>
          <p:cNvSpPr/>
          <p:nvPr/>
        </p:nvSpPr>
        <p:spPr>
          <a:xfrm>
            <a:off x="6667988" y="4657222"/>
            <a:ext cx="158740" cy="158740"/>
          </a:xfrm>
          <a:prstGeom prst="ellipse">
            <a:avLst/>
          </a:prstGeom>
          <a:solidFill>
            <a:srgbClr val="C9CFDC"/>
          </a:solidFill>
          <a:ln/>
        </p:spPr>
      </p:sp>
      <p:sp>
        <p:nvSpPr>
          <p:cNvPr id="95" name="Shape 93"/>
          <p:cNvSpPr/>
          <p:nvPr/>
        </p:nvSpPr>
        <p:spPr>
          <a:xfrm>
            <a:off x="7178223" y="4657222"/>
            <a:ext cx="158740" cy="158740"/>
          </a:xfrm>
          <a:prstGeom prst="ellipse">
            <a:avLst/>
          </a:prstGeom>
          <a:solidFill>
            <a:srgbClr val="E74C3C"/>
          </a:solidFill>
          <a:ln/>
        </p:spPr>
      </p:sp>
      <p:sp>
        <p:nvSpPr>
          <p:cNvPr id="96" name="Shape 94"/>
          <p:cNvSpPr/>
          <p:nvPr/>
        </p:nvSpPr>
        <p:spPr>
          <a:xfrm>
            <a:off x="7688458" y="4657222"/>
            <a:ext cx="158740" cy="158740"/>
          </a:xfrm>
          <a:prstGeom prst="ellipse">
            <a:avLst/>
          </a:prstGeom>
          <a:solidFill>
            <a:srgbClr val="E74C3C"/>
          </a:solidFill>
          <a:ln/>
        </p:spPr>
      </p:sp>
      <p:sp>
        <p:nvSpPr>
          <p:cNvPr id="97" name="Shape 95"/>
          <p:cNvSpPr/>
          <p:nvPr/>
        </p:nvSpPr>
        <p:spPr>
          <a:xfrm>
            <a:off x="8198693" y="4657222"/>
            <a:ext cx="158740" cy="158740"/>
          </a:xfrm>
          <a:prstGeom prst="ellipse">
            <a:avLst/>
          </a:prstGeom>
          <a:solidFill>
            <a:srgbClr val="E74C3C"/>
          </a:solidFill>
          <a:ln/>
        </p:spPr>
      </p:sp>
      <p:sp>
        <p:nvSpPr>
          <p:cNvPr id="98" name="Shape 96"/>
          <p:cNvSpPr/>
          <p:nvPr/>
        </p:nvSpPr>
        <p:spPr>
          <a:xfrm>
            <a:off x="8708928" y="4657222"/>
            <a:ext cx="158740" cy="158740"/>
          </a:xfrm>
          <a:prstGeom prst="ellipse">
            <a:avLst/>
          </a:prstGeom>
          <a:solidFill>
            <a:srgbClr val="E74C3C"/>
          </a:solidFill>
          <a:ln/>
        </p:spPr>
      </p:sp>
      <p:sp>
        <p:nvSpPr>
          <p:cNvPr id="99" name="Shape 97"/>
          <p:cNvSpPr/>
          <p:nvPr/>
        </p:nvSpPr>
        <p:spPr>
          <a:xfrm>
            <a:off x="9219164" y="4657222"/>
            <a:ext cx="158740" cy="158740"/>
          </a:xfrm>
          <a:prstGeom prst="ellipse">
            <a:avLst/>
          </a:prstGeom>
          <a:solidFill>
            <a:srgbClr val="E74C3C"/>
          </a:solidFill>
          <a:ln/>
        </p:spPr>
      </p:sp>
      <p:sp>
        <p:nvSpPr>
          <p:cNvPr id="100" name="Shape 98"/>
          <p:cNvSpPr/>
          <p:nvPr/>
        </p:nvSpPr>
        <p:spPr>
          <a:xfrm>
            <a:off x="9729399" y="4657222"/>
            <a:ext cx="158740" cy="158740"/>
          </a:xfrm>
          <a:prstGeom prst="ellipse">
            <a:avLst/>
          </a:prstGeom>
          <a:solidFill>
            <a:srgbClr val="E74C3C"/>
          </a:solidFill>
          <a:ln/>
        </p:spPr>
      </p:sp>
      <p:sp>
        <p:nvSpPr>
          <p:cNvPr id="101" name="Shape 99"/>
          <p:cNvSpPr/>
          <p:nvPr/>
        </p:nvSpPr>
        <p:spPr>
          <a:xfrm>
            <a:off x="10239634" y="4657222"/>
            <a:ext cx="158740" cy="158740"/>
          </a:xfrm>
          <a:prstGeom prst="ellipse">
            <a:avLst/>
          </a:prstGeom>
          <a:solidFill>
            <a:srgbClr val="E74C3C"/>
          </a:solidFill>
          <a:ln/>
        </p:spPr>
      </p:sp>
      <p:sp>
        <p:nvSpPr>
          <p:cNvPr id="102" name="Shape 100"/>
          <p:cNvSpPr/>
          <p:nvPr/>
        </p:nvSpPr>
        <p:spPr>
          <a:xfrm>
            <a:off x="10749869" y="4657222"/>
            <a:ext cx="158740" cy="158740"/>
          </a:xfrm>
          <a:prstGeom prst="ellipse">
            <a:avLst/>
          </a:prstGeom>
          <a:solidFill>
            <a:srgbClr val="E74C3C"/>
          </a:solidFill>
          <a:ln/>
        </p:spPr>
      </p:sp>
      <p:sp>
        <p:nvSpPr>
          <p:cNvPr id="103" name="Shape 101"/>
          <p:cNvSpPr/>
          <p:nvPr/>
        </p:nvSpPr>
        <p:spPr>
          <a:xfrm>
            <a:off x="11260104" y="4657222"/>
            <a:ext cx="158740" cy="158740"/>
          </a:xfrm>
          <a:prstGeom prst="ellipse">
            <a:avLst/>
          </a:prstGeom>
          <a:solidFill>
            <a:srgbClr val="E74C3C"/>
          </a:solidFill>
          <a:ln/>
        </p:spPr>
      </p:sp>
      <p:sp>
        <p:nvSpPr>
          <p:cNvPr id="104" name="Shape 102"/>
          <p:cNvSpPr/>
          <p:nvPr/>
        </p:nvSpPr>
        <p:spPr>
          <a:xfrm>
            <a:off x="6667988" y="4883993"/>
            <a:ext cx="158740" cy="158740"/>
          </a:xfrm>
          <a:prstGeom prst="ellipse">
            <a:avLst/>
          </a:prstGeom>
          <a:solidFill>
            <a:srgbClr val="F09042"/>
          </a:solidFill>
          <a:ln/>
        </p:spPr>
      </p:sp>
      <p:sp>
        <p:nvSpPr>
          <p:cNvPr id="105" name="Shape 103"/>
          <p:cNvSpPr/>
          <p:nvPr/>
        </p:nvSpPr>
        <p:spPr>
          <a:xfrm>
            <a:off x="7178223" y="4883993"/>
            <a:ext cx="158740" cy="158740"/>
          </a:xfrm>
          <a:prstGeom prst="ellipse">
            <a:avLst/>
          </a:prstGeom>
          <a:solidFill>
            <a:srgbClr val="F09042"/>
          </a:solidFill>
          <a:ln/>
        </p:spPr>
      </p:sp>
      <p:sp>
        <p:nvSpPr>
          <p:cNvPr id="106" name="Shape 104"/>
          <p:cNvSpPr/>
          <p:nvPr/>
        </p:nvSpPr>
        <p:spPr>
          <a:xfrm>
            <a:off x="7688458" y="4883993"/>
            <a:ext cx="158740" cy="158740"/>
          </a:xfrm>
          <a:prstGeom prst="ellipse">
            <a:avLst/>
          </a:prstGeom>
          <a:solidFill>
            <a:srgbClr val="F09042"/>
          </a:solidFill>
          <a:ln/>
        </p:spPr>
      </p:sp>
      <p:sp>
        <p:nvSpPr>
          <p:cNvPr id="107" name="Shape 105"/>
          <p:cNvSpPr/>
          <p:nvPr/>
        </p:nvSpPr>
        <p:spPr>
          <a:xfrm>
            <a:off x="8198693" y="4883993"/>
            <a:ext cx="158740" cy="158740"/>
          </a:xfrm>
          <a:prstGeom prst="ellipse">
            <a:avLst/>
          </a:prstGeom>
          <a:solidFill>
            <a:srgbClr val="F09042"/>
          </a:solidFill>
          <a:ln/>
        </p:spPr>
      </p:sp>
      <p:sp>
        <p:nvSpPr>
          <p:cNvPr id="108" name="Shape 106"/>
          <p:cNvSpPr/>
          <p:nvPr/>
        </p:nvSpPr>
        <p:spPr>
          <a:xfrm>
            <a:off x="8708928" y="4883993"/>
            <a:ext cx="158740" cy="158740"/>
          </a:xfrm>
          <a:prstGeom prst="ellipse">
            <a:avLst/>
          </a:prstGeom>
          <a:solidFill>
            <a:srgbClr val="F09042"/>
          </a:solidFill>
          <a:ln/>
        </p:spPr>
      </p:sp>
      <p:sp>
        <p:nvSpPr>
          <p:cNvPr id="109" name="Shape 107"/>
          <p:cNvSpPr/>
          <p:nvPr/>
        </p:nvSpPr>
        <p:spPr>
          <a:xfrm>
            <a:off x="9219164" y="4883993"/>
            <a:ext cx="158740" cy="158740"/>
          </a:xfrm>
          <a:prstGeom prst="ellipse">
            <a:avLst/>
          </a:prstGeom>
          <a:solidFill>
            <a:srgbClr val="F09042"/>
          </a:solidFill>
          <a:ln/>
        </p:spPr>
      </p:sp>
      <p:sp>
        <p:nvSpPr>
          <p:cNvPr id="110" name="Shape 108"/>
          <p:cNvSpPr/>
          <p:nvPr/>
        </p:nvSpPr>
        <p:spPr>
          <a:xfrm>
            <a:off x="9729399" y="4883993"/>
            <a:ext cx="158740" cy="158740"/>
          </a:xfrm>
          <a:prstGeom prst="ellipse">
            <a:avLst/>
          </a:prstGeom>
          <a:solidFill>
            <a:srgbClr val="F09042"/>
          </a:solidFill>
          <a:ln/>
        </p:spPr>
      </p:sp>
      <p:sp>
        <p:nvSpPr>
          <p:cNvPr id="111" name="Shape 109"/>
          <p:cNvSpPr/>
          <p:nvPr/>
        </p:nvSpPr>
        <p:spPr>
          <a:xfrm>
            <a:off x="10239634" y="4883993"/>
            <a:ext cx="158740" cy="158740"/>
          </a:xfrm>
          <a:prstGeom prst="ellipse">
            <a:avLst/>
          </a:prstGeom>
          <a:solidFill>
            <a:srgbClr val="F09042"/>
          </a:solidFill>
          <a:ln/>
        </p:spPr>
      </p:sp>
      <p:sp>
        <p:nvSpPr>
          <p:cNvPr id="112" name="Shape 110"/>
          <p:cNvSpPr/>
          <p:nvPr/>
        </p:nvSpPr>
        <p:spPr>
          <a:xfrm>
            <a:off x="10749869" y="4883993"/>
            <a:ext cx="158740" cy="158740"/>
          </a:xfrm>
          <a:prstGeom prst="ellipse">
            <a:avLst/>
          </a:prstGeom>
          <a:solidFill>
            <a:srgbClr val="F09042"/>
          </a:solidFill>
          <a:ln/>
        </p:spPr>
      </p:sp>
      <p:sp>
        <p:nvSpPr>
          <p:cNvPr id="113" name="Shape 111"/>
          <p:cNvSpPr/>
          <p:nvPr/>
        </p:nvSpPr>
        <p:spPr>
          <a:xfrm>
            <a:off x="11260104" y="4883993"/>
            <a:ext cx="158740" cy="158740"/>
          </a:xfrm>
          <a:prstGeom prst="ellipse">
            <a:avLst/>
          </a:prstGeom>
          <a:solidFill>
            <a:srgbClr val="F09042"/>
          </a:solidFill>
          <a:ln/>
        </p:spPr>
      </p:sp>
      <p:sp>
        <p:nvSpPr>
          <p:cNvPr id="114" name="Shape 112"/>
          <p:cNvSpPr/>
          <p:nvPr/>
        </p:nvSpPr>
        <p:spPr>
          <a:xfrm>
            <a:off x="6667988" y="5110764"/>
            <a:ext cx="158740" cy="158740"/>
          </a:xfrm>
          <a:prstGeom prst="ellipse">
            <a:avLst/>
          </a:prstGeom>
          <a:solidFill>
            <a:srgbClr val="F09042"/>
          </a:solidFill>
          <a:ln/>
        </p:spPr>
      </p:sp>
      <p:sp>
        <p:nvSpPr>
          <p:cNvPr id="115" name="Shape 113"/>
          <p:cNvSpPr/>
          <p:nvPr/>
        </p:nvSpPr>
        <p:spPr>
          <a:xfrm>
            <a:off x="7178223" y="5110764"/>
            <a:ext cx="158740" cy="158740"/>
          </a:xfrm>
          <a:prstGeom prst="ellipse">
            <a:avLst/>
          </a:prstGeom>
          <a:solidFill>
            <a:srgbClr val="F09042"/>
          </a:solidFill>
          <a:ln/>
        </p:spPr>
      </p:sp>
      <p:sp>
        <p:nvSpPr>
          <p:cNvPr id="116" name="Shape 114"/>
          <p:cNvSpPr/>
          <p:nvPr/>
        </p:nvSpPr>
        <p:spPr>
          <a:xfrm>
            <a:off x="7688458" y="5110764"/>
            <a:ext cx="158740" cy="158740"/>
          </a:xfrm>
          <a:prstGeom prst="ellipse">
            <a:avLst/>
          </a:prstGeom>
          <a:solidFill>
            <a:srgbClr val="F09042"/>
          </a:solidFill>
          <a:ln/>
        </p:spPr>
      </p:sp>
      <p:sp>
        <p:nvSpPr>
          <p:cNvPr id="117" name="Shape 115"/>
          <p:cNvSpPr/>
          <p:nvPr/>
        </p:nvSpPr>
        <p:spPr>
          <a:xfrm>
            <a:off x="8198693" y="5110764"/>
            <a:ext cx="158740" cy="158740"/>
          </a:xfrm>
          <a:prstGeom prst="ellipse">
            <a:avLst/>
          </a:prstGeom>
          <a:solidFill>
            <a:srgbClr val="F09042"/>
          </a:solidFill>
          <a:ln/>
        </p:spPr>
      </p:sp>
      <p:sp>
        <p:nvSpPr>
          <p:cNvPr id="118" name="Shape 116"/>
          <p:cNvSpPr/>
          <p:nvPr/>
        </p:nvSpPr>
        <p:spPr>
          <a:xfrm>
            <a:off x="8708928" y="5110764"/>
            <a:ext cx="158740" cy="158740"/>
          </a:xfrm>
          <a:prstGeom prst="ellipse">
            <a:avLst/>
          </a:prstGeom>
          <a:solidFill>
            <a:srgbClr val="F09042"/>
          </a:solidFill>
          <a:ln/>
        </p:spPr>
      </p:sp>
      <p:sp>
        <p:nvSpPr>
          <p:cNvPr id="119" name="Shape 117"/>
          <p:cNvSpPr/>
          <p:nvPr/>
        </p:nvSpPr>
        <p:spPr>
          <a:xfrm>
            <a:off x="9219164" y="5110764"/>
            <a:ext cx="158740" cy="158740"/>
          </a:xfrm>
          <a:prstGeom prst="ellipse">
            <a:avLst/>
          </a:prstGeom>
          <a:solidFill>
            <a:srgbClr val="F09042"/>
          </a:solidFill>
          <a:ln/>
        </p:spPr>
      </p:sp>
      <p:sp>
        <p:nvSpPr>
          <p:cNvPr id="120" name="Shape 118"/>
          <p:cNvSpPr/>
          <p:nvPr/>
        </p:nvSpPr>
        <p:spPr>
          <a:xfrm>
            <a:off x="9729399" y="5110764"/>
            <a:ext cx="158740" cy="158740"/>
          </a:xfrm>
          <a:prstGeom prst="ellipse">
            <a:avLst/>
          </a:prstGeom>
          <a:solidFill>
            <a:srgbClr val="F09042"/>
          </a:solidFill>
          <a:ln/>
        </p:spPr>
      </p:sp>
      <p:sp>
        <p:nvSpPr>
          <p:cNvPr id="121" name="Shape 119"/>
          <p:cNvSpPr/>
          <p:nvPr/>
        </p:nvSpPr>
        <p:spPr>
          <a:xfrm>
            <a:off x="10239634" y="5110764"/>
            <a:ext cx="158740" cy="158740"/>
          </a:xfrm>
          <a:prstGeom prst="ellipse">
            <a:avLst/>
          </a:prstGeom>
          <a:solidFill>
            <a:srgbClr val="F09042"/>
          </a:solidFill>
          <a:ln/>
        </p:spPr>
      </p:sp>
      <p:sp>
        <p:nvSpPr>
          <p:cNvPr id="122" name="Shape 120"/>
          <p:cNvSpPr/>
          <p:nvPr/>
        </p:nvSpPr>
        <p:spPr>
          <a:xfrm>
            <a:off x="10749869" y="5110764"/>
            <a:ext cx="158740" cy="158740"/>
          </a:xfrm>
          <a:prstGeom prst="ellipse">
            <a:avLst/>
          </a:prstGeom>
          <a:solidFill>
            <a:srgbClr val="F09042"/>
          </a:solidFill>
          <a:ln/>
        </p:spPr>
      </p:sp>
      <p:sp>
        <p:nvSpPr>
          <p:cNvPr id="123" name="Shape 121"/>
          <p:cNvSpPr/>
          <p:nvPr/>
        </p:nvSpPr>
        <p:spPr>
          <a:xfrm>
            <a:off x="11260104" y="5110764"/>
            <a:ext cx="158740" cy="158740"/>
          </a:xfrm>
          <a:prstGeom prst="ellipse">
            <a:avLst/>
          </a:prstGeom>
          <a:solidFill>
            <a:srgbClr val="F09042"/>
          </a:solidFill>
          <a:ln/>
        </p:spPr>
      </p:sp>
      <p:sp>
        <p:nvSpPr>
          <p:cNvPr id="124" name="Shape 122"/>
          <p:cNvSpPr/>
          <p:nvPr/>
        </p:nvSpPr>
        <p:spPr>
          <a:xfrm>
            <a:off x="6446520" y="5468112"/>
            <a:ext cx="164592" cy="164592"/>
          </a:xfrm>
          <a:prstGeom prst="ellipse">
            <a:avLst/>
          </a:prstGeom>
          <a:solidFill>
            <a:srgbClr val="C9CFDC"/>
          </a:solidFill>
          <a:ln/>
        </p:spPr>
      </p:sp>
      <p:sp>
        <p:nvSpPr>
          <p:cNvPr id="125" name="Text 123"/>
          <p:cNvSpPr/>
          <p:nvPr/>
        </p:nvSpPr>
        <p:spPr>
          <a:xfrm>
            <a:off x="6647688" y="5413248"/>
            <a:ext cx="1024128"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Bonne (1−α) (71)</a:t>
            </a:r>
            <a:endParaRPr lang="en-US" sz="900" dirty="0"/>
          </a:p>
        </p:txBody>
      </p:sp>
      <p:sp>
        <p:nvSpPr>
          <p:cNvPr id="126" name="Shape 124"/>
          <p:cNvSpPr/>
          <p:nvPr/>
        </p:nvSpPr>
        <p:spPr>
          <a:xfrm>
            <a:off x="7744968" y="5468112"/>
            <a:ext cx="164592" cy="164592"/>
          </a:xfrm>
          <a:prstGeom prst="ellipse">
            <a:avLst/>
          </a:prstGeom>
          <a:solidFill>
            <a:srgbClr val="E74C3C"/>
          </a:solidFill>
          <a:ln/>
        </p:spPr>
      </p:sp>
      <p:sp>
        <p:nvSpPr>
          <p:cNvPr id="127" name="Text 125"/>
          <p:cNvSpPr/>
          <p:nvPr/>
        </p:nvSpPr>
        <p:spPr>
          <a:xfrm>
            <a:off x="7946136" y="5413248"/>
            <a:ext cx="1024128"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Erreur α (4)</a:t>
            </a:r>
            <a:endParaRPr lang="en-US" sz="900" dirty="0"/>
          </a:p>
        </p:txBody>
      </p:sp>
      <p:sp>
        <p:nvSpPr>
          <p:cNvPr id="128" name="Shape 126"/>
          <p:cNvSpPr/>
          <p:nvPr/>
        </p:nvSpPr>
        <p:spPr>
          <a:xfrm>
            <a:off x="9043416" y="5468112"/>
            <a:ext cx="164592" cy="164592"/>
          </a:xfrm>
          <a:prstGeom prst="ellipse">
            <a:avLst/>
          </a:prstGeom>
          <a:solidFill>
            <a:srgbClr val="E74C3C"/>
          </a:solidFill>
          <a:ln/>
        </p:spPr>
      </p:sp>
      <p:sp>
        <p:nvSpPr>
          <p:cNvPr id="129" name="Text 127"/>
          <p:cNvSpPr/>
          <p:nvPr/>
        </p:nvSpPr>
        <p:spPr>
          <a:xfrm>
            <a:off x="9244584" y="5413248"/>
            <a:ext cx="1024128"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Erreur β (5)</a:t>
            </a:r>
            <a:endParaRPr lang="en-US" sz="900" dirty="0"/>
          </a:p>
        </p:txBody>
      </p:sp>
      <p:sp>
        <p:nvSpPr>
          <p:cNvPr id="130" name="Shape 128"/>
          <p:cNvSpPr/>
          <p:nvPr/>
        </p:nvSpPr>
        <p:spPr>
          <a:xfrm>
            <a:off x="10341864" y="5468112"/>
            <a:ext cx="164592" cy="164592"/>
          </a:xfrm>
          <a:prstGeom prst="ellipse">
            <a:avLst/>
          </a:prstGeom>
          <a:solidFill>
            <a:srgbClr val="F09042"/>
          </a:solidFill>
          <a:ln/>
        </p:spPr>
      </p:sp>
      <p:sp>
        <p:nvSpPr>
          <p:cNvPr id="131" name="Text 129"/>
          <p:cNvSpPr/>
          <p:nvPr/>
        </p:nvSpPr>
        <p:spPr>
          <a:xfrm>
            <a:off x="10543032" y="5413248"/>
            <a:ext cx="1024128"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Puissance (20)</a:t>
            </a:r>
            <a:endParaRPr lang="en-US" sz="900" dirty="0"/>
          </a:p>
        </p:txBody>
      </p:sp>
      <p:sp>
        <p:nvSpPr>
          <p:cNvPr id="132" name="Text 130"/>
          <p:cNvSpPr/>
          <p:nvPr/>
        </p:nvSpPr>
        <p:spPr>
          <a:xfrm>
            <a:off x="640080" y="589788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Entre nous : 80 % de puissance veut dire que 1 fois sur 5 tu rates un vrai effet. La norme n'est pas magique — c'est un compromis.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N°3 · DIRECTION DU TEST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200" b="1" spc="-100" kern="0" dirty="0">
                <a:solidFill>
                  <a:srgbClr val="15233F"/>
                </a:solidFill>
                <a:latin typeface="Calibri" pitchFamily="34" charset="0"/>
                <a:ea typeface="Calibri" pitchFamily="34" charset="-122"/>
                <a:cs typeface="Calibri" pitchFamily="34" charset="-120"/>
              </a:rPr>
              <a:t>Bilatéral par défaut. Toujours.</a:t>
            </a:r>
            <a:endParaRPr lang="en-US" sz="32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On te demandera presque jamais « pourquoi bilatéral ? ». Mais on peut te demander « pourquoi unilatéral ? » — il faut alors une réponse blindée. Quand tu hésites, choisis bilatéral.</a:t>
            </a:r>
            <a:endParaRPr lang="en-US" sz="1300" dirty="0"/>
          </a:p>
        </p:txBody>
      </p:sp>
      <p:sp>
        <p:nvSpPr>
          <p:cNvPr id="7" name="Shape 5"/>
          <p:cNvSpPr/>
          <p:nvPr/>
        </p:nvSpPr>
        <p:spPr>
          <a:xfrm>
            <a:off x="640080" y="2926080"/>
            <a:ext cx="5486400" cy="3108960"/>
          </a:xfrm>
          <a:prstGeom prst="rect">
            <a:avLst/>
          </a:prstGeom>
          <a:solidFill>
            <a:srgbClr val="FFFFFF"/>
          </a:solidFill>
          <a:ln w="6350">
            <a:solidFill>
              <a:srgbClr val="D6CFB8"/>
            </a:solidFill>
            <a:prstDash val="solid"/>
          </a:ln>
        </p:spPr>
      </p:sp>
      <p:sp>
        <p:nvSpPr>
          <p:cNvPr id="8" name="Text 6"/>
          <p:cNvSpPr/>
          <p:nvPr/>
        </p:nvSpPr>
        <p:spPr>
          <a:xfrm>
            <a:off x="731520" y="2962656"/>
            <a:ext cx="53035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Bilatéral · zones de rejet aux deux extrêmes</a:t>
            </a:r>
            <a:endParaRPr lang="en-US" sz="900" dirty="0"/>
          </a:p>
        </p:txBody>
      </p:sp>
      <p:sp>
        <p:nvSpPr>
          <p:cNvPr id="9" name="Shape 7"/>
          <p:cNvSpPr/>
          <p:nvPr/>
        </p:nvSpPr>
        <p:spPr>
          <a:xfrm>
            <a:off x="868680" y="5669280"/>
            <a:ext cx="5120640" cy="0"/>
          </a:xfrm>
          <a:prstGeom prst="line">
            <a:avLst/>
          </a:prstGeom>
          <a:noFill/>
          <a:ln w="9525">
            <a:solidFill>
              <a:srgbClr val="0E1729"/>
            </a:solidFill>
            <a:prstDash val="solid"/>
          </a:ln>
        </p:spPr>
      </p:sp>
      <p:sp>
        <p:nvSpPr>
          <p:cNvPr id="10" name="Shape 8"/>
          <p:cNvSpPr/>
          <p:nvPr/>
        </p:nvSpPr>
        <p:spPr>
          <a:xfrm>
            <a:off x="868680" y="3246120"/>
            <a:ext cx="0" cy="2423160"/>
          </a:xfrm>
          <a:prstGeom prst="line">
            <a:avLst/>
          </a:prstGeom>
          <a:noFill/>
          <a:ln w="9525">
            <a:solidFill>
              <a:srgbClr val="0E1729"/>
            </a:solidFill>
            <a:prstDash val="solid"/>
          </a:ln>
        </p:spPr>
      </p:sp>
      <p:sp>
        <p:nvSpPr>
          <p:cNvPr id="11" name="Text 9"/>
          <p:cNvSpPr/>
          <p:nvPr/>
        </p:nvSpPr>
        <p:spPr>
          <a:xfrm>
            <a:off x="868680" y="5760720"/>
            <a:ext cx="512064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Statistique du test</a:t>
            </a:r>
            <a:endParaRPr lang="en-US" sz="800" dirty="0"/>
          </a:p>
        </p:txBody>
      </p:sp>
      <p:sp>
        <p:nvSpPr>
          <p:cNvPr id="12" name="Shape 10"/>
          <p:cNvSpPr/>
          <p:nvPr/>
        </p:nvSpPr>
        <p:spPr>
          <a:xfrm>
            <a:off x="502920" y="3246120"/>
            <a:ext cx="1492301" cy="2423160"/>
          </a:xfrm>
          <a:prstGeom prst="rect">
            <a:avLst/>
          </a:prstGeom>
          <a:solidFill>
            <a:srgbClr val="F09042">
              <a:alpha val="30000"/>
            </a:srgbClr>
          </a:solidFill>
          <a:ln/>
        </p:spPr>
      </p:sp>
      <p:sp>
        <p:nvSpPr>
          <p:cNvPr id="13" name="Shape 11"/>
          <p:cNvSpPr/>
          <p:nvPr/>
        </p:nvSpPr>
        <p:spPr>
          <a:xfrm>
            <a:off x="4862779" y="3246120"/>
            <a:ext cx="1492301" cy="2423160"/>
          </a:xfrm>
          <a:prstGeom prst="rect">
            <a:avLst/>
          </a:prstGeom>
          <a:solidFill>
            <a:srgbClr val="F09042">
              <a:alpha val="30000"/>
            </a:srgbClr>
          </a:solidFill>
          <a:ln/>
        </p:spPr>
      </p:sp>
      <p:sp>
        <p:nvSpPr>
          <p:cNvPr id="14" name="Shape 12"/>
          <p:cNvSpPr/>
          <p:nvPr/>
        </p:nvSpPr>
        <p:spPr>
          <a:xfrm>
            <a:off x="868680" y="5664509"/>
            <a:ext cx="128016" cy="-3898"/>
          </a:xfrm>
          <a:prstGeom prst="line">
            <a:avLst/>
          </a:prstGeom>
          <a:noFill/>
          <a:ln w="19050">
            <a:solidFill>
              <a:srgbClr val="0E1729"/>
            </a:solidFill>
            <a:prstDash val="solid"/>
          </a:ln>
        </p:spPr>
      </p:sp>
      <p:sp>
        <p:nvSpPr>
          <p:cNvPr id="15" name="Shape 13"/>
          <p:cNvSpPr/>
          <p:nvPr/>
        </p:nvSpPr>
        <p:spPr>
          <a:xfrm>
            <a:off x="996696" y="5660612"/>
            <a:ext cx="128016" cy="-6607"/>
          </a:xfrm>
          <a:prstGeom prst="line">
            <a:avLst/>
          </a:prstGeom>
          <a:noFill/>
          <a:ln w="19050">
            <a:solidFill>
              <a:srgbClr val="0E1729"/>
            </a:solidFill>
            <a:prstDash val="solid"/>
          </a:ln>
        </p:spPr>
      </p:sp>
      <p:sp>
        <p:nvSpPr>
          <p:cNvPr id="16" name="Shape 14"/>
          <p:cNvSpPr/>
          <p:nvPr/>
        </p:nvSpPr>
        <p:spPr>
          <a:xfrm>
            <a:off x="1124712" y="5654005"/>
            <a:ext cx="128016" cy="-10831"/>
          </a:xfrm>
          <a:prstGeom prst="line">
            <a:avLst/>
          </a:prstGeom>
          <a:noFill/>
          <a:ln w="19050">
            <a:solidFill>
              <a:srgbClr val="0E1729"/>
            </a:solidFill>
            <a:prstDash val="solid"/>
          </a:ln>
        </p:spPr>
      </p:sp>
      <p:sp>
        <p:nvSpPr>
          <p:cNvPr id="17" name="Shape 15"/>
          <p:cNvSpPr/>
          <p:nvPr/>
        </p:nvSpPr>
        <p:spPr>
          <a:xfrm>
            <a:off x="1252728" y="5643174"/>
            <a:ext cx="128016" cy="-17165"/>
          </a:xfrm>
          <a:prstGeom prst="line">
            <a:avLst/>
          </a:prstGeom>
          <a:noFill/>
          <a:ln w="19050">
            <a:solidFill>
              <a:srgbClr val="0E1729"/>
            </a:solidFill>
            <a:prstDash val="solid"/>
          </a:ln>
        </p:spPr>
      </p:sp>
      <p:sp>
        <p:nvSpPr>
          <p:cNvPr id="18" name="Shape 16"/>
          <p:cNvSpPr/>
          <p:nvPr/>
        </p:nvSpPr>
        <p:spPr>
          <a:xfrm>
            <a:off x="1380744" y="5626010"/>
            <a:ext cx="128016" cy="-26287"/>
          </a:xfrm>
          <a:prstGeom prst="line">
            <a:avLst/>
          </a:prstGeom>
          <a:noFill/>
          <a:ln w="19050">
            <a:solidFill>
              <a:srgbClr val="0E1729"/>
            </a:solidFill>
            <a:prstDash val="solid"/>
          </a:ln>
        </p:spPr>
      </p:sp>
      <p:sp>
        <p:nvSpPr>
          <p:cNvPr id="19" name="Shape 17"/>
          <p:cNvSpPr/>
          <p:nvPr/>
        </p:nvSpPr>
        <p:spPr>
          <a:xfrm>
            <a:off x="1508760" y="5599722"/>
            <a:ext cx="128016" cy="-38885"/>
          </a:xfrm>
          <a:prstGeom prst="line">
            <a:avLst/>
          </a:prstGeom>
          <a:noFill/>
          <a:ln w="19050">
            <a:solidFill>
              <a:srgbClr val="0E1729"/>
            </a:solidFill>
            <a:prstDash val="solid"/>
          </a:ln>
        </p:spPr>
      </p:sp>
      <p:sp>
        <p:nvSpPr>
          <p:cNvPr id="20" name="Shape 18"/>
          <p:cNvSpPr/>
          <p:nvPr/>
        </p:nvSpPr>
        <p:spPr>
          <a:xfrm>
            <a:off x="1636776" y="5560838"/>
            <a:ext cx="128016" cy="-55523"/>
          </a:xfrm>
          <a:prstGeom prst="line">
            <a:avLst/>
          </a:prstGeom>
          <a:noFill/>
          <a:ln w="19050">
            <a:solidFill>
              <a:srgbClr val="0E1729"/>
            </a:solidFill>
            <a:prstDash val="solid"/>
          </a:ln>
        </p:spPr>
      </p:sp>
      <p:sp>
        <p:nvSpPr>
          <p:cNvPr id="21" name="Shape 19"/>
          <p:cNvSpPr/>
          <p:nvPr/>
        </p:nvSpPr>
        <p:spPr>
          <a:xfrm>
            <a:off x="1764792" y="5505315"/>
            <a:ext cx="128016" cy="-76474"/>
          </a:xfrm>
          <a:prstGeom prst="line">
            <a:avLst/>
          </a:prstGeom>
          <a:noFill/>
          <a:ln w="19050">
            <a:solidFill>
              <a:srgbClr val="0E1729"/>
            </a:solidFill>
            <a:prstDash val="solid"/>
          </a:ln>
        </p:spPr>
      </p:sp>
      <p:sp>
        <p:nvSpPr>
          <p:cNvPr id="22" name="Shape 20"/>
          <p:cNvSpPr/>
          <p:nvPr/>
        </p:nvSpPr>
        <p:spPr>
          <a:xfrm>
            <a:off x="1892808" y="5428841"/>
            <a:ext cx="128016" cy="-101507"/>
          </a:xfrm>
          <a:prstGeom prst="line">
            <a:avLst/>
          </a:prstGeom>
          <a:noFill/>
          <a:ln w="19050">
            <a:solidFill>
              <a:srgbClr val="0E1729"/>
            </a:solidFill>
            <a:prstDash val="solid"/>
          </a:ln>
        </p:spPr>
      </p:sp>
      <p:sp>
        <p:nvSpPr>
          <p:cNvPr id="23" name="Shape 21"/>
          <p:cNvSpPr/>
          <p:nvPr/>
        </p:nvSpPr>
        <p:spPr>
          <a:xfrm>
            <a:off x="2020824" y="5327333"/>
            <a:ext cx="128016" cy="-129694"/>
          </a:xfrm>
          <a:prstGeom prst="line">
            <a:avLst/>
          </a:prstGeom>
          <a:noFill/>
          <a:ln w="19050">
            <a:solidFill>
              <a:srgbClr val="0E1729"/>
            </a:solidFill>
            <a:prstDash val="solid"/>
          </a:ln>
        </p:spPr>
      </p:sp>
      <p:sp>
        <p:nvSpPr>
          <p:cNvPr id="24" name="Shape 22"/>
          <p:cNvSpPr/>
          <p:nvPr/>
        </p:nvSpPr>
        <p:spPr>
          <a:xfrm>
            <a:off x="2148840" y="5197639"/>
            <a:ext cx="128016" cy="-159264"/>
          </a:xfrm>
          <a:prstGeom prst="line">
            <a:avLst/>
          </a:prstGeom>
          <a:noFill/>
          <a:ln w="19050">
            <a:solidFill>
              <a:srgbClr val="0E1729"/>
            </a:solidFill>
            <a:prstDash val="solid"/>
          </a:ln>
        </p:spPr>
      </p:sp>
      <p:sp>
        <p:nvSpPr>
          <p:cNvPr id="25" name="Shape 23"/>
          <p:cNvSpPr/>
          <p:nvPr/>
        </p:nvSpPr>
        <p:spPr>
          <a:xfrm>
            <a:off x="2276856" y="5038375"/>
            <a:ext cx="128016" cy="-187590"/>
          </a:xfrm>
          <a:prstGeom prst="line">
            <a:avLst/>
          </a:prstGeom>
          <a:noFill/>
          <a:ln w="19050">
            <a:solidFill>
              <a:srgbClr val="0E1729"/>
            </a:solidFill>
            <a:prstDash val="solid"/>
          </a:ln>
        </p:spPr>
      </p:sp>
      <p:sp>
        <p:nvSpPr>
          <p:cNvPr id="26" name="Shape 24"/>
          <p:cNvSpPr/>
          <p:nvPr/>
        </p:nvSpPr>
        <p:spPr>
          <a:xfrm>
            <a:off x="2404872" y="4850785"/>
            <a:ext cx="128016" cy="-211341"/>
          </a:xfrm>
          <a:prstGeom prst="line">
            <a:avLst/>
          </a:prstGeom>
          <a:noFill/>
          <a:ln w="19050">
            <a:solidFill>
              <a:srgbClr val="0E1729"/>
            </a:solidFill>
            <a:prstDash val="solid"/>
          </a:ln>
        </p:spPr>
      </p:sp>
      <p:sp>
        <p:nvSpPr>
          <p:cNvPr id="27" name="Shape 25"/>
          <p:cNvSpPr/>
          <p:nvPr/>
        </p:nvSpPr>
        <p:spPr>
          <a:xfrm>
            <a:off x="2532888" y="4639444"/>
            <a:ext cx="128016" cy="-226830"/>
          </a:xfrm>
          <a:prstGeom prst="line">
            <a:avLst/>
          </a:prstGeom>
          <a:noFill/>
          <a:ln w="19050">
            <a:solidFill>
              <a:srgbClr val="0E1729"/>
            </a:solidFill>
            <a:prstDash val="solid"/>
          </a:ln>
        </p:spPr>
      </p:sp>
      <p:sp>
        <p:nvSpPr>
          <p:cNvPr id="28" name="Shape 26"/>
          <p:cNvSpPr/>
          <p:nvPr/>
        </p:nvSpPr>
        <p:spPr>
          <a:xfrm>
            <a:off x="2660904" y="4412614"/>
            <a:ext cx="128016" cy="-230541"/>
          </a:xfrm>
          <a:prstGeom prst="line">
            <a:avLst/>
          </a:prstGeom>
          <a:noFill/>
          <a:ln w="19050">
            <a:solidFill>
              <a:srgbClr val="0E1729"/>
            </a:solidFill>
            <a:prstDash val="solid"/>
          </a:ln>
        </p:spPr>
      </p:sp>
      <p:sp>
        <p:nvSpPr>
          <p:cNvPr id="29" name="Shape 27"/>
          <p:cNvSpPr/>
          <p:nvPr/>
        </p:nvSpPr>
        <p:spPr>
          <a:xfrm>
            <a:off x="2788920" y="4182074"/>
            <a:ext cx="128016" cy="-219750"/>
          </a:xfrm>
          <a:prstGeom prst="line">
            <a:avLst/>
          </a:prstGeom>
          <a:noFill/>
          <a:ln w="19050">
            <a:solidFill>
              <a:srgbClr val="0E1729"/>
            </a:solidFill>
            <a:prstDash val="solid"/>
          </a:ln>
        </p:spPr>
      </p:sp>
      <p:sp>
        <p:nvSpPr>
          <p:cNvPr id="30" name="Shape 28"/>
          <p:cNvSpPr/>
          <p:nvPr/>
        </p:nvSpPr>
        <p:spPr>
          <a:xfrm>
            <a:off x="2916936" y="3962324"/>
            <a:ext cx="128016" cy="-193130"/>
          </a:xfrm>
          <a:prstGeom prst="line">
            <a:avLst/>
          </a:prstGeom>
          <a:noFill/>
          <a:ln w="19050">
            <a:solidFill>
              <a:srgbClr val="0E1729"/>
            </a:solidFill>
            <a:prstDash val="solid"/>
          </a:ln>
        </p:spPr>
      </p:sp>
      <p:sp>
        <p:nvSpPr>
          <p:cNvPr id="31" name="Shape 29"/>
          <p:cNvSpPr/>
          <p:nvPr/>
        </p:nvSpPr>
        <p:spPr>
          <a:xfrm>
            <a:off x="3044952" y="3769193"/>
            <a:ext cx="128016" cy="-151189"/>
          </a:xfrm>
          <a:prstGeom prst="line">
            <a:avLst/>
          </a:prstGeom>
          <a:noFill/>
          <a:ln w="19050">
            <a:solidFill>
              <a:srgbClr val="0E1729"/>
            </a:solidFill>
            <a:prstDash val="solid"/>
          </a:ln>
        </p:spPr>
      </p:sp>
      <p:sp>
        <p:nvSpPr>
          <p:cNvPr id="32" name="Shape 30"/>
          <p:cNvSpPr/>
          <p:nvPr/>
        </p:nvSpPr>
        <p:spPr>
          <a:xfrm>
            <a:off x="3172968" y="3618004"/>
            <a:ext cx="128016" cy="-96428"/>
          </a:xfrm>
          <a:prstGeom prst="line">
            <a:avLst/>
          </a:prstGeom>
          <a:noFill/>
          <a:ln w="19050">
            <a:solidFill>
              <a:srgbClr val="0E1729"/>
            </a:solidFill>
            <a:prstDash val="solid"/>
          </a:ln>
        </p:spPr>
      </p:sp>
      <p:sp>
        <p:nvSpPr>
          <p:cNvPr id="33" name="Shape 31"/>
          <p:cNvSpPr/>
          <p:nvPr/>
        </p:nvSpPr>
        <p:spPr>
          <a:xfrm>
            <a:off x="3300984" y="3521576"/>
            <a:ext cx="128016" cy="-33140"/>
          </a:xfrm>
          <a:prstGeom prst="line">
            <a:avLst/>
          </a:prstGeom>
          <a:noFill/>
          <a:ln w="19050">
            <a:solidFill>
              <a:srgbClr val="0E1729"/>
            </a:solidFill>
            <a:prstDash val="solid"/>
          </a:ln>
        </p:spPr>
      </p:sp>
      <p:sp>
        <p:nvSpPr>
          <p:cNvPr id="34" name="Shape 32"/>
          <p:cNvSpPr/>
          <p:nvPr/>
        </p:nvSpPr>
        <p:spPr>
          <a:xfrm>
            <a:off x="3429000" y="3488436"/>
            <a:ext cx="128016" cy="33140"/>
          </a:xfrm>
          <a:prstGeom prst="line">
            <a:avLst/>
          </a:prstGeom>
          <a:noFill/>
          <a:ln w="19050">
            <a:solidFill>
              <a:srgbClr val="0E1729"/>
            </a:solidFill>
            <a:prstDash val="solid"/>
          </a:ln>
        </p:spPr>
      </p:sp>
      <p:sp>
        <p:nvSpPr>
          <p:cNvPr id="35" name="Shape 33"/>
          <p:cNvSpPr/>
          <p:nvPr/>
        </p:nvSpPr>
        <p:spPr>
          <a:xfrm>
            <a:off x="3557016" y="3521576"/>
            <a:ext cx="128016" cy="96428"/>
          </a:xfrm>
          <a:prstGeom prst="line">
            <a:avLst/>
          </a:prstGeom>
          <a:noFill/>
          <a:ln w="19050">
            <a:solidFill>
              <a:srgbClr val="0E1729"/>
            </a:solidFill>
            <a:prstDash val="solid"/>
          </a:ln>
        </p:spPr>
      </p:sp>
      <p:sp>
        <p:nvSpPr>
          <p:cNvPr id="36" name="Shape 34"/>
          <p:cNvSpPr/>
          <p:nvPr/>
        </p:nvSpPr>
        <p:spPr>
          <a:xfrm>
            <a:off x="3685032" y="3618004"/>
            <a:ext cx="128016" cy="151189"/>
          </a:xfrm>
          <a:prstGeom prst="line">
            <a:avLst/>
          </a:prstGeom>
          <a:noFill/>
          <a:ln w="19050">
            <a:solidFill>
              <a:srgbClr val="0E1729"/>
            </a:solidFill>
            <a:prstDash val="solid"/>
          </a:ln>
        </p:spPr>
      </p:sp>
      <p:sp>
        <p:nvSpPr>
          <p:cNvPr id="37" name="Shape 35"/>
          <p:cNvSpPr/>
          <p:nvPr/>
        </p:nvSpPr>
        <p:spPr>
          <a:xfrm>
            <a:off x="3813048" y="3769193"/>
            <a:ext cx="128016" cy="193130"/>
          </a:xfrm>
          <a:prstGeom prst="line">
            <a:avLst/>
          </a:prstGeom>
          <a:noFill/>
          <a:ln w="19050">
            <a:solidFill>
              <a:srgbClr val="0E1729"/>
            </a:solidFill>
            <a:prstDash val="solid"/>
          </a:ln>
        </p:spPr>
      </p:sp>
      <p:sp>
        <p:nvSpPr>
          <p:cNvPr id="38" name="Shape 36"/>
          <p:cNvSpPr/>
          <p:nvPr/>
        </p:nvSpPr>
        <p:spPr>
          <a:xfrm>
            <a:off x="3941064" y="3962324"/>
            <a:ext cx="128016" cy="219750"/>
          </a:xfrm>
          <a:prstGeom prst="line">
            <a:avLst/>
          </a:prstGeom>
          <a:noFill/>
          <a:ln w="19050">
            <a:solidFill>
              <a:srgbClr val="0E1729"/>
            </a:solidFill>
            <a:prstDash val="solid"/>
          </a:ln>
        </p:spPr>
      </p:sp>
      <p:sp>
        <p:nvSpPr>
          <p:cNvPr id="39" name="Shape 37"/>
          <p:cNvSpPr/>
          <p:nvPr/>
        </p:nvSpPr>
        <p:spPr>
          <a:xfrm>
            <a:off x="4069080" y="4182074"/>
            <a:ext cx="128016" cy="230541"/>
          </a:xfrm>
          <a:prstGeom prst="line">
            <a:avLst/>
          </a:prstGeom>
          <a:noFill/>
          <a:ln w="19050">
            <a:solidFill>
              <a:srgbClr val="0E1729"/>
            </a:solidFill>
            <a:prstDash val="solid"/>
          </a:ln>
        </p:spPr>
      </p:sp>
      <p:sp>
        <p:nvSpPr>
          <p:cNvPr id="40" name="Shape 38"/>
          <p:cNvSpPr/>
          <p:nvPr/>
        </p:nvSpPr>
        <p:spPr>
          <a:xfrm>
            <a:off x="4197096" y="4412614"/>
            <a:ext cx="128016" cy="226830"/>
          </a:xfrm>
          <a:prstGeom prst="line">
            <a:avLst/>
          </a:prstGeom>
          <a:noFill/>
          <a:ln w="19050">
            <a:solidFill>
              <a:srgbClr val="0E1729"/>
            </a:solidFill>
            <a:prstDash val="solid"/>
          </a:ln>
        </p:spPr>
      </p:sp>
      <p:sp>
        <p:nvSpPr>
          <p:cNvPr id="41" name="Shape 39"/>
          <p:cNvSpPr/>
          <p:nvPr/>
        </p:nvSpPr>
        <p:spPr>
          <a:xfrm>
            <a:off x="4325112" y="4639444"/>
            <a:ext cx="128016" cy="211341"/>
          </a:xfrm>
          <a:prstGeom prst="line">
            <a:avLst/>
          </a:prstGeom>
          <a:noFill/>
          <a:ln w="19050">
            <a:solidFill>
              <a:srgbClr val="0E1729"/>
            </a:solidFill>
            <a:prstDash val="solid"/>
          </a:ln>
        </p:spPr>
      </p:sp>
      <p:sp>
        <p:nvSpPr>
          <p:cNvPr id="42" name="Shape 40"/>
          <p:cNvSpPr/>
          <p:nvPr/>
        </p:nvSpPr>
        <p:spPr>
          <a:xfrm>
            <a:off x="4453128" y="4850785"/>
            <a:ext cx="128016" cy="187590"/>
          </a:xfrm>
          <a:prstGeom prst="line">
            <a:avLst/>
          </a:prstGeom>
          <a:noFill/>
          <a:ln w="19050">
            <a:solidFill>
              <a:srgbClr val="0E1729"/>
            </a:solidFill>
            <a:prstDash val="solid"/>
          </a:ln>
        </p:spPr>
      </p:sp>
      <p:sp>
        <p:nvSpPr>
          <p:cNvPr id="43" name="Shape 41"/>
          <p:cNvSpPr/>
          <p:nvPr/>
        </p:nvSpPr>
        <p:spPr>
          <a:xfrm>
            <a:off x="4581144" y="5038375"/>
            <a:ext cx="128016" cy="159264"/>
          </a:xfrm>
          <a:prstGeom prst="line">
            <a:avLst/>
          </a:prstGeom>
          <a:noFill/>
          <a:ln w="19050">
            <a:solidFill>
              <a:srgbClr val="0E1729"/>
            </a:solidFill>
            <a:prstDash val="solid"/>
          </a:ln>
        </p:spPr>
      </p:sp>
      <p:sp>
        <p:nvSpPr>
          <p:cNvPr id="44" name="Shape 42"/>
          <p:cNvSpPr/>
          <p:nvPr/>
        </p:nvSpPr>
        <p:spPr>
          <a:xfrm>
            <a:off x="4709160" y="5197639"/>
            <a:ext cx="128016" cy="129694"/>
          </a:xfrm>
          <a:prstGeom prst="line">
            <a:avLst/>
          </a:prstGeom>
          <a:noFill/>
          <a:ln w="19050">
            <a:solidFill>
              <a:srgbClr val="0E1729"/>
            </a:solidFill>
            <a:prstDash val="solid"/>
          </a:ln>
        </p:spPr>
      </p:sp>
      <p:sp>
        <p:nvSpPr>
          <p:cNvPr id="45" name="Shape 43"/>
          <p:cNvSpPr/>
          <p:nvPr/>
        </p:nvSpPr>
        <p:spPr>
          <a:xfrm>
            <a:off x="4837176" y="5327333"/>
            <a:ext cx="128016" cy="101507"/>
          </a:xfrm>
          <a:prstGeom prst="line">
            <a:avLst/>
          </a:prstGeom>
          <a:noFill/>
          <a:ln w="19050">
            <a:solidFill>
              <a:srgbClr val="0E1729"/>
            </a:solidFill>
            <a:prstDash val="solid"/>
          </a:ln>
        </p:spPr>
      </p:sp>
      <p:sp>
        <p:nvSpPr>
          <p:cNvPr id="46" name="Shape 44"/>
          <p:cNvSpPr/>
          <p:nvPr/>
        </p:nvSpPr>
        <p:spPr>
          <a:xfrm>
            <a:off x="4965192" y="5428841"/>
            <a:ext cx="128016" cy="76474"/>
          </a:xfrm>
          <a:prstGeom prst="line">
            <a:avLst/>
          </a:prstGeom>
          <a:noFill/>
          <a:ln w="19050">
            <a:solidFill>
              <a:srgbClr val="0E1729"/>
            </a:solidFill>
            <a:prstDash val="solid"/>
          </a:ln>
        </p:spPr>
      </p:sp>
      <p:sp>
        <p:nvSpPr>
          <p:cNvPr id="47" name="Shape 45"/>
          <p:cNvSpPr/>
          <p:nvPr/>
        </p:nvSpPr>
        <p:spPr>
          <a:xfrm>
            <a:off x="5093208" y="5505315"/>
            <a:ext cx="128016" cy="55523"/>
          </a:xfrm>
          <a:prstGeom prst="line">
            <a:avLst/>
          </a:prstGeom>
          <a:noFill/>
          <a:ln w="19050">
            <a:solidFill>
              <a:srgbClr val="0E1729"/>
            </a:solidFill>
            <a:prstDash val="solid"/>
          </a:ln>
        </p:spPr>
      </p:sp>
      <p:sp>
        <p:nvSpPr>
          <p:cNvPr id="48" name="Shape 46"/>
          <p:cNvSpPr/>
          <p:nvPr/>
        </p:nvSpPr>
        <p:spPr>
          <a:xfrm>
            <a:off x="5221224" y="5560838"/>
            <a:ext cx="128016" cy="38885"/>
          </a:xfrm>
          <a:prstGeom prst="line">
            <a:avLst/>
          </a:prstGeom>
          <a:noFill/>
          <a:ln w="19050">
            <a:solidFill>
              <a:srgbClr val="0E1729"/>
            </a:solidFill>
            <a:prstDash val="solid"/>
          </a:ln>
        </p:spPr>
      </p:sp>
      <p:sp>
        <p:nvSpPr>
          <p:cNvPr id="49" name="Shape 47"/>
          <p:cNvSpPr/>
          <p:nvPr/>
        </p:nvSpPr>
        <p:spPr>
          <a:xfrm>
            <a:off x="5349240" y="5599722"/>
            <a:ext cx="128016" cy="26287"/>
          </a:xfrm>
          <a:prstGeom prst="line">
            <a:avLst/>
          </a:prstGeom>
          <a:noFill/>
          <a:ln w="19050">
            <a:solidFill>
              <a:srgbClr val="0E1729"/>
            </a:solidFill>
            <a:prstDash val="solid"/>
          </a:ln>
        </p:spPr>
      </p:sp>
      <p:sp>
        <p:nvSpPr>
          <p:cNvPr id="50" name="Shape 48"/>
          <p:cNvSpPr/>
          <p:nvPr/>
        </p:nvSpPr>
        <p:spPr>
          <a:xfrm>
            <a:off x="5477256" y="5626010"/>
            <a:ext cx="128016" cy="17165"/>
          </a:xfrm>
          <a:prstGeom prst="line">
            <a:avLst/>
          </a:prstGeom>
          <a:noFill/>
          <a:ln w="19050">
            <a:solidFill>
              <a:srgbClr val="0E1729"/>
            </a:solidFill>
            <a:prstDash val="solid"/>
          </a:ln>
        </p:spPr>
      </p:sp>
      <p:sp>
        <p:nvSpPr>
          <p:cNvPr id="51" name="Shape 49"/>
          <p:cNvSpPr/>
          <p:nvPr/>
        </p:nvSpPr>
        <p:spPr>
          <a:xfrm>
            <a:off x="5605272" y="5643174"/>
            <a:ext cx="128016" cy="10831"/>
          </a:xfrm>
          <a:prstGeom prst="line">
            <a:avLst/>
          </a:prstGeom>
          <a:noFill/>
          <a:ln w="19050">
            <a:solidFill>
              <a:srgbClr val="0E1729"/>
            </a:solidFill>
            <a:prstDash val="solid"/>
          </a:ln>
        </p:spPr>
      </p:sp>
      <p:sp>
        <p:nvSpPr>
          <p:cNvPr id="52" name="Shape 50"/>
          <p:cNvSpPr/>
          <p:nvPr/>
        </p:nvSpPr>
        <p:spPr>
          <a:xfrm>
            <a:off x="5733288" y="5654005"/>
            <a:ext cx="128016" cy="6607"/>
          </a:xfrm>
          <a:prstGeom prst="line">
            <a:avLst/>
          </a:prstGeom>
          <a:noFill/>
          <a:ln w="19050">
            <a:solidFill>
              <a:srgbClr val="0E1729"/>
            </a:solidFill>
            <a:prstDash val="solid"/>
          </a:ln>
        </p:spPr>
      </p:sp>
      <p:sp>
        <p:nvSpPr>
          <p:cNvPr id="53" name="Shape 51"/>
          <p:cNvSpPr/>
          <p:nvPr/>
        </p:nvSpPr>
        <p:spPr>
          <a:xfrm>
            <a:off x="5861304" y="5660612"/>
            <a:ext cx="128016" cy="3898"/>
          </a:xfrm>
          <a:prstGeom prst="line">
            <a:avLst/>
          </a:prstGeom>
          <a:noFill/>
          <a:ln w="19050">
            <a:solidFill>
              <a:srgbClr val="0E1729"/>
            </a:solidFill>
            <a:prstDash val="solid"/>
          </a:ln>
        </p:spPr>
      </p:sp>
      <p:sp>
        <p:nvSpPr>
          <p:cNvPr id="54" name="Shape 52"/>
          <p:cNvSpPr/>
          <p:nvPr/>
        </p:nvSpPr>
        <p:spPr>
          <a:xfrm>
            <a:off x="6263640" y="2926080"/>
            <a:ext cx="5486400" cy="3108960"/>
          </a:xfrm>
          <a:prstGeom prst="rect">
            <a:avLst/>
          </a:prstGeom>
          <a:solidFill>
            <a:srgbClr val="FFFFFF"/>
          </a:solidFill>
          <a:ln w="6350">
            <a:solidFill>
              <a:srgbClr val="D6CFB8"/>
            </a:solidFill>
            <a:prstDash val="solid"/>
          </a:ln>
        </p:spPr>
      </p:sp>
      <p:sp>
        <p:nvSpPr>
          <p:cNvPr id="55" name="Text 53"/>
          <p:cNvSpPr/>
          <p:nvPr/>
        </p:nvSpPr>
        <p:spPr>
          <a:xfrm>
            <a:off x="6355080" y="2962656"/>
            <a:ext cx="53035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Unilatéral · zone de rejet d'un seul côté</a:t>
            </a:r>
            <a:endParaRPr lang="en-US" sz="900" dirty="0"/>
          </a:p>
        </p:txBody>
      </p:sp>
      <p:sp>
        <p:nvSpPr>
          <p:cNvPr id="56" name="Shape 54"/>
          <p:cNvSpPr/>
          <p:nvPr/>
        </p:nvSpPr>
        <p:spPr>
          <a:xfrm>
            <a:off x="6492240" y="5669280"/>
            <a:ext cx="5120640" cy="0"/>
          </a:xfrm>
          <a:prstGeom prst="line">
            <a:avLst/>
          </a:prstGeom>
          <a:noFill/>
          <a:ln w="9525">
            <a:solidFill>
              <a:srgbClr val="0E1729"/>
            </a:solidFill>
            <a:prstDash val="solid"/>
          </a:ln>
        </p:spPr>
      </p:sp>
      <p:sp>
        <p:nvSpPr>
          <p:cNvPr id="57" name="Shape 55"/>
          <p:cNvSpPr/>
          <p:nvPr/>
        </p:nvSpPr>
        <p:spPr>
          <a:xfrm>
            <a:off x="6492240" y="3246120"/>
            <a:ext cx="0" cy="2423160"/>
          </a:xfrm>
          <a:prstGeom prst="line">
            <a:avLst/>
          </a:prstGeom>
          <a:noFill/>
          <a:ln w="9525">
            <a:solidFill>
              <a:srgbClr val="0E1729"/>
            </a:solidFill>
            <a:prstDash val="solid"/>
          </a:ln>
        </p:spPr>
      </p:sp>
      <p:sp>
        <p:nvSpPr>
          <p:cNvPr id="58" name="Text 56"/>
          <p:cNvSpPr/>
          <p:nvPr/>
        </p:nvSpPr>
        <p:spPr>
          <a:xfrm>
            <a:off x="6492240" y="5760720"/>
            <a:ext cx="512064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Statistique du test</a:t>
            </a:r>
            <a:endParaRPr lang="en-US" sz="800" dirty="0"/>
          </a:p>
        </p:txBody>
      </p:sp>
      <p:sp>
        <p:nvSpPr>
          <p:cNvPr id="59" name="Shape 57"/>
          <p:cNvSpPr/>
          <p:nvPr/>
        </p:nvSpPr>
        <p:spPr>
          <a:xfrm>
            <a:off x="10255910" y="3246120"/>
            <a:ext cx="1722730" cy="2423160"/>
          </a:xfrm>
          <a:prstGeom prst="rect">
            <a:avLst/>
          </a:prstGeom>
          <a:solidFill>
            <a:srgbClr val="F09042">
              <a:alpha val="30000"/>
            </a:srgbClr>
          </a:solidFill>
          <a:ln/>
        </p:spPr>
      </p:sp>
      <p:sp>
        <p:nvSpPr>
          <p:cNvPr id="60" name="Shape 58"/>
          <p:cNvSpPr/>
          <p:nvPr/>
        </p:nvSpPr>
        <p:spPr>
          <a:xfrm>
            <a:off x="6492240" y="5664509"/>
            <a:ext cx="128016" cy="-3898"/>
          </a:xfrm>
          <a:prstGeom prst="line">
            <a:avLst/>
          </a:prstGeom>
          <a:noFill/>
          <a:ln w="19050">
            <a:solidFill>
              <a:srgbClr val="0E1729"/>
            </a:solidFill>
            <a:prstDash val="solid"/>
          </a:ln>
        </p:spPr>
      </p:sp>
      <p:sp>
        <p:nvSpPr>
          <p:cNvPr id="61" name="Shape 59"/>
          <p:cNvSpPr/>
          <p:nvPr/>
        </p:nvSpPr>
        <p:spPr>
          <a:xfrm>
            <a:off x="6620256" y="5660612"/>
            <a:ext cx="128016" cy="-6607"/>
          </a:xfrm>
          <a:prstGeom prst="line">
            <a:avLst/>
          </a:prstGeom>
          <a:noFill/>
          <a:ln w="19050">
            <a:solidFill>
              <a:srgbClr val="0E1729"/>
            </a:solidFill>
            <a:prstDash val="solid"/>
          </a:ln>
        </p:spPr>
      </p:sp>
      <p:sp>
        <p:nvSpPr>
          <p:cNvPr id="62" name="Shape 60"/>
          <p:cNvSpPr/>
          <p:nvPr/>
        </p:nvSpPr>
        <p:spPr>
          <a:xfrm>
            <a:off x="6748272" y="5654005"/>
            <a:ext cx="128016" cy="-10831"/>
          </a:xfrm>
          <a:prstGeom prst="line">
            <a:avLst/>
          </a:prstGeom>
          <a:noFill/>
          <a:ln w="19050">
            <a:solidFill>
              <a:srgbClr val="0E1729"/>
            </a:solidFill>
            <a:prstDash val="solid"/>
          </a:ln>
        </p:spPr>
      </p:sp>
      <p:sp>
        <p:nvSpPr>
          <p:cNvPr id="63" name="Shape 61"/>
          <p:cNvSpPr/>
          <p:nvPr/>
        </p:nvSpPr>
        <p:spPr>
          <a:xfrm>
            <a:off x="6876288" y="5643174"/>
            <a:ext cx="128016" cy="-17165"/>
          </a:xfrm>
          <a:prstGeom prst="line">
            <a:avLst/>
          </a:prstGeom>
          <a:noFill/>
          <a:ln w="19050">
            <a:solidFill>
              <a:srgbClr val="0E1729"/>
            </a:solidFill>
            <a:prstDash val="solid"/>
          </a:ln>
        </p:spPr>
      </p:sp>
      <p:sp>
        <p:nvSpPr>
          <p:cNvPr id="64" name="Shape 62"/>
          <p:cNvSpPr/>
          <p:nvPr/>
        </p:nvSpPr>
        <p:spPr>
          <a:xfrm>
            <a:off x="7004304" y="5626010"/>
            <a:ext cx="128016" cy="-26287"/>
          </a:xfrm>
          <a:prstGeom prst="line">
            <a:avLst/>
          </a:prstGeom>
          <a:noFill/>
          <a:ln w="19050">
            <a:solidFill>
              <a:srgbClr val="0E1729"/>
            </a:solidFill>
            <a:prstDash val="solid"/>
          </a:ln>
        </p:spPr>
      </p:sp>
      <p:sp>
        <p:nvSpPr>
          <p:cNvPr id="65" name="Shape 63"/>
          <p:cNvSpPr/>
          <p:nvPr/>
        </p:nvSpPr>
        <p:spPr>
          <a:xfrm>
            <a:off x="7132320" y="5599722"/>
            <a:ext cx="128016" cy="-38885"/>
          </a:xfrm>
          <a:prstGeom prst="line">
            <a:avLst/>
          </a:prstGeom>
          <a:noFill/>
          <a:ln w="19050">
            <a:solidFill>
              <a:srgbClr val="0E1729"/>
            </a:solidFill>
            <a:prstDash val="solid"/>
          </a:ln>
        </p:spPr>
      </p:sp>
      <p:sp>
        <p:nvSpPr>
          <p:cNvPr id="66" name="Shape 64"/>
          <p:cNvSpPr/>
          <p:nvPr/>
        </p:nvSpPr>
        <p:spPr>
          <a:xfrm>
            <a:off x="7260336" y="5560838"/>
            <a:ext cx="128016" cy="-55523"/>
          </a:xfrm>
          <a:prstGeom prst="line">
            <a:avLst/>
          </a:prstGeom>
          <a:noFill/>
          <a:ln w="19050">
            <a:solidFill>
              <a:srgbClr val="0E1729"/>
            </a:solidFill>
            <a:prstDash val="solid"/>
          </a:ln>
        </p:spPr>
      </p:sp>
      <p:sp>
        <p:nvSpPr>
          <p:cNvPr id="67" name="Shape 65"/>
          <p:cNvSpPr/>
          <p:nvPr/>
        </p:nvSpPr>
        <p:spPr>
          <a:xfrm>
            <a:off x="7388352" y="5505315"/>
            <a:ext cx="128016" cy="-76474"/>
          </a:xfrm>
          <a:prstGeom prst="line">
            <a:avLst/>
          </a:prstGeom>
          <a:noFill/>
          <a:ln w="19050">
            <a:solidFill>
              <a:srgbClr val="0E1729"/>
            </a:solidFill>
            <a:prstDash val="solid"/>
          </a:ln>
        </p:spPr>
      </p:sp>
      <p:sp>
        <p:nvSpPr>
          <p:cNvPr id="68" name="Shape 66"/>
          <p:cNvSpPr/>
          <p:nvPr/>
        </p:nvSpPr>
        <p:spPr>
          <a:xfrm>
            <a:off x="7516368" y="5428841"/>
            <a:ext cx="128016" cy="-101507"/>
          </a:xfrm>
          <a:prstGeom prst="line">
            <a:avLst/>
          </a:prstGeom>
          <a:noFill/>
          <a:ln w="19050">
            <a:solidFill>
              <a:srgbClr val="0E1729"/>
            </a:solidFill>
            <a:prstDash val="solid"/>
          </a:ln>
        </p:spPr>
      </p:sp>
      <p:sp>
        <p:nvSpPr>
          <p:cNvPr id="69" name="Shape 67"/>
          <p:cNvSpPr/>
          <p:nvPr/>
        </p:nvSpPr>
        <p:spPr>
          <a:xfrm>
            <a:off x="7644384" y="5327333"/>
            <a:ext cx="128016" cy="-129694"/>
          </a:xfrm>
          <a:prstGeom prst="line">
            <a:avLst/>
          </a:prstGeom>
          <a:noFill/>
          <a:ln w="19050">
            <a:solidFill>
              <a:srgbClr val="0E1729"/>
            </a:solidFill>
            <a:prstDash val="solid"/>
          </a:ln>
        </p:spPr>
      </p:sp>
      <p:sp>
        <p:nvSpPr>
          <p:cNvPr id="70" name="Shape 68"/>
          <p:cNvSpPr/>
          <p:nvPr/>
        </p:nvSpPr>
        <p:spPr>
          <a:xfrm>
            <a:off x="7772400" y="5197639"/>
            <a:ext cx="128016" cy="-159264"/>
          </a:xfrm>
          <a:prstGeom prst="line">
            <a:avLst/>
          </a:prstGeom>
          <a:noFill/>
          <a:ln w="19050">
            <a:solidFill>
              <a:srgbClr val="0E1729"/>
            </a:solidFill>
            <a:prstDash val="solid"/>
          </a:ln>
        </p:spPr>
      </p:sp>
      <p:sp>
        <p:nvSpPr>
          <p:cNvPr id="71" name="Shape 69"/>
          <p:cNvSpPr/>
          <p:nvPr/>
        </p:nvSpPr>
        <p:spPr>
          <a:xfrm>
            <a:off x="7900416" y="5038375"/>
            <a:ext cx="128016" cy="-187590"/>
          </a:xfrm>
          <a:prstGeom prst="line">
            <a:avLst/>
          </a:prstGeom>
          <a:noFill/>
          <a:ln w="19050">
            <a:solidFill>
              <a:srgbClr val="0E1729"/>
            </a:solidFill>
            <a:prstDash val="solid"/>
          </a:ln>
        </p:spPr>
      </p:sp>
      <p:sp>
        <p:nvSpPr>
          <p:cNvPr id="72" name="Shape 70"/>
          <p:cNvSpPr/>
          <p:nvPr/>
        </p:nvSpPr>
        <p:spPr>
          <a:xfrm>
            <a:off x="8028432" y="4850785"/>
            <a:ext cx="128016" cy="-211341"/>
          </a:xfrm>
          <a:prstGeom prst="line">
            <a:avLst/>
          </a:prstGeom>
          <a:noFill/>
          <a:ln w="19050">
            <a:solidFill>
              <a:srgbClr val="0E1729"/>
            </a:solidFill>
            <a:prstDash val="solid"/>
          </a:ln>
        </p:spPr>
      </p:sp>
      <p:sp>
        <p:nvSpPr>
          <p:cNvPr id="73" name="Shape 71"/>
          <p:cNvSpPr/>
          <p:nvPr/>
        </p:nvSpPr>
        <p:spPr>
          <a:xfrm>
            <a:off x="8156448" y="4639444"/>
            <a:ext cx="128016" cy="-226830"/>
          </a:xfrm>
          <a:prstGeom prst="line">
            <a:avLst/>
          </a:prstGeom>
          <a:noFill/>
          <a:ln w="19050">
            <a:solidFill>
              <a:srgbClr val="0E1729"/>
            </a:solidFill>
            <a:prstDash val="solid"/>
          </a:ln>
        </p:spPr>
      </p:sp>
      <p:sp>
        <p:nvSpPr>
          <p:cNvPr id="74" name="Shape 72"/>
          <p:cNvSpPr/>
          <p:nvPr/>
        </p:nvSpPr>
        <p:spPr>
          <a:xfrm>
            <a:off x="8284464" y="4412614"/>
            <a:ext cx="128016" cy="-230541"/>
          </a:xfrm>
          <a:prstGeom prst="line">
            <a:avLst/>
          </a:prstGeom>
          <a:noFill/>
          <a:ln w="19050">
            <a:solidFill>
              <a:srgbClr val="0E1729"/>
            </a:solidFill>
            <a:prstDash val="solid"/>
          </a:ln>
        </p:spPr>
      </p:sp>
      <p:sp>
        <p:nvSpPr>
          <p:cNvPr id="75" name="Shape 73"/>
          <p:cNvSpPr/>
          <p:nvPr/>
        </p:nvSpPr>
        <p:spPr>
          <a:xfrm>
            <a:off x="8412480" y="4182074"/>
            <a:ext cx="128016" cy="-219750"/>
          </a:xfrm>
          <a:prstGeom prst="line">
            <a:avLst/>
          </a:prstGeom>
          <a:noFill/>
          <a:ln w="19050">
            <a:solidFill>
              <a:srgbClr val="0E1729"/>
            </a:solidFill>
            <a:prstDash val="solid"/>
          </a:ln>
        </p:spPr>
      </p:sp>
      <p:sp>
        <p:nvSpPr>
          <p:cNvPr id="76" name="Shape 74"/>
          <p:cNvSpPr/>
          <p:nvPr/>
        </p:nvSpPr>
        <p:spPr>
          <a:xfrm>
            <a:off x="8540496" y="3962324"/>
            <a:ext cx="128016" cy="-193130"/>
          </a:xfrm>
          <a:prstGeom prst="line">
            <a:avLst/>
          </a:prstGeom>
          <a:noFill/>
          <a:ln w="19050">
            <a:solidFill>
              <a:srgbClr val="0E1729"/>
            </a:solidFill>
            <a:prstDash val="solid"/>
          </a:ln>
        </p:spPr>
      </p:sp>
      <p:sp>
        <p:nvSpPr>
          <p:cNvPr id="77" name="Shape 75"/>
          <p:cNvSpPr/>
          <p:nvPr/>
        </p:nvSpPr>
        <p:spPr>
          <a:xfrm>
            <a:off x="8668512" y="3769193"/>
            <a:ext cx="128016" cy="-151189"/>
          </a:xfrm>
          <a:prstGeom prst="line">
            <a:avLst/>
          </a:prstGeom>
          <a:noFill/>
          <a:ln w="19050">
            <a:solidFill>
              <a:srgbClr val="0E1729"/>
            </a:solidFill>
            <a:prstDash val="solid"/>
          </a:ln>
        </p:spPr>
      </p:sp>
      <p:sp>
        <p:nvSpPr>
          <p:cNvPr id="78" name="Shape 76"/>
          <p:cNvSpPr/>
          <p:nvPr/>
        </p:nvSpPr>
        <p:spPr>
          <a:xfrm>
            <a:off x="8796528" y="3618004"/>
            <a:ext cx="128016" cy="-96428"/>
          </a:xfrm>
          <a:prstGeom prst="line">
            <a:avLst/>
          </a:prstGeom>
          <a:noFill/>
          <a:ln w="19050">
            <a:solidFill>
              <a:srgbClr val="0E1729"/>
            </a:solidFill>
            <a:prstDash val="solid"/>
          </a:ln>
        </p:spPr>
      </p:sp>
      <p:sp>
        <p:nvSpPr>
          <p:cNvPr id="79" name="Shape 77"/>
          <p:cNvSpPr/>
          <p:nvPr/>
        </p:nvSpPr>
        <p:spPr>
          <a:xfrm>
            <a:off x="8924544" y="3521576"/>
            <a:ext cx="128016" cy="-33140"/>
          </a:xfrm>
          <a:prstGeom prst="line">
            <a:avLst/>
          </a:prstGeom>
          <a:noFill/>
          <a:ln w="19050">
            <a:solidFill>
              <a:srgbClr val="0E1729"/>
            </a:solidFill>
            <a:prstDash val="solid"/>
          </a:ln>
        </p:spPr>
      </p:sp>
      <p:sp>
        <p:nvSpPr>
          <p:cNvPr id="80" name="Shape 78"/>
          <p:cNvSpPr/>
          <p:nvPr/>
        </p:nvSpPr>
        <p:spPr>
          <a:xfrm>
            <a:off x="9052560" y="3488436"/>
            <a:ext cx="128016" cy="33140"/>
          </a:xfrm>
          <a:prstGeom prst="line">
            <a:avLst/>
          </a:prstGeom>
          <a:noFill/>
          <a:ln w="19050">
            <a:solidFill>
              <a:srgbClr val="0E1729"/>
            </a:solidFill>
            <a:prstDash val="solid"/>
          </a:ln>
        </p:spPr>
      </p:sp>
      <p:sp>
        <p:nvSpPr>
          <p:cNvPr id="81" name="Shape 79"/>
          <p:cNvSpPr/>
          <p:nvPr/>
        </p:nvSpPr>
        <p:spPr>
          <a:xfrm>
            <a:off x="9180576" y="3521576"/>
            <a:ext cx="128016" cy="96428"/>
          </a:xfrm>
          <a:prstGeom prst="line">
            <a:avLst/>
          </a:prstGeom>
          <a:noFill/>
          <a:ln w="19050">
            <a:solidFill>
              <a:srgbClr val="0E1729"/>
            </a:solidFill>
            <a:prstDash val="solid"/>
          </a:ln>
        </p:spPr>
      </p:sp>
      <p:sp>
        <p:nvSpPr>
          <p:cNvPr id="82" name="Shape 80"/>
          <p:cNvSpPr/>
          <p:nvPr/>
        </p:nvSpPr>
        <p:spPr>
          <a:xfrm>
            <a:off x="9308592" y="3618004"/>
            <a:ext cx="128016" cy="151189"/>
          </a:xfrm>
          <a:prstGeom prst="line">
            <a:avLst/>
          </a:prstGeom>
          <a:noFill/>
          <a:ln w="19050">
            <a:solidFill>
              <a:srgbClr val="0E1729"/>
            </a:solidFill>
            <a:prstDash val="solid"/>
          </a:ln>
        </p:spPr>
      </p:sp>
      <p:sp>
        <p:nvSpPr>
          <p:cNvPr id="83" name="Shape 81"/>
          <p:cNvSpPr/>
          <p:nvPr/>
        </p:nvSpPr>
        <p:spPr>
          <a:xfrm>
            <a:off x="9436608" y="3769193"/>
            <a:ext cx="128016" cy="193130"/>
          </a:xfrm>
          <a:prstGeom prst="line">
            <a:avLst/>
          </a:prstGeom>
          <a:noFill/>
          <a:ln w="19050">
            <a:solidFill>
              <a:srgbClr val="0E1729"/>
            </a:solidFill>
            <a:prstDash val="solid"/>
          </a:ln>
        </p:spPr>
      </p:sp>
      <p:sp>
        <p:nvSpPr>
          <p:cNvPr id="84" name="Shape 82"/>
          <p:cNvSpPr/>
          <p:nvPr/>
        </p:nvSpPr>
        <p:spPr>
          <a:xfrm>
            <a:off x="9564624" y="3962324"/>
            <a:ext cx="128016" cy="219750"/>
          </a:xfrm>
          <a:prstGeom prst="line">
            <a:avLst/>
          </a:prstGeom>
          <a:noFill/>
          <a:ln w="19050">
            <a:solidFill>
              <a:srgbClr val="0E1729"/>
            </a:solidFill>
            <a:prstDash val="solid"/>
          </a:ln>
        </p:spPr>
      </p:sp>
      <p:sp>
        <p:nvSpPr>
          <p:cNvPr id="85" name="Shape 83"/>
          <p:cNvSpPr/>
          <p:nvPr/>
        </p:nvSpPr>
        <p:spPr>
          <a:xfrm>
            <a:off x="9692640" y="4182074"/>
            <a:ext cx="128016" cy="230541"/>
          </a:xfrm>
          <a:prstGeom prst="line">
            <a:avLst/>
          </a:prstGeom>
          <a:noFill/>
          <a:ln w="19050">
            <a:solidFill>
              <a:srgbClr val="0E1729"/>
            </a:solidFill>
            <a:prstDash val="solid"/>
          </a:ln>
        </p:spPr>
      </p:sp>
      <p:sp>
        <p:nvSpPr>
          <p:cNvPr id="86" name="Shape 84"/>
          <p:cNvSpPr/>
          <p:nvPr/>
        </p:nvSpPr>
        <p:spPr>
          <a:xfrm>
            <a:off x="9820656" y="4412614"/>
            <a:ext cx="128016" cy="226830"/>
          </a:xfrm>
          <a:prstGeom prst="line">
            <a:avLst/>
          </a:prstGeom>
          <a:noFill/>
          <a:ln w="19050">
            <a:solidFill>
              <a:srgbClr val="0E1729"/>
            </a:solidFill>
            <a:prstDash val="solid"/>
          </a:ln>
        </p:spPr>
      </p:sp>
      <p:sp>
        <p:nvSpPr>
          <p:cNvPr id="87" name="Shape 85"/>
          <p:cNvSpPr/>
          <p:nvPr/>
        </p:nvSpPr>
        <p:spPr>
          <a:xfrm>
            <a:off x="9948672" y="4639444"/>
            <a:ext cx="128016" cy="211341"/>
          </a:xfrm>
          <a:prstGeom prst="line">
            <a:avLst/>
          </a:prstGeom>
          <a:noFill/>
          <a:ln w="19050">
            <a:solidFill>
              <a:srgbClr val="0E1729"/>
            </a:solidFill>
            <a:prstDash val="solid"/>
          </a:ln>
        </p:spPr>
      </p:sp>
      <p:sp>
        <p:nvSpPr>
          <p:cNvPr id="88" name="Shape 86"/>
          <p:cNvSpPr/>
          <p:nvPr/>
        </p:nvSpPr>
        <p:spPr>
          <a:xfrm>
            <a:off x="10076688" y="4850785"/>
            <a:ext cx="128016" cy="187590"/>
          </a:xfrm>
          <a:prstGeom prst="line">
            <a:avLst/>
          </a:prstGeom>
          <a:noFill/>
          <a:ln w="19050">
            <a:solidFill>
              <a:srgbClr val="0E1729"/>
            </a:solidFill>
            <a:prstDash val="solid"/>
          </a:ln>
        </p:spPr>
      </p:sp>
      <p:sp>
        <p:nvSpPr>
          <p:cNvPr id="89" name="Shape 87"/>
          <p:cNvSpPr/>
          <p:nvPr/>
        </p:nvSpPr>
        <p:spPr>
          <a:xfrm>
            <a:off x="10204704" y="5038375"/>
            <a:ext cx="128016" cy="159264"/>
          </a:xfrm>
          <a:prstGeom prst="line">
            <a:avLst/>
          </a:prstGeom>
          <a:noFill/>
          <a:ln w="19050">
            <a:solidFill>
              <a:srgbClr val="0E1729"/>
            </a:solidFill>
            <a:prstDash val="solid"/>
          </a:ln>
        </p:spPr>
      </p:sp>
      <p:sp>
        <p:nvSpPr>
          <p:cNvPr id="90" name="Shape 88"/>
          <p:cNvSpPr/>
          <p:nvPr/>
        </p:nvSpPr>
        <p:spPr>
          <a:xfrm>
            <a:off x="10332720" y="5197639"/>
            <a:ext cx="128016" cy="129694"/>
          </a:xfrm>
          <a:prstGeom prst="line">
            <a:avLst/>
          </a:prstGeom>
          <a:noFill/>
          <a:ln w="19050">
            <a:solidFill>
              <a:srgbClr val="0E1729"/>
            </a:solidFill>
            <a:prstDash val="solid"/>
          </a:ln>
        </p:spPr>
      </p:sp>
      <p:sp>
        <p:nvSpPr>
          <p:cNvPr id="91" name="Shape 89"/>
          <p:cNvSpPr/>
          <p:nvPr/>
        </p:nvSpPr>
        <p:spPr>
          <a:xfrm>
            <a:off x="10460736" y="5327333"/>
            <a:ext cx="128016" cy="101507"/>
          </a:xfrm>
          <a:prstGeom prst="line">
            <a:avLst/>
          </a:prstGeom>
          <a:noFill/>
          <a:ln w="19050">
            <a:solidFill>
              <a:srgbClr val="0E1729"/>
            </a:solidFill>
            <a:prstDash val="solid"/>
          </a:ln>
        </p:spPr>
      </p:sp>
      <p:sp>
        <p:nvSpPr>
          <p:cNvPr id="92" name="Shape 90"/>
          <p:cNvSpPr/>
          <p:nvPr/>
        </p:nvSpPr>
        <p:spPr>
          <a:xfrm>
            <a:off x="10588752" y="5428841"/>
            <a:ext cx="128016" cy="76474"/>
          </a:xfrm>
          <a:prstGeom prst="line">
            <a:avLst/>
          </a:prstGeom>
          <a:noFill/>
          <a:ln w="19050">
            <a:solidFill>
              <a:srgbClr val="0E1729"/>
            </a:solidFill>
            <a:prstDash val="solid"/>
          </a:ln>
        </p:spPr>
      </p:sp>
      <p:sp>
        <p:nvSpPr>
          <p:cNvPr id="93" name="Shape 91"/>
          <p:cNvSpPr/>
          <p:nvPr/>
        </p:nvSpPr>
        <p:spPr>
          <a:xfrm>
            <a:off x="10716768" y="5505315"/>
            <a:ext cx="128016" cy="55523"/>
          </a:xfrm>
          <a:prstGeom prst="line">
            <a:avLst/>
          </a:prstGeom>
          <a:noFill/>
          <a:ln w="19050">
            <a:solidFill>
              <a:srgbClr val="0E1729"/>
            </a:solidFill>
            <a:prstDash val="solid"/>
          </a:ln>
        </p:spPr>
      </p:sp>
      <p:sp>
        <p:nvSpPr>
          <p:cNvPr id="94" name="Shape 92"/>
          <p:cNvSpPr/>
          <p:nvPr/>
        </p:nvSpPr>
        <p:spPr>
          <a:xfrm>
            <a:off x="10844784" y="5560838"/>
            <a:ext cx="128016" cy="38885"/>
          </a:xfrm>
          <a:prstGeom prst="line">
            <a:avLst/>
          </a:prstGeom>
          <a:noFill/>
          <a:ln w="19050">
            <a:solidFill>
              <a:srgbClr val="0E1729"/>
            </a:solidFill>
            <a:prstDash val="solid"/>
          </a:ln>
        </p:spPr>
      </p:sp>
      <p:sp>
        <p:nvSpPr>
          <p:cNvPr id="95" name="Shape 93"/>
          <p:cNvSpPr/>
          <p:nvPr/>
        </p:nvSpPr>
        <p:spPr>
          <a:xfrm>
            <a:off x="10972800" y="5599722"/>
            <a:ext cx="128016" cy="26287"/>
          </a:xfrm>
          <a:prstGeom prst="line">
            <a:avLst/>
          </a:prstGeom>
          <a:noFill/>
          <a:ln w="19050">
            <a:solidFill>
              <a:srgbClr val="0E1729"/>
            </a:solidFill>
            <a:prstDash val="solid"/>
          </a:ln>
        </p:spPr>
      </p:sp>
      <p:sp>
        <p:nvSpPr>
          <p:cNvPr id="96" name="Shape 94"/>
          <p:cNvSpPr/>
          <p:nvPr/>
        </p:nvSpPr>
        <p:spPr>
          <a:xfrm>
            <a:off x="11100816" y="5626010"/>
            <a:ext cx="128016" cy="17165"/>
          </a:xfrm>
          <a:prstGeom prst="line">
            <a:avLst/>
          </a:prstGeom>
          <a:noFill/>
          <a:ln w="19050">
            <a:solidFill>
              <a:srgbClr val="0E1729"/>
            </a:solidFill>
            <a:prstDash val="solid"/>
          </a:ln>
        </p:spPr>
      </p:sp>
      <p:sp>
        <p:nvSpPr>
          <p:cNvPr id="97" name="Shape 95"/>
          <p:cNvSpPr/>
          <p:nvPr/>
        </p:nvSpPr>
        <p:spPr>
          <a:xfrm>
            <a:off x="11228832" y="5643174"/>
            <a:ext cx="128016" cy="10831"/>
          </a:xfrm>
          <a:prstGeom prst="line">
            <a:avLst/>
          </a:prstGeom>
          <a:noFill/>
          <a:ln w="19050">
            <a:solidFill>
              <a:srgbClr val="0E1729"/>
            </a:solidFill>
            <a:prstDash val="solid"/>
          </a:ln>
        </p:spPr>
      </p:sp>
      <p:sp>
        <p:nvSpPr>
          <p:cNvPr id="98" name="Shape 96"/>
          <p:cNvSpPr/>
          <p:nvPr/>
        </p:nvSpPr>
        <p:spPr>
          <a:xfrm>
            <a:off x="11356848" y="5654005"/>
            <a:ext cx="128016" cy="6607"/>
          </a:xfrm>
          <a:prstGeom prst="line">
            <a:avLst/>
          </a:prstGeom>
          <a:noFill/>
          <a:ln w="19050">
            <a:solidFill>
              <a:srgbClr val="0E1729"/>
            </a:solidFill>
            <a:prstDash val="solid"/>
          </a:ln>
        </p:spPr>
      </p:sp>
      <p:sp>
        <p:nvSpPr>
          <p:cNvPr id="99" name="Shape 97"/>
          <p:cNvSpPr/>
          <p:nvPr/>
        </p:nvSpPr>
        <p:spPr>
          <a:xfrm>
            <a:off x="11484864" y="5660612"/>
            <a:ext cx="128016" cy="3898"/>
          </a:xfrm>
          <a:prstGeom prst="line">
            <a:avLst/>
          </a:prstGeom>
          <a:noFill/>
          <a:ln w="19050">
            <a:solidFill>
              <a:srgbClr val="0E1729"/>
            </a:solidFill>
            <a:prstDash val="solid"/>
          </a:ln>
        </p:spPr>
      </p:sp>
      <p:sp>
        <p:nvSpPr>
          <p:cNvPr id="100" name="Text 98"/>
          <p:cNvSpPr/>
          <p:nvPr/>
        </p:nvSpPr>
        <p:spPr>
          <a:xfrm>
            <a:off x="640080" y="603504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Avec le même α = 5 %, le test unilatéral concentre toute la zone de rejet d'un côté. Plus puissant SI tu as raison sur la direction — invalide si l'effet va dans l'autre sens.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N°4 · LA p-VALUE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200" b="1" spc="-100" kern="0" dirty="0">
                <a:solidFill>
                  <a:srgbClr val="15233F"/>
                </a:solidFill>
                <a:latin typeface="Calibri" pitchFamily="34" charset="0"/>
                <a:ea typeface="Calibri" pitchFamily="34" charset="-122"/>
                <a:cs typeface="Calibri" pitchFamily="34" charset="-120"/>
              </a:rPr>
              <a:t>La question piège du jury.</a:t>
            </a:r>
            <a:endParaRPr lang="en-US" sz="3200" dirty="0"/>
          </a:p>
        </p:txBody>
      </p:sp>
      <p:sp>
        <p:nvSpPr>
          <p:cNvPr id="6" name="Text 4"/>
          <p:cNvSpPr/>
          <p:nvPr/>
        </p:nvSpPr>
        <p:spPr>
          <a:xfrm>
            <a:off x="640080" y="1874520"/>
            <a:ext cx="10972800" cy="128016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scénario classique : ton président de jury te demande, l'air innocent, « concrètement, qu'est-ce que ça signifie p = 0,03 ? ». Un étudiant sur deux répond « ça veut dire que H₀ a 3 % de chances d'être vraie ». C'est faux.</a:t>
            </a:r>
            <a:endParaRPr lang="en-US" sz="1400" dirty="0"/>
          </a:p>
        </p:txBody>
      </p:sp>
      <p:sp>
        <p:nvSpPr>
          <p:cNvPr id="7" name="Shape 5"/>
          <p:cNvSpPr/>
          <p:nvPr/>
        </p:nvSpPr>
        <p:spPr>
          <a:xfrm>
            <a:off x="640080" y="3337560"/>
            <a:ext cx="5440680" cy="2743200"/>
          </a:xfrm>
          <a:prstGeom prst="rect">
            <a:avLst/>
          </a:prstGeom>
          <a:solidFill>
            <a:srgbClr val="FFFFFF"/>
          </a:solidFill>
          <a:ln w="6350">
            <a:solidFill>
              <a:srgbClr val="D6CFB8"/>
            </a:solidFill>
            <a:prstDash val="solid"/>
          </a:ln>
        </p:spPr>
      </p:sp>
      <p:sp>
        <p:nvSpPr>
          <p:cNvPr id="8" name="Text 6"/>
          <p:cNvSpPr/>
          <p:nvPr/>
        </p:nvSpPr>
        <p:spPr>
          <a:xfrm>
            <a:off x="731520" y="3374136"/>
            <a:ext cx="525780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p-value = aire à droite de la statistique observée</a:t>
            </a:r>
            <a:endParaRPr lang="en-US" sz="900" dirty="0"/>
          </a:p>
        </p:txBody>
      </p:sp>
      <p:sp>
        <p:nvSpPr>
          <p:cNvPr id="9" name="Shape 7"/>
          <p:cNvSpPr/>
          <p:nvPr/>
        </p:nvSpPr>
        <p:spPr>
          <a:xfrm>
            <a:off x="868680" y="5715000"/>
            <a:ext cx="5074920" cy="0"/>
          </a:xfrm>
          <a:prstGeom prst="line">
            <a:avLst/>
          </a:prstGeom>
          <a:noFill/>
          <a:ln w="9525">
            <a:solidFill>
              <a:srgbClr val="0E1729"/>
            </a:solidFill>
            <a:prstDash val="solid"/>
          </a:ln>
        </p:spPr>
      </p:sp>
      <p:sp>
        <p:nvSpPr>
          <p:cNvPr id="10" name="Shape 8"/>
          <p:cNvSpPr/>
          <p:nvPr/>
        </p:nvSpPr>
        <p:spPr>
          <a:xfrm>
            <a:off x="868680" y="3657600"/>
            <a:ext cx="0" cy="2057400"/>
          </a:xfrm>
          <a:prstGeom prst="line">
            <a:avLst/>
          </a:prstGeom>
          <a:noFill/>
          <a:ln w="9525">
            <a:solidFill>
              <a:srgbClr val="0E1729"/>
            </a:solidFill>
            <a:prstDash val="solid"/>
          </a:ln>
        </p:spPr>
      </p:sp>
      <p:sp>
        <p:nvSpPr>
          <p:cNvPr id="11" name="Text 9"/>
          <p:cNvSpPr/>
          <p:nvPr/>
        </p:nvSpPr>
        <p:spPr>
          <a:xfrm>
            <a:off x="868680" y="5806440"/>
            <a:ext cx="507492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Statistique du test</a:t>
            </a:r>
            <a:endParaRPr lang="en-US" sz="800" dirty="0"/>
          </a:p>
        </p:txBody>
      </p:sp>
      <p:sp>
        <p:nvSpPr>
          <p:cNvPr id="12" name="Shape 10"/>
          <p:cNvSpPr/>
          <p:nvPr/>
        </p:nvSpPr>
        <p:spPr>
          <a:xfrm>
            <a:off x="4769119" y="3657600"/>
            <a:ext cx="1174481" cy="2057400"/>
          </a:xfrm>
          <a:prstGeom prst="rect">
            <a:avLst/>
          </a:prstGeom>
          <a:solidFill>
            <a:srgbClr val="F09042">
              <a:alpha val="35000"/>
            </a:srgbClr>
          </a:solidFill>
          <a:ln/>
        </p:spPr>
      </p:sp>
      <p:sp>
        <p:nvSpPr>
          <p:cNvPr id="13" name="Shape 11"/>
          <p:cNvSpPr/>
          <p:nvPr/>
        </p:nvSpPr>
        <p:spPr>
          <a:xfrm>
            <a:off x="868680" y="5710950"/>
            <a:ext cx="126873" cy="-3309"/>
          </a:xfrm>
          <a:prstGeom prst="line">
            <a:avLst/>
          </a:prstGeom>
          <a:noFill/>
          <a:ln w="19050">
            <a:solidFill>
              <a:srgbClr val="0E1729"/>
            </a:solidFill>
            <a:prstDash val="solid"/>
          </a:ln>
        </p:spPr>
      </p:sp>
      <p:sp>
        <p:nvSpPr>
          <p:cNvPr id="14" name="Shape 12"/>
          <p:cNvSpPr/>
          <p:nvPr/>
        </p:nvSpPr>
        <p:spPr>
          <a:xfrm>
            <a:off x="995553" y="5707640"/>
            <a:ext cx="126873" cy="-5610"/>
          </a:xfrm>
          <a:prstGeom prst="line">
            <a:avLst/>
          </a:prstGeom>
          <a:noFill/>
          <a:ln w="19050">
            <a:solidFill>
              <a:srgbClr val="0E1729"/>
            </a:solidFill>
            <a:prstDash val="solid"/>
          </a:ln>
        </p:spPr>
      </p:sp>
      <p:sp>
        <p:nvSpPr>
          <p:cNvPr id="15" name="Shape 13"/>
          <p:cNvSpPr/>
          <p:nvPr/>
        </p:nvSpPr>
        <p:spPr>
          <a:xfrm>
            <a:off x="1122426" y="5702031"/>
            <a:ext cx="126873" cy="-9196"/>
          </a:xfrm>
          <a:prstGeom prst="line">
            <a:avLst/>
          </a:prstGeom>
          <a:noFill/>
          <a:ln w="19050">
            <a:solidFill>
              <a:srgbClr val="0E1729"/>
            </a:solidFill>
            <a:prstDash val="solid"/>
          </a:ln>
        </p:spPr>
      </p:sp>
      <p:sp>
        <p:nvSpPr>
          <p:cNvPr id="16" name="Shape 14"/>
          <p:cNvSpPr/>
          <p:nvPr/>
        </p:nvSpPr>
        <p:spPr>
          <a:xfrm>
            <a:off x="1249299" y="5692835"/>
            <a:ext cx="126873" cy="-14574"/>
          </a:xfrm>
          <a:prstGeom prst="line">
            <a:avLst/>
          </a:prstGeom>
          <a:noFill/>
          <a:ln w="19050">
            <a:solidFill>
              <a:srgbClr val="0E1729"/>
            </a:solidFill>
            <a:prstDash val="solid"/>
          </a:ln>
        </p:spPr>
      </p:sp>
      <p:sp>
        <p:nvSpPr>
          <p:cNvPr id="17" name="Shape 15"/>
          <p:cNvSpPr/>
          <p:nvPr/>
        </p:nvSpPr>
        <p:spPr>
          <a:xfrm>
            <a:off x="1376172" y="5678261"/>
            <a:ext cx="126873" cy="-22319"/>
          </a:xfrm>
          <a:prstGeom prst="line">
            <a:avLst/>
          </a:prstGeom>
          <a:noFill/>
          <a:ln w="19050">
            <a:solidFill>
              <a:srgbClr val="0E1729"/>
            </a:solidFill>
            <a:prstDash val="solid"/>
          </a:ln>
        </p:spPr>
      </p:sp>
      <p:sp>
        <p:nvSpPr>
          <p:cNvPr id="18" name="Shape 16"/>
          <p:cNvSpPr/>
          <p:nvPr/>
        </p:nvSpPr>
        <p:spPr>
          <a:xfrm>
            <a:off x="1503045" y="5655942"/>
            <a:ext cx="126873" cy="-33015"/>
          </a:xfrm>
          <a:prstGeom prst="line">
            <a:avLst/>
          </a:prstGeom>
          <a:noFill/>
          <a:ln w="19050">
            <a:solidFill>
              <a:srgbClr val="0E1729"/>
            </a:solidFill>
            <a:prstDash val="solid"/>
          </a:ln>
        </p:spPr>
      </p:sp>
      <p:sp>
        <p:nvSpPr>
          <p:cNvPr id="19" name="Shape 17"/>
          <p:cNvSpPr/>
          <p:nvPr/>
        </p:nvSpPr>
        <p:spPr>
          <a:xfrm>
            <a:off x="1629918" y="5622926"/>
            <a:ext cx="126873" cy="-47142"/>
          </a:xfrm>
          <a:prstGeom prst="line">
            <a:avLst/>
          </a:prstGeom>
          <a:noFill/>
          <a:ln w="19050">
            <a:solidFill>
              <a:srgbClr val="0E1729"/>
            </a:solidFill>
            <a:prstDash val="solid"/>
          </a:ln>
        </p:spPr>
      </p:sp>
      <p:sp>
        <p:nvSpPr>
          <p:cNvPr id="20" name="Shape 18"/>
          <p:cNvSpPr/>
          <p:nvPr/>
        </p:nvSpPr>
        <p:spPr>
          <a:xfrm>
            <a:off x="1756791" y="5575784"/>
            <a:ext cx="126873" cy="-64931"/>
          </a:xfrm>
          <a:prstGeom prst="line">
            <a:avLst/>
          </a:prstGeom>
          <a:noFill/>
          <a:ln w="19050">
            <a:solidFill>
              <a:srgbClr val="0E1729"/>
            </a:solidFill>
            <a:prstDash val="solid"/>
          </a:ln>
        </p:spPr>
      </p:sp>
      <p:sp>
        <p:nvSpPr>
          <p:cNvPr id="21" name="Shape 19"/>
          <p:cNvSpPr/>
          <p:nvPr/>
        </p:nvSpPr>
        <p:spPr>
          <a:xfrm>
            <a:off x="1883664" y="5510854"/>
            <a:ext cx="126873" cy="-86186"/>
          </a:xfrm>
          <a:prstGeom prst="line">
            <a:avLst/>
          </a:prstGeom>
          <a:noFill/>
          <a:ln w="19050">
            <a:solidFill>
              <a:srgbClr val="0E1729"/>
            </a:solidFill>
            <a:prstDash val="solid"/>
          </a:ln>
        </p:spPr>
      </p:sp>
      <p:sp>
        <p:nvSpPr>
          <p:cNvPr id="22" name="Shape 20"/>
          <p:cNvSpPr/>
          <p:nvPr/>
        </p:nvSpPr>
        <p:spPr>
          <a:xfrm>
            <a:off x="2010537" y="5424668"/>
            <a:ext cx="126873" cy="-110117"/>
          </a:xfrm>
          <a:prstGeom prst="line">
            <a:avLst/>
          </a:prstGeom>
          <a:noFill/>
          <a:ln w="19050">
            <a:solidFill>
              <a:srgbClr val="0E1729"/>
            </a:solidFill>
            <a:prstDash val="solid"/>
          </a:ln>
        </p:spPr>
      </p:sp>
      <p:sp>
        <p:nvSpPr>
          <p:cNvPr id="23" name="Shape 21"/>
          <p:cNvSpPr/>
          <p:nvPr/>
        </p:nvSpPr>
        <p:spPr>
          <a:xfrm>
            <a:off x="2137410" y="5314550"/>
            <a:ext cx="126873" cy="-135224"/>
          </a:xfrm>
          <a:prstGeom prst="line">
            <a:avLst/>
          </a:prstGeom>
          <a:noFill/>
          <a:ln w="19050">
            <a:solidFill>
              <a:srgbClr val="0E1729"/>
            </a:solidFill>
            <a:prstDash val="solid"/>
          </a:ln>
        </p:spPr>
      </p:sp>
      <p:sp>
        <p:nvSpPr>
          <p:cNvPr id="24" name="Shape 22"/>
          <p:cNvSpPr/>
          <p:nvPr/>
        </p:nvSpPr>
        <p:spPr>
          <a:xfrm>
            <a:off x="2264283" y="5179326"/>
            <a:ext cx="126873" cy="-159275"/>
          </a:xfrm>
          <a:prstGeom prst="line">
            <a:avLst/>
          </a:prstGeom>
          <a:noFill/>
          <a:ln w="19050">
            <a:solidFill>
              <a:srgbClr val="0E1729"/>
            </a:solidFill>
            <a:prstDash val="solid"/>
          </a:ln>
        </p:spPr>
      </p:sp>
      <p:sp>
        <p:nvSpPr>
          <p:cNvPr id="25" name="Shape 23"/>
          <p:cNvSpPr/>
          <p:nvPr/>
        </p:nvSpPr>
        <p:spPr>
          <a:xfrm>
            <a:off x="2391156" y="5020051"/>
            <a:ext cx="126873" cy="-179440"/>
          </a:xfrm>
          <a:prstGeom prst="line">
            <a:avLst/>
          </a:prstGeom>
          <a:noFill/>
          <a:ln w="19050">
            <a:solidFill>
              <a:srgbClr val="0E1729"/>
            </a:solidFill>
            <a:prstDash val="solid"/>
          </a:ln>
        </p:spPr>
      </p:sp>
      <p:sp>
        <p:nvSpPr>
          <p:cNvPr id="26" name="Shape 24"/>
          <p:cNvSpPr/>
          <p:nvPr/>
        </p:nvSpPr>
        <p:spPr>
          <a:xfrm>
            <a:off x="2518029" y="4840611"/>
            <a:ext cx="126873" cy="-192591"/>
          </a:xfrm>
          <a:prstGeom prst="line">
            <a:avLst/>
          </a:prstGeom>
          <a:noFill/>
          <a:ln w="19050">
            <a:solidFill>
              <a:srgbClr val="0E1729"/>
            </a:solidFill>
            <a:prstDash val="solid"/>
          </a:ln>
        </p:spPr>
      </p:sp>
      <p:sp>
        <p:nvSpPr>
          <p:cNvPr id="27" name="Shape 25"/>
          <p:cNvSpPr/>
          <p:nvPr/>
        </p:nvSpPr>
        <p:spPr>
          <a:xfrm>
            <a:off x="2644902" y="4648020"/>
            <a:ext cx="126873" cy="-195742"/>
          </a:xfrm>
          <a:prstGeom prst="line">
            <a:avLst/>
          </a:prstGeom>
          <a:noFill/>
          <a:ln w="19050">
            <a:solidFill>
              <a:srgbClr val="0E1729"/>
            </a:solidFill>
            <a:prstDash val="solid"/>
          </a:ln>
        </p:spPr>
      </p:sp>
      <p:sp>
        <p:nvSpPr>
          <p:cNvPr id="28" name="Shape 26"/>
          <p:cNvSpPr/>
          <p:nvPr/>
        </p:nvSpPr>
        <p:spPr>
          <a:xfrm>
            <a:off x="2771775" y="4452278"/>
            <a:ext cx="126873" cy="-186580"/>
          </a:xfrm>
          <a:prstGeom prst="line">
            <a:avLst/>
          </a:prstGeom>
          <a:noFill/>
          <a:ln w="19050">
            <a:solidFill>
              <a:srgbClr val="0E1729"/>
            </a:solidFill>
            <a:prstDash val="solid"/>
          </a:ln>
        </p:spPr>
      </p:sp>
      <p:sp>
        <p:nvSpPr>
          <p:cNvPr id="29" name="Shape 27"/>
          <p:cNvSpPr/>
          <p:nvPr/>
        </p:nvSpPr>
        <p:spPr>
          <a:xfrm>
            <a:off x="2898648" y="4265697"/>
            <a:ext cx="126873" cy="-163978"/>
          </a:xfrm>
          <a:prstGeom prst="line">
            <a:avLst/>
          </a:prstGeom>
          <a:noFill/>
          <a:ln w="19050">
            <a:solidFill>
              <a:srgbClr val="0E1729"/>
            </a:solidFill>
            <a:prstDash val="solid"/>
          </a:ln>
        </p:spPr>
      </p:sp>
      <p:sp>
        <p:nvSpPr>
          <p:cNvPr id="30" name="Shape 28"/>
          <p:cNvSpPr/>
          <p:nvPr/>
        </p:nvSpPr>
        <p:spPr>
          <a:xfrm>
            <a:off x="3025521" y="4101719"/>
            <a:ext cx="126873" cy="-128368"/>
          </a:xfrm>
          <a:prstGeom prst="line">
            <a:avLst/>
          </a:prstGeom>
          <a:noFill/>
          <a:ln w="19050">
            <a:solidFill>
              <a:srgbClr val="0E1729"/>
            </a:solidFill>
            <a:prstDash val="solid"/>
          </a:ln>
        </p:spPr>
      </p:sp>
      <p:sp>
        <p:nvSpPr>
          <p:cNvPr id="31" name="Shape 29"/>
          <p:cNvSpPr/>
          <p:nvPr/>
        </p:nvSpPr>
        <p:spPr>
          <a:xfrm>
            <a:off x="3152394" y="3973351"/>
            <a:ext cx="126873" cy="-81873"/>
          </a:xfrm>
          <a:prstGeom prst="line">
            <a:avLst/>
          </a:prstGeom>
          <a:noFill/>
          <a:ln w="19050">
            <a:solidFill>
              <a:srgbClr val="0E1729"/>
            </a:solidFill>
            <a:prstDash val="solid"/>
          </a:ln>
        </p:spPr>
      </p:sp>
      <p:sp>
        <p:nvSpPr>
          <p:cNvPr id="32" name="Shape 30"/>
          <p:cNvSpPr/>
          <p:nvPr/>
        </p:nvSpPr>
        <p:spPr>
          <a:xfrm>
            <a:off x="3279267" y="3891478"/>
            <a:ext cx="126873" cy="-28138"/>
          </a:xfrm>
          <a:prstGeom prst="line">
            <a:avLst/>
          </a:prstGeom>
          <a:noFill/>
          <a:ln w="19050">
            <a:solidFill>
              <a:srgbClr val="0E1729"/>
            </a:solidFill>
            <a:prstDash val="solid"/>
          </a:ln>
        </p:spPr>
      </p:sp>
      <p:sp>
        <p:nvSpPr>
          <p:cNvPr id="33" name="Shape 31"/>
          <p:cNvSpPr/>
          <p:nvPr/>
        </p:nvSpPr>
        <p:spPr>
          <a:xfrm>
            <a:off x="3406140" y="3863340"/>
            <a:ext cx="126873" cy="28138"/>
          </a:xfrm>
          <a:prstGeom prst="line">
            <a:avLst/>
          </a:prstGeom>
          <a:noFill/>
          <a:ln w="19050">
            <a:solidFill>
              <a:srgbClr val="0E1729"/>
            </a:solidFill>
            <a:prstDash val="solid"/>
          </a:ln>
        </p:spPr>
      </p:sp>
      <p:sp>
        <p:nvSpPr>
          <p:cNvPr id="34" name="Shape 32"/>
          <p:cNvSpPr/>
          <p:nvPr/>
        </p:nvSpPr>
        <p:spPr>
          <a:xfrm>
            <a:off x="3533013" y="3891478"/>
            <a:ext cx="126873" cy="81873"/>
          </a:xfrm>
          <a:prstGeom prst="line">
            <a:avLst/>
          </a:prstGeom>
          <a:noFill/>
          <a:ln w="19050">
            <a:solidFill>
              <a:srgbClr val="0E1729"/>
            </a:solidFill>
            <a:prstDash val="solid"/>
          </a:ln>
        </p:spPr>
      </p:sp>
      <p:sp>
        <p:nvSpPr>
          <p:cNvPr id="35" name="Shape 33"/>
          <p:cNvSpPr/>
          <p:nvPr/>
        </p:nvSpPr>
        <p:spPr>
          <a:xfrm>
            <a:off x="3659886" y="3973351"/>
            <a:ext cx="126873" cy="128368"/>
          </a:xfrm>
          <a:prstGeom prst="line">
            <a:avLst/>
          </a:prstGeom>
          <a:noFill/>
          <a:ln w="19050">
            <a:solidFill>
              <a:srgbClr val="0E1729"/>
            </a:solidFill>
            <a:prstDash val="solid"/>
          </a:ln>
        </p:spPr>
      </p:sp>
      <p:sp>
        <p:nvSpPr>
          <p:cNvPr id="36" name="Shape 34"/>
          <p:cNvSpPr/>
          <p:nvPr/>
        </p:nvSpPr>
        <p:spPr>
          <a:xfrm>
            <a:off x="3786759" y="4101719"/>
            <a:ext cx="126873" cy="163978"/>
          </a:xfrm>
          <a:prstGeom prst="line">
            <a:avLst/>
          </a:prstGeom>
          <a:noFill/>
          <a:ln w="19050">
            <a:solidFill>
              <a:srgbClr val="0E1729"/>
            </a:solidFill>
            <a:prstDash val="solid"/>
          </a:ln>
        </p:spPr>
      </p:sp>
      <p:sp>
        <p:nvSpPr>
          <p:cNvPr id="37" name="Shape 35"/>
          <p:cNvSpPr/>
          <p:nvPr/>
        </p:nvSpPr>
        <p:spPr>
          <a:xfrm>
            <a:off x="3913632" y="4265697"/>
            <a:ext cx="126873" cy="186580"/>
          </a:xfrm>
          <a:prstGeom prst="line">
            <a:avLst/>
          </a:prstGeom>
          <a:noFill/>
          <a:ln w="19050">
            <a:solidFill>
              <a:srgbClr val="0E1729"/>
            </a:solidFill>
            <a:prstDash val="solid"/>
          </a:ln>
        </p:spPr>
      </p:sp>
      <p:sp>
        <p:nvSpPr>
          <p:cNvPr id="38" name="Shape 36"/>
          <p:cNvSpPr/>
          <p:nvPr/>
        </p:nvSpPr>
        <p:spPr>
          <a:xfrm>
            <a:off x="4040505" y="4452278"/>
            <a:ext cx="126873" cy="195742"/>
          </a:xfrm>
          <a:prstGeom prst="line">
            <a:avLst/>
          </a:prstGeom>
          <a:noFill/>
          <a:ln w="19050">
            <a:solidFill>
              <a:srgbClr val="0E1729"/>
            </a:solidFill>
            <a:prstDash val="solid"/>
          </a:ln>
        </p:spPr>
      </p:sp>
      <p:sp>
        <p:nvSpPr>
          <p:cNvPr id="39" name="Shape 37"/>
          <p:cNvSpPr/>
          <p:nvPr/>
        </p:nvSpPr>
        <p:spPr>
          <a:xfrm>
            <a:off x="4167378" y="4648020"/>
            <a:ext cx="126873" cy="192591"/>
          </a:xfrm>
          <a:prstGeom prst="line">
            <a:avLst/>
          </a:prstGeom>
          <a:noFill/>
          <a:ln w="19050">
            <a:solidFill>
              <a:srgbClr val="0E1729"/>
            </a:solidFill>
            <a:prstDash val="solid"/>
          </a:ln>
        </p:spPr>
      </p:sp>
      <p:sp>
        <p:nvSpPr>
          <p:cNvPr id="40" name="Shape 38"/>
          <p:cNvSpPr/>
          <p:nvPr/>
        </p:nvSpPr>
        <p:spPr>
          <a:xfrm>
            <a:off x="4294251" y="4840611"/>
            <a:ext cx="126873" cy="179440"/>
          </a:xfrm>
          <a:prstGeom prst="line">
            <a:avLst/>
          </a:prstGeom>
          <a:noFill/>
          <a:ln w="19050">
            <a:solidFill>
              <a:srgbClr val="0E1729"/>
            </a:solidFill>
            <a:prstDash val="solid"/>
          </a:ln>
        </p:spPr>
      </p:sp>
      <p:sp>
        <p:nvSpPr>
          <p:cNvPr id="41" name="Shape 39"/>
          <p:cNvSpPr/>
          <p:nvPr/>
        </p:nvSpPr>
        <p:spPr>
          <a:xfrm>
            <a:off x="4421124" y="5020051"/>
            <a:ext cx="126873" cy="159275"/>
          </a:xfrm>
          <a:prstGeom prst="line">
            <a:avLst/>
          </a:prstGeom>
          <a:noFill/>
          <a:ln w="19050">
            <a:solidFill>
              <a:srgbClr val="0E1729"/>
            </a:solidFill>
            <a:prstDash val="solid"/>
          </a:ln>
        </p:spPr>
      </p:sp>
      <p:sp>
        <p:nvSpPr>
          <p:cNvPr id="42" name="Shape 40"/>
          <p:cNvSpPr/>
          <p:nvPr/>
        </p:nvSpPr>
        <p:spPr>
          <a:xfrm>
            <a:off x="4547997" y="5179326"/>
            <a:ext cx="126873" cy="135224"/>
          </a:xfrm>
          <a:prstGeom prst="line">
            <a:avLst/>
          </a:prstGeom>
          <a:noFill/>
          <a:ln w="19050">
            <a:solidFill>
              <a:srgbClr val="0E1729"/>
            </a:solidFill>
            <a:prstDash val="solid"/>
          </a:ln>
        </p:spPr>
      </p:sp>
      <p:sp>
        <p:nvSpPr>
          <p:cNvPr id="43" name="Shape 41"/>
          <p:cNvSpPr/>
          <p:nvPr/>
        </p:nvSpPr>
        <p:spPr>
          <a:xfrm>
            <a:off x="4674870" y="5314550"/>
            <a:ext cx="126873" cy="110117"/>
          </a:xfrm>
          <a:prstGeom prst="line">
            <a:avLst/>
          </a:prstGeom>
          <a:noFill/>
          <a:ln w="19050">
            <a:solidFill>
              <a:srgbClr val="0E1729"/>
            </a:solidFill>
            <a:prstDash val="solid"/>
          </a:ln>
        </p:spPr>
      </p:sp>
      <p:sp>
        <p:nvSpPr>
          <p:cNvPr id="44" name="Shape 42"/>
          <p:cNvSpPr/>
          <p:nvPr/>
        </p:nvSpPr>
        <p:spPr>
          <a:xfrm>
            <a:off x="4801743" y="5424668"/>
            <a:ext cx="126873" cy="86186"/>
          </a:xfrm>
          <a:prstGeom prst="line">
            <a:avLst/>
          </a:prstGeom>
          <a:noFill/>
          <a:ln w="19050">
            <a:solidFill>
              <a:srgbClr val="0E1729"/>
            </a:solidFill>
            <a:prstDash val="solid"/>
          </a:ln>
        </p:spPr>
      </p:sp>
      <p:sp>
        <p:nvSpPr>
          <p:cNvPr id="45" name="Shape 43"/>
          <p:cNvSpPr/>
          <p:nvPr/>
        </p:nvSpPr>
        <p:spPr>
          <a:xfrm>
            <a:off x="4928616" y="5510854"/>
            <a:ext cx="126873" cy="64931"/>
          </a:xfrm>
          <a:prstGeom prst="line">
            <a:avLst/>
          </a:prstGeom>
          <a:noFill/>
          <a:ln w="19050">
            <a:solidFill>
              <a:srgbClr val="0E1729"/>
            </a:solidFill>
            <a:prstDash val="solid"/>
          </a:ln>
        </p:spPr>
      </p:sp>
      <p:sp>
        <p:nvSpPr>
          <p:cNvPr id="46" name="Shape 44"/>
          <p:cNvSpPr/>
          <p:nvPr/>
        </p:nvSpPr>
        <p:spPr>
          <a:xfrm>
            <a:off x="5055489" y="5575784"/>
            <a:ext cx="126873" cy="47142"/>
          </a:xfrm>
          <a:prstGeom prst="line">
            <a:avLst/>
          </a:prstGeom>
          <a:noFill/>
          <a:ln w="19050">
            <a:solidFill>
              <a:srgbClr val="0E1729"/>
            </a:solidFill>
            <a:prstDash val="solid"/>
          </a:ln>
        </p:spPr>
      </p:sp>
      <p:sp>
        <p:nvSpPr>
          <p:cNvPr id="47" name="Shape 45"/>
          <p:cNvSpPr/>
          <p:nvPr/>
        </p:nvSpPr>
        <p:spPr>
          <a:xfrm>
            <a:off x="5182362" y="5622926"/>
            <a:ext cx="126873" cy="33015"/>
          </a:xfrm>
          <a:prstGeom prst="line">
            <a:avLst/>
          </a:prstGeom>
          <a:noFill/>
          <a:ln w="19050">
            <a:solidFill>
              <a:srgbClr val="0E1729"/>
            </a:solidFill>
            <a:prstDash val="solid"/>
          </a:ln>
        </p:spPr>
      </p:sp>
      <p:sp>
        <p:nvSpPr>
          <p:cNvPr id="48" name="Shape 46"/>
          <p:cNvSpPr/>
          <p:nvPr/>
        </p:nvSpPr>
        <p:spPr>
          <a:xfrm>
            <a:off x="5309235" y="5655942"/>
            <a:ext cx="126873" cy="22319"/>
          </a:xfrm>
          <a:prstGeom prst="line">
            <a:avLst/>
          </a:prstGeom>
          <a:noFill/>
          <a:ln w="19050">
            <a:solidFill>
              <a:srgbClr val="0E1729"/>
            </a:solidFill>
            <a:prstDash val="solid"/>
          </a:ln>
        </p:spPr>
      </p:sp>
      <p:sp>
        <p:nvSpPr>
          <p:cNvPr id="49" name="Shape 47"/>
          <p:cNvSpPr/>
          <p:nvPr/>
        </p:nvSpPr>
        <p:spPr>
          <a:xfrm>
            <a:off x="5436108" y="5678261"/>
            <a:ext cx="126873" cy="14574"/>
          </a:xfrm>
          <a:prstGeom prst="line">
            <a:avLst/>
          </a:prstGeom>
          <a:noFill/>
          <a:ln w="19050">
            <a:solidFill>
              <a:srgbClr val="0E1729"/>
            </a:solidFill>
            <a:prstDash val="solid"/>
          </a:ln>
        </p:spPr>
      </p:sp>
      <p:sp>
        <p:nvSpPr>
          <p:cNvPr id="50" name="Shape 48"/>
          <p:cNvSpPr/>
          <p:nvPr/>
        </p:nvSpPr>
        <p:spPr>
          <a:xfrm>
            <a:off x="5562981" y="5692835"/>
            <a:ext cx="126873" cy="9196"/>
          </a:xfrm>
          <a:prstGeom prst="line">
            <a:avLst/>
          </a:prstGeom>
          <a:noFill/>
          <a:ln w="19050">
            <a:solidFill>
              <a:srgbClr val="0E1729"/>
            </a:solidFill>
            <a:prstDash val="solid"/>
          </a:ln>
        </p:spPr>
      </p:sp>
      <p:sp>
        <p:nvSpPr>
          <p:cNvPr id="51" name="Shape 49"/>
          <p:cNvSpPr/>
          <p:nvPr/>
        </p:nvSpPr>
        <p:spPr>
          <a:xfrm>
            <a:off x="5689854" y="5702031"/>
            <a:ext cx="126873" cy="5610"/>
          </a:xfrm>
          <a:prstGeom prst="line">
            <a:avLst/>
          </a:prstGeom>
          <a:noFill/>
          <a:ln w="19050">
            <a:solidFill>
              <a:srgbClr val="0E1729"/>
            </a:solidFill>
            <a:prstDash val="solid"/>
          </a:ln>
        </p:spPr>
      </p:sp>
      <p:sp>
        <p:nvSpPr>
          <p:cNvPr id="52" name="Shape 50"/>
          <p:cNvSpPr/>
          <p:nvPr/>
        </p:nvSpPr>
        <p:spPr>
          <a:xfrm>
            <a:off x="5816727" y="5707640"/>
            <a:ext cx="126873" cy="3309"/>
          </a:xfrm>
          <a:prstGeom prst="line">
            <a:avLst/>
          </a:prstGeom>
          <a:noFill/>
          <a:ln w="19050">
            <a:solidFill>
              <a:srgbClr val="0E1729"/>
            </a:solidFill>
            <a:prstDash val="solid"/>
          </a:ln>
        </p:spPr>
      </p:sp>
      <p:sp>
        <p:nvSpPr>
          <p:cNvPr id="53" name="Shape 51"/>
          <p:cNvSpPr/>
          <p:nvPr/>
        </p:nvSpPr>
        <p:spPr>
          <a:xfrm>
            <a:off x="6291072" y="3337560"/>
            <a:ext cx="5440680" cy="1234440"/>
          </a:xfrm>
          <a:prstGeom prst="roundRect">
            <a:avLst>
              <a:gd name="adj" fmla="val 7407"/>
            </a:avLst>
          </a:prstGeom>
          <a:solidFill>
            <a:srgbClr val="FFFFFF"/>
          </a:solidFill>
          <a:ln w="19050">
            <a:solidFill>
              <a:srgbClr val="4CAF50"/>
            </a:solidFill>
            <a:prstDash val="solid"/>
          </a:ln>
        </p:spPr>
      </p:sp>
      <p:sp>
        <p:nvSpPr>
          <p:cNvPr id="54" name="Text 52"/>
          <p:cNvSpPr/>
          <p:nvPr/>
        </p:nvSpPr>
        <p:spPr>
          <a:xfrm>
            <a:off x="6473952" y="3456432"/>
            <a:ext cx="5029200" cy="274320"/>
          </a:xfrm>
          <a:prstGeom prst="rect">
            <a:avLst/>
          </a:prstGeom>
          <a:noFill/>
          <a:ln/>
        </p:spPr>
        <p:txBody>
          <a:bodyPr wrap="square" rtlCol="0" anchor="ctr"/>
          <a:lstStyle/>
          <a:p>
            <a:pPr indent="0" marL="0">
              <a:buNone/>
            </a:pPr>
            <a:r>
              <a:rPr lang="en-US" sz="1000" b="1" spc="300" kern="0" dirty="0">
                <a:solidFill>
                  <a:srgbClr val="4CAF50"/>
                </a:solidFill>
                <a:latin typeface="Calibri" pitchFamily="34" charset="0"/>
                <a:ea typeface="Calibri" pitchFamily="34" charset="-122"/>
                <a:cs typeface="Calibri" pitchFamily="34" charset="-120"/>
              </a:rPr>
              <a:t>CE QU'ELLE EST</a:t>
            </a:r>
            <a:endParaRPr lang="en-US" sz="1000" dirty="0"/>
          </a:p>
        </p:txBody>
      </p:sp>
      <p:sp>
        <p:nvSpPr>
          <p:cNvPr id="55" name="Text 53"/>
          <p:cNvSpPr/>
          <p:nvPr/>
        </p:nvSpPr>
        <p:spPr>
          <a:xfrm>
            <a:off x="6473952" y="3749040"/>
            <a:ext cx="5074920" cy="822960"/>
          </a:xfrm>
          <a:prstGeom prst="rect">
            <a:avLst/>
          </a:prstGeom>
          <a:noFill/>
          <a:ln/>
        </p:spPr>
        <p:txBody>
          <a:bodyPr wrap="square" rtlCol="0" anchor="ctr"/>
          <a:lstStyle/>
          <a:p>
            <a:pPr indent="0" marL="0">
              <a:lnSpc>
                <a:spcPct val="130000"/>
              </a:lnSpc>
              <a:buNone/>
            </a:pPr>
            <a:r>
              <a:rPr lang="en-US" sz="1200" dirty="0">
                <a:solidFill>
                  <a:srgbClr val="15233F"/>
                </a:solidFill>
                <a:latin typeface="Calibri" pitchFamily="34" charset="0"/>
                <a:ea typeface="Calibri" pitchFamily="34" charset="-122"/>
                <a:cs typeface="Calibri" pitchFamily="34" charset="-120"/>
              </a:rPr>
              <a:t>Probabilité d'observer ces données — ou plus extrêmes — SI H₀ était vraie.</a:t>
            </a:r>
            <a:endParaRPr lang="en-US" sz="1200" dirty="0"/>
          </a:p>
        </p:txBody>
      </p:sp>
      <p:sp>
        <p:nvSpPr>
          <p:cNvPr id="56" name="Shape 54"/>
          <p:cNvSpPr/>
          <p:nvPr/>
        </p:nvSpPr>
        <p:spPr>
          <a:xfrm>
            <a:off x="6291072" y="4663440"/>
            <a:ext cx="5440680" cy="1417320"/>
          </a:xfrm>
          <a:prstGeom prst="roundRect">
            <a:avLst>
              <a:gd name="adj" fmla="val 6452"/>
            </a:avLst>
          </a:prstGeom>
          <a:solidFill>
            <a:srgbClr val="FFFFFF"/>
          </a:solidFill>
          <a:ln w="19050">
            <a:solidFill>
              <a:srgbClr val="E74C3C"/>
            </a:solidFill>
            <a:prstDash val="solid"/>
          </a:ln>
        </p:spPr>
      </p:sp>
      <p:sp>
        <p:nvSpPr>
          <p:cNvPr id="57" name="Text 55"/>
          <p:cNvSpPr/>
          <p:nvPr/>
        </p:nvSpPr>
        <p:spPr>
          <a:xfrm>
            <a:off x="6473952" y="4782312"/>
            <a:ext cx="5029200" cy="274320"/>
          </a:xfrm>
          <a:prstGeom prst="rect">
            <a:avLst/>
          </a:prstGeom>
          <a:noFill/>
          <a:ln/>
        </p:spPr>
        <p:txBody>
          <a:bodyPr wrap="square" rtlCol="0" anchor="ctr"/>
          <a:lstStyle/>
          <a:p>
            <a:pPr indent="0" marL="0">
              <a:buNone/>
            </a:pPr>
            <a:r>
              <a:rPr lang="en-US" sz="1000" b="1" spc="300" kern="0" dirty="0">
                <a:solidFill>
                  <a:srgbClr val="E74C3C"/>
                </a:solidFill>
                <a:latin typeface="Calibri" pitchFamily="34" charset="0"/>
                <a:ea typeface="Calibri" pitchFamily="34" charset="-122"/>
                <a:cs typeface="Calibri" pitchFamily="34" charset="-120"/>
              </a:rPr>
              <a:t>CE QU'ELLE N'EST PAS</a:t>
            </a:r>
            <a:endParaRPr lang="en-US" sz="1000" dirty="0"/>
          </a:p>
        </p:txBody>
      </p:sp>
      <p:sp>
        <p:nvSpPr>
          <p:cNvPr id="58" name="Text 56"/>
          <p:cNvSpPr/>
          <p:nvPr/>
        </p:nvSpPr>
        <p:spPr>
          <a:xfrm>
            <a:off x="6473952" y="5074920"/>
            <a:ext cx="5074920" cy="914400"/>
          </a:xfrm>
          <a:prstGeom prst="rect">
            <a:avLst/>
          </a:prstGeom>
          <a:noFill/>
          <a:ln/>
        </p:spPr>
        <p:txBody>
          <a:bodyPr wrap="square" rtlCol="0" anchor="ctr"/>
          <a:lstStyle/>
          <a:p>
            <a:pPr indent="0" marL="0">
              <a:lnSpc>
                <a:spcPct val="130000"/>
              </a:lnSpc>
              <a:buNone/>
            </a:pPr>
            <a:r>
              <a:rPr lang="en-US" sz="1200" dirty="0">
                <a:solidFill>
                  <a:srgbClr val="15233F"/>
                </a:solidFill>
                <a:latin typeface="Calibri" pitchFamily="34" charset="0"/>
                <a:ea typeface="Calibri" pitchFamily="34" charset="-122"/>
                <a:cs typeface="Calibri" pitchFamily="34" charset="-120"/>
              </a:rPr>
              <a:t>Que H₀ est vraie ou fausse. Que ton résultat est important. Que l'effet est cliniquement pertinent.</a:t>
            </a:r>
            <a:endParaRPr lang="en-US" sz="1200" dirty="0"/>
          </a:p>
        </p:txBody>
      </p:sp>
      <p:sp>
        <p:nvSpPr>
          <p:cNvPr id="59" name="Text 57"/>
          <p:cNvSpPr/>
          <p:nvPr/>
        </p:nvSpPr>
        <p:spPr>
          <a:xfrm>
            <a:off x="640080" y="6172200"/>
            <a:ext cx="10972800" cy="27432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p = 0,049 n'est pas « plus fort » que p = 0,051. Le seuil de 5 % est une convention.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N°5 · TAILLE D'EFFET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300" b="1" spc="-100" kern="0" dirty="0">
                <a:solidFill>
                  <a:srgbClr val="15233F"/>
                </a:solidFill>
                <a:latin typeface="Calibri" pitchFamily="34" charset="0"/>
                <a:ea typeface="Calibri" pitchFamily="34" charset="-122"/>
                <a:cs typeface="Calibri" pitchFamily="34" charset="-120"/>
              </a:rPr>
              <a:t>« Statistiquement significatif » ne signifie pas « important ».</a:t>
            </a:r>
            <a:endParaRPr lang="en-US" sz="2300" dirty="0"/>
          </a:p>
        </p:txBody>
      </p:sp>
      <p:sp>
        <p:nvSpPr>
          <p:cNvPr id="6" name="Text 4"/>
          <p:cNvSpPr/>
          <p:nvPr/>
        </p:nvSpPr>
        <p:spPr>
          <a:xfrm>
            <a:off x="640080" y="1828800"/>
            <a:ext cx="10972800" cy="82296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Tu présentes un résultat « significatif » à p &lt; 0,001. Quel est l'effet, exactement ? Si tu réponds « p &lt; 0,001 », tu n'as pas répondu. Voici ce que ça donne visuellement.</a:t>
            </a:r>
            <a:endParaRPr lang="en-US" sz="1300" dirty="0"/>
          </a:p>
        </p:txBody>
      </p:sp>
      <p:sp>
        <p:nvSpPr>
          <p:cNvPr id="7" name="Shape 5"/>
          <p:cNvSpPr/>
          <p:nvPr/>
        </p:nvSpPr>
        <p:spPr>
          <a:xfrm>
            <a:off x="640080" y="2743200"/>
            <a:ext cx="5486400" cy="2560320"/>
          </a:xfrm>
          <a:prstGeom prst="rect">
            <a:avLst/>
          </a:prstGeom>
          <a:solidFill>
            <a:srgbClr val="FFFFFF"/>
          </a:solidFill>
          <a:ln w="6350">
            <a:solidFill>
              <a:srgbClr val="D6CFB8"/>
            </a:solidFill>
            <a:prstDash val="solid"/>
          </a:ln>
        </p:spPr>
      </p:sp>
      <p:sp>
        <p:nvSpPr>
          <p:cNvPr id="8" name="Text 6"/>
          <p:cNvSpPr/>
          <p:nvPr/>
        </p:nvSpPr>
        <p:spPr>
          <a:xfrm>
            <a:off x="731520" y="2779776"/>
            <a:ext cx="53035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Petit effet · les distributions se chevauchent</a:t>
            </a:r>
            <a:endParaRPr lang="en-US" sz="900" dirty="0"/>
          </a:p>
        </p:txBody>
      </p:sp>
      <p:sp>
        <p:nvSpPr>
          <p:cNvPr id="9" name="Shape 7"/>
          <p:cNvSpPr/>
          <p:nvPr/>
        </p:nvSpPr>
        <p:spPr>
          <a:xfrm>
            <a:off x="868680" y="4937760"/>
            <a:ext cx="5120640" cy="0"/>
          </a:xfrm>
          <a:prstGeom prst="line">
            <a:avLst/>
          </a:prstGeom>
          <a:noFill/>
          <a:ln w="9525">
            <a:solidFill>
              <a:srgbClr val="0E1729"/>
            </a:solidFill>
            <a:prstDash val="solid"/>
          </a:ln>
        </p:spPr>
      </p:sp>
      <p:sp>
        <p:nvSpPr>
          <p:cNvPr id="10" name="Shape 8"/>
          <p:cNvSpPr/>
          <p:nvPr/>
        </p:nvSpPr>
        <p:spPr>
          <a:xfrm>
            <a:off x="868680" y="3063240"/>
            <a:ext cx="0" cy="1874520"/>
          </a:xfrm>
          <a:prstGeom prst="line">
            <a:avLst/>
          </a:prstGeom>
          <a:noFill/>
          <a:ln w="9525">
            <a:solidFill>
              <a:srgbClr val="0E1729"/>
            </a:solidFill>
            <a:prstDash val="solid"/>
          </a:ln>
        </p:spPr>
      </p:sp>
      <p:sp>
        <p:nvSpPr>
          <p:cNvPr id="11" name="Text 9"/>
          <p:cNvSpPr/>
          <p:nvPr/>
        </p:nvSpPr>
        <p:spPr>
          <a:xfrm>
            <a:off x="868680" y="5029200"/>
            <a:ext cx="512064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Mesure</a:t>
            </a:r>
            <a:endParaRPr lang="en-US" sz="800" dirty="0"/>
          </a:p>
        </p:txBody>
      </p:sp>
      <p:sp>
        <p:nvSpPr>
          <p:cNvPr id="12" name="Shape 10"/>
          <p:cNvSpPr/>
          <p:nvPr/>
        </p:nvSpPr>
        <p:spPr>
          <a:xfrm>
            <a:off x="868680" y="4934070"/>
            <a:ext cx="123602" cy="-3015"/>
          </a:xfrm>
          <a:prstGeom prst="line">
            <a:avLst/>
          </a:prstGeom>
          <a:noFill/>
          <a:ln w="19050">
            <a:solidFill>
              <a:srgbClr val="0E1729"/>
            </a:solidFill>
            <a:prstDash val="solid"/>
          </a:ln>
        </p:spPr>
      </p:sp>
      <p:sp>
        <p:nvSpPr>
          <p:cNvPr id="13" name="Shape 11"/>
          <p:cNvSpPr/>
          <p:nvPr/>
        </p:nvSpPr>
        <p:spPr>
          <a:xfrm>
            <a:off x="992282" y="4931054"/>
            <a:ext cx="123602" cy="-5111"/>
          </a:xfrm>
          <a:prstGeom prst="line">
            <a:avLst/>
          </a:prstGeom>
          <a:noFill/>
          <a:ln w="19050">
            <a:solidFill>
              <a:srgbClr val="0E1729"/>
            </a:solidFill>
            <a:prstDash val="solid"/>
          </a:ln>
        </p:spPr>
      </p:sp>
      <p:sp>
        <p:nvSpPr>
          <p:cNvPr id="14" name="Shape 12"/>
          <p:cNvSpPr/>
          <p:nvPr/>
        </p:nvSpPr>
        <p:spPr>
          <a:xfrm>
            <a:off x="1115883" y="4925943"/>
            <a:ext cx="123602" cy="-8378"/>
          </a:xfrm>
          <a:prstGeom prst="line">
            <a:avLst/>
          </a:prstGeom>
          <a:noFill/>
          <a:ln w="19050">
            <a:solidFill>
              <a:srgbClr val="0E1729"/>
            </a:solidFill>
            <a:prstDash val="solid"/>
          </a:ln>
        </p:spPr>
      </p:sp>
      <p:sp>
        <p:nvSpPr>
          <p:cNvPr id="15" name="Shape 13"/>
          <p:cNvSpPr/>
          <p:nvPr/>
        </p:nvSpPr>
        <p:spPr>
          <a:xfrm>
            <a:off x="1239485" y="4917565"/>
            <a:ext cx="123602" cy="-13278"/>
          </a:xfrm>
          <a:prstGeom prst="line">
            <a:avLst/>
          </a:prstGeom>
          <a:noFill/>
          <a:ln w="19050">
            <a:solidFill>
              <a:srgbClr val="0E1729"/>
            </a:solidFill>
            <a:prstDash val="solid"/>
          </a:ln>
        </p:spPr>
      </p:sp>
      <p:sp>
        <p:nvSpPr>
          <p:cNvPr id="16" name="Shape 14"/>
          <p:cNvSpPr/>
          <p:nvPr/>
        </p:nvSpPr>
        <p:spPr>
          <a:xfrm>
            <a:off x="1363087" y="4904287"/>
            <a:ext cx="123602" cy="-20335"/>
          </a:xfrm>
          <a:prstGeom prst="line">
            <a:avLst/>
          </a:prstGeom>
          <a:noFill/>
          <a:ln w="19050">
            <a:solidFill>
              <a:srgbClr val="0E1729"/>
            </a:solidFill>
            <a:prstDash val="solid"/>
          </a:ln>
        </p:spPr>
      </p:sp>
      <p:sp>
        <p:nvSpPr>
          <p:cNvPr id="17" name="Shape 15"/>
          <p:cNvSpPr/>
          <p:nvPr/>
        </p:nvSpPr>
        <p:spPr>
          <a:xfrm>
            <a:off x="1486688" y="4883951"/>
            <a:ext cx="123602" cy="-30081"/>
          </a:xfrm>
          <a:prstGeom prst="line">
            <a:avLst/>
          </a:prstGeom>
          <a:noFill/>
          <a:ln w="19050">
            <a:solidFill>
              <a:srgbClr val="0E1729"/>
            </a:solidFill>
            <a:prstDash val="solid"/>
          </a:ln>
        </p:spPr>
      </p:sp>
      <p:sp>
        <p:nvSpPr>
          <p:cNvPr id="18" name="Shape 16"/>
          <p:cNvSpPr/>
          <p:nvPr/>
        </p:nvSpPr>
        <p:spPr>
          <a:xfrm>
            <a:off x="1610290" y="4853871"/>
            <a:ext cx="123602" cy="-42952"/>
          </a:xfrm>
          <a:prstGeom prst="line">
            <a:avLst/>
          </a:prstGeom>
          <a:noFill/>
          <a:ln w="19050">
            <a:solidFill>
              <a:srgbClr val="0E1729"/>
            </a:solidFill>
            <a:prstDash val="solid"/>
          </a:ln>
        </p:spPr>
      </p:sp>
      <p:sp>
        <p:nvSpPr>
          <p:cNvPr id="19" name="Shape 17"/>
          <p:cNvSpPr/>
          <p:nvPr/>
        </p:nvSpPr>
        <p:spPr>
          <a:xfrm>
            <a:off x="1733892" y="4810919"/>
            <a:ext cx="123602" cy="-59159"/>
          </a:xfrm>
          <a:prstGeom prst="line">
            <a:avLst/>
          </a:prstGeom>
          <a:noFill/>
          <a:ln w="19050">
            <a:solidFill>
              <a:srgbClr val="0E1729"/>
            </a:solidFill>
            <a:prstDash val="solid"/>
          </a:ln>
        </p:spPr>
      </p:sp>
      <p:sp>
        <p:nvSpPr>
          <p:cNvPr id="20" name="Shape 18"/>
          <p:cNvSpPr/>
          <p:nvPr/>
        </p:nvSpPr>
        <p:spPr>
          <a:xfrm>
            <a:off x="1857493" y="4751760"/>
            <a:ext cx="123602" cy="-78525"/>
          </a:xfrm>
          <a:prstGeom prst="line">
            <a:avLst/>
          </a:prstGeom>
          <a:noFill/>
          <a:ln w="19050">
            <a:solidFill>
              <a:srgbClr val="0E1729"/>
            </a:solidFill>
            <a:prstDash val="solid"/>
          </a:ln>
        </p:spPr>
      </p:sp>
      <p:sp>
        <p:nvSpPr>
          <p:cNvPr id="21" name="Shape 19"/>
          <p:cNvSpPr/>
          <p:nvPr/>
        </p:nvSpPr>
        <p:spPr>
          <a:xfrm>
            <a:off x="1981095" y="4673235"/>
            <a:ext cx="123602" cy="-100329"/>
          </a:xfrm>
          <a:prstGeom prst="line">
            <a:avLst/>
          </a:prstGeom>
          <a:noFill/>
          <a:ln w="19050">
            <a:solidFill>
              <a:srgbClr val="0E1729"/>
            </a:solidFill>
            <a:prstDash val="solid"/>
          </a:ln>
        </p:spPr>
      </p:sp>
      <p:sp>
        <p:nvSpPr>
          <p:cNvPr id="22" name="Shape 20"/>
          <p:cNvSpPr/>
          <p:nvPr/>
        </p:nvSpPr>
        <p:spPr>
          <a:xfrm>
            <a:off x="2104697" y="4572906"/>
            <a:ext cx="123602" cy="-123204"/>
          </a:xfrm>
          <a:prstGeom prst="line">
            <a:avLst/>
          </a:prstGeom>
          <a:noFill/>
          <a:ln w="19050">
            <a:solidFill>
              <a:srgbClr val="0E1729"/>
            </a:solidFill>
            <a:prstDash val="solid"/>
          </a:ln>
        </p:spPr>
      </p:sp>
      <p:sp>
        <p:nvSpPr>
          <p:cNvPr id="23" name="Shape 21"/>
          <p:cNvSpPr/>
          <p:nvPr/>
        </p:nvSpPr>
        <p:spPr>
          <a:xfrm>
            <a:off x="2228298" y="4449702"/>
            <a:ext cx="123602" cy="-145117"/>
          </a:xfrm>
          <a:prstGeom prst="line">
            <a:avLst/>
          </a:prstGeom>
          <a:noFill/>
          <a:ln w="19050">
            <a:solidFill>
              <a:srgbClr val="0E1729"/>
            </a:solidFill>
            <a:prstDash val="solid"/>
          </a:ln>
        </p:spPr>
      </p:sp>
      <p:sp>
        <p:nvSpPr>
          <p:cNvPr id="24" name="Shape 22"/>
          <p:cNvSpPr/>
          <p:nvPr/>
        </p:nvSpPr>
        <p:spPr>
          <a:xfrm>
            <a:off x="2351900" y="4304585"/>
            <a:ext cx="123602" cy="-163490"/>
          </a:xfrm>
          <a:prstGeom prst="line">
            <a:avLst/>
          </a:prstGeom>
          <a:noFill/>
          <a:ln w="19050">
            <a:solidFill>
              <a:srgbClr val="0E1729"/>
            </a:solidFill>
            <a:prstDash val="solid"/>
          </a:ln>
        </p:spPr>
      </p:sp>
      <p:sp>
        <p:nvSpPr>
          <p:cNvPr id="25" name="Shape 23"/>
          <p:cNvSpPr/>
          <p:nvPr/>
        </p:nvSpPr>
        <p:spPr>
          <a:xfrm>
            <a:off x="2475502" y="4141095"/>
            <a:ext cx="123602" cy="-175472"/>
          </a:xfrm>
          <a:prstGeom prst="line">
            <a:avLst/>
          </a:prstGeom>
          <a:noFill/>
          <a:ln w="19050">
            <a:solidFill>
              <a:srgbClr val="0E1729"/>
            </a:solidFill>
            <a:prstDash val="solid"/>
          </a:ln>
        </p:spPr>
      </p:sp>
      <p:sp>
        <p:nvSpPr>
          <p:cNvPr id="26" name="Shape 24"/>
          <p:cNvSpPr/>
          <p:nvPr/>
        </p:nvSpPr>
        <p:spPr>
          <a:xfrm>
            <a:off x="2599103" y="3965622"/>
            <a:ext cx="123602" cy="-178343"/>
          </a:xfrm>
          <a:prstGeom prst="line">
            <a:avLst/>
          </a:prstGeom>
          <a:noFill/>
          <a:ln w="19050">
            <a:solidFill>
              <a:srgbClr val="0E1729"/>
            </a:solidFill>
            <a:prstDash val="solid"/>
          </a:ln>
        </p:spPr>
      </p:sp>
      <p:sp>
        <p:nvSpPr>
          <p:cNvPr id="27" name="Shape 25"/>
          <p:cNvSpPr/>
          <p:nvPr/>
        </p:nvSpPr>
        <p:spPr>
          <a:xfrm>
            <a:off x="2722705" y="3787280"/>
            <a:ext cx="123602" cy="-169995"/>
          </a:xfrm>
          <a:prstGeom prst="line">
            <a:avLst/>
          </a:prstGeom>
          <a:noFill/>
          <a:ln w="19050">
            <a:solidFill>
              <a:srgbClr val="0E1729"/>
            </a:solidFill>
            <a:prstDash val="solid"/>
          </a:ln>
        </p:spPr>
      </p:sp>
      <p:sp>
        <p:nvSpPr>
          <p:cNvPr id="28" name="Shape 26"/>
          <p:cNvSpPr/>
          <p:nvPr/>
        </p:nvSpPr>
        <p:spPr>
          <a:xfrm>
            <a:off x="2846306" y="3617284"/>
            <a:ext cx="123602" cy="-149403"/>
          </a:xfrm>
          <a:prstGeom prst="line">
            <a:avLst/>
          </a:prstGeom>
          <a:noFill/>
          <a:ln w="19050">
            <a:solidFill>
              <a:srgbClr val="0E1729"/>
            </a:solidFill>
            <a:prstDash val="solid"/>
          </a:ln>
        </p:spPr>
      </p:sp>
      <p:sp>
        <p:nvSpPr>
          <p:cNvPr id="29" name="Shape 27"/>
          <p:cNvSpPr/>
          <p:nvPr/>
        </p:nvSpPr>
        <p:spPr>
          <a:xfrm>
            <a:off x="2969908" y="3467882"/>
            <a:ext cx="123602" cy="-116958"/>
          </a:xfrm>
          <a:prstGeom prst="line">
            <a:avLst/>
          </a:prstGeom>
          <a:noFill/>
          <a:ln w="19050">
            <a:solidFill>
              <a:srgbClr val="0E1729"/>
            </a:solidFill>
            <a:prstDash val="solid"/>
          </a:ln>
        </p:spPr>
      </p:sp>
      <p:sp>
        <p:nvSpPr>
          <p:cNvPr id="30" name="Shape 28"/>
          <p:cNvSpPr/>
          <p:nvPr/>
        </p:nvSpPr>
        <p:spPr>
          <a:xfrm>
            <a:off x="3093510" y="3350924"/>
            <a:ext cx="123602" cy="-74596"/>
          </a:xfrm>
          <a:prstGeom prst="line">
            <a:avLst/>
          </a:prstGeom>
          <a:noFill/>
          <a:ln w="19050">
            <a:solidFill>
              <a:srgbClr val="0E1729"/>
            </a:solidFill>
            <a:prstDash val="solid"/>
          </a:ln>
        </p:spPr>
      </p:sp>
      <p:sp>
        <p:nvSpPr>
          <p:cNvPr id="31" name="Shape 29"/>
          <p:cNvSpPr/>
          <p:nvPr/>
        </p:nvSpPr>
        <p:spPr>
          <a:xfrm>
            <a:off x="3217111" y="3276328"/>
            <a:ext cx="123602" cy="-25636"/>
          </a:xfrm>
          <a:prstGeom prst="line">
            <a:avLst/>
          </a:prstGeom>
          <a:noFill/>
          <a:ln w="19050">
            <a:solidFill>
              <a:srgbClr val="0E1729"/>
            </a:solidFill>
            <a:prstDash val="solid"/>
          </a:ln>
        </p:spPr>
      </p:sp>
      <p:sp>
        <p:nvSpPr>
          <p:cNvPr id="32" name="Shape 30"/>
          <p:cNvSpPr/>
          <p:nvPr/>
        </p:nvSpPr>
        <p:spPr>
          <a:xfrm>
            <a:off x="3340713" y="3250692"/>
            <a:ext cx="123602" cy="25636"/>
          </a:xfrm>
          <a:prstGeom prst="line">
            <a:avLst/>
          </a:prstGeom>
          <a:noFill/>
          <a:ln w="19050">
            <a:solidFill>
              <a:srgbClr val="0E1729"/>
            </a:solidFill>
            <a:prstDash val="solid"/>
          </a:ln>
        </p:spPr>
      </p:sp>
      <p:sp>
        <p:nvSpPr>
          <p:cNvPr id="33" name="Shape 31"/>
          <p:cNvSpPr/>
          <p:nvPr/>
        </p:nvSpPr>
        <p:spPr>
          <a:xfrm>
            <a:off x="3464315" y="3276328"/>
            <a:ext cx="123602" cy="74596"/>
          </a:xfrm>
          <a:prstGeom prst="line">
            <a:avLst/>
          </a:prstGeom>
          <a:noFill/>
          <a:ln w="19050">
            <a:solidFill>
              <a:srgbClr val="0E1729"/>
            </a:solidFill>
            <a:prstDash val="solid"/>
          </a:ln>
        </p:spPr>
      </p:sp>
      <p:sp>
        <p:nvSpPr>
          <p:cNvPr id="34" name="Shape 32"/>
          <p:cNvSpPr/>
          <p:nvPr/>
        </p:nvSpPr>
        <p:spPr>
          <a:xfrm>
            <a:off x="3587916" y="3350924"/>
            <a:ext cx="123602" cy="116958"/>
          </a:xfrm>
          <a:prstGeom prst="line">
            <a:avLst/>
          </a:prstGeom>
          <a:noFill/>
          <a:ln w="19050">
            <a:solidFill>
              <a:srgbClr val="0E1729"/>
            </a:solidFill>
            <a:prstDash val="solid"/>
          </a:ln>
        </p:spPr>
      </p:sp>
      <p:sp>
        <p:nvSpPr>
          <p:cNvPr id="35" name="Shape 33"/>
          <p:cNvSpPr/>
          <p:nvPr/>
        </p:nvSpPr>
        <p:spPr>
          <a:xfrm>
            <a:off x="3711518" y="3467882"/>
            <a:ext cx="123602" cy="149403"/>
          </a:xfrm>
          <a:prstGeom prst="line">
            <a:avLst/>
          </a:prstGeom>
          <a:noFill/>
          <a:ln w="19050">
            <a:solidFill>
              <a:srgbClr val="0E1729"/>
            </a:solidFill>
            <a:prstDash val="solid"/>
          </a:ln>
        </p:spPr>
      </p:sp>
      <p:sp>
        <p:nvSpPr>
          <p:cNvPr id="36" name="Shape 34"/>
          <p:cNvSpPr/>
          <p:nvPr/>
        </p:nvSpPr>
        <p:spPr>
          <a:xfrm>
            <a:off x="3835120" y="3617284"/>
            <a:ext cx="123602" cy="169995"/>
          </a:xfrm>
          <a:prstGeom prst="line">
            <a:avLst/>
          </a:prstGeom>
          <a:noFill/>
          <a:ln w="19050">
            <a:solidFill>
              <a:srgbClr val="0E1729"/>
            </a:solidFill>
            <a:prstDash val="solid"/>
          </a:ln>
        </p:spPr>
      </p:sp>
      <p:sp>
        <p:nvSpPr>
          <p:cNvPr id="37" name="Shape 35"/>
          <p:cNvSpPr/>
          <p:nvPr/>
        </p:nvSpPr>
        <p:spPr>
          <a:xfrm>
            <a:off x="3958721" y="3787280"/>
            <a:ext cx="123602" cy="178343"/>
          </a:xfrm>
          <a:prstGeom prst="line">
            <a:avLst/>
          </a:prstGeom>
          <a:noFill/>
          <a:ln w="19050">
            <a:solidFill>
              <a:srgbClr val="0E1729"/>
            </a:solidFill>
            <a:prstDash val="solid"/>
          </a:ln>
        </p:spPr>
      </p:sp>
      <p:sp>
        <p:nvSpPr>
          <p:cNvPr id="38" name="Shape 36"/>
          <p:cNvSpPr/>
          <p:nvPr/>
        </p:nvSpPr>
        <p:spPr>
          <a:xfrm>
            <a:off x="4082323" y="3965622"/>
            <a:ext cx="123602" cy="175472"/>
          </a:xfrm>
          <a:prstGeom prst="line">
            <a:avLst/>
          </a:prstGeom>
          <a:noFill/>
          <a:ln w="19050">
            <a:solidFill>
              <a:srgbClr val="0E1729"/>
            </a:solidFill>
            <a:prstDash val="solid"/>
          </a:ln>
        </p:spPr>
      </p:sp>
      <p:sp>
        <p:nvSpPr>
          <p:cNvPr id="39" name="Shape 37"/>
          <p:cNvSpPr/>
          <p:nvPr/>
        </p:nvSpPr>
        <p:spPr>
          <a:xfrm>
            <a:off x="4205925" y="4141095"/>
            <a:ext cx="123602" cy="163490"/>
          </a:xfrm>
          <a:prstGeom prst="line">
            <a:avLst/>
          </a:prstGeom>
          <a:noFill/>
          <a:ln w="19050">
            <a:solidFill>
              <a:srgbClr val="0E1729"/>
            </a:solidFill>
            <a:prstDash val="solid"/>
          </a:ln>
        </p:spPr>
      </p:sp>
      <p:sp>
        <p:nvSpPr>
          <p:cNvPr id="40" name="Shape 38"/>
          <p:cNvSpPr/>
          <p:nvPr/>
        </p:nvSpPr>
        <p:spPr>
          <a:xfrm>
            <a:off x="4329526" y="4304585"/>
            <a:ext cx="123602" cy="145117"/>
          </a:xfrm>
          <a:prstGeom prst="line">
            <a:avLst/>
          </a:prstGeom>
          <a:noFill/>
          <a:ln w="19050">
            <a:solidFill>
              <a:srgbClr val="0E1729"/>
            </a:solidFill>
            <a:prstDash val="solid"/>
          </a:ln>
        </p:spPr>
      </p:sp>
      <p:sp>
        <p:nvSpPr>
          <p:cNvPr id="41" name="Shape 39"/>
          <p:cNvSpPr/>
          <p:nvPr/>
        </p:nvSpPr>
        <p:spPr>
          <a:xfrm>
            <a:off x="4453128" y="4449702"/>
            <a:ext cx="123602" cy="123204"/>
          </a:xfrm>
          <a:prstGeom prst="line">
            <a:avLst/>
          </a:prstGeom>
          <a:noFill/>
          <a:ln w="19050">
            <a:solidFill>
              <a:srgbClr val="0E1729"/>
            </a:solidFill>
            <a:prstDash val="solid"/>
          </a:ln>
        </p:spPr>
      </p:sp>
      <p:sp>
        <p:nvSpPr>
          <p:cNvPr id="42" name="Shape 40"/>
          <p:cNvSpPr/>
          <p:nvPr/>
        </p:nvSpPr>
        <p:spPr>
          <a:xfrm>
            <a:off x="4576730" y="4572906"/>
            <a:ext cx="123602" cy="100329"/>
          </a:xfrm>
          <a:prstGeom prst="line">
            <a:avLst/>
          </a:prstGeom>
          <a:noFill/>
          <a:ln w="19050">
            <a:solidFill>
              <a:srgbClr val="0E1729"/>
            </a:solidFill>
            <a:prstDash val="solid"/>
          </a:ln>
        </p:spPr>
      </p:sp>
      <p:sp>
        <p:nvSpPr>
          <p:cNvPr id="43" name="Shape 41"/>
          <p:cNvSpPr/>
          <p:nvPr/>
        </p:nvSpPr>
        <p:spPr>
          <a:xfrm>
            <a:off x="4700331" y="4673235"/>
            <a:ext cx="123602" cy="78525"/>
          </a:xfrm>
          <a:prstGeom prst="line">
            <a:avLst/>
          </a:prstGeom>
          <a:noFill/>
          <a:ln w="19050">
            <a:solidFill>
              <a:srgbClr val="0E1729"/>
            </a:solidFill>
            <a:prstDash val="solid"/>
          </a:ln>
        </p:spPr>
      </p:sp>
      <p:sp>
        <p:nvSpPr>
          <p:cNvPr id="44" name="Shape 42"/>
          <p:cNvSpPr/>
          <p:nvPr/>
        </p:nvSpPr>
        <p:spPr>
          <a:xfrm>
            <a:off x="4823933" y="4751760"/>
            <a:ext cx="123602" cy="59159"/>
          </a:xfrm>
          <a:prstGeom prst="line">
            <a:avLst/>
          </a:prstGeom>
          <a:noFill/>
          <a:ln w="19050">
            <a:solidFill>
              <a:srgbClr val="0E1729"/>
            </a:solidFill>
            <a:prstDash val="solid"/>
          </a:ln>
        </p:spPr>
      </p:sp>
      <p:sp>
        <p:nvSpPr>
          <p:cNvPr id="45" name="Shape 43"/>
          <p:cNvSpPr/>
          <p:nvPr/>
        </p:nvSpPr>
        <p:spPr>
          <a:xfrm>
            <a:off x="4947535" y="4810919"/>
            <a:ext cx="123602" cy="42952"/>
          </a:xfrm>
          <a:prstGeom prst="line">
            <a:avLst/>
          </a:prstGeom>
          <a:noFill/>
          <a:ln w="19050">
            <a:solidFill>
              <a:srgbClr val="0E1729"/>
            </a:solidFill>
            <a:prstDash val="solid"/>
          </a:ln>
        </p:spPr>
      </p:sp>
      <p:sp>
        <p:nvSpPr>
          <p:cNvPr id="46" name="Shape 44"/>
          <p:cNvSpPr/>
          <p:nvPr/>
        </p:nvSpPr>
        <p:spPr>
          <a:xfrm>
            <a:off x="5071136" y="4853871"/>
            <a:ext cx="123602" cy="30081"/>
          </a:xfrm>
          <a:prstGeom prst="line">
            <a:avLst/>
          </a:prstGeom>
          <a:noFill/>
          <a:ln w="19050">
            <a:solidFill>
              <a:srgbClr val="0E1729"/>
            </a:solidFill>
            <a:prstDash val="solid"/>
          </a:ln>
        </p:spPr>
      </p:sp>
      <p:sp>
        <p:nvSpPr>
          <p:cNvPr id="47" name="Shape 45"/>
          <p:cNvSpPr/>
          <p:nvPr/>
        </p:nvSpPr>
        <p:spPr>
          <a:xfrm>
            <a:off x="5194738" y="4883951"/>
            <a:ext cx="123602" cy="20335"/>
          </a:xfrm>
          <a:prstGeom prst="line">
            <a:avLst/>
          </a:prstGeom>
          <a:noFill/>
          <a:ln w="19050">
            <a:solidFill>
              <a:srgbClr val="0E1729"/>
            </a:solidFill>
            <a:prstDash val="solid"/>
          </a:ln>
        </p:spPr>
      </p:sp>
      <p:sp>
        <p:nvSpPr>
          <p:cNvPr id="48" name="Shape 46"/>
          <p:cNvSpPr/>
          <p:nvPr/>
        </p:nvSpPr>
        <p:spPr>
          <a:xfrm>
            <a:off x="5318340" y="4904287"/>
            <a:ext cx="123602" cy="13278"/>
          </a:xfrm>
          <a:prstGeom prst="line">
            <a:avLst/>
          </a:prstGeom>
          <a:noFill/>
          <a:ln w="19050">
            <a:solidFill>
              <a:srgbClr val="0E1729"/>
            </a:solidFill>
            <a:prstDash val="solid"/>
          </a:ln>
        </p:spPr>
      </p:sp>
      <p:sp>
        <p:nvSpPr>
          <p:cNvPr id="49" name="Shape 47"/>
          <p:cNvSpPr/>
          <p:nvPr/>
        </p:nvSpPr>
        <p:spPr>
          <a:xfrm>
            <a:off x="5441941" y="4917565"/>
            <a:ext cx="123602" cy="8378"/>
          </a:xfrm>
          <a:prstGeom prst="line">
            <a:avLst/>
          </a:prstGeom>
          <a:noFill/>
          <a:ln w="19050">
            <a:solidFill>
              <a:srgbClr val="0E1729"/>
            </a:solidFill>
            <a:prstDash val="solid"/>
          </a:ln>
        </p:spPr>
      </p:sp>
      <p:sp>
        <p:nvSpPr>
          <p:cNvPr id="50" name="Shape 48"/>
          <p:cNvSpPr/>
          <p:nvPr/>
        </p:nvSpPr>
        <p:spPr>
          <a:xfrm>
            <a:off x="5565543" y="4925943"/>
            <a:ext cx="123602" cy="5111"/>
          </a:xfrm>
          <a:prstGeom prst="line">
            <a:avLst/>
          </a:prstGeom>
          <a:noFill/>
          <a:ln w="19050">
            <a:solidFill>
              <a:srgbClr val="0E1729"/>
            </a:solidFill>
            <a:prstDash val="solid"/>
          </a:ln>
        </p:spPr>
      </p:sp>
      <p:sp>
        <p:nvSpPr>
          <p:cNvPr id="51" name="Shape 49"/>
          <p:cNvSpPr/>
          <p:nvPr/>
        </p:nvSpPr>
        <p:spPr>
          <a:xfrm>
            <a:off x="5689145" y="4931054"/>
            <a:ext cx="123602" cy="3015"/>
          </a:xfrm>
          <a:prstGeom prst="line">
            <a:avLst/>
          </a:prstGeom>
          <a:noFill/>
          <a:ln w="19050">
            <a:solidFill>
              <a:srgbClr val="0E1729"/>
            </a:solidFill>
            <a:prstDash val="solid"/>
          </a:ln>
        </p:spPr>
      </p:sp>
      <p:sp>
        <p:nvSpPr>
          <p:cNvPr id="52" name="Shape 50"/>
          <p:cNvSpPr/>
          <p:nvPr/>
        </p:nvSpPr>
        <p:spPr>
          <a:xfrm>
            <a:off x="1045254" y="4934070"/>
            <a:ext cx="123602" cy="-3015"/>
          </a:xfrm>
          <a:prstGeom prst="line">
            <a:avLst/>
          </a:prstGeom>
          <a:noFill/>
          <a:ln w="19050">
            <a:solidFill>
              <a:srgbClr val="F09042"/>
            </a:solidFill>
            <a:prstDash val="solid"/>
          </a:ln>
        </p:spPr>
      </p:sp>
      <p:sp>
        <p:nvSpPr>
          <p:cNvPr id="53" name="Shape 51"/>
          <p:cNvSpPr/>
          <p:nvPr/>
        </p:nvSpPr>
        <p:spPr>
          <a:xfrm>
            <a:off x="1168855" y="4931054"/>
            <a:ext cx="123602" cy="-5111"/>
          </a:xfrm>
          <a:prstGeom prst="line">
            <a:avLst/>
          </a:prstGeom>
          <a:noFill/>
          <a:ln w="19050">
            <a:solidFill>
              <a:srgbClr val="F09042"/>
            </a:solidFill>
            <a:prstDash val="solid"/>
          </a:ln>
        </p:spPr>
      </p:sp>
      <p:sp>
        <p:nvSpPr>
          <p:cNvPr id="54" name="Shape 52"/>
          <p:cNvSpPr/>
          <p:nvPr/>
        </p:nvSpPr>
        <p:spPr>
          <a:xfrm>
            <a:off x="1292457" y="4925943"/>
            <a:ext cx="123602" cy="-8378"/>
          </a:xfrm>
          <a:prstGeom prst="line">
            <a:avLst/>
          </a:prstGeom>
          <a:noFill/>
          <a:ln w="19050">
            <a:solidFill>
              <a:srgbClr val="F09042"/>
            </a:solidFill>
            <a:prstDash val="solid"/>
          </a:ln>
        </p:spPr>
      </p:sp>
      <p:sp>
        <p:nvSpPr>
          <p:cNvPr id="55" name="Shape 53"/>
          <p:cNvSpPr/>
          <p:nvPr/>
        </p:nvSpPr>
        <p:spPr>
          <a:xfrm>
            <a:off x="1416059" y="4917565"/>
            <a:ext cx="123602" cy="-13278"/>
          </a:xfrm>
          <a:prstGeom prst="line">
            <a:avLst/>
          </a:prstGeom>
          <a:noFill/>
          <a:ln w="19050">
            <a:solidFill>
              <a:srgbClr val="F09042"/>
            </a:solidFill>
            <a:prstDash val="solid"/>
          </a:ln>
        </p:spPr>
      </p:sp>
      <p:sp>
        <p:nvSpPr>
          <p:cNvPr id="56" name="Shape 54"/>
          <p:cNvSpPr/>
          <p:nvPr/>
        </p:nvSpPr>
        <p:spPr>
          <a:xfrm>
            <a:off x="1539660" y="4904287"/>
            <a:ext cx="123602" cy="-20335"/>
          </a:xfrm>
          <a:prstGeom prst="line">
            <a:avLst/>
          </a:prstGeom>
          <a:noFill/>
          <a:ln w="19050">
            <a:solidFill>
              <a:srgbClr val="F09042"/>
            </a:solidFill>
            <a:prstDash val="solid"/>
          </a:ln>
        </p:spPr>
      </p:sp>
      <p:sp>
        <p:nvSpPr>
          <p:cNvPr id="57" name="Shape 55"/>
          <p:cNvSpPr/>
          <p:nvPr/>
        </p:nvSpPr>
        <p:spPr>
          <a:xfrm>
            <a:off x="1663262" y="4883951"/>
            <a:ext cx="123602" cy="-30081"/>
          </a:xfrm>
          <a:prstGeom prst="line">
            <a:avLst/>
          </a:prstGeom>
          <a:noFill/>
          <a:ln w="19050">
            <a:solidFill>
              <a:srgbClr val="F09042"/>
            </a:solidFill>
            <a:prstDash val="solid"/>
          </a:ln>
        </p:spPr>
      </p:sp>
      <p:sp>
        <p:nvSpPr>
          <p:cNvPr id="58" name="Shape 56"/>
          <p:cNvSpPr/>
          <p:nvPr/>
        </p:nvSpPr>
        <p:spPr>
          <a:xfrm>
            <a:off x="1786864" y="4853871"/>
            <a:ext cx="123602" cy="-42952"/>
          </a:xfrm>
          <a:prstGeom prst="line">
            <a:avLst/>
          </a:prstGeom>
          <a:noFill/>
          <a:ln w="19050">
            <a:solidFill>
              <a:srgbClr val="F09042"/>
            </a:solidFill>
            <a:prstDash val="solid"/>
          </a:ln>
        </p:spPr>
      </p:sp>
      <p:sp>
        <p:nvSpPr>
          <p:cNvPr id="59" name="Shape 57"/>
          <p:cNvSpPr/>
          <p:nvPr/>
        </p:nvSpPr>
        <p:spPr>
          <a:xfrm>
            <a:off x="1910465" y="4810919"/>
            <a:ext cx="123602" cy="-59159"/>
          </a:xfrm>
          <a:prstGeom prst="line">
            <a:avLst/>
          </a:prstGeom>
          <a:noFill/>
          <a:ln w="19050">
            <a:solidFill>
              <a:srgbClr val="F09042"/>
            </a:solidFill>
            <a:prstDash val="solid"/>
          </a:ln>
        </p:spPr>
      </p:sp>
      <p:sp>
        <p:nvSpPr>
          <p:cNvPr id="60" name="Shape 58"/>
          <p:cNvSpPr/>
          <p:nvPr/>
        </p:nvSpPr>
        <p:spPr>
          <a:xfrm>
            <a:off x="2034067" y="4751760"/>
            <a:ext cx="123602" cy="-78525"/>
          </a:xfrm>
          <a:prstGeom prst="line">
            <a:avLst/>
          </a:prstGeom>
          <a:noFill/>
          <a:ln w="19050">
            <a:solidFill>
              <a:srgbClr val="F09042"/>
            </a:solidFill>
            <a:prstDash val="solid"/>
          </a:ln>
        </p:spPr>
      </p:sp>
      <p:sp>
        <p:nvSpPr>
          <p:cNvPr id="61" name="Shape 59"/>
          <p:cNvSpPr/>
          <p:nvPr/>
        </p:nvSpPr>
        <p:spPr>
          <a:xfrm>
            <a:off x="2157669" y="4673235"/>
            <a:ext cx="123602" cy="-100329"/>
          </a:xfrm>
          <a:prstGeom prst="line">
            <a:avLst/>
          </a:prstGeom>
          <a:noFill/>
          <a:ln w="19050">
            <a:solidFill>
              <a:srgbClr val="F09042"/>
            </a:solidFill>
            <a:prstDash val="solid"/>
          </a:ln>
        </p:spPr>
      </p:sp>
      <p:sp>
        <p:nvSpPr>
          <p:cNvPr id="62" name="Shape 60"/>
          <p:cNvSpPr/>
          <p:nvPr/>
        </p:nvSpPr>
        <p:spPr>
          <a:xfrm>
            <a:off x="2281270" y="4572906"/>
            <a:ext cx="123602" cy="-123204"/>
          </a:xfrm>
          <a:prstGeom prst="line">
            <a:avLst/>
          </a:prstGeom>
          <a:noFill/>
          <a:ln w="19050">
            <a:solidFill>
              <a:srgbClr val="F09042"/>
            </a:solidFill>
            <a:prstDash val="solid"/>
          </a:ln>
        </p:spPr>
      </p:sp>
      <p:sp>
        <p:nvSpPr>
          <p:cNvPr id="63" name="Shape 61"/>
          <p:cNvSpPr/>
          <p:nvPr/>
        </p:nvSpPr>
        <p:spPr>
          <a:xfrm>
            <a:off x="2404872" y="4449702"/>
            <a:ext cx="123602" cy="-145117"/>
          </a:xfrm>
          <a:prstGeom prst="line">
            <a:avLst/>
          </a:prstGeom>
          <a:noFill/>
          <a:ln w="19050">
            <a:solidFill>
              <a:srgbClr val="F09042"/>
            </a:solidFill>
            <a:prstDash val="solid"/>
          </a:ln>
        </p:spPr>
      </p:sp>
      <p:sp>
        <p:nvSpPr>
          <p:cNvPr id="64" name="Shape 62"/>
          <p:cNvSpPr/>
          <p:nvPr/>
        </p:nvSpPr>
        <p:spPr>
          <a:xfrm>
            <a:off x="2528474" y="4304585"/>
            <a:ext cx="123602" cy="-163490"/>
          </a:xfrm>
          <a:prstGeom prst="line">
            <a:avLst/>
          </a:prstGeom>
          <a:noFill/>
          <a:ln w="19050">
            <a:solidFill>
              <a:srgbClr val="F09042"/>
            </a:solidFill>
            <a:prstDash val="solid"/>
          </a:ln>
        </p:spPr>
      </p:sp>
      <p:sp>
        <p:nvSpPr>
          <p:cNvPr id="65" name="Shape 63"/>
          <p:cNvSpPr/>
          <p:nvPr/>
        </p:nvSpPr>
        <p:spPr>
          <a:xfrm>
            <a:off x="2652075" y="4141095"/>
            <a:ext cx="123602" cy="-175472"/>
          </a:xfrm>
          <a:prstGeom prst="line">
            <a:avLst/>
          </a:prstGeom>
          <a:noFill/>
          <a:ln w="19050">
            <a:solidFill>
              <a:srgbClr val="F09042"/>
            </a:solidFill>
            <a:prstDash val="solid"/>
          </a:ln>
        </p:spPr>
      </p:sp>
      <p:sp>
        <p:nvSpPr>
          <p:cNvPr id="66" name="Shape 64"/>
          <p:cNvSpPr/>
          <p:nvPr/>
        </p:nvSpPr>
        <p:spPr>
          <a:xfrm>
            <a:off x="2775677" y="3965622"/>
            <a:ext cx="123602" cy="-178343"/>
          </a:xfrm>
          <a:prstGeom prst="line">
            <a:avLst/>
          </a:prstGeom>
          <a:noFill/>
          <a:ln w="19050">
            <a:solidFill>
              <a:srgbClr val="F09042"/>
            </a:solidFill>
            <a:prstDash val="solid"/>
          </a:ln>
        </p:spPr>
      </p:sp>
      <p:sp>
        <p:nvSpPr>
          <p:cNvPr id="67" name="Shape 65"/>
          <p:cNvSpPr/>
          <p:nvPr/>
        </p:nvSpPr>
        <p:spPr>
          <a:xfrm>
            <a:off x="2899279" y="3787280"/>
            <a:ext cx="123602" cy="-169995"/>
          </a:xfrm>
          <a:prstGeom prst="line">
            <a:avLst/>
          </a:prstGeom>
          <a:noFill/>
          <a:ln w="19050">
            <a:solidFill>
              <a:srgbClr val="F09042"/>
            </a:solidFill>
            <a:prstDash val="solid"/>
          </a:ln>
        </p:spPr>
      </p:sp>
      <p:sp>
        <p:nvSpPr>
          <p:cNvPr id="68" name="Shape 66"/>
          <p:cNvSpPr/>
          <p:nvPr/>
        </p:nvSpPr>
        <p:spPr>
          <a:xfrm>
            <a:off x="3022880" y="3617284"/>
            <a:ext cx="123602" cy="-149403"/>
          </a:xfrm>
          <a:prstGeom prst="line">
            <a:avLst/>
          </a:prstGeom>
          <a:noFill/>
          <a:ln w="19050">
            <a:solidFill>
              <a:srgbClr val="F09042"/>
            </a:solidFill>
            <a:prstDash val="solid"/>
          </a:ln>
        </p:spPr>
      </p:sp>
      <p:sp>
        <p:nvSpPr>
          <p:cNvPr id="69" name="Shape 67"/>
          <p:cNvSpPr/>
          <p:nvPr/>
        </p:nvSpPr>
        <p:spPr>
          <a:xfrm>
            <a:off x="3146482" y="3467882"/>
            <a:ext cx="123602" cy="-116958"/>
          </a:xfrm>
          <a:prstGeom prst="line">
            <a:avLst/>
          </a:prstGeom>
          <a:noFill/>
          <a:ln w="19050">
            <a:solidFill>
              <a:srgbClr val="F09042"/>
            </a:solidFill>
            <a:prstDash val="solid"/>
          </a:ln>
        </p:spPr>
      </p:sp>
      <p:sp>
        <p:nvSpPr>
          <p:cNvPr id="70" name="Shape 68"/>
          <p:cNvSpPr/>
          <p:nvPr/>
        </p:nvSpPr>
        <p:spPr>
          <a:xfrm>
            <a:off x="3270084" y="3350924"/>
            <a:ext cx="123602" cy="-74596"/>
          </a:xfrm>
          <a:prstGeom prst="line">
            <a:avLst/>
          </a:prstGeom>
          <a:noFill/>
          <a:ln w="19050">
            <a:solidFill>
              <a:srgbClr val="F09042"/>
            </a:solidFill>
            <a:prstDash val="solid"/>
          </a:ln>
        </p:spPr>
      </p:sp>
      <p:sp>
        <p:nvSpPr>
          <p:cNvPr id="71" name="Shape 69"/>
          <p:cNvSpPr/>
          <p:nvPr/>
        </p:nvSpPr>
        <p:spPr>
          <a:xfrm>
            <a:off x="3393685" y="3276328"/>
            <a:ext cx="123602" cy="-25636"/>
          </a:xfrm>
          <a:prstGeom prst="line">
            <a:avLst/>
          </a:prstGeom>
          <a:noFill/>
          <a:ln w="19050">
            <a:solidFill>
              <a:srgbClr val="F09042"/>
            </a:solidFill>
            <a:prstDash val="solid"/>
          </a:ln>
        </p:spPr>
      </p:sp>
      <p:sp>
        <p:nvSpPr>
          <p:cNvPr id="72" name="Shape 70"/>
          <p:cNvSpPr/>
          <p:nvPr/>
        </p:nvSpPr>
        <p:spPr>
          <a:xfrm>
            <a:off x="3517287" y="3250692"/>
            <a:ext cx="123602" cy="25636"/>
          </a:xfrm>
          <a:prstGeom prst="line">
            <a:avLst/>
          </a:prstGeom>
          <a:noFill/>
          <a:ln w="19050">
            <a:solidFill>
              <a:srgbClr val="F09042"/>
            </a:solidFill>
            <a:prstDash val="solid"/>
          </a:ln>
        </p:spPr>
      </p:sp>
      <p:sp>
        <p:nvSpPr>
          <p:cNvPr id="73" name="Shape 71"/>
          <p:cNvSpPr/>
          <p:nvPr/>
        </p:nvSpPr>
        <p:spPr>
          <a:xfrm>
            <a:off x="3640889" y="3276328"/>
            <a:ext cx="123602" cy="74596"/>
          </a:xfrm>
          <a:prstGeom prst="line">
            <a:avLst/>
          </a:prstGeom>
          <a:noFill/>
          <a:ln w="19050">
            <a:solidFill>
              <a:srgbClr val="F09042"/>
            </a:solidFill>
            <a:prstDash val="solid"/>
          </a:ln>
        </p:spPr>
      </p:sp>
      <p:sp>
        <p:nvSpPr>
          <p:cNvPr id="74" name="Shape 72"/>
          <p:cNvSpPr/>
          <p:nvPr/>
        </p:nvSpPr>
        <p:spPr>
          <a:xfrm>
            <a:off x="3764490" y="3350924"/>
            <a:ext cx="123602" cy="116958"/>
          </a:xfrm>
          <a:prstGeom prst="line">
            <a:avLst/>
          </a:prstGeom>
          <a:noFill/>
          <a:ln w="19050">
            <a:solidFill>
              <a:srgbClr val="F09042"/>
            </a:solidFill>
            <a:prstDash val="solid"/>
          </a:ln>
        </p:spPr>
      </p:sp>
      <p:sp>
        <p:nvSpPr>
          <p:cNvPr id="75" name="Shape 73"/>
          <p:cNvSpPr/>
          <p:nvPr/>
        </p:nvSpPr>
        <p:spPr>
          <a:xfrm>
            <a:off x="3888092" y="3467882"/>
            <a:ext cx="123602" cy="149403"/>
          </a:xfrm>
          <a:prstGeom prst="line">
            <a:avLst/>
          </a:prstGeom>
          <a:noFill/>
          <a:ln w="19050">
            <a:solidFill>
              <a:srgbClr val="F09042"/>
            </a:solidFill>
            <a:prstDash val="solid"/>
          </a:ln>
        </p:spPr>
      </p:sp>
      <p:sp>
        <p:nvSpPr>
          <p:cNvPr id="76" name="Shape 74"/>
          <p:cNvSpPr/>
          <p:nvPr/>
        </p:nvSpPr>
        <p:spPr>
          <a:xfrm>
            <a:off x="4011694" y="3617284"/>
            <a:ext cx="123602" cy="169995"/>
          </a:xfrm>
          <a:prstGeom prst="line">
            <a:avLst/>
          </a:prstGeom>
          <a:noFill/>
          <a:ln w="19050">
            <a:solidFill>
              <a:srgbClr val="F09042"/>
            </a:solidFill>
            <a:prstDash val="solid"/>
          </a:ln>
        </p:spPr>
      </p:sp>
      <p:sp>
        <p:nvSpPr>
          <p:cNvPr id="77" name="Shape 75"/>
          <p:cNvSpPr/>
          <p:nvPr/>
        </p:nvSpPr>
        <p:spPr>
          <a:xfrm>
            <a:off x="4135295" y="3787280"/>
            <a:ext cx="123602" cy="178343"/>
          </a:xfrm>
          <a:prstGeom prst="line">
            <a:avLst/>
          </a:prstGeom>
          <a:noFill/>
          <a:ln w="19050">
            <a:solidFill>
              <a:srgbClr val="F09042"/>
            </a:solidFill>
            <a:prstDash val="solid"/>
          </a:ln>
        </p:spPr>
      </p:sp>
      <p:sp>
        <p:nvSpPr>
          <p:cNvPr id="78" name="Shape 76"/>
          <p:cNvSpPr/>
          <p:nvPr/>
        </p:nvSpPr>
        <p:spPr>
          <a:xfrm>
            <a:off x="4258897" y="3965622"/>
            <a:ext cx="123602" cy="175472"/>
          </a:xfrm>
          <a:prstGeom prst="line">
            <a:avLst/>
          </a:prstGeom>
          <a:noFill/>
          <a:ln w="19050">
            <a:solidFill>
              <a:srgbClr val="F09042"/>
            </a:solidFill>
            <a:prstDash val="solid"/>
          </a:ln>
        </p:spPr>
      </p:sp>
      <p:sp>
        <p:nvSpPr>
          <p:cNvPr id="79" name="Shape 77"/>
          <p:cNvSpPr/>
          <p:nvPr/>
        </p:nvSpPr>
        <p:spPr>
          <a:xfrm>
            <a:off x="4382498" y="4141095"/>
            <a:ext cx="123602" cy="163490"/>
          </a:xfrm>
          <a:prstGeom prst="line">
            <a:avLst/>
          </a:prstGeom>
          <a:noFill/>
          <a:ln w="19050">
            <a:solidFill>
              <a:srgbClr val="F09042"/>
            </a:solidFill>
            <a:prstDash val="solid"/>
          </a:ln>
        </p:spPr>
      </p:sp>
      <p:sp>
        <p:nvSpPr>
          <p:cNvPr id="80" name="Shape 78"/>
          <p:cNvSpPr/>
          <p:nvPr/>
        </p:nvSpPr>
        <p:spPr>
          <a:xfrm>
            <a:off x="4506100" y="4304585"/>
            <a:ext cx="123602" cy="145117"/>
          </a:xfrm>
          <a:prstGeom prst="line">
            <a:avLst/>
          </a:prstGeom>
          <a:noFill/>
          <a:ln w="19050">
            <a:solidFill>
              <a:srgbClr val="F09042"/>
            </a:solidFill>
            <a:prstDash val="solid"/>
          </a:ln>
        </p:spPr>
      </p:sp>
      <p:sp>
        <p:nvSpPr>
          <p:cNvPr id="81" name="Shape 79"/>
          <p:cNvSpPr/>
          <p:nvPr/>
        </p:nvSpPr>
        <p:spPr>
          <a:xfrm>
            <a:off x="4629702" y="4449702"/>
            <a:ext cx="123602" cy="123204"/>
          </a:xfrm>
          <a:prstGeom prst="line">
            <a:avLst/>
          </a:prstGeom>
          <a:noFill/>
          <a:ln w="19050">
            <a:solidFill>
              <a:srgbClr val="F09042"/>
            </a:solidFill>
            <a:prstDash val="solid"/>
          </a:ln>
        </p:spPr>
      </p:sp>
      <p:sp>
        <p:nvSpPr>
          <p:cNvPr id="82" name="Shape 80"/>
          <p:cNvSpPr/>
          <p:nvPr/>
        </p:nvSpPr>
        <p:spPr>
          <a:xfrm>
            <a:off x="4753303" y="4572906"/>
            <a:ext cx="123602" cy="100329"/>
          </a:xfrm>
          <a:prstGeom prst="line">
            <a:avLst/>
          </a:prstGeom>
          <a:noFill/>
          <a:ln w="19050">
            <a:solidFill>
              <a:srgbClr val="F09042"/>
            </a:solidFill>
            <a:prstDash val="solid"/>
          </a:ln>
        </p:spPr>
      </p:sp>
      <p:sp>
        <p:nvSpPr>
          <p:cNvPr id="83" name="Shape 81"/>
          <p:cNvSpPr/>
          <p:nvPr/>
        </p:nvSpPr>
        <p:spPr>
          <a:xfrm>
            <a:off x="4876905" y="4673235"/>
            <a:ext cx="123602" cy="78525"/>
          </a:xfrm>
          <a:prstGeom prst="line">
            <a:avLst/>
          </a:prstGeom>
          <a:noFill/>
          <a:ln w="19050">
            <a:solidFill>
              <a:srgbClr val="F09042"/>
            </a:solidFill>
            <a:prstDash val="solid"/>
          </a:ln>
        </p:spPr>
      </p:sp>
      <p:sp>
        <p:nvSpPr>
          <p:cNvPr id="84" name="Shape 82"/>
          <p:cNvSpPr/>
          <p:nvPr/>
        </p:nvSpPr>
        <p:spPr>
          <a:xfrm>
            <a:off x="5000507" y="4751760"/>
            <a:ext cx="123602" cy="59159"/>
          </a:xfrm>
          <a:prstGeom prst="line">
            <a:avLst/>
          </a:prstGeom>
          <a:noFill/>
          <a:ln w="19050">
            <a:solidFill>
              <a:srgbClr val="F09042"/>
            </a:solidFill>
            <a:prstDash val="solid"/>
          </a:ln>
        </p:spPr>
      </p:sp>
      <p:sp>
        <p:nvSpPr>
          <p:cNvPr id="85" name="Shape 83"/>
          <p:cNvSpPr/>
          <p:nvPr/>
        </p:nvSpPr>
        <p:spPr>
          <a:xfrm>
            <a:off x="5124108" y="4810919"/>
            <a:ext cx="123602" cy="42952"/>
          </a:xfrm>
          <a:prstGeom prst="line">
            <a:avLst/>
          </a:prstGeom>
          <a:noFill/>
          <a:ln w="19050">
            <a:solidFill>
              <a:srgbClr val="F09042"/>
            </a:solidFill>
            <a:prstDash val="solid"/>
          </a:ln>
        </p:spPr>
      </p:sp>
      <p:sp>
        <p:nvSpPr>
          <p:cNvPr id="86" name="Shape 84"/>
          <p:cNvSpPr/>
          <p:nvPr/>
        </p:nvSpPr>
        <p:spPr>
          <a:xfrm>
            <a:off x="5247710" y="4853871"/>
            <a:ext cx="123602" cy="30081"/>
          </a:xfrm>
          <a:prstGeom prst="line">
            <a:avLst/>
          </a:prstGeom>
          <a:noFill/>
          <a:ln w="19050">
            <a:solidFill>
              <a:srgbClr val="F09042"/>
            </a:solidFill>
            <a:prstDash val="solid"/>
          </a:ln>
        </p:spPr>
      </p:sp>
      <p:sp>
        <p:nvSpPr>
          <p:cNvPr id="87" name="Shape 85"/>
          <p:cNvSpPr/>
          <p:nvPr/>
        </p:nvSpPr>
        <p:spPr>
          <a:xfrm>
            <a:off x="5371312" y="4883951"/>
            <a:ext cx="123602" cy="20335"/>
          </a:xfrm>
          <a:prstGeom prst="line">
            <a:avLst/>
          </a:prstGeom>
          <a:noFill/>
          <a:ln w="19050">
            <a:solidFill>
              <a:srgbClr val="F09042"/>
            </a:solidFill>
            <a:prstDash val="solid"/>
          </a:ln>
        </p:spPr>
      </p:sp>
      <p:sp>
        <p:nvSpPr>
          <p:cNvPr id="88" name="Shape 86"/>
          <p:cNvSpPr/>
          <p:nvPr/>
        </p:nvSpPr>
        <p:spPr>
          <a:xfrm>
            <a:off x="5494913" y="4904287"/>
            <a:ext cx="123602" cy="13278"/>
          </a:xfrm>
          <a:prstGeom prst="line">
            <a:avLst/>
          </a:prstGeom>
          <a:noFill/>
          <a:ln w="19050">
            <a:solidFill>
              <a:srgbClr val="F09042"/>
            </a:solidFill>
            <a:prstDash val="solid"/>
          </a:ln>
        </p:spPr>
      </p:sp>
      <p:sp>
        <p:nvSpPr>
          <p:cNvPr id="89" name="Shape 87"/>
          <p:cNvSpPr/>
          <p:nvPr/>
        </p:nvSpPr>
        <p:spPr>
          <a:xfrm>
            <a:off x="5618515" y="4917565"/>
            <a:ext cx="123602" cy="8378"/>
          </a:xfrm>
          <a:prstGeom prst="line">
            <a:avLst/>
          </a:prstGeom>
          <a:noFill/>
          <a:ln w="19050">
            <a:solidFill>
              <a:srgbClr val="F09042"/>
            </a:solidFill>
            <a:prstDash val="solid"/>
          </a:ln>
        </p:spPr>
      </p:sp>
      <p:sp>
        <p:nvSpPr>
          <p:cNvPr id="90" name="Shape 88"/>
          <p:cNvSpPr/>
          <p:nvPr/>
        </p:nvSpPr>
        <p:spPr>
          <a:xfrm>
            <a:off x="5742117" y="4925943"/>
            <a:ext cx="123602" cy="5111"/>
          </a:xfrm>
          <a:prstGeom prst="line">
            <a:avLst/>
          </a:prstGeom>
          <a:noFill/>
          <a:ln w="19050">
            <a:solidFill>
              <a:srgbClr val="F09042"/>
            </a:solidFill>
            <a:prstDash val="solid"/>
          </a:ln>
        </p:spPr>
      </p:sp>
      <p:sp>
        <p:nvSpPr>
          <p:cNvPr id="91" name="Shape 89"/>
          <p:cNvSpPr/>
          <p:nvPr/>
        </p:nvSpPr>
        <p:spPr>
          <a:xfrm>
            <a:off x="5865718" y="4931054"/>
            <a:ext cx="123602" cy="3015"/>
          </a:xfrm>
          <a:prstGeom prst="line">
            <a:avLst/>
          </a:prstGeom>
          <a:noFill/>
          <a:ln w="19050">
            <a:solidFill>
              <a:srgbClr val="F09042"/>
            </a:solidFill>
            <a:prstDash val="solid"/>
          </a:ln>
        </p:spPr>
      </p:sp>
      <p:sp>
        <p:nvSpPr>
          <p:cNvPr id="92" name="Text 90"/>
          <p:cNvSpPr/>
          <p:nvPr/>
        </p:nvSpPr>
        <p:spPr>
          <a:xfrm>
            <a:off x="960120" y="3136392"/>
            <a:ext cx="4937760" cy="182880"/>
          </a:xfrm>
          <a:prstGeom prst="rect">
            <a:avLst/>
          </a:prstGeom>
          <a:noFill/>
          <a:ln/>
        </p:spPr>
        <p:txBody>
          <a:bodyPr wrap="square" rtlCol="0" anchor="ctr"/>
          <a:lstStyle/>
          <a:p>
            <a:pPr indent="0" marL="0">
              <a:buNone/>
            </a:pPr>
            <a:r>
              <a:rPr lang="en-US" sz="900" b="1" dirty="0">
                <a:solidFill>
                  <a:srgbClr val="0E1729"/>
                </a:solidFill>
                <a:latin typeface="Calibri" pitchFamily="34" charset="0"/>
                <a:ea typeface="Calibri" pitchFamily="34" charset="-122"/>
                <a:cs typeface="Calibri" pitchFamily="34" charset="-120"/>
              </a:rPr>
              <a:t>Groupe A</a:t>
            </a:r>
            <a:endParaRPr lang="en-US" sz="900" dirty="0"/>
          </a:p>
        </p:txBody>
      </p:sp>
      <p:sp>
        <p:nvSpPr>
          <p:cNvPr id="93" name="Text 91"/>
          <p:cNvSpPr/>
          <p:nvPr/>
        </p:nvSpPr>
        <p:spPr>
          <a:xfrm>
            <a:off x="960120" y="3337560"/>
            <a:ext cx="4937760" cy="182880"/>
          </a:xfrm>
          <a:prstGeom prst="rect">
            <a:avLst/>
          </a:prstGeom>
          <a:noFill/>
          <a:ln/>
        </p:spPr>
        <p:txBody>
          <a:bodyPr wrap="square" rtlCol="0" anchor="ctr"/>
          <a:lstStyle/>
          <a:p>
            <a:pPr indent="0" marL="0">
              <a:buNone/>
            </a:pPr>
            <a:r>
              <a:rPr lang="en-US" sz="900" b="1" dirty="0">
                <a:solidFill>
                  <a:srgbClr val="F09042"/>
                </a:solidFill>
                <a:latin typeface="Calibri" pitchFamily="34" charset="0"/>
                <a:ea typeface="Calibri" pitchFamily="34" charset="-122"/>
                <a:cs typeface="Calibri" pitchFamily="34" charset="-120"/>
              </a:rPr>
              <a:t>Groupe B</a:t>
            </a:r>
            <a:endParaRPr lang="en-US" sz="900" dirty="0"/>
          </a:p>
        </p:txBody>
      </p:sp>
      <p:sp>
        <p:nvSpPr>
          <p:cNvPr id="94" name="Shape 92"/>
          <p:cNvSpPr/>
          <p:nvPr/>
        </p:nvSpPr>
        <p:spPr>
          <a:xfrm>
            <a:off x="6263640" y="2743200"/>
            <a:ext cx="5486400" cy="2560320"/>
          </a:xfrm>
          <a:prstGeom prst="rect">
            <a:avLst/>
          </a:prstGeom>
          <a:solidFill>
            <a:srgbClr val="FFFFFF"/>
          </a:solidFill>
          <a:ln w="6350">
            <a:solidFill>
              <a:srgbClr val="D6CFB8"/>
            </a:solidFill>
            <a:prstDash val="solid"/>
          </a:ln>
        </p:spPr>
      </p:sp>
      <p:sp>
        <p:nvSpPr>
          <p:cNvPr id="95" name="Text 93"/>
          <p:cNvSpPr/>
          <p:nvPr/>
        </p:nvSpPr>
        <p:spPr>
          <a:xfrm>
            <a:off x="6355080" y="2779776"/>
            <a:ext cx="53035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Gros effet · les distributions se séparent</a:t>
            </a:r>
            <a:endParaRPr lang="en-US" sz="900" dirty="0"/>
          </a:p>
        </p:txBody>
      </p:sp>
      <p:sp>
        <p:nvSpPr>
          <p:cNvPr id="96" name="Shape 94"/>
          <p:cNvSpPr/>
          <p:nvPr/>
        </p:nvSpPr>
        <p:spPr>
          <a:xfrm>
            <a:off x="6492240" y="4937760"/>
            <a:ext cx="5120640" cy="0"/>
          </a:xfrm>
          <a:prstGeom prst="line">
            <a:avLst/>
          </a:prstGeom>
          <a:noFill/>
          <a:ln w="9525">
            <a:solidFill>
              <a:srgbClr val="0E1729"/>
            </a:solidFill>
            <a:prstDash val="solid"/>
          </a:ln>
        </p:spPr>
      </p:sp>
      <p:sp>
        <p:nvSpPr>
          <p:cNvPr id="97" name="Shape 95"/>
          <p:cNvSpPr/>
          <p:nvPr/>
        </p:nvSpPr>
        <p:spPr>
          <a:xfrm>
            <a:off x="6492240" y="3063240"/>
            <a:ext cx="0" cy="1874520"/>
          </a:xfrm>
          <a:prstGeom prst="line">
            <a:avLst/>
          </a:prstGeom>
          <a:noFill/>
          <a:ln w="9525">
            <a:solidFill>
              <a:srgbClr val="0E1729"/>
            </a:solidFill>
            <a:prstDash val="solid"/>
          </a:ln>
        </p:spPr>
      </p:sp>
      <p:sp>
        <p:nvSpPr>
          <p:cNvPr id="98" name="Text 96"/>
          <p:cNvSpPr/>
          <p:nvPr/>
        </p:nvSpPr>
        <p:spPr>
          <a:xfrm>
            <a:off x="6492240" y="5029200"/>
            <a:ext cx="512064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Mesure</a:t>
            </a:r>
            <a:endParaRPr lang="en-US" sz="800" dirty="0"/>
          </a:p>
        </p:txBody>
      </p:sp>
      <p:sp>
        <p:nvSpPr>
          <p:cNvPr id="99" name="Shape 97"/>
          <p:cNvSpPr/>
          <p:nvPr/>
        </p:nvSpPr>
        <p:spPr>
          <a:xfrm>
            <a:off x="6492240" y="4934070"/>
            <a:ext cx="99568" cy="-3015"/>
          </a:xfrm>
          <a:prstGeom prst="line">
            <a:avLst/>
          </a:prstGeom>
          <a:noFill/>
          <a:ln w="19050">
            <a:solidFill>
              <a:srgbClr val="0E1729"/>
            </a:solidFill>
            <a:prstDash val="solid"/>
          </a:ln>
        </p:spPr>
      </p:sp>
      <p:sp>
        <p:nvSpPr>
          <p:cNvPr id="100" name="Shape 98"/>
          <p:cNvSpPr/>
          <p:nvPr/>
        </p:nvSpPr>
        <p:spPr>
          <a:xfrm>
            <a:off x="6591808" y="4931054"/>
            <a:ext cx="99568" cy="-5111"/>
          </a:xfrm>
          <a:prstGeom prst="line">
            <a:avLst/>
          </a:prstGeom>
          <a:noFill/>
          <a:ln w="19050">
            <a:solidFill>
              <a:srgbClr val="0E1729"/>
            </a:solidFill>
            <a:prstDash val="solid"/>
          </a:ln>
        </p:spPr>
      </p:sp>
      <p:sp>
        <p:nvSpPr>
          <p:cNvPr id="101" name="Shape 99"/>
          <p:cNvSpPr/>
          <p:nvPr/>
        </p:nvSpPr>
        <p:spPr>
          <a:xfrm>
            <a:off x="6691376" y="4925943"/>
            <a:ext cx="99568" cy="-8378"/>
          </a:xfrm>
          <a:prstGeom prst="line">
            <a:avLst/>
          </a:prstGeom>
          <a:noFill/>
          <a:ln w="19050">
            <a:solidFill>
              <a:srgbClr val="0E1729"/>
            </a:solidFill>
            <a:prstDash val="solid"/>
          </a:ln>
        </p:spPr>
      </p:sp>
      <p:sp>
        <p:nvSpPr>
          <p:cNvPr id="102" name="Shape 100"/>
          <p:cNvSpPr/>
          <p:nvPr/>
        </p:nvSpPr>
        <p:spPr>
          <a:xfrm>
            <a:off x="6790944" y="4917565"/>
            <a:ext cx="99568" cy="-13278"/>
          </a:xfrm>
          <a:prstGeom prst="line">
            <a:avLst/>
          </a:prstGeom>
          <a:noFill/>
          <a:ln w="19050">
            <a:solidFill>
              <a:srgbClr val="0E1729"/>
            </a:solidFill>
            <a:prstDash val="solid"/>
          </a:ln>
        </p:spPr>
      </p:sp>
      <p:sp>
        <p:nvSpPr>
          <p:cNvPr id="103" name="Shape 101"/>
          <p:cNvSpPr/>
          <p:nvPr/>
        </p:nvSpPr>
        <p:spPr>
          <a:xfrm>
            <a:off x="6890512" y="4904287"/>
            <a:ext cx="99568" cy="-20335"/>
          </a:xfrm>
          <a:prstGeom prst="line">
            <a:avLst/>
          </a:prstGeom>
          <a:noFill/>
          <a:ln w="19050">
            <a:solidFill>
              <a:srgbClr val="0E1729"/>
            </a:solidFill>
            <a:prstDash val="solid"/>
          </a:ln>
        </p:spPr>
      </p:sp>
      <p:sp>
        <p:nvSpPr>
          <p:cNvPr id="104" name="Shape 102"/>
          <p:cNvSpPr/>
          <p:nvPr/>
        </p:nvSpPr>
        <p:spPr>
          <a:xfrm>
            <a:off x="6990080" y="4883951"/>
            <a:ext cx="99568" cy="-30081"/>
          </a:xfrm>
          <a:prstGeom prst="line">
            <a:avLst/>
          </a:prstGeom>
          <a:noFill/>
          <a:ln w="19050">
            <a:solidFill>
              <a:srgbClr val="0E1729"/>
            </a:solidFill>
            <a:prstDash val="solid"/>
          </a:ln>
        </p:spPr>
      </p:sp>
      <p:sp>
        <p:nvSpPr>
          <p:cNvPr id="105" name="Shape 103"/>
          <p:cNvSpPr/>
          <p:nvPr/>
        </p:nvSpPr>
        <p:spPr>
          <a:xfrm>
            <a:off x="7089648" y="4853871"/>
            <a:ext cx="99568" cy="-42952"/>
          </a:xfrm>
          <a:prstGeom prst="line">
            <a:avLst/>
          </a:prstGeom>
          <a:noFill/>
          <a:ln w="19050">
            <a:solidFill>
              <a:srgbClr val="0E1729"/>
            </a:solidFill>
            <a:prstDash val="solid"/>
          </a:ln>
        </p:spPr>
      </p:sp>
      <p:sp>
        <p:nvSpPr>
          <p:cNvPr id="106" name="Shape 104"/>
          <p:cNvSpPr/>
          <p:nvPr/>
        </p:nvSpPr>
        <p:spPr>
          <a:xfrm>
            <a:off x="7189216" y="4810919"/>
            <a:ext cx="99568" cy="-59159"/>
          </a:xfrm>
          <a:prstGeom prst="line">
            <a:avLst/>
          </a:prstGeom>
          <a:noFill/>
          <a:ln w="19050">
            <a:solidFill>
              <a:srgbClr val="0E1729"/>
            </a:solidFill>
            <a:prstDash val="solid"/>
          </a:ln>
        </p:spPr>
      </p:sp>
      <p:sp>
        <p:nvSpPr>
          <p:cNvPr id="107" name="Shape 105"/>
          <p:cNvSpPr/>
          <p:nvPr/>
        </p:nvSpPr>
        <p:spPr>
          <a:xfrm>
            <a:off x="7288784" y="4751760"/>
            <a:ext cx="99568" cy="-78525"/>
          </a:xfrm>
          <a:prstGeom prst="line">
            <a:avLst/>
          </a:prstGeom>
          <a:noFill/>
          <a:ln w="19050">
            <a:solidFill>
              <a:srgbClr val="0E1729"/>
            </a:solidFill>
            <a:prstDash val="solid"/>
          </a:ln>
        </p:spPr>
      </p:sp>
      <p:sp>
        <p:nvSpPr>
          <p:cNvPr id="108" name="Shape 106"/>
          <p:cNvSpPr/>
          <p:nvPr/>
        </p:nvSpPr>
        <p:spPr>
          <a:xfrm>
            <a:off x="7388352" y="4673235"/>
            <a:ext cx="99568" cy="-100329"/>
          </a:xfrm>
          <a:prstGeom prst="line">
            <a:avLst/>
          </a:prstGeom>
          <a:noFill/>
          <a:ln w="19050">
            <a:solidFill>
              <a:srgbClr val="0E1729"/>
            </a:solidFill>
            <a:prstDash val="solid"/>
          </a:ln>
        </p:spPr>
      </p:sp>
      <p:sp>
        <p:nvSpPr>
          <p:cNvPr id="109" name="Shape 107"/>
          <p:cNvSpPr/>
          <p:nvPr/>
        </p:nvSpPr>
        <p:spPr>
          <a:xfrm>
            <a:off x="7487920" y="4572906"/>
            <a:ext cx="99568" cy="-123204"/>
          </a:xfrm>
          <a:prstGeom prst="line">
            <a:avLst/>
          </a:prstGeom>
          <a:noFill/>
          <a:ln w="19050">
            <a:solidFill>
              <a:srgbClr val="0E1729"/>
            </a:solidFill>
            <a:prstDash val="solid"/>
          </a:ln>
        </p:spPr>
      </p:sp>
      <p:sp>
        <p:nvSpPr>
          <p:cNvPr id="110" name="Shape 108"/>
          <p:cNvSpPr/>
          <p:nvPr/>
        </p:nvSpPr>
        <p:spPr>
          <a:xfrm>
            <a:off x="7587488" y="4449702"/>
            <a:ext cx="99568" cy="-145117"/>
          </a:xfrm>
          <a:prstGeom prst="line">
            <a:avLst/>
          </a:prstGeom>
          <a:noFill/>
          <a:ln w="19050">
            <a:solidFill>
              <a:srgbClr val="0E1729"/>
            </a:solidFill>
            <a:prstDash val="solid"/>
          </a:ln>
        </p:spPr>
      </p:sp>
      <p:sp>
        <p:nvSpPr>
          <p:cNvPr id="111" name="Shape 109"/>
          <p:cNvSpPr/>
          <p:nvPr/>
        </p:nvSpPr>
        <p:spPr>
          <a:xfrm>
            <a:off x="7687056" y="4304585"/>
            <a:ext cx="99568" cy="-163490"/>
          </a:xfrm>
          <a:prstGeom prst="line">
            <a:avLst/>
          </a:prstGeom>
          <a:noFill/>
          <a:ln w="19050">
            <a:solidFill>
              <a:srgbClr val="0E1729"/>
            </a:solidFill>
            <a:prstDash val="solid"/>
          </a:ln>
        </p:spPr>
      </p:sp>
      <p:sp>
        <p:nvSpPr>
          <p:cNvPr id="112" name="Shape 110"/>
          <p:cNvSpPr/>
          <p:nvPr/>
        </p:nvSpPr>
        <p:spPr>
          <a:xfrm>
            <a:off x="7786624" y="4141095"/>
            <a:ext cx="99568" cy="-175472"/>
          </a:xfrm>
          <a:prstGeom prst="line">
            <a:avLst/>
          </a:prstGeom>
          <a:noFill/>
          <a:ln w="19050">
            <a:solidFill>
              <a:srgbClr val="0E1729"/>
            </a:solidFill>
            <a:prstDash val="solid"/>
          </a:ln>
        </p:spPr>
      </p:sp>
      <p:sp>
        <p:nvSpPr>
          <p:cNvPr id="113" name="Shape 111"/>
          <p:cNvSpPr/>
          <p:nvPr/>
        </p:nvSpPr>
        <p:spPr>
          <a:xfrm>
            <a:off x="7886192" y="3965622"/>
            <a:ext cx="99568" cy="-178343"/>
          </a:xfrm>
          <a:prstGeom prst="line">
            <a:avLst/>
          </a:prstGeom>
          <a:noFill/>
          <a:ln w="19050">
            <a:solidFill>
              <a:srgbClr val="0E1729"/>
            </a:solidFill>
            <a:prstDash val="solid"/>
          </a:ln>
        </p:spPr>
      </p:sp>
      <p:sp>
        <p:nvSpPr>
          <p:cNvPr id="114" name="Shape 112"/>
          <p:cNvSpPr/>
          <p:nvPr/>
        </p:nvSpPr>
        <p:spPr>
          <a:xfrm>
            <a:off x="7985760" y="3787280"/>
            <a:ext cx="99568" cy="-169995"/>
          </a:xfrm>
          <a:prstGeom prst="line">
            <a:avLst/>
          </a:prstGeom>
          <a:noFill/>
          <a:ln w="19050">
            <a:solidFill>
              <a:srgbClr val="0E1729"/>
            </a:solidFill>
            <a:prstDash val="solid"/>
          </a:ln>
        </p:spPr>
      </p:sp>
      <p:sp>
        <p:nvSpPr>
          <p:cNvPr id="115" name="Shape 113"/>
          <p:cNvSpPr/>
          <p:nvPr/>
        </p:nvSpPr>
        <p:spPr>
          <a:xfrm>
            <a:off x="8085328" y="3617284"/>
            <a:ext cx="99568" cy="-149403"/>
          </a:xfrm>
          <a:prstGeom prst="line">
            <a:avLst/>
          </a:prstGeom>
          <a:noFill/>
          <a:ln w="19050">
            <a:solidFill>
              <a:srgbClr val="0E1729"/>
            </a:solidFill>
            <a:prstDash val="solid"/>
          </a:ln>
        </p:spPr>
      </p:sp>
      <p:sp>
        <p:nvSpPr>
          <p:cNvPr id="116" name="Shape 114"/>
          <p:cNvSpPr/>
          <p:nvPr/>
        </p:nvSpPr>
        <p:spPr>
          <a:xfrm>
            <a:off x="8184896" y="3467882"/>
            <a:ext cx="99568" cy="-116958"/>
          </a:xfrm>
          <a:prstGeom prst="line">
            <a:avLst/>
          </a:prstGeom>
          <a:noFill/>
          <a:ln w="19050">
            <a:solidFill>
              <a:srgbClr val="0E1729"/>
            </a:solidFill>
            <a:prstDash val="solid"/>
          </a:ln>
        </p:spPr>
      </p:sp>
      <p:sp>
        <p:nvSpPr>
          <p:cNvPr id="117" name="Shape 115"/>
          <p:cNvSpPr/>
          <p:nvPr/>
        </p:nvSpPr>
        <p:spPr>
          <a:xfrm>
            <a:off x="8284464" y="3350924"/>
            <a:ext cx="99568" cy="-74596"/>
          </a:xfrm>
          <a:prstGeom prst="line">
            <a:avLst/>
          </a:prstGeom>
          <a:noFill/>
          <a:ln w="19050">
            <a:solidFill>
              <a:srgbClr val="0E1729"/>
            </a:solidFill>
            <a:prstDash val="solid"/>
          </a:ln>
        </p:spPr>
      </p:sp>
      <p:sp>
        <p:nvSpPr>
          <p:cNvPr id="118" name="Shape 116"/>
          <p:cNvSpPr/>
          <p:nvPr/>
        </p:nvSpPr>
        <p:spPr>
          <a:xfrm>
            <a:off x="8384032" y="3276328"/>
            <a:ext cx="99568" cy="-25636"/>
          </a:xfrm>
          <a:prstGeom prst="line">
            <a:avLst/>
          </a:prstGeom>
          <a:noFill/>
          <a:ln w="19050">
            <a:solidFill>
              <a:srgbClr val="0E1729"/>
            </a:solidFill>
            <a:prstDash val="solid"/>
          </a:ln>
        </p:spPr>
      </p:sp>
      <p:sp>
        <p:nvSpPr>
          <p:cNvPr id="119" name="Shape 117"/>
          <p:cNvSpPr/>
          <p:nvPr/>
        </p:nvSpPr>
        <p:spPr>
          <a:xfrm>
            <a:off x="8483600" y="3250692"/>
            <a:ext cx="99568" cy="25636"/>
          </a:xfrm>
          <a:prstGeom prst="line">
            <a:avLst/>
          </a:prstGeom>
          <a:noFill/>
          <a:ln w="19050">
            <a:solidFill>
              <a:srgbClr val="0E1729"/>
            </a:solidFill>
            <a:prstDash val="solid"/>
          </a:ln>
        </p:spPr>
      </p:sp>
      <p:sp>
        <p:nvSpPr>
          <p:cNvPr id="120" name="Shape 118"/>
          <p:cNvSpPr/>
          <p:nvPr/>
        </p:nvSpPr>
        <p:spPr>
          <a:xfrm>
            <a:off x="8583168" y="3276328"/>
            <a:ext cx="99568" cy="74596"/>
          </a:xfrm>
          <a:prstGeom prst="line">
            <a:avLst/>
          </a:prstGeom>
          <a:noFill/>
          <a:ln w="19050">
            <a:solidFill>
              <a:srgbClr val="0E1729"/>
            </a:solidFill>
            <a:prstDash val="solid"/>
          </a:ln>
        </p:spPr>
      </p:sp>
      <p:sp>
        <p:nvSpPr>
          <p:cNvPr id="121" name="Shape 119"/>
          <p:cNvSpPr/>
          <p:nvPr/>
        </p:nvSpPr>
        <p:spPr>
          <a:xfrm>
            <a:off x="8682736" y="3350924"/>
            <a:ext cx="99568" cy="116958"/>
          </a:xfrm>
          <a:prstGeom prst="line">
            <a:avLst/>
          </a:prstGeom>
          <a:noFill/>
          <a:ln w="19050">
            <a:solidFill>
              <a:srgbClr val="0E1729"/>
            </a:solidFill>
            <a:prstDash val="solid"/>
          </a:ln>
        </p:spPr>
      </p:sp>
      <p:sp>
        <p:nvSpPr>
          <p:cNvPr id="122" name="Shape 120"/>
          <p:cNvSpPr/>
          <p:nvPr/>
        </p:nvSpPr>
        <p:spPr>
          <a:xfrm>
            <a:off x="8782304" y="3467882"/>
            <a:ext cx="99568" cy="149403"/>
          </a:xfrm>
          <a:prstGeom prst="line">
            <a:avLst/>
          </a:prstGeom>
          <a:noFill/>
          <a:ln w="19050">
            <a:solidFill>
              <a:srgbClr val="0E1729"/>
            </a:solidFill>
            <a:prstDash val="solid"/>
          </a:ln>
        </p:spPr>
      </p:sp>
      <p:sp>
        <p:nvSpPr>
          <p:cNvPr id="123" name="Shape 121"/>
          <p:cNvSpPr/>
          <p:nvPr/>
        </p:nvSpPr>
        <p:spPr>
          <a:xfrm>
            <a:off x="8881872" y="3617284"/>
            <a:ext cx="99568" cy="169995"/>
          </a:xfrm>
          <a:prstGeom prst="line">
            <a:avLst/>
          </a:prstGeom>
          <a:noFill/>
          <a:ln w="19050">
            <a:solidFill>
              <a:srgbClr val="0E1729"/>
            </a:solidFill>
            <a:prstDash val="solid"/>
          </a:ln>
        </p:spPr>
      </p:sp>
      <p:sp>
        <p:nvSpPr>
          <p:cNvPr id="124" name="Shape 122"/>
          <p:cNvSpPr/>
          <p:nvPr/>
        </p:nvSpPr>
        <p:spPr>
          <a:xfrm>
            <a:off x="8981440" y="3787280"/>
            <a:ext cx="99568" cy="178343"/>
          </a:xfrm>
          <a:prstGeom prst="line">
            <a:avLst/>
          </a:prstGeom>
          <a:noFill/>
          <a:ln w="19050">
            <a:solidFill>
              <a:srgbClr val="0E1729"/>
            </a:solidFill>
            <a:prstDash val="solid"/>
          </a:ln>
        </p:spPr>
      </p:sp>
      <p:sp>
        <p:nvSpPr>
          <p:cNvPr id="125" name="Shape 123"/>
          <p:cNvSpPr/>
          <p:nvPr/>
        </p:nvSpPr>
        <p:spPr>
          <a:xfrm>
            <a:off x="9081008" y="3965622"/>
            <a:ext cx="99568" cy="175472"/>
          </a:xfrm>
          <a:prstGeom prst="line">
            <a:avLst/>
          </a:prstGeom>
          <a:noFill/>
          <a:ln w="19050">
            <a:solidFill>
              <a:srgbClr val="0E1729"/>
            </a:solidFill>
            <a:prstDash val="solid"/>
          </a:ln>
        </p:spPr>
      </p:sp>
      <p:sp>
        <p:nvSpPr>
          <p:cNvPr id="126" name="Shape 124"/>
          <p:cNvSpPr/>
          <p:nvPr/>
        </p:nvSpPr>
        <p:spPr>
          <a:xfrm>
            <a:off x="9180576" y="4141095"/>
            <a:ext cx="99568" cy="163490"/>
          </a:xfrm>
          <a:prstGeom prst="line">
            <a:avLst/>
          </a:prstGeom>
          <a:noFill/>
          <a:ln w="19050">
            <a:solidFill>
              <a:srgbClr val="0E1729"/>
            </a:solidFill>
            <a:prstDash val="solid"/>
          </a:ln>
        </p:spPr>
      </p:sp>
      <p:sp>
        <p:nvSpPr>
          <p:cNvPr id="127" name="Shape 125"/>
          <p:cNvSpPr/>
          <p:nvPr/>
        </p:nvSpPr>
        <p:spPr>
          <a:xfrm>
            <a:off x="9280144" y="4304585"/>
            <a:ext cx="99568" cy="145117"/>
          </a:xfrm>
          <a:prstGeom prst="line">
            <a:avLst/>
          </a:prstGeom>
          <a:noFill/>
          <a:ln w="19050">
            <a:solidFill>
              <a:srgbClr val="0E1729"/>
            </a:solidFill>
            <a:prstDash val="solid"/>
          </a:ln>
        </p:spPr>
      </p:sp>
      <p:sp>
        <p:nvSpPr>
          <p:cNvPr id="128" name="Shape 126"/>
          <p:cNvSpPr/>
          <p:nvPr/>
        </p:nvSpPr>
        <p:spPr>
          <a:xfrm>
            <a:off x="9379712" y="4449702"/>
            <a:ext cx="99568" cy="123204"/>
          </a:xfrm>
          <a:prstGeom prst="line">
            <a:avLst/>
          </a:prstGeom>
          <a:noFill/>
          <a:ln w="19050">
            <a:solidFill>
              <a:srgbClr val="0E1729"/>
            </a:solidFill>
            <a:prstDash val="solid"/>
          </a:ln>
        </p:spPr>
      </p:sp>
      <p:sp>
        <p:nvSpPr>
          <p:cNvPr id="129" name="Shape 127"/>
          <p:cNvSpPr/>
          <p:nvPr/>
        </p:nvSpPr>
        <p:spPr>
          <a:xfrm>
            <a:off x="9479280" y="4572906"/>
            <a:ext cx="99568" cy="100329"/>
          </a:xfrm>
          <a:prstGeom prst="line">
            <a:avLst/>
          </a:prstGeom>
          <a:noFill/>
          <a:ln w="19050">
            <a:solidFill>
              <a:srgbClr val="0E1729"/>
            </a:solidFill>
            <a:prstDash val="solid"/>
          </a:ln>
        </p:spPr>
      </p:sp>
      <p:sp>
        <p:nvSpPr>
          <p:cNvPr id="130" name="Shape 128"/>
          <p:cNvSpPr/>
          <p:nvPr/>
        </p:nvSpPr>
        <p:spPr>
          <a:xfrm>
            <a:off x="9578848" y="4673235"/>
            <a:ext cx="99568" cy="78525"/>
          </a:xfrm>
          <a:prstGeom prst="line">
            <a:avLst/>
          </a:prstGeom>
          <a:noFill/>
          <a:ln w="19050">
            <a:solidFill>
              <a:srgbClr val="0E1729"/>
            </a:solidFill>
            <a:prstDash val="solid"/>
          </a:ln>
        </p:spPr>
      </p:sp>
      <p:sp>
        <p:nvSpPr>
          <p:cNvPr id="131" name="Shape 129"/>
          <p:cNvSpPr/>
          <p:nvPr/>
        </p:nvSpPr>
        <p:spPr>
          <a:xfrm>
            <a:off x="9678416" y="4751760"/>
            <a:ext cx="99568" cy="59159"/>
          </a:xfrm>
          <a:prstGeom prst="line">
            <a:avLst/>
          </a:prstGeom>
          <a:noFill/>
          <a:ln w="19050">
            <a:solidFill>
              <a:srgbClr val="0E1729"/>
            </a:solidFill>
            <a:prstDash val="solid"/>
          </a:ln>
        </p:spPr>
      </p:sp>
      <p:sp>
        <p:nvSpPr>
          <p:cNvPr id="132" name="Shape 130"/>
          <p:cNvSpPr/>
          <p:nvPr/>
        </p:nvSpPr>
        <p:spPr>
          <a:xfrm>
            <a:off x="9777984" y="4810919"/>
            <a:ext cx="99568" cy="42952"/>
          </a:xfrm>
          <a:prstGeom prst="line">
            <a:avLst/>
          </a:prstGeom>
          <a:noFill/>
          <a:ln w="19050">
            <a:solidFill>
              <a:srgbClr val="0E1729"/>
            </a:solidFill>
            <a:prstDash val="solid"/>
          </a:ln>
        </p:spPr>
      </p:sp>
      <p:sp>
        <p:nvSpPr>
          <p:cNvPr id="133" name="Shape 131"/>
          <p:cNvSpPr/>
          <p:nvPr/>
        </p:nvSpPr>
        <p:spPr>
          <a:xfrm>
            <a:off x="9877552" y="4853871"/>
            <a:ext cx="99568" cy="30081"/>
          </a:xfrm>
          <a:prstGeom prst="line">
            <a:avLst/>
          </a:prstGeom>
          <a:noFill/>
          <a:ln w="19050">
            <a:solidFill>
              <a:srgbClr val="0E1729"/>
            </a:solidFill>
            <a:prstDash val="solid"/>
          </a:ln>
        </p:spPr>
      </p:sp>
      <p:sp>
        <p:nvSpPr>
          <p:cNvPr id="134" name="Shape 132"/>
          <p:cNvSpPr/>
          <p:nvPr/>
        </p:nvSpPr>
        <p:spPr>
          <a:xfrm>
            <a:off x="9977120" y="4883951"/>
            <a:ext cx="99568" cy="20335"/>
          </a:xfrm>
          <a:prstGeom prst="line">
            <a:avLst/>
          </a:prstGeom>
          <a:noFill/>
          <a:ln w="19050">
            <a:solidFill>
              <a:srgbClr val="0E1729"/>
            </a:solidFill>
            <a:prstDash val="solid"/>
          </a:ln>
        </p:spPr>
      </p:sp>
      <p:sp>
        <p:nvSpPr>
          <p:cNvPr id="135" name="Shape 133"/>
          <p:cNvSpPr/>
          <p:nvPr/>
        </p:nvSpPr>
        <p:spPr>
          <a:xfrm>
            <a:off x="10076688" y="4904287"/>
            <a:ext cx="99568" cy="13278"/>
          </a:xfrm>
          <a:prstGeom prst="line">
            <a:avLst/>
          </a:prstGeom>
          <a:noFill/>
          <a:ln w="19050">
            <a:solidFill>
              <a:srgbClr val="0E1729"/>
            </a:solidFill>
            <a:prstDash val="solid"/>
          </a:ln>
        </p:spPr>
      </p:sp>
      <p:sp>
        <p:nvSpPr>
          <p:cNvPr id="136" name="Shape 134"/>
          <p:cNvSpPr/>
          <p:nvPr/>
        </p:nvSpPr>
        <p:spPr>
          <a:xfrm>
            <a:off x="10176256" y="4917565"/>
            <a:ext cx="99568" cy="8378"/>
          </a:xfrm>
          <a:prstGeom prst="line">
            <a:avLst/>
          </a:prstGeom>
          <a:noFill/>
          <a:ln w="19050">
            <a:solidFill>
              <a:srgbClr val="0E1729"/>
            </a:solidFill>
            <a:prstDash val="solid"/>
          </a:ln>
        </p:spPr>
      </p:sp>
      <p:sp>
        <p:nvSpPr>
          <p:cNvPr id="137" name="Shape 135"/>
          <p:cNvSpPr/>
          <p:nvPr/>
        </p:nvSpPr>
        <p:spPr>
          <a:xfrm>
            <a:off x="10275824" y="4925943"/>
            <a:ext cx="99568" cy="5111"/>
          </a:xfrm>
          <a:prstGeom prst="line">
            <a:avLst/>
          </a:prstGeom>
          <a:noFill/>
          <a:ln w="19050">
            <a:solidFill>
              <a:srgbClr val="0E1729"/>
            </a:solidFill>
            <a:prstDash val="solid"/>
          </a:ln>
        </p:spPr>
      </p:sp>
      <p:sp>
        <p:nvSpPr>
          <p:cNvPr id="138" name="Shape 136"/>
          <p:cNvSpPr/>
          <p:nvPr/>
        </p:nvSpPr>
        <p:spPr>
          <a:xfrm>
            <a:off x="10375392" y="4931054"/>
            <a:ext cx="99568" cy="3015"/>
          </a:xfrm>
          <a:prstGeom prst="line">
            <a:avLst/>
          </a:prstGeom>
          <a:noFill/>
          <a:ln w="19050">
            <a:solidFill>
              <a:srgbClr val="0E1729"/>
            </a:solidFill>
            <a:prstDash val="solid"/>
          </a:ln>
        </p:spPr>
      </p:sp>
      <p:sp>
        <p:nvSpPr>
          <p:cNvPr id="139" name="Shape 137"/>
          <p:cNvSpPr/>
          <p:nvPr/>
        </p:nvSpPr>
        <p:spPr>
          <a:xfrm>
            <a:off x="7630160" y="4934070"/>
            <a:ext cx="99568" cy="-3015"/>
          </a:xfrm>
          <a:prstGeom prst="line">
            <a:avLst/>
          </a:prstGeom>
          <a:noFill/>
          <a:ln w="19050">
            <a:solidFill>
              <a:srgbClr val="F09042"/>
            </a:solidFill>
            <a:prstDash val="solid"/>
          </a:ln>
        </p:spPr>
      </p:sp>
      <p:sp>
        <p:nvSpPr>
          <p:cNvPr id="140" name="Shape 138"/>
          <p:cNvSpPr/>
          <p:nvPr/>
        </p:nvSpPr>
        <p:spPr>
          <a:xfrm>
            <a:off x="7729728" y="4931054"/>
            <a:ext cx="99568" cy="-5111"/>
          </a:xfrm>
          <a:prstGeom prst="line">
            <a:avLst/>
          </a:prstGeom>
          <a:noFill/>
          <a:ln w="19050">
            <a:solidFill>
              <a:srgbClr val="F09042"/>
            </a:solidFill>
            <a:prstDash val="solid"/>
          </a:ln>
        </p:spPr>
      </p:sp>
      <p:sp>
        <p:nvSpPr>
          <p:cNvPr id="141" name="Shape 139"/>
          <p:cNvSpPr/>
          <p:nvPr/>
        </p:nvSpPr>
        <p:spPr>
          <a:xfrm>
            <a:off x="7829296" y="4925943"/>
            <a:ext cx="99568" cy="-8378"/>
          </a:xfrm>
          <a:prstGeom prst="line">
            <a:avLst/>
          </a:prstGeom>
          <a:noFill/>
          <a:ln w="19050">
            <a:solidFill>
              <a:srgbClr val="F09042"/>
            </a:solidFill>
            <a:prstDash val="solid"/>
          </a:ln>
        </p:spPr>
      </p:sp>
      <p:sp>
        <p:nvSpPr>
          <p:cNvPr id="142" name="Shape 140"/>
          <p:cNvSpPr/>
          <p:nvPr/>
        </p:nvSpPr>
        <p:spPr>
          <a:xfrm>
            <a:off x="7928864" y="4917565"/>
            <a:ext cx="99568" cy="-13278"/>
          </a:xfrm>
          <a:prstGeom prst="line">
            <a:avLst/>
          </a:prstGeom>
          <a:noFill/>
          <a:ln w="19050">
            <a:solidFill>
              <a:srgbClr val="F09042"/>
            </a:solidFill>
            <a:prstDash val="solid"/>
          </a:ln>
        </p:spPr>
      </p:sp>
      <p:sp>
        <p:nvSpPr>
          <p:cNvPr id="143" name="Shape 141"/>
          <p:cNvSpPr/>
          <p:nvPr/>
        </p:nvSpPr>
        <p:spPr>
          <a:xfrm>
            <a:off x="8028432" y="4904287"/>
            <a:ext cx="99568" cy="-20335"/>
          </a:xfrm>
          <a:prstGeom prst="line">
            <a:avLst/>
          </a:prstGeom>
          <a:noFill/>
          <a:ln w="19050">
            <a:solidFill>
              <a:srgbClr val="F09042"/>
            </a:solidFill>
            <a:prstDash val="solid"/>
          </a:ln>
        </p:spPr>
      </p:sp>
      <p:sp>
        <p:nvSpPr>
          <p:cNvPr id="144" name="Shape 142"/>
          <p:cNvSpPr/>
          <p:nvPr/>
        </p:nvSpPr>
        <p:spPr>
          <a:xfrm>
            <a:off x="8128000" y="4883951"/>
            <a:ext cx="99568" cy="-30081"/>
          </a:xfrm>
          <a:prstGeom prst="line">
            <a:avLst/>
          </a:prstGeom>
          <a:noFill/>
          <a:ln w="19050">
            <a:solidFill>
              <a:srgbClr val="F09042"/>
            </a:solidFill>
            <a:prstDash val="solid"/>
          </a:ln>
        </p:spPr>
      </p:sp>
      <p:sp>
        <p:nvSpPr>
          <p:cNvPr id="145" name="Shape 143"/>
          <p:cNvSpPr/>
          <p:nvPr/>
        </p:nvSpPr>
        <p:spPr>
          <a:xfrm>
            <a:off x="8227568" y="4853871"/>
            <a:ext cx="99568" cy="-42952"/>
          </a:xfrm>
          <a:prstGeom prst="line">
            <a:avLst/>
          </a:prstGeom>
          <a:noFill/>
          <a:ln w="19050">
            <a:solidFill>
              <a:srgbClr val="F09042"/>
            </a:solidFill>
            <a:prstDash val="solid"/>
          </a:ln>
        </p:spPr>
      </p:sp>
      <p:sp>
        <p:nvSpPr>
          <p:cNvPr id="146" name="Shape 144"/>
          <p:cNvSpPr/>
          <p:nvPr/>
        </p:nvSpPr>
        <p:spPr>
          <a:xfrm>
            <a:off x="8327136" y="4810919"/>
            <a:ext cx="99568" cy="-59159"/>
          </a:xfrm>
          <a:prstGeom prst="line">
            <a:avLst/>
          </a:prstGeom>
          <a:noFill/>
          <a:ln w="19050">
            <a:solidFill>
              <a:srgbClr val="F09042"/>
            </a:solidFill>
            <a:prstDash val="solid"/>
          </a:ln>
        </p:spPr>
      </p:sp>
      <p:sp>
        <p:nvSpPr>
          <p:cNvPr id="147" name="Shape 145"/>
          <p:cNvSpPr/>
          <p:nvPr/>
        </p:nvSpPr>
        <p:spPr>
          <a:xfrm>
            <a:off x="8426704" y="4751760"/>
            <a:ext cx="99568" cy="-78525"/>
          </a:xfrm>
          <a:prstGeom prst="line">
            <a:avLst/>
          </a:prstGeom>
          <a:noFill/>
          <a:ln w="19050">
            <a:solidFill>
              <a:srgbClr val="F09042"/>
            </a:solidFill>
            <a:prstDash val="solid"/>
          </a:ln>
        </p:spPr>
      </p:sp>
      <p:sp>
        <p:nvSpPr>
          <p:cNvPr id="148" name="Shape 146"/>
          <p:cNvSpPr/>
          <p:nvPr/>
        </p:nvSpPr>
        <p:spPr>
          <a:xfrm>
            <a:off x="8526272" y="4673235"/>
            <a:ext cx="99568" cy="-100329"/>
          </a:xfrm>
          <a:prstGeom prst="line">
            <a:avLst/>
          </a:prstGeom>
          <a:noFill/>
          <a:ln w="19050">
            <a:solidFill>
              <a:srgbClr val="F09042"/>
            </a:solidFill>
            <a:prstDash val="solid"/>
          </a:ln>
        </p:spPr>
      </p:sp>
      <p:sp>
        <p:nvSpPr>
          <p:cNvPr id="149" name="Shape 147"/>
          <p:cNvSpPr/>
          <p:nvPr/>
        </p:nvSpPr>
        <p:spPr>
          <a:xfrm>
            <a:off x="8625840" y="4572906"/>
            <a:ext cx="99568" cy="-123204"/>
          </a:xfrm>
          <a:prstGeom prst="line">
            <a:avLst/>
          </a:prstGeom>
          <a:noFill/>
          <a:ln w="19050">
            <a:solidFill>
              <a:srgbClr val="F09042"/>
            </a:solidFill>
            <a:prstDash val="solid"/>
          </a:ln>
        </p:spPr>
      </p:sp>
      <p:sp>
        <p:nvSpPr>
          <p:cNvPr id="150" name="Shape 148"/>
          <p:cNvSpPr/>
          <p:nvPr/>
        </p:nvSpPr>
        <p:spPr>
          <a:xfrm>
            <a:off x="8725408" y="4449702"/>
            <a:ext cx="99568" cy="-145117"/>
          </a:xfrm>
          <a:prstGeom prst="line">
            <a:avLst/>
          </a:prstGeom>
          <a:noFill/>
          <a:ln w="19050">
            <a:solidFill>
              <a:srgbClr val="F09042"/>
            </a:solidFill>
            <a:prstDash val="solid"/>
          </a:ln>
        </p:spPr>
      </p:sp>
      <p:sp>
        <p:nvSpPr>
          <p:cNvPr id="151" name="Shape 149"/>
          <p:cNvSpPr/>
          <p:nvPr/>
        </p:nvSpPr>
        <p:spPr>
          <a:xfrm>
            <a:off x="8824976" y="4304585"/>
            <a:ext cx="99568" cy="-163490"/>
          </a:xfrm>
          <a:prstGeom prst="line">
            <a:avLst/>
          </a:prstGeom>
          <a:noFill/>
          <a:ln w="19050">
            <a:solidFill>
              <a:srgbClr val="F09042"/>
            </a:solidFill>
            <a:prstDash val="solid"/>
          </a:ln>
        </p:spPr>
      </p:sp>
      <p:sp>
        <p:nvSpPr>
          <p:cNvPr id="152" name="Shape 150"/>
          <p:cNvSpPr/>
          <p:nvPr/>
        </p:nvSpPr>
        <p:spPr>
          <a:xfrm>
            <a:off x="8924544" y="4141095"/>
            <a:ext cx="99568" cy="-175472"/>
          </a:xfrm>
          <a:prstGeom prst="line">
            <a:avLst/>
          </a:prstGeom>
          <a:noFill/>
          <a:ln w="19050">
            <a:solidFill>
              <a:srgbClr val="F09042"/>
            </a:solidFill>
            <a:prstDash val="solid"/>
          </a:ln>
        </p:spPr>
      </p:sp>
      <p:sp>
        <p:nvSpPr>
          <p:cNvPr id="153" name="Shape 151"/>
          <p:cNvSpPr/>
          <p:nvPr/>
        </p:nvSpPr>
        <p:spPr>
          <a:xfrm>
            <a:off x="9024112" y="3965622"/>
            <a:ext cx="99568" cy="-178343"/>
          </a:xfrm>
          <a:prstGeom prst="line">
            <a:avLst/>
          </a:prstGeom>
          <a:noFill/>
          <a:ln w="19050">
            <a:solidFill>
              <a:srgbClr val="F09042"/>
            </a:solidFill>
            <a:prstDash val="solid"/>
          </a:ln>
        </p:spPr>
      </p:sp>
      <p:sp>
        <p:nvSpPr>
          <p:cNvPr id="154" name="Shape 152"/>
          <p:cNvSpPr/>
          <p:nvPr/>
        </p:nvSpPr>
        <p:spPr>
          <a:xfrm>
            <a:off x="9123680" y="3787280"/>
            <a:ext cx="99568" cy="-169995"/>
          </a:xfrm>
          <a:prstGeom prst="line">
            <a:avLst/>
          </a:prstGeom>
          <a:noFill/>
          <a:ln w="19050">
            <a:solidFill>
              <a:srgbClr val="F09042"/>
            </a:solidFill>
            <a:prstDash val="solid"/>
          </a:ln>
        </p:spPr>
      </p:sp>
      <p:sp>
        <p:nvSpPr>
          <p:cNvPr id="155" name="Shape 153"/>
          <p:cNvSpPr/>
          <p:nvPr/>
        </p:nvSpPr>
        <p:spPr>
          <a:xfrm>
            <a:off x="9223248" y="3617284"/>
            <a:ext cx="99568" cy="-149403"/>
          </a:xfrm>
          <a:prstGeom prst="line">
            <a:avLst/>
          </a:prstGeom>
          <a:noFill/>
          <a:ln w="19050">
            <a:solidFill>
              <a:srgbClr val="F09042"/>
            </a:solidFill>
            <a:prstDash val="solid"/>
          </a:ln>
        </p:spPr>
      </p:sp>
      <p:sp>
        <p:nvSpPr>
          <p:cNvPr id="156" name="Shape 154"/>
          <p:cNvSpPr/>
          <p:nvPr/>
        </p:nvSpPr>
        <p:spPr>
          <a:xfrm>
            <a:off x="9322816" y="3467882"/>
            <a:ext cx="99568" cy="-116958"/>
          </a:xfrm>
          <a:prstGeom prst="line">
            <a:avLst/>
          </a:prstGeom>
          <a:noFill/>
          <a:ln w="19050">
            <a:solidFill>
              <a:srgbClr val="F09042"/>
            </a:solidFill>
            <a:prstDash val="solid"/>
          </a:ln>
        </p:spPr>
      </p:sp>
      <p:sp>
        <p:nvSpPr>
          <p:cNvPr id="157" name="Shape 155"/>
          <p:cNvSpPr/>
          <p:nvPr/>
        </p:nvSpPr>
        <p:spPr>
          <a:xfrm>
            <a:off x="9422384" y="3350924"/>
            <a:ext cx="99568" cy="-74596"/>
          </a:xfrm>
          <a:prstGeom prst="line">
            <a:avLst/>
          </a:prstGeom>
          <a:noFill/>
          <a:ln w="19050">
            <a:solidFill>
              <a:srgbClr val="F09042"/>
            </a:solidFill>
            <a:prstDash val="solid"/>
          </a:ln>
        </p:spPr>
      </p:sp>
      <p:sp>
        <p:nvSpPr>
          <p:cNvPr id="158" name="Shape 156"/>
          <p:cNvSpPr/>
          <p:nvPr/>
        </p:nvSpPr>
        <p:spPr>
          <a:xfrm>
            <a:off x="9521952" y="3276328"/>
            <a:ext cx="99568" cy="-25636"/>
          </a:xfrm>
          <a:prstGeom prst="line">
            <a:avLst/>
          </a:prstGeom>
          <a:noFill/>
          <a:ln w="19050">
            <a:solidFill>
              <a:srgbClr val="F09042"/>
            </a:solidFill>
            <a:prstDash val="solid"/>
          </a:ln>
        </p:spPr>
      </p:sp>
      <p:sp>
        <p:nvSpPr>
          <p:cNvPr id="159" name="Shape 157"/>
          <p:cNvSpPr/>
          <p:nvPr/>
        </p:nvSpPr>
        <p:spPr>
          <a:xfrm>
            <a:off x="9621520" y="3250692"/>
            <a:ext cx="99568" cy="25636"/>
          </a:xfrm>
          <a:prstGeom prst="line">
            <a:avLst/>
          </a:prstGeom>
          <a:noFill/>
          <a:ln w="19050">
            <a:solidFill>
              <a:srgbClr val="F09042"/>
            </a:solidFill>
            <a:prstDash val="solid"/>
          </a:ln>
        </p:spPr>
      </p:sp>
      <p:sp>
        <p:nvSpPr>
          <p:cNvPr id="160" name="Shape 158"/>
          <p:cNvSpPr/>
          <p:nvPr/>
        </p:nvSpPr>
        <p:spPr>
          <a:xfrm>
            <a:off x="9721088" y="3276328"/>
            <a:ext cx="99568" cy="74596"/>
          </a:xfrm>
          <a:prstGeom prst="line">
            <a:avLst/>
          </a:prstGeom>
          <a:noFill/>
          <a:ln w="19050">
            <a:solidFill>
              <a:srgbClr val="F09042"/>
            </a:solidFill>
            <a:prstDash val="solid"/>
          </a:ln>
        </p:spPr>
      </p:sp>
      <p:sp>
        <p:nvSpPr>
          <p:cNvPr id="161" name="Shape 159"/>
          <p:cNvSpPr/>
          <p:nvPr/>
        </p:nvSpPr>
        <p:spPr>
          <a:xfrm>
            <a:off x="9820656" y="3350924"/>
            <a:ext cx="99568" cy="116958"/>
          </a:xfrm>
          <a:prstGeom prst="line">
            <a:avLst/>
          </a:prstGeom>
          <a:noFill/>
          <a:ln w="19050">
            <a:solidFill>
              <a:srgbClr val="F09042"/>
            </a:solidFill>
            <a:prstDash val="solid"/>
          </a:ln>
        </p:spPr>
      </p:sp>
      <p:sp>
        <p:nvSpPr>
          <p:cNvPr id="162" name="Shape 160"/>
          <p:cNvSpPr/>
          <p:nvPr/>
        </p:nvSpPr>
        <p:spPr>
          <a:xfrm>
            <a:off x="9920224" y="3467882"/>
            <a:ext cx="99568" cy="149403"/>
          </a:xfrm>
          <a:prstGeom prst="line">
            <a:avLst/>
          </a:prstGeom>
          <a:noFill/>
          <a:ln w="19050">
            <a:solidFill>
              <a:srgbClr val="F09042"/>
            </a:solidFill>
            <a:prstDash val="solid"/>
          </a:ln>
        </p:spPr>
      </p:sp>
      <p:sp>
        <p:nvSpPr>
          <p:cNvPr id="163" name="Shape 161"/>
          <p:cNvSpPr/>
          <p:nvPr/>
        </p:nvSpPr>
        <p:spPr>
          <a:xfrm>
            <a:off x="10019792" y="3617284"/>
            <a:ext cx="99568" cy="169995"/>
          </a:xfrm>
          <a:prstGeom prst="line">
            <a:avLst/>
          </a:prstGeom>
          <a:noFill/>
          <a:ln w="19050">
            <a:solidFill>
              <a:srgbClr val="F09042"/>
            </a:solidFill>
            <a:prstDash val="solid"/>
          </a:ln>
        </p:spPr>
      </p:sp>
      <p:sp>
        <p:nvSpPr>
          <p:cNvPr id="164" name="Shape 162"/>
          <p:cNvSpPr/>
          <p:nvPr/>
        </p:nvSpPr>
        <p:spPr>
          <a:xfrm>
            <a:off x="10119360" y="3787280"/>
            <a:ext cx="99568" cy="178343"/>
          </a:xfrm>
          <a:prstGeom prst="line">
            <a:avLst/>
          </a:prstGeom>
          <a:noFill/>
          <a:ln w="19050">
            <a:solidFill>
              <a:srgbClr val="F09042"/>
            </a:solidFill>
            <a:prstDash val="solid"/>
          </a:ln>
        </p:spPr>
      </p:sp>
      <p:sp>
        <p:nvSpPr>
          <p:cNvPr id="165" name="Shape 163"/>
          <p:cNvSpPr/>
          <p:nvPr/>
        </p:nvSpPr>
        <p:spPr>
          <a:xfrm>
            <a:off x="10218928" y="3965622"/>
            <a:ext cx="99568" cy="175472"/>
          </a:xfrm>
          <a:prstGeom prst="line">
            <a:avLst/>
          </a:prstGeom>
          <a:noFill/>
          <a:ln w="19050">
            <a:solidFill>
              <a:srgbClr val="F09042"/>
            </a:solidFill>
            <a:prstDash val="solid"/>
          </a:ln>
        </p:spPr>
      </p:sp>
      <p:sp>
        <p:nvSpPr>
          <p:cNvPr id="166" name="Shape 164"/>
          <p:cNvSpPr/>
          <p:nvPr/>
        </p:nvSpPr>
        <p:spPr>
          <a:xfrm>
            <a:off x="10318496" y="4141095"/>
            <a:ext cx="99568" cy="163490"/>
          </a:xfrm>
          <a:prstGeom prst="line">
            <a:avLst/>
          </a:prstGeom>
          <a:noFill/>
          <a:ln w="19050">
            <a:solidFill>
              <a:srgbClr val="F09042"/>
            </a:solidFill>
            <a:prstDash val="solid"/>
          </a:ln>
        </p:spPr>
      </p:sp>
      <p:sp>
        <p:nvSpPr>
          <p:cNvPr id="167" name="Shape 165"/>
          <p:cNvSpPr/>
          <p:nvPr/>
        </p:nvSpPr>
        <p:spPr>
          <a:xfrm>
            <a:off x="10418064" y="4304585"/>
            <a:ext cx="99568" cy="145117"/>
          </a:xfrm>
          <a:prstGeom prst="line">
            <a:avLst/>
          </a:prstGeom>
          <a:noFill/>
          <a:ln w="19050">
            <a:solidFill>
              <a:srgbClr val="F09042"/>
            </a:solidFill>
            <a:prstDash val="solid"/>
          </a:ln>
        </p:spPr>
      </p:sp>
      <p:sp>
        <p:nvSpPr>
          <p:cNvPr id="168" name="Shape 166"/>
          <p:cNvSpPr/>
          <p:nvPr/>
        </p:nvSpPr>
        <p:spPr>
          <a:xfrm>
            <a:off x="10517632" y="4449702"/>
            <a:ext cx="99568" cy="123204"/>
          </a:xfrm>
          <a:prstGeom prst="line">
            <a:avLst/>
          </a:prstGeom>
          <a:noFill/>
          <a:ln w="19050">
            <a:solidFill>
              <a:srgbClr val="F09042"/>
            </a:solidFill>
            <a:prstDash val="solid"/>
          </a:ln>
        </p:spPr>
      </p:sp>
      <p:sp>
        <p:nvSpPr>
          <p:cNvPr id="169" name="Shape 167"/>
          <p:cNvSpPr/>
          <p:nvPr/>
        </p:nvSpPr>
        <p:spPr>
          <a:xfrm>
            <a:off x="10617200" y="4572906"/>
            <a:ext cx="99568" cy="100329"/>
          </a:xfrm>
          <a:prstGeom prst="line">
            <a:avLst/>
          </a:prstGeom>
          <a:noFill/>
          <a:ln w="19050">
            <a:solidFill>
              <a:srgbClr val="F09042"/>
            </a:solidFill>
            <a:prstDash val="solid"/>
          </a:ln>
        </p:spPr>
      </p:sp>
      <p:sp>
        <p:nvSpPr>
          <p:cNvPr id="170" name="Shape 168"/>
          <p:cNvSpPr/>
          <p:nvPr/>
        </p:nvSpPr>
        <p:spPr>
          <a:xfrm>
            <a:off x="10716768" y="4673235"/>
            <a:ext cx="99568" cy="78525"/>
          </a:xfrm>
          <a:prstGeom prst="line">
            <a:avLst/>
          </a:prstGeom>
          <a:noFill/>
          <a:ln w="19050">
            <a:solidFill>
              <a:srgbClr val="F09042"/>
            </a:solidFill>
            <a:prstDash val="solid"/>
          </a:ln>
        </p:spPr>
      </p:sp>
      <p:sp>
        <p:nvSpPr>
          <p:cNvPr id="171" name="Shape 169"/>
          <p:cNvSpPr/>
          <p:nvPr/>
        </p:nvSpPr>
        <p:spPr>
          <a:xfrm>
            <a:off x="10816336" y="4751760"/>
            <a:ext cx="99568" cy="59159"/>
          </a:xfrm>
          <a:prstGeom prst="line">
            <a:avLst/>
          </a:prstGeom>
          <a:noFill/>
          <a:ln w="19050">
            <a:solidFill>
              <a:srgbClr val="F09042"/>
            </a:solidFill>
            <a:prstDash val="solid"/>
          </a:ln>
        </p:spPr>
      </p:sp>
      <p:sp>
        <p:nvSpPr>
          <p:cNvPr id="172" name="Shape 170"/>
          <p:cNvSpPr/>
          <p:nvPr/>
        </p:nvSpPr>
        <p:spPr>
          <a:xfrm>
            <a:off x="10915904" y="4810919"/>
            <a:ext cx="99568" cy="42952"/>
          </a:xfrm>
          <a:prstGeom prst="line">
            <a:avLst/>
          </a:prstGeom>
          <a:noFill/>
          <a:ln w="19050">
            <a:solidFill>
              <a:srgbClr val="F09042"/>
            </a:solidFill>
            <a:prstDash val="solid"/>
          </a:ln>
        </p:spPr>
      </p:sp>
      <p:sp>
        <p:nvSpPr>
          <p:cNvPr id="173" name="Shape 171"/>
          <p:cNvSpPr/>
          <p:nvPr/>
        </p:nvSpPr>
        <p:spPr>
          <a:xfrm>
            <a:off x="11015472" y="4853871"/>
            <a:ext cx="99568" cy="30081"/>
          </a:xfrm>
          <a:prstGeom prst="line">
            <a:avLst/>
          </a:prstGeom>
          <a:noFill/>
          <a:ln w="19050">
            <a:solidFill>
              <a:srgbClr val="F09042"/>
            </a:solidFill>
            <a:prstDash val="solid"/>
          </a:ln>
        </p:spPr>
      </p:sp>
      <p:sp>
        <p:nvSpPr>
          <p:cNvPr id="174" name="Shape 172"/>
          <p:cNvSpPr/>
          <p:nvPr/>
        </p:nvSpPr>
        <p:spPr>
          <a:xfrm>
            <a:off x="11115040" y="4883951"/>
            <a:ext cx="99568" cy="20335"/>
          </a:xfrm>
          <a:prstGeom prst="line">
            <a:avLst/>
          </a:prstGeom>
          <a:noFill/>
          <a:ln w="19050">
            <a:solidFill>
              <a:srgbClr val="F09042"/>
            </a:solidFill>
            <a:prstDash val="solid"/>
          </a:ln>
        </p:spPr>
      </p:sp>
      <p:sp>
        <p:nvSpPr>
          <p:cNvPr id="175" name="Shape 173"/>
          <p:cNvSpPr/>
          <p:nvPr/>
        </p:nvSpPr>
        <p:spPr>
          <a:xfrm>
            <a:off x="11214608" y="4904287"/>
            <a:ext cx="99568" cy="13278"/>
          </a:xfrm>
          <a:prstGeom prst="line">
            <a:avLst/>
          </a:prstGeom>
          <a:noFill/>
          <a:ln w="19050">
            <a:solidFill>
              <a:srgbClr val="F09042"/>
            </a:solidFill>
            <a:prstDash val="solid"/>
          </a:ln>
        </p:spPr>
      </p:sp>
      <p:sp>
        <p:nvSpPr>
          <p:cNvPr id="176" name="Shape 174"/>
          <p:cNvSpPr/>
          <p:nvPr/>
        </p:nvSpPr>
        <p:spPr>
          <a:xfrm>
            <a:off x="11314176" y="4917565"/>
            <a:ext cx="99568" cy="8378"/>
          </a:xfrm>
          <a:prstGeom prst="line">
            <a:avLst/>
          </a:prstGeom>
          <a:noFill/>
          <a:ln w="19050">
            <a:solidFill>
              <a:srgbClr val="F09042"/>
            </a:solidFill>
            <a:prstDash val="solid"/>
          </a:ln>
        </p:spPr>
      </p:sp>
      <p:sp>
        <p:nvSpPr>
          <p:cNvPr id="177" name="Shape 175"/>
          <p:cNvSpPr/>
          <p:nvPr/>
        </p:nvSpPr>
        <p:spPr>
          <a:xfrm>
            <a:off x="11413744" y="4925943"/>
            <a:ext cx="99568" cy="5111"/>
          </a:xfrm>
          <a:prstGeom prst="line">
            <a:avLst/>
          </a:prstGeom>
          <a:noFill/>
          <a:ln w="19050">
            <a:solidFill>
              <a:srgbClr val="F09042"/>
            </a:solidFill>
            <a:prstDash val="solid"/>
          </a:ln>
        </p:spPr>
      </p:sp>
      <p:sp>
        <p:nvSpPr>
          <p:cNvPr id="178" name="Shape 176"/>
          <p:cNvSpPr/>
          <p:nvPr/>
        </p:nvSpPr>
        <p:spPr>
          <a:xfrm>
            <a:off x="11513312" y="4931054"/>
            <a:ext cx="99568" cy="3015"/>
          </a:xfrm>
          <a:prstGeom prst="line">
            <a:avLst/>
          </a:prstGeom>
          <a:noFill/>
          <a:ln w="19050">
            <a:solidFill>
              <a:srgbClr val="F09042"/>
            </a:solidFill>
            <a:prstDash val="solid"/>
          </a:ln>
        </p:spPr>
      </p:sp>
      <p:sp>
        <p:nvSpPr>
          <p:cNvPr id="179" name="Text 177"/>
          <p:cNvSpPr/>
          <p:nvPr/>
        </p:nvSpPr>
        <p:spPr>
          <a:xfrm>
            <a:off x="6583680" y="3136392"/>
            <a:ext cx="4937760" cy="182880"/>
          </a:xfrm>
          <a:prstGeom prst="rect">
            <a:avLst/>
          </a:prstGeom>
          <a:noFill/>
          <a:ln/>
        </p:spPr>
        <p:txBody>
          <a:bodyPr wrap="square" rtlCol="0" anchor="ctr"/>
          <a:lstStyle/>
          <a:p>
            <a:pPr indent="0" marL="0">
              <a:buNone/>
            </a:pPr>
            <a:r>
              <a:rPr lang="en-US" sz="900" b="1" dirty="0">
                <a:solidFill>
                  <a:srgbClr val="0E1729"/>
                </a:solidFill>
                <a:latin typeface="Calibri" pitchFamily="34" charset="0"/>
                <a:ea typeface="Calibri" pitchFamily="34" charset="-122"/>
                <a:cs typeface="Calibri" pitchFamily="34" charset="-120"/>
              </a:rPr>
              <a:t>Groupe A</a:t>
            </a:r>
            <a:endParaRPr lang="en-US" sz="900" dirty="0"/>
          </a:p>
        </p:txBody>
      </p:sp>
      <p:sp>
        <p:nvSpPr>
          <p:cNvPr id="180" name="Text 178"/>
          <p:cNvSpPr/>
          <p:nvPr/>
        </p:nvSpPr>
        <p:spPr>
          <a:xfrm>
            <a:off x="6583680" y="3337560"/>
            <a:ext cx="4937760" cy="182880"/>
          </a:xfrm>
          <a:prstGeom prst="rect">
            <a:avLst/>
          </a:prstGeom>
          <a:noFill/>
          <a:ln/>
        </p:spPr>
        <p:txBody>
          <a:bodyPr wrap="square" rtlCol="0" anchor="ctr"/>
          <a:lstStyle/>
          <a:p>
            <a:pPr indent="0" marL="0">
              <a:buNone/>
            </a:pPr>
            <a:r>
              <a:rPr lang="en-US" sz="900" b="1" dirty="0">
                <a:solidFill>
                  <a:srgbClr val="F09042"/>
                </a:solidFill>
                <a:latin typeface="Calibri" pitchFamily="34" charset="0"/>
                <a:ea typeface="Calibri" pitchFamily="34" charset="-122"/>
                <a:cs typeface="Calibri" pitchFamily="34" charset="-120"/>
              </a:rPr>
              <a:t>Groupe B</a:t>
            </a:r>
            <a:endParaRPr lang="en-US" sz="900" dirty="0"/>
          </a:p>
        </p:txBody>
      </p:sp>
      <p:sp>
        <p:nvSpPr>
          <p:cNvPr id="181" name="Shape 179"/>
          <p:cNvSpPr/>
          <p:nvPr/>
        </p:nvSpPr>
        <p:spPr>
          <a:xfrm>
            <a:off x="640080" y="5440680"/>
            <a:ext cx="11091672" cy="868680"/>
          </a:xfrm>
          <a:prstGeom prst="roundRect">
            <a:avLst>
              <a:gd name="adj" fmla="val 8421"/>
            </a:avLst>
          </a:prstGeom>
          <a:solidFill>
            <a:srgbClr val="FFFFFF"/>
          </a:solidFill>
          <a:ln w="12700">
            <a:solidFill>
              <a:srgbClr val="F09042"/>
            </a:solidFill>
            <a:prstDash val="solid"/>
          </a:ln>
        </p:spPr>
      </p:sp>
      <p:sp>
        <p:nvSpPr>
          <p:cNvPr id="182" name="Text 180"/>
          <p:cNvSpPr/>
          <p:nvPr/>
        </p:nvSpPr>
        <p:spPr>
          <a:xfrm>
            <a:off x="822960" y="5532120"/>
            <a:ext cx="10515600" cy="274320"/>
          </a:xfrm>
          <a:prstGeom prst="rect">
            <a:avLst/>
          </a:prstGeom>
          <a:noFill/>
          <a:ln/>
        </p:spPr>
        <p:txBody>
          <a:bodyPr wrap="square" rtlCol="0" anchor="ctr"/>
          <a:lstStyle/>
          <a:p>
            <a:pPr indent="0" marL="0">
              <a:buNone/>
            </a:pPr>
            <a:r>
              <a:rPr lang="en-US" sz="1000" b="1" spc="300" kern="0" dirty="0">
                <a:solidFill>
                  <a:srgbClr val="F09042"/>
                </a:solidFill>
                <a:latin typeface="Calibri" pitchFamily="34" charset="0"/>
                <a:ea typeface="Calibri" pitchFamily="34" charset="-122"/>
                <a:cs typeface="Calibri" pitchFamily="34" charset="-120"/>
              </a:rPr>
              <a:t>À RAPPORTER SYSTÉMATIQUEMENT</a:t>
            </a:r>
            <a:endParaRPr lang="en-US" sz="1000" dirty="0"/>
          </a:p>
        </p:txBody>
      </p:sp>
      <p:sp>
        <p:nvSpPr>
          <p:cNvPr id="183" name="Text 181"/>
          <p:cNvSpPr/>
          <p:nvPr/>
        </p:nvSpPr>
        <p:spPr>
          <a:xfrm>
            <a:off x="822960" y="5806440"/>
            <a:ext cx="10515600" cy="50292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Cohen's d pour les moyennes  ·  OR / RR / HR pour les ratios  ·  r ou r² pour les corrélations  ·  différence absolue brute toujours, sans exception.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N°6 · INTERVALLE DE CONFIANCE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L'IC95 % te dit ce que la p-value cache.</a:t>
            </a:r>
            <a:endParaRPr lang="en-US" sz="2800" dirty="0"/>
          </a:p>
        </p:txBody>
      </p:sp>
      <p:sp>
        <p:nvSpPr>
          <p:cNvPr id="6" name="Text 4"/>
          <p:cNvSpPr/>
          <p:nvPr/>
        </p:nvSpPr>
        <p:spPr>
          <a:xfrm>
            <a:off x="640080" y="1828800"/>
            <a:ext cx="10972800" cy="118872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L'IC95 % mesure ta précision d'estimation. Un IC large : « j'ai un effet mais je ne sais pas combien ». Un IC étroit : « j'ai l'effet ET je le mesure bien ». La différence pèse lourd quand un jury creuse.</a:t>
            </a:r>
            <a:endParaRPr lang="en-US" sz="1400" dirty="0"/>
          </a:p>
        </p:txBody>
      </p:sp>
      <p:sp>
        <p:nvSpPr>
          <p:cNvPr id="7" name="Shape 5"/>
          <p:cNvSpPr/>
          <p:nvPr/>
        </p:nvSpPr>
        <p:spPr>
          <a:xfrm>
            <a:off x="640080" y="3154680"/>
            <a:ext cx="6858000" cy="2926080"/>
          </a:xfrm>
          <a:prstGeom prst="rect">
            <a:avLst/>
          </a:prstGeom>
          <a:solidFill>
            <a:srgbClr val="FFFFFF"/>
          </a:solidFill>
          <a:ln w="6350">
            <a:solidFill>
              <a:srgbClr val="D6CFB8"/>
            </a:solidFill>
            <a:prstDash val="solid"/>
          </a:ln>
        </p:spPr>
      </p:sp>
      <p:sp>
        <p:nvSpPr>
          <p:cNvPr id="8" name="Text 6"/>
          <p:cNvSpPr/>
          <p:nvPr/>
        </p:nvSpPr>
        <p:spPr>
          <a:xfrm>
            <a:off x="731520" y="3200400"/>
            <a:ext cx="66751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Trois études · même OR ponctuel, IC très différents</a:t>
            </a:r>
            <a:endParaRPr lang="en-US" sz="900" dirty="0"/>
          </a:p>
        </p:txBody>
      </p:sp>
      <p:sp>
        <p:nvSpPr>
          <p:cNvPr id="9" name="Shape 7"/>
          <p:cNvSpPr/>
          <p:nvPr/>
        </p:nvSpPr>
        <p:spPr>
          <a:xfrm>
            <a:off x="2797302" y="3474720"/>
            <a:ext cx="0" cy="2240280"/>
          </a:xfrm>
          <a:prstGeom prst="line">
            <a:avLst/>
          </a:prstGeom>
          <a:noFill/>
          <a:ln w="12700">
            <a:solidFill>
              <a:srgbClr val="6B7280"/>
            </a:solidFill>
            <a:prstDash val="dash"/>
          </a:ln>
        </p:spPr>
      </p:sp>
      <p:sp>
        <p:nvSpPr>
          <p:cNvPr id="10" name="Text 8"/>
          <p:cNvSpPr/>
          <p:nvPr/>
        </p:nvSpPr>
        <p:spPr>
          <a:xfrm>
            <a:off x="731520" y="3683508"/>
            <a:ext cx="1371600" cy="329184"/>
          </a:xfrm>
          <a:prstGeom prst="rect">
            <a:avLst/>
          </a:prstGeom>
          <a:noFill/>
          <a:ln/>
        </p:spPr>
        <p:txBody>
          <a:bodyPr wrap="square" rtlCol="0" anchor="ctr"/>
          <a:lstStyle/>
          <a:p>
            <a:pPr indent="0" marL="0">
              <a:buNone/>
            </a:pPr>
            <a:r>
              <a:rPr lang="en-US" sz="1000" b="1" dirty="0">
                <a:solidFill>
                  <a:srgbClr val="15233F"/>
                </a:solidFill>
                <a:latin typeface="Calibri" pitchFamily="34" charset="0"/>
                <a:ea typeface="Calibri" pitchFamily="34" charset="-122"/>
                <a:cs typeface="Calibri" pitchFamily="34" charset="-120"/>
              </a:rPr>
              <a:t>Étude 1</a:t>
            </a:r>
            <a:endParaRPr lang="en-US" sz="1000" dirty="0"/>
          </a:p>
        </p:txBody>
      </p:sp>
      <p:sp>
        <p:nvSpPr>
          <p:cNvPr id="11" name="Shape 9"/>
          <p:cNvSpPr/>
          <p:nvPr/>
        </p:nvSpPr>
        <p:spPr>
          <a:xfrm>
            <a:off x="3313938" y="3848100"/>
            <a:ext cx="631444" cy="0"/>
          </a:xfrm>
          <a:prstGeom prst="line">
            <a:avLst/>
          </a:prstGeom>
          <a:noFill/>
          <a:ln w="19050">
            <a:solidFill>
              <a:srgbClr val="0E1729"/>
            </a:solidFill>
            <a:prstDash val="solid"/>
          </a:ln>
        </p:spPr>
      </p:sp>
      <p:sp>
        <p:nvSpPr>
          <p:cNvPr id="12" name="Shape 10"/>
          <p:cNvSpPr/>
          <p:nvPr/>
        </p:nvSpPr>
        <p:spPr>
          <a:xfrm>
            <a:off x="3313938" y="3793236"/>
            <a:ext cx="0" cy="109728"/>
          </a:xfrm>
          <a:prstGeom prst="line">
            <a:avLst/>
          </a:prstGeom>
          <a:noFill/>
          <a:ln w="19050">
            <a:solidFill>
              <a:srgbClr val="0E1729"/>
            </a:solidFill>
            <a:prstDash val="solid"/>
          </a:ln>
        </p:spPr>
      </p:sp>
      <p:sp>
        <p:nvSpPr>
          <p:cNvPr id="13" name="Shape 11"/>
          <p:cNvSpPr/>
          <p:nvPr/>
        </p:nvSpPr>
        <p:spPr>
          <a:xfrm>
            <a:off x="3945382" y="3793236"/>
            <a:ext cx="0" cy="109728"/>
          </a:xfrm>
          <a:prstGeom prst="line">
            <a:avLst/>
          </a:prstGeom>
          <a:noFill/>
          <a:ln w="19050">
            <a:solidFill>
              <a:srgbClr val="0E1729"/>
            </a:solidFill>
            <a:prstDash val="solid"/>
          </a:ln>
        </p:spPr>
      </p:sp>
      <p:sp>
        <p:nvSpPr>
          <p:cNvPr id="14" name="Shape 12"/>
          <p:cNvSpPr/>
          <p:nvPr/>
        </p:nvSpPr>
        <p:spPr>
          <a:xfrm>
            <a:off x="3536950" y="3784092"/>
            <a:ext cx="128016" cy="128016"/>
          </a:xfrm>
          <a:prstGeom prst="rect">
            <a:avLst/>
          </a:prstGeom>
          <a:solidFill>
            <a:srgbClr val="0E1729"/>
          </a:solidFill>
          <a:ln/>
        </p:spPr>
      </p:sp>
      <p:sp>
        <p:nvSpPr>
          <p:cNvPr id="15" name="Text 13"/>
          <p:cNvSpPr/>
          <p:nvPr/>
        </p:nvSpPr>
        <p:spPr>
          <a:xfrm>
            <a:off x="731520" y="4430268"/>
            <a:ext cx="1371600" cy="329184"/>
          </a:xfrm>
          <a:prstGeom prst="rect">
            <a:avLst/>
          </a:prstGeom>
          <a:noFill/>
          <a:ln/>
        </p:spPr>
        <p:txBody>
          <a:bodyPr wrap="square" rtlCol="0" anchor="ctr"/>
          <a:lstStyle/>
          <a:p>
            <a:pPr indent="0" marL="0">
              <a:buNone/>
            </a:pPr>
            <a:r>
              <a:rPr lang="en-US" sz="1000" b="1" dirty="0">
                <a:solidFill>
                  <a:srgbClr val="15233F"/>
                </a:solidFill>
                <a:latin typeface="Calibri" pitchFamily="34" charset="0"/>
                <a:ea typeface="Calibri" pitchFamily="34" charset="-122"/>
                <a:cs typeface="Calibri" pitchFamily="34" charset="-120"/>
              </a:rPr>
              <a:t>Étude 2</a:t>
            </a:r>
            <a:endParaRPr lang="en-US" sz="1000" dirty="0"/>
          </a:p>
        </p:txBody>
      </p:sp>
      <p:sp>
        <p:nvSpPr>
          <p:cNvPr id="16" name="Shape 14"/>
          <p:cNvSpPr/>
          <p:nvPr/>
        </p:nvSpPr>
        <p:spPr>
          <a:xfrm>
            <a:off x="2625090" y="4594860"/>
            <a:ext cx="4305300" cy="0"/>
          </a:xfrm>
          <a:prstGeom prst="line">
            <a:avLst/>
          </a:prstGeom>
          <a:noFill/>
          <a:ln w="19050">
            <a:solidFill>
              <a:srgbClr val="0E1729"/>
            </a:solidFill>
            <a:prstDash val="solid"/>
          </a:ln>
        </p:spPr>
      </p:sp>
      <p:sp>
        <p:nvSpPr>
          <p:cNvPr id="17" name="Shape 15"/>
          <p:cNvSpPr/>
          <p:nvPr/>
        </p:nvSpPr>
        <p:spPr>
          <a:xfrm>
            <a:off x="2625090" y="4539996"/>
            <a:ext cx="0" cy="109728"/>
          </a:xfrm>
          <a:prstGeom prst="line">
            <a:avLst/>
          </a:prstGeom>
          <a:noFill/>
          <a:ln w="19050">
            <a:solidFill>
              <a:srgbClr val="0E1729"/>
            </a:solidFill>
            <a:prstDash val="solid"/>
          </a:ln>
        </p:spPr>
      </p:sp>
      <p:sp>
        <p:nvSpPr>
          <p:cNvPr id="18" name="Shape 16"/>
          <p:cNvSpPr/>
          <p:nvPr/>
        </p:nvSpPr>
        <p:spPr>
          <a:xfrm>
            <a:off x="6930390" y="4539996"/>
            <a:ext cx="0" cy="109728"/>
          </a:xfrm>
          <a:prstGeom prst="line">
            <a:avLst/>
          </a:prstGeom>
          <a:noFill/>
          <a:ln w="19050">
            <a:solidFill>
              <a:srgbClr val="0E1729"/>
            </a:solidFill>
            <a:prstDash val="solid"/>
          </a:ln>
        </p:spPr>
      </p:sp>
      <p:sp>
        <p:nvSpPr>
          <p:cNvPr id="19" name="Shape 17"/>
          <p:cNvSpPr/>
          <p:nvPr/>
        </p:nvSpPr>
        <p:spPr>
          <a:xfrm>
            <a:off x="3536950" y="4530852"/>
            <a:ext cx="128016" cy="128016"/>
          </a:xfrm>
          <a:prstGeom prst="rect">
            <a:avLst/>
          </a:prstGeom>
          <a:solidFill>
            <a:srgbClr val="0E1729"/>
          </a:solidFill>
          <a:ln/>
        </p:spPr>
      </p:sp>
      <p:sp>
        <p:nvSpPr>
          <p:cNvPr id="20" name="Text 18"/>
          <p:cNvSpPr/>
          <p:nvPr/>
        </p:nvSpPr>
        <p:spPr>
          <a:xfrm>
            <a:off x="731520" y="5177028"/>
            <a:ext cx="1371600" cy="329184"/>
          </a:xfrm>
          <a:prstGeom prst="rect">
            <a:avLst/>
          </a:prstGeom>
          <a:noFill/>
          <a:ln/>
        </p:spPr>
        <p:txBody>
          <a:bodyPr wrap="square" rtlCol="0" anchor="ctr"/>
          <a:lstStyle/>
          <a:p>
            <a:pPr indent="0" marL="0">
              <a:buNone/>
            </a:pPr>
            <a:r>
              <a:rPr lang="en-US" sz="1000" b="1" dirty="0">
                <a:solidFill>
                  <a:srgbClr val="15233F"/>
                </a:solidFill>
                <a:latin typeface="Calibri" pitchFamily="34" charset="0"/>
                <a:ea typeface="Calibri" pitchFamily="34" charset="-122"/>
                <a:cs typeface="Calibri" pitchFamily="34" charset="-120"/>
              </a:rPr>
              <a:t>Étude 3</a:t>
            </a:r>
            <a:endParaRPr lang="en-US" sz="1000" dirty="0"/>
          </a:p>
        </p:txBody>
      </p:sp>
      <p:sp>
        <p:nvSpPr>
          <p:cNvPr id="21" name="Shape 19"/>
          <p:cNvSpPr/>
          <p:nvPr/>
        </p:nvSpPr>
        <p:spPr>
          <a:xfrm>
            <a:off x="4060190" y="5341620"/>
            <a:ext cx="2812796" cy="0"/>
          </a:xfrm>
          <a:prstGeom prst="line">
            <a:avLst/>
          </a:prstGeom>
          <a:noFill/>
          <a:ln w="19050">
            <a:solidFill>
              <a:srgbClr val="F09042"/>
            </a:solidFill>
            <a:prstDash val="solid"/>
          </a:ln>
        </p:spPr>
      </p:sp>
      <p:sp>
        <p:nvSpPr>
          <p:cNvPr id="22" name="Shape 20"/>
          <p:cNvSpPr/>
          <p:nvPr/>
        </p:nvSpPr>
        <p:spPr>
          <a:xfrm>
            <a:off x="4060190" y="5286756"/>
            <a:ext cx="0" cy="109728"/>
          </a:xfrm>
          <a:prstGeom prst="line">
            <a:avLst/>
          </a:prstGeom>
          <a:noFill/>
          <a:ln w="19050">
            <a:solidFill>
              <a:srgbClr val="F09042"/>
            </a:solidFill>
            <a:prstDash val="solid"/>
          </a:ln>
        </p:spPr>
      </p:sp>
      <p:sp>
        <p:nvSpPr>
          <p:cNvPr id="23" name="Shape 21"/>
          <p:cNvSpPr/>
          <p:nvPr/>
        </p:nvSpPr>
        <p:spPr>
          <a:xfrm>
            <a:off x="6872986" y="5286756"/>
            <a:ext cx="0" cy="109728"/>
          </a:xfrm>
          <a:prstGeom prst="line">
            <a:avLst/>
          </a:prstGeom>
          <a:noFill/>
          <a:ln w="19050">
            <a:solidFill>
              <a:srgbClr val="F09042"/>
            </a:solidFill>
            <a:prstDash val="solid"/>
          </a:ln>
        </p:spPr>
      </p:sp>
      <p:sp>
        <p:nvSpPr>
          <p:cNvPr id="24" name="Shape 22"/>
          <p:cNvSpPr/>
          <p:nvPr/>
        </p:nvSpPr>
        <p:spPr>
          <a:xfrm>
            <a:off x="5086858" y="5277612"/>
            <a:ext cx="128016" cy="128016"/>
          </a:xfrm>
          <a:prstGeom prst="rect">
            <a:avLst/>
          </a:prstGeom>
          <a:solidFill>
            <a:srgbClr val="F09042"/>
          </a:solidFill>
          <a:ln/>
        </p:spPr>
      </p:sp>
      <p:sp>
        <p:nvSpPr>
          <p:cNvPr id="25" name="Shape 23"/>
          <p:cNvSpPr/>
          <p:nvPr/>
        </p:nvSpPr>
        <p:spPr>
          <a:xfrm>
            <a:off x="2194560" y="5760720"/>
            <a:ext cx="5166360" cy="0"/>
          </a:xfrm>
          <a:prstGeom prst="line">
            <a:avLst/>
          </a:prstGeom>
          <a:noFill/>
          <a:ln w="6350">
            <a:solidFill>
              <a:srgbClr val="0E1729"/>
            </a:solidFill>
            <a:prstDash val="solid"/>
          </a:ln>
        </p:spPr>
      </p:sp>
      <p:sp>
        <p:nvSpPr>
          <p:cNvPr id="26" name="Text 24"/>
          <p:cNvSpPr/>
          <p:nvPr/>
        </p:nvSpPr>
        <p:spPr>
          <a:xfrm>
            <a:off x="2614422" y="5806440"/>
            <a:ext cx="365760" cy="182880"/>
          </a:xfrm>
          <a:prstGeom prst="rect">
            <a:avLst/>
          </a:prstGeom>
          <a:noFill/>
          <a:ln/>
        </p:spPr>
        <p:txBody>
          <a:bodyPr wrap="square" rtlCol="0" anchor="ctr"/>
          <a:lstStyle/>
          <a:p>
            <a:pPr algn="ctr" indent="0" marL="0">
              <a:buNone/>
            </a:pPr>
            <a:r>
              <a:rPr lang="en-US" sz="800" dirty="0">
                <a:solidFill>
                  <a:srgbClr val="6B7280"/>
                </a:solidFill>
                <a:latin typeface="Calibri" pitchFamily="34" charset="0"/>
                <a:ea typeface="Calibri" pitchFamily="34" charset="-122"/>
                <a:cs typeface="Calibri" pitchFamily="34" charset="-120"/>
              </a:rPr>
              <a:t>1</a:t>
            </a:r>
            <a:endParaRPr lang="en-US" sz="800" dirty="0"/>
          </a:p>
        </p:txBody>
      </p:sp>
      <p:sp>
        <p:nvSpPr>
          <p:cNvPr id="27" name="Text 25"/>
          <p:cNvSpPr/>
          <p:nvPr/>
        </p:nvSpPr>
        <p:spPr>
          <a:xfrm>
            <a:off x="2194560" y="5943600"/>
            <a:ext cx="5166360" cy="182880"/>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Odds Ratio (échelle linéaire)</a:t>
            </a:r>
            <a:endParaRPr lang="en-US" sz="800" dirty="0"/>
          </a:p>
        </p:txBody>
      </p:sp>
      <p:sp>
        <p:nvSpPr>
          <p:cNvPr id="28" name="Shape 26"/>
          <p:cNvSpPr/>
          <p:nvPr/>
        </p:nvSpPr>
        <p:spPr>
          <a:xfrm>
            <a:off x="7680960" y="3154680"/>
            <a:ext cx="4050792" cy="2926080"/>
          </a:xfrm>
          <a:prstGeom prst="roundRect">
            <a:avLst>
              <a:gd name="adj" fmla="val 3125"/>
            </a:avLst>
          </a:prstGeom>
          <a:solidFill>
            <a:srgbClr val="FFFFFF"/>
          </a:solidFill>
          <a:ln w="12700">
            <a:solidFill>
              <a:srgbClr val="F09042"/>
            </a:solidFill>
            <a:prstDash val="solid"/>
          </a:ln>
        </p:spPr>
      </p:sp>
      <p:sp>
        <p:nvSpPr>
          <p:cNvPr id="29" name="Text 27"/>
          <p:cNvSpPr/>
          <p:nvPr/>
        </p:nvSpPr>
        <p:spPr>
          <a:xfrm>
            <a:off x="7863840" y="3273552"/>
            <a:ext cx="3749040" cy="274320"/>
          </a:xfrm>
          <a:prstGeom prst="rect">
            <a:avLst/>
          </a:prstGeom>
          <a:noFill/>
          <a:ln/>
        </p:spPr>
        <p:txBody>
          <a:bodyPr wrap="square" rtlCol="0" anchor="ctr"/>
          <a:lstStyle/>
          <a:p>
            <a:pPr indent="0" marL="0">
              <a:buNone/>
            </a:pPr>
            <a:r>
              <a:rPr lang="en-US" sz="1000" b="1" spc="300" kern="0" dirty="0">
                <a:solidFill>
                  <a:srgbClr val="F09042"/>
                </a:solidFill>
                <a:latin typeface="Calibri" pitchFamily="34" charset="0"/>
                <a:ea typeface="Calibri" pitchFamily="34" charset="-122"/>
                <a:cs typeface="Calibri" pitchFamily="34" charset="-120"/>
              </a:rPr>
              <a:t>LECTURE</a:t>
            </a:r>
            <a:endParaRPr lang="en-US" sz="1000" dirty="0"/>
          </a:p>
        </p:txBody>
      </p:sp>
      <p:sp>
        <p:nvSpPr>
          <p:cNvPr id="30" name="Text 28"/>
          <p:cNvSpPr/>
          <p:nvPr/>
        </p:nvSpPr>
        <p:spPr>
          <a:xfrm>
            <a:off x="7863840" y="3584448"/>
            <a:ext cx="3749040" cy="64008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Étude 1 — IC étroit, OR clairement &gt; 1. Association robuste.</a:t>
            </a:r>
            <a:endParaRPr lang="en-US" sz="1100" dirty="0"/>
          </a:p>
        </p:txBody>
      </p:sp>
      <p:sp>
        <p:nvSpPr>
          <p:cNvPr id="31" name="Text 29"/>
          <p:cNvSpPr/>
          <p:nvPr/>
        </p:nvSpPr>
        <p:spPr>
          <a:xfrm>
            <a:off x="7863840" y="4251960"/>
            <a:ext cx="3749040" cy="86868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Étude 2 — même OR central, IC large qui croise 1. On ne peut pas conclure.</a:t>
            </a:r>
            <a:endParaRPr lang="en-US" sz="1100" dirty="0"/>
          </a:p>
        </p:txBody>
      </p:sp>
      <p:sp>
        <p:nvSpPr>
          <p:cNvPr id="32" name="Text 30"/>
          <p:cNvSpPr/>
          <p:nvPr/>
        </p:nvSpPr>
        <p:spPr>
          <a:xfrm>
            <a:off x="7863840" y="5166360"/>
            <a:ext cx="3749040" cy="82296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Étude 3 — effet fort et précis. Association très solide.</a:t>
            </a:r>
            <a:endParaRPr lang="en-US" sz="1100" dirty="0"/>
          </a:p>
        </p:txBody>
      </p:sp>
      <p:sp>
        <p:nvSpPr>
          <p:cNvPr id="33" name="Text 31"/>
          <p:cNvSpPr/>
          <p:nvPr/>
        </p:nvSpPr>
        <p:spPr>
          <a:xfrm>
            <a:off x="640080" y="6172200"/>
            <a:ext cx="10972800" cy="27432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Règle pratique : un IC95 % qui ne croise pas 1 (pour un ratio) équivaut à p &lt; 0,05 — mais l'IC te dit aussi la précision.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PRÉALABLE · NORMALITÉ</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Shapiro-Wilk + QQ-plot. Toujours les deux.</a:t>
            </a:r>
            <a:endParaRPr lang="en-US" sz="28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Quand tu testes la normalité, ne te fie pas qu'à Shapiro. Sur N = 30, il rate des écarts visibles à l'œil. Sur N = 1 000, il rejette pour des écarts microscopiques sans conséquence pratique. Le QQ-plot est ton garde-fou visuel.</a:t>
            </a:r>
            <a:endParaRPr lang="en-US" sz="1300" dirty="0"/>
          </a:p>
        </p:txBody>
      </p:sp>
      <p:sp>
        <p:nvSpPr>
          <p:cNvPr id="7" name="Shape 5"/>
          <p:cNvSpPr/>
          <p:nvPr/>
        </p:nvSpPr>
        <p:spPr>
          <a:xfrm>
            <a:off x="640080" y="2926080"/>
            <a:ext cx="3931920" cy="2926080"/>
          </a:xfrm>
          <a:prstGeom prst="roundRect">
            <a:avLst>
              <a:gd name="adj" fmla="val 1563"/>
            </a:avLst>
          </a:prstGeom>
          <a:solidFill>
            <a:srgbClr val="1A2541"/>
          </a:solidFill>
          <a:ln w="6350">
            <a:solidFill>
              <a:srgbClr val="F09042"/>
            </a:solidFill>
            <a:prstDash val="solid"/>
          </a:ln>
        </p:spPr>
      </p:sp>
      <p:sp>
        <p:nvSpPr>
          <p:cNvPr id="8" name="Shape 6"/>
          <p:cNvSpPr/>
          <p:nvPr/>
        </p:nvSpPr>
        <p:spPr>
          <a:xfrm>
            <a:off x="777240" y="3035808"/>
            <a:ext cx="365760" cy="256032"/>
          </a:xfrm>
          <a:prstGeom prst="roundRect">
            <a:avLst>
              <a:gd name="adj" fmla="val 14286"/>
            </a:avLst>
          </a:prstGeom>
          <a:solidFill>
            <a:srgbClr val="F09042"/>
          </a:solidFill>
          <a:ln/>
        </p:spPr>
      </p:sp>
      <p:sp>
        <p:nvSpPr>
          <p:cNvPr id="9" name="Text 7"/>
          <p:cNvSpPr/>
          <p:nvPr/>
        </p:nvSpPr>
        <p:spPr>
          <a:xfrm>
            <a:off x="777240" y="303580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383280"/>
            <a:ext cx="3657600" cy="2377440"/>
          </a:xfrm>
          <a:prstGeom prst="rect">
            <a:avLst/>
          </a:prstGeom>
          <a:noFill/>
          <a:ln/>
        </p:spPr>
        <p:txBody>
          <a:bodyPr wrap="square" rtlCol="0" anchor="t"/>
          <a:lstStyle/>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Test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shapiro.test(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donnees$tension)</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Doubler par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le QQ-plot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qqnorm(donnees$tension)</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qqline(donnees$tension,</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col = "red")</a:t>
            </a:r>
            <a:endParaRPr lang="en-US" sz="1050" dirty="0"/>
          </a:p>
        </p:txBody>
      </p:sp>
      <p:sp>
        <p:nvSpPr>
          <p:cNvPr id="11" name="Shape 9"/>
          <p:cNvSpPr/>
          <p:nvPr/>
        </p:nvSpPr>
        <p:spPr>
          <a:xfrm>
            <a:off x="4709160" y="2926080"/>
            <a:ext cx="2560320" cy="2926080"/>
          </a:xfrm>
          <a:prstGeom prst="roundRect">
            <a:avLst>
              <a:gd name="adj" fmla="val 1786"/>
            </a:avLst>
          </a:prstGeom>
          <a:solidFill>
            <a:srgbClr val="1A2541"/>
          </a:solidFill>
          <a:ln w="6350">
            <a:solidFill>
              <a:srgbClr val="6B7280"/>
            </a:solidFill>
            <a:prstDash val="dash"/>
          </a:ln>
        </p:spPr>
      </p:sp>
      <p:sp>
        <p:nvSpPr>
          <p:cNvPr id="12" name="Text 10"/>
          <p:cNvSpPr/>
          <p:nvPr/>
        </p:nvSpPr>
        <p:spPr>
          <a:xfrm>
            <a:off x="4846320" y="3017520"/>
            <a:ext cx="914400" cy="228600"/>
          </a:xfrm>
          <a:prstGeom prst="rect">
            <a:avLst/>
          </a:prstGeom>
          <a:noFill/>
          <a:ln/>
        </p:spPr>
        <p:txBody>
          <a:bodyPr wrap="square" rtlCol="0" anchor="ctr"/>
          <a:lstStyle/>
          <a:p>
            <a:pPr indent="0" marL="0">
              <a:buNone/>
            </a:pPr>
            <a:r>
              <a:rPr lang="en-US" sz="900" b="1" spc="300" kern="0" dirty="0">
                <a:solidFill>
                  <a:srgbClr val="C9CFDC"/>
                </a:solidFill>
                <a:latin typeface="Calibri" pitchFamily="34" charset="0"/>
                <a:ea typeface="Calibri" pitchFamily="34" charset="-122"/>
                <a:cs typeface="Calibri" pitchFamily="34" charset="-120"/>
              </a:rPr>
              <a:t>SORTIE</a:t>
            </a:r>
            <a:endParaRPr lang="en-US" sz="900" dirty="0"/>
          </a:p>
        </p:txBody>
      </p:sp>
      <p:sp>
        <p:nvSpPr>
          <p:cNvPr id="13" name="Text 11"/>
          <p:cNvSpPr/>
          <p:nvPr/>
        </p:nvSpPr>
        <p:spPr>
          <a:xfrm>
            <a:off x="4892040" y="3291840"/>
            <a:ext cx="2286000" cy="2468880"/>
          </a:xfrm>
          <a:prstGeom prst="rect">
            <a:avLst/>
          </a:prstGeom>
          <a:noFill/>
          <a:ln/>
        </p:spPr>
        <p:txBody>
          <a:bodyPr wrap="square" rtlCol="0" anchor="t"/>
          <a:lstStyle/>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Shapiro-Wilk</a:t>
            </a:r>
            <a:endParaRPr lang="en-US" sz="1050" dirty="0"/>
          </a:p>
          <a:p>
            <a:pPr indent="0" marL="0">
              <a:lnSpc>
                <a:spcPct val="130000"/>
              </a:lnSpc>
              <a:buNone/>
            </a:pP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W = 0.987</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p = 0.234</a:t>
            </a:r>
            <a:endParaRPr lang="en-US" sz="1050" dirty="0"/>
          </a:p>
          <a:p>
            <a:pPr indent="0" marL="0">
              <a:lnSpc>
                <a:spcPct val="130000"/>
              </a:lnSpc>
              <a:buNone/>
            </a:pP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p &gt; 0,05,</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on ne rejette</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pas la</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normalité.</a:t>
            </a:r>
            <a:endParaRPr lang="en-US" sz="1050" dirty="0"/>
          </a:p>
        </p:txBody>
      </p:sp>
      <p:sp>
        <p:nvSpPr>
          <p:cNvPr id="14" name="Shape 12"/>
          <p:cNvSpPr/>
          <p:nvPr/>
        </p:nvSpPr>
        <p:spPr>
          <a:xfrm>
            <a:off x="7406640" y="2926080"/>
            <a:ext cx="4325112" cy="2926080"/>
          </a:xfrm>
          <a:prstGeom prst="rect">
            <a:avLst/>
          </a:prstGeom>
          <a:solidFill>
            <a:srgbClr val="FFFFFF"/>
          </a:solidFill>
          <a:ln w="6350">
            <a:solidFill>
              <a:srgbClr val="D6CFB8"/>
            </a:solidFill>
            <a:prstDash val="solid"/>
          </a:ln>
        </p:spPr>
      </p:sp>
      <p:sp>
        <p:nvSpPr>
          <p:cNvPr id="15" name="Text 13"/>
          <p:cNvSpPr/>
          <p:nvPr/>
        </p:nvSpPr>
        <p:spPr>
          <a:xfrm>
            <a:off x="7498080" y="2962656"/>
            <a:ext cx="4142232"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QQ-plot · ici linéaire = normal</a:t>
            </a:r>
            <a:endParaRPr lang="en-US" sz="900" dirty="0"/>
          </a:p>
        </p:txBody>
      </p:sp>
      <p:sp>
        <p:nvSpPr>
          <p:cNvPr id="16" name="Shape 14"/>
          <p:cNvSpPr/>
          <p:nvPr/>
        </p:nvSpPr>
        <p:spPr>
          <a:xfrm>
            <a:off x="7818120" y="5486400"/>
            <a:ext cx="3776472" cy="0"/>
          </a:xfrm>
          <a:prstGeom prst="line">
            <a:avLst/>
          </a:prstGeom>
          <a:noFill/>
          <a:ln w="9525">
            <a:solidFill>
              <a:srgbClr val="0E1729"/>
            </a:solidFill>
            <a:prstDash val="solid"/>
          </a:ln>
        </p:spPr>
      </p:sp>
      <p:sp>
        <p:nvSpPr>
          <p:cNvPr id="17" name="Shape 15"/>
          <p:cNvSpPr/>
          <p:nvPr/>
        </p:nvSpPr>
        <p:spPr>
          <a:xfrm>
            <a:off x="7818120" y="3246120"/>
            <a:ext cx="0" cy="2240280"/>
          </a:xfrm>
          <a:prstGeom prst="line">
            <a:avLst/>
          </a:prstGeom>
          <a:noFill/>
          <a:ln w="9525">
            <a:solidFill>
              <a:srgbClr val="0E1729"/>
            </a:solidFill>
            <a:prstDash val="solid"/>
          </a:ln>
        </p:spPr>
      </p:sp>
      <p:sp>
        <p:nvSpPr>
          <p:cNvPr id="18" name="Text 16"/>
          <p:cNvSpPr/>
          <p:nvPr/>
        </p:nvSpPr>
        <p:spPr>
          <a:xfrm>
            <a:off x="7818120" y="5577840"/>
            <a:ext cx="3776472"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Quantiles théoriques</a:t>
            </a:r>
            <a:endParaRPr lang="en-US" sz="800" dirty="0"/>
          </a:p>
        </p:txBody>
      </p:sp>
      <p:sp>
        <p:nvSpPr>
          <p:cNvPr id="19" name="Text 17"/>
          <p:cNvSpPr/>
          <p:nvPr/>
        </p:nvSpPr>
        <p:spPr>
          <a:xfrm rot="-5400000">
            <a:off x="7424928" y="3246120"/>
            <a:ext cx="365760" cy="2240280"/>
          </a:xfrm>
          <a:prstGeom prst="rect">
            <a:avLst/>
          </a:prstGeom>
          <a:noFill/>
          <a:ln/>
        </p:spPr>
        <p:txBody>
          <a:bodyPr wrap="square" rtlCol="0" anchor="ctr"/>
          <a:lstStyle/>
          <a:p>
            <a:pPr algn="l" indent="0" marL="0">
              <a:buNone/>
            </a:pPr>
            <a:r>
              <a:rPr lang="en-US" sz="800" i="1" dirty="0">
                <a:solidFill>
                  <a:srgbClr val="6B7280"/>
                </a:solidFill>
                <a:latin typeface="Calibri" pitchFamily="34" charset="0"/>
                <a:ea typeface="Calibri" pitchFamily="34" charset="-122"/>
                <a:cs typeface="Calibri" pitchFamily="34" charset="-120"/>
              </a:rPr>
              <a:t>Quantiles observés</a:t>
            </a:r>
            <a:endParaRPr lang="en-US" sz="800" dirty="0"/>
          </a:p>
        </p:txBody>
      </p:sp>
      <p:sp>
        <p:nvSpPr>
          <p:cNvPr id="20" name="Shape 18"/>
          <p:cNvSpPr/>
          <p:nvPr/>
        </p:nvSpPr>
        <p:spPr>
          <a:xfrm>
            <a:off x="7818120" y="5486400"/>
            <a:ext cx="3776472" cy="-2240280"/>
          </a:xfrm>
          <a:prstGeom prst="line">
            <a:avLst/>
          </a:prstGeom>
          <a:noFill/>
          <a:ln w="15875">
            <a:solidFill>
              <a:srgbClr val="F09042"/>
            </a:solidFill>
            <a:prstDash val="dash"/>
          </a:ln>
        </p:spPr>
      </p:sp>
      <p:sp>
        <p:nvSpPr>
          <p:cNvPr id="21" name="Shape 19"/>
          <p:cNvSpPr/>
          <p:nvPr/>
        </p:nvSpPr>
        <p:spPr>
          <a:xfrm>
            <a:off x="7930317" y="5313121"/>
            <a:ext cx="77724" cy="77724"/>
          </a:xfrm>
          <a:prstGeom prst="ellipse">
            <a:avLst/>
          </a:prstGeom>
          <a:solidFill>
            <a:srgbClr val="0E1729"/>
          </a:solidFill>
          <a:ln/>
        </p:spPr>
      </p:sp>
      <p:sp>
        <p:nvSpPr>
          <p:cNvPr id="22" name="Shape 20"/>
          <p:cNvSpPr/>
          <p:nvPr/>
        </p:nvSpPr>
        <p:spPr>
          <a:xfrm>
            <a:off x="8194670" y="5245913"/>
            <a:ext cx="77724" cy="77724"/>
          </a:xfrm>
          <a:prstGeom prst="ellipse">
            <a:avLst/>
          </a:prstGeom>
          <a:solidFill>
            <a:srgbClr val="0E1729"/>
          </a:solidFill>
          <a:ln/>
        </p:spPr>
      </p:sp>
      <p:sp>
        <p:nvSpPr>
          <p:cNvPr id="23" name="Shape 21"/>
          <p:cNvSpPr/>
          <p:nvPr/>
        </p:nvSpPr>
        <p:spPr>
          <a:xfrm>
            <a:off x="8459023" y="5066690"/>
            <a:ext cx="77724" cy="77724"/>
          </a:xfrm>
          <a:prstGeom prst="ellipse">
            <a:avLst/>
          </a:prstGeom>
          <a:solidFill>
            <a:srgbClr val="0E1729"/>
          </a:solidFill>
          <a:ln/>
        </p:spPr>
      </p:sp>
      <p:sp>
        <p:nvSpPr>
          <p:cNvPr id="24" name="Shape 22"/>
          <p:cNvSpPr/>
          <p:nvPr/>
        </p:nvSpPr>
        <p:spPr>
          <a:xfrm>
            <a:off x="8685611" y="4977079"/>
            <a:ext cx="77724" cy="77724"/>
          </a:xfrm>
          <a:prstGeom prst="ellipse">
            <a:avLst/>
          </a:prstGeom>
          <a:solidFill>
            <a:srgbClr val="0E1729"/>
          </a:solidFill>
          <a:ln/>
        </p:spPr>
      </p:sp>
      <p:sp>
        <p:nvSpPr>
          <p:cNvPr id="25" name="Shape 23"/>
          <p:cNvSpPr/>
          <p:nvPr/>
        </p:nvSpPr>
        <p:spPr>
          <a:xfrm>
            <a:off x="8912200" y="4730648"/>
            <a:ext cx="77724" cy="77724"/>
          </a:xfrm>
          <a:prstGeom prst="ellipse">
            <a:avLst/>
          </a:prstGeom>
          <a:solidFill>
            <a:srgbClr val="0E1729"/>
          </a:solidFill>
          <a:ln/>
        </p:spPr>
      </p:sp>
      <p:sp>
        <p:nvSpPr>
          <p:cNvPr id="26" name="Shape 24"/>
          <p:cNvSpPr/>
          <p:nvPr/>
        </p:nvSpPr>
        <p:spPr>
          <a:xfrm>
            <a:off x="9138788" y="4775454"/>
            <a:ext cx="77724" cy="77724"/>
          </a:xfrm>
          <a:prstGeom prst="ellipse">
            <a:avLst/>
          </a:prstGeom>
          <a:solidFill>
            <a:srgbClr val="0E1729"/>
          </a:solidFill>
          <a:ln/>
        </p:spPr>
      </p:sp>
      <p:sp>
        <p:nvSpPr>
          <p:cNvPr id="27" name="Shape 25"/>
          <p:cNvSpPr/>
          <p:nvPr/>
        </p:nvSpPr>
        <p:spPr>
          <a:xfrm>
            <a:off x="9365376" y="4484218"/>
            <a:ext cx="77724" cy="77724"/>
          </a:xfrm>
          <a:prstGeom prst="ellipse">
            <a:avLst/>
          </a:prstGeom>
          <a:solidFill>
            <a:srgbClr val="0E1729"/>
          </a:solidFill>
          <a:ln/>
        </p:spPr>
      </p:sp>
      <p:sp>
        <p:nvSpPr>
          <p:cNvPr id="28" name="Shape 26"/>
          <p:cNvSpPr/>
          <p:nvPr/>
        </p:nvSpPr>
        <p:spPr>
          <a:xfrm>
            <a:off x="9591965" y="4417009"/>
            <a:ext cx="77724" cy="77724"/>
          </a:xfrm>
          <a:prstGeom prst="ellipse">
            <a:avLst/>
          </a:prstGeom>
          <a:solidFill>
            <a:srgbClr val="0E1729"/>
          </a:solidFill>
          <a:ln/>
        </p:spPr>
      </p:sp>
      <p:sp>
        <p:nvSpPr>
          <p:cNvPr id="29" name="Shape 27"/>
          <p:cNvSpPr/>
          <p:nvPr/>
        </p:nvSpPr>
        <p:spPr>
          <a:xfrm>
            <a:off x="9818553" y="4304995"/>
            <a:ext cx="77724" cy="77724"/>
          </a:xfrm>
          <a:prstGeom prst="ellipse">
            <a:avLst/>
          </a:prstGeom>
          <a:solidFill>
            <a:srgbClr val="0E1729"/>
          </a:solidFill>
          <a:ln/>
        </p:spPr>
      </p:sp>
      <p:sp>
        <p:nvSpPr>
          <p:cNvPr id="30" name="Shape 28"/>
          <p:cNvSpPr/>
          <p:nvPr/>
        </p:nvSpPr>
        <p:spPr>
          <a:xfrm>
            <a:off x="10045141" y="4148176"/>
            <a:ext cx="77724" cy="77724"/>
          </a:xfrm>
          <a:prstGeom prst="ellipse">
            <a:avLst/>
          </a:prstGeom>
          <a:solidFill>
            <a:srgbClr val="0E1729"/>
          </a:solidFill>
          <a:ln/>
        </p:spPr>
      </p:sp>
      <p:sp>
        <p:nvSpPr>
          <p:cNvPr id="31" name="Shape 29"/>
          <p:cNvSpPr/>
          <p:nvPr/>
        </p:nvSpPr>
        <p:spPr>
          <a:xfrm>
            <a:off x="10271730" y="3991356"/>
            <a:ext cx="77724" cy="77724"/>
          </a:xfrm>
          <a:prstGeom prst="ellipse">
            <a:avLst/>
          </a:prstGeom>
          <a:solidFill>
            <a:srgbClr val="0E1729"/>
          </a:solidFill>
          <a:ln/>
        </p:spPr>
      </p:sp>
      <p:sp>
        <p:nvSpPr>
          <p:cNvPr id="32" name="Shape 30"/>
          <p:cNvSpPr/>
          <p:nvPr/>
        </p:nvSpPr>
        <p:spPr>
          <a:xfrm>
            <a:off x="10498318" y="3901745"/>
            <a:ext cx="77724" cy="77724"/>
          </a:xfrm>
          <a:prstGeom prst="ellipse">
            <a:avLst/>
          </a:prstGeom>
          <a:solidFill>
            <a:srgbClr val="0E1729"/>
          </a:solidFill>
          <a:ln/>
        </p:spPr>
      </p:sp>
      <p:sp>
        <p:nvSpPr>
          <p:cNvPr id="33" name="Shape 31"/>
          <p:cNvSpPr/>
          <p:nvPr/>
        </p:nvSpPr>
        <p:spPr>
          <a:xfrm>
            <a:off x="10724906" y="3767328"/>
            <a:ext cx="77724" cy="77724"/>
          </a:xfrm>
          <a:prstGeom prst="ellipse">
            <a:avLst/>
          </a:prstGeom>
          <a:solidFill>
            <a:srgbClr val="0E1729"/>
          </a:solidFill>
          <a:ln/>
        </p:spPr>
      </p:sp>
      <p:sp>
        <p:nvSpPr>
          <p:cNvPr id="34" name="Shape 32"/>
          <p:cNvSpPr/>
          <p:nvPr/>
        </p:nvSpPr>
        <p:spPr>
          <a:xfrm>
            <a:off x="10951494" y="3588106"/>
            <a:ext cx="77724" cy="77724"/>
          </a:xfrm>
          <a:prstGeom prst="ellipse">
            <a:avLst/>
          </a:prstGeom>
          <a:solidFill>
            <a:srgbClr val="0E1729"/>
          </a:solidFill>
          <a:ln/>
        </p:spPr>
      </p:sp>
      <p:sp>
        <p:nvSpPr>
          <p:cNvPr id="35" name="Shape 33"/>
          <p:cNvSpPr/>
          <p:nvPr/>
        </p:nvSpPr>
        <p:spPr>
          <a:xfrm>
            <a:off x="11178083" y="3476092"/>
            <a:ext cx="77724" cy="77724"/>
          </a:xfrm>
          <a:prstGeom prst="ellipse">
            <a:avLst/>
          </a:prstGeom>
          <a:solidFill>
            <a:srgbClr val="0E1729"/>
          </a:solidFill>
          <a:ln/>
        </p:spPr>
      </p:sp>
      <p:sp>
        <p:nvSpPr>
          <p:cNvPr id="36" name="Shape 34"/>
          <p:cNvSpPr/>
          <p:nvPr/>
        </p:nvSpPr>
        <p:spPr>
          <a:xfrm>
            <a:off x="11366906" y="3341675"/>
            <a:ext cx="77724" cy="77724"/>
          </a:xfrm>
          <a:prstGeom prst="ellipse">
            <a:avLst/>
          </a:prstGeom>
          <a:solidFill>
            <a:srgbClr val="0E1729"/>
          </a:solidFill>
          <a:ln/>
        </p:spPr>
      </p:sp>
      <p:sp>
        <p:nvSpPr>
          <p:cNvPr id="37" name="Text 35"/>
          <p:cNvSpPr/>
          <p:nvPr/>
        </p:nvSpPr>
        <p:spPr>
          <a:xfrm>
            <a:off x="640080" y="5989320"/>
            <a:ext cx="10972800" cy="36576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Si les points du QQ-plot suivent globalement la ligne orange pointillée, ta distribution est cohérente avec la normalité — quelle que soit la p-value de Shapiro.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PRÉALABLE · VARIANCES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Variances inégales : Welch, pas Student.</a:t>
            </a:r>
            <a:endParaRPr lang="en-US" sz="3000" dirty="0"/>
          </a:p>
        </p:txBody>
      </p:sp>
      <p:sp>
        <p:nvSpPr>
          <p:cNvPr id="6" name="Text 4"/>
          <p:cNvSpPr/>
          <p:nvPr/>
        </p:nvSpPr>
        <p:spPr>
          <a:xfrm>
            <a:off x="640080" y="1874520"/>
            <a:ext cx="10972800" cy="13716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t-test de Student suppose des variances comparables entre groupes. Si elles diffèrent, tes résultats sont biaisés. Levene vérifie. Mais en routine, je saute souvent Levene et lance directement Welch : il est robuste aux variances inégales, sans préalable nécessaire.</a:t>
            </a:r>
            <a:endParaRPr lang="en-US" sz="1400" dirty="0"/>
          </a:p>
        </p:txBody>
      </p:sp>
      <p:sp>
        <p:nvSpPr>
          <p:cNvPr id="7" name="Shape 5"/>
          <p:cNvSpPr/>
          <p:nvPr/>
        </p:nvSpPr>
        <p:spPr>
          <a:xfrm>
            <a:off x="640080" y="3337560"/>
            <a:ext cx="5486400" cy="2560320"/>
          </a:xfrm>
          <a:prstGeom prst="roundRect">
            <a:avLst>
              <a:gd name="adj" fmla="val 1786"/>
            </a:avLst>
          </a:prstGeom>
          <a:solidFill>
            <a:srgbClr val="1A2541"/>
          </a:solidFill>
          <a:ln w="6350">
            <a:solidFill>
              <a:srgbClr val="F09042"/>
            </a:solidFill>
            <a:prstDash val="solid"/>
          </a:ln>
        </p:spPr>
      </p:sp>
      <p:sp>
        <p:nvSpPr>
          <p:cNvPr id="8" name="Shape 6"/>
          <p:cNvSpPr/>
          <p:nvPr/>
        </p:nvSpPr>
        <p:spPr>
          <a:xfrm>
            <a:off x="777240" y="3447288"/>
            <a:ext cx="365760" cy="256032"/>
          </a:xfrm>
          <a:prstGeom prst="roundRect">
            <a:avLst>
              <a:gd name="adj" fmla="val 14286"/>
            </a:avLst>
          </a:prstGeom>
          <a:solidFill>
            <a:srgbClr val="F09042"/>
          </a:solidFill>
          <a:ln/>
        </p:spPr>
      </p:sp>
      <p:sp>
        <p:nvSpPr>
          <p:cNvPr id="9" name="Text 7"/>
          <p:cNvSpPr/>
          <p:nvPr/>
        </p:nvSpPr>
        <p:spPr>
          <a:xfrm>
            <a:off x="777240" y="344728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794760"/>
            <a:ext cx="5212080" cy="2011680"/>
          </a:xfrm>
          <a:prstGeom prst="rect">
            <a:avLst/>
          </a:prstGeom>
          <a:noFill/>
          <a:ln/>
        </p:spPr>
        <p:txBody>
          <a:bodyPr wrap="square" rtlCol="0" anchor="t"/>
          <a:lstStyle/>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Vérification (optionnelle)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library(car)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leveneTest(tension ~ groupe,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data = donnees)</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En routine : Welch direct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t.test(tension ~ groupe,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data = donnees,</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var.equal = FALSE)</a:t>
            </a:r>
            <a:endParaRPr lang="en-US" sz="1050" dirty="0"/>
          </a:p>
        </p:txBody>
      </p:sp>
      <p:sp>
        <p:nvSpPr>
          <p:cNvPr id="11" name="Shape 9"/>
          <p:cNvSpPr/>
          <p:nvPr/>
        </p:nvSpPr>
        <p:spPr>
          <a:xfrm>
            <a:off x="6400800" y="3337560"/>
            <a:ext cx="5330952" cy="2560320"/>
          </a:xfrm>
          <a:prstGeom prst="roundRect">
            <a:avLst>
              <a:gd name="adj" fmla="val 1786"/>
            </a:avLst>
          </a:prstGeom>
          <a:solidFill>
            <a:srgbClr val="1A2541"/>
          </a:solidFill>
          <a:ln w="6350">
            <a:solidFill>
              <a:srgbClr val="6B7280"/>
            </a:solidFill>
            <a:prstDash val="dash"/>
          </a:ln>
        </p:spPr>
      </p:sp>
      <p:sp>
        <p:nvSpPr>
          <p:cNvPr id="12" name="Text 10"/>
          <p:cNvSpPr/>
          <p:nvPr/>
        </p:nvSpPr>
        <p:spPr>
          <a:xfrm>
            <a:off x="6537960" y="3429000"/>
            <a:ext cx="914400" cy="228600"/>
          </a:xfrm>
          <a:prstGeom prst="rect">
            <a:avLst/>
          </a:prstGeom>
          <a:noFill/>
          <a:ln/>
        </p:spPr>
        <p:txBody>
          <a:bodyPr wrap="square" rtlCol="0" anchor="ctr"/>
          <a:lstStyle/>
          <a:p>
            <a:pPr indent="0" marL="0">
              <a:buNone/>
            </a:pPr>
            <a:r>
              <a:rPr lang="en-US" sz="900" b="1" spc="300" kern="0" dirty="0">
                <a:solidFill>
                  <a:srgbClr val="C9CFDC"/>
                </a:solidFill>
                <a:latin typeface="Calibri" pitchFamily="34" charset="0"/>
                <a:ea typeface="Calibri" pitchFamily="34" charset="-122"/>
                <a:cs typeface="Calibri" pitchFamily="34" charset="-120"/>
              </a:rPr>
              <a:t>SORTIE</a:t>
            </a:r>
            <a:endParaRPr lang="en-US" sz="900" dirty="0"/>
          </a:p>
        </p:txBody>
      </p:sp>
      <p:sp>
        <p:nvSpPr>
          <p:cNvPr id="13" name="Text 11"/>
          <p:cNvSpPr/>
          <p:nvPr/>
        </p:nvSpPr>
        <p:spPr>
          <a:xfrm>
            <a:off x="6583680" y="3703320"/>
            <a:ext cx="5056632" cy="2103120"/>
          </a:xfrm>
          <a:prstGeom prst="rect">
            <a:avLst/>
          </a:prstGeom>
          <a:noFill/>
          <a:ln/>
        </p:spPr>
        <p:txBody>
          <a:bodyPr wrap="square" rtlCol="0" anchor="t"/>
          <a:lstStyle/>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Levene's Test for Homogeneity</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of Variance (center = median)</a:t>
            </a:r>
            <a:endParaRPr lang="en-US" sz="1050" dirty="0"/>
          </a:p>
          <a:p>
            <a:pPr indent="0" marL="0">
              <a:lnSpc>
                <a:spcPct val="130000"/>
              </a:lnSpc>
              <a:buNone/>
            </a:pP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Df  F value  Pr(&gt;F)</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group   1  4.521    0.038 *</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58</a:t>
            </a:r>
            <a:endParaRPr lang="en-US" sz="1050" dirty="0"/>
          </a:p>
          <a:p>
            <a:pPr indent="0" marL="0">
              <a:lnSpc>
                <a:spcPct val="130000"/>
              </a:lnSpc>
              <a:buNone/>
            </a:pP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Variances inégales.</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Utiliser Welch dans tous</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les cas, par sécurité.</a:t>
            </a:r>
            <a:endParaRPr lang="en-US" sz="1050" dirty="0"/>
          </a:p>
        </p:txBody>
      </p:sp>
      <p:sp>
        <p:nvSpPr>
          <p:cNvPr id="14" name="Text 12"/>
          <p:cNvSpPr/>
          <p:nvPr/>
        </p:nvSpPr>
        <p:spPr>
          <a:xfrm>
            <a:off x="640080" y="5989320"/>
            <a:ext cx="10972800" cy="36576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Welch est aussi puissant que Student quand les variances sont égales, et nettement plus juste quand elles diffèrent. Aucune raison de s'en priver.</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COMPARAISONS MULTIPLES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200" b="1" spc="-100" kern="0" dirty="0">
                <a:solidFill>
                  <a:srgbClr val="15233F"/>
                </a:solidFill>
                <a:latin typeface="Calibri" pitchFamily="34" charset="0"/>
                <a:ea typeface="Calibri" pitchFamily="34" charset="-122"/>
                <a:cs typeface="Calibri" pitchFamily="34" charset="-120"/>
              </a:rPr>
              <a:t>Tu fais 20 tests ? Tu as 64 % de chances de trouver un faux positif.</a:t>
            </a:r>
            <a:endParaRPr lang="en-US" sz="22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Le calcul exact : 1 − (1 − 0,05)²⁰ = 0,64. Plus tu multiplies les tests, plus tu pêches dans tes données. Visuellement : voici 20 tests d'une étude où H₀ est vraie partout.</a:t>
            </a:r>
            <a:endParaRPr lang="en-US" sz="1300" dirty="0"/>
          </a:p>
        </p:txBody>
      </p:sp>
      <p:sp>
        <p:nvSpPr>
          <p:cNvPr id="7" name="Shape 5"/>
          <p:cNvSpPr/>
          <p:nvPr/>
        </p:nvSpPr>
        <p:spPr>
          <a:xfrm>
            <a:off x="640080" y="2926080"/>
            <a:ext cx="5440680" cy="3108960"/>
          </a:xfrm>
          <a:prstGeom prst="rect">
            <a:avLst/>
          </a:prstGeom>
          <a:solidFill>
            <a:srgbClr val="FFFFFF"/>
          </a:solidFill>
          <a:ln w="6350">
            <a:solidFill>
              <a:srgbClr val="D6CFB8"/>
            </a:solidFill>
            <a:prstDash val="solid"/>
          </a:ln>
        </p:spPr>
      </p:sp>
      <p:sp>
        <p:nvSpPr>
          <p:cNvPr id="8" name="Text 6"/>
          <p:cNvSpPr/>
          <p:nvPr/>
        </p:nvSpPr>
        <p:spPr>
          <a:xfrm>
            <a:off x="731520" y="2962656"/>
            <a:ext cx="525780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20 tests indépendants · α = 5 % chacun</a:t>
            </a:r>
            <a:endParaRPr lang="en-US" sz="900" dirty="0"/>
          </a:p>
        </p:txBody>
      </p:sp>
      <p:sp>
        <p:nvSpPr>
          <p:cNvPr id="9" name="Shape 7"/>
          <p:cNvSpPr/>
          <p:nvPr/>
        </p:nvSpPr>
        <p:spPr>
          <a:xfrm>
            <a:off x="1103452" y="3300298"/>
            <a:ext cx="380848" cy="380848"/>
          </a:xfrm>
          <a:prstGeom prst="ellipse">
            <a:avLst/>
          </a:prstGeom>
          <a:solidFill>
            <a:srgbClr val="C9CFDC"/>
          </a:solidFill>
          <a:ln/>
        </p:spPr>
      </p:sp>
      <p:sp>
        <p:nvSpPr>
          <p:cNvPr id="10" name="Shape 8"/>
          <p:cNvSpPr/>
          <p:nvPr/>
        </p:nvSpPr>
        <p:spPr>
          <a:xfrm>
            <a:off x="2136724" y="3300298"/>
            <a:ext cx="380848" cy="380848"/>
          </a:xfrm>
          <a:prstGeom prst="ellipse">
            <a:avLst/>
          </a:prstGeom>
          <a:solidFill>
            <a:srgbClr val="C9CFDC"/>
          </a:solidFill>
          <a:ln/>
        </p:spPr>
      </p:sp>
      <p:sp>
        <p:nvSpPr>
          <p:cNvPr id="11" name="Shape 9"/>
          <p:cNvSpPr/>
          <p:nvPr/>
        </p:nvSpPr>
        <p:spPr>
          <a:xfrm>
            <a:off x="3169996" y="3300298"/>
            <a:ext cx="380848" cy="380848"/>
          </a:xfrm>
          <a:prstGeom prst="ellipse">
            <a:avLst/>
          </a:prstGeom>
          <a:solidFill>
            <a:srgbClr val="C9CFDC"/>
          </a:solidFill>
          <a:ln/>
        </p:spPr>
      </p:sp>
      <p:sp>
        <p:nvSpPr>
          <p:cNvPr id="12" name="Shape 10"/>
          <p:cNvSpPr/>
          <p:nvPr/>
        </p:nvSpPr>
        <p:spPr>
          <a:xfrm>
            <a:off x="4203268" y="3300298"/>
            <a:ext cx="380848" cy="380848"/>
          </a:xfrm>
          <a:prstGeom prst="ellipse">
            <a:avLst/>
          </a:prstGeom>
          <a:solidFill>
            <a:srgbClr val="C9CFDC"/>
          </a:solidFill>
          <a:ln/>
        </p:spPr>
      </p:sp>
      <p:sp>
        <p:nvSpPr>
          <p:cNvPr id="13" name="Shape 11"/>
          <p:cNvSpPr/>
          <p:nvPr/>
        </p:nvSpPr>
        <p:spPr>
          <a:xfrm>
            <a:off x="5236540" y="3300298"/>
            <a:ext cx="380848" cy="380848"/>
          </a:xfrm>
          <a:prstGeom prst="ellipse">
            <a:avLst/>
          </a:prstGeom>
          <a:solidFill>
            <a:srgbClr val="C9CFDC"/>
          </a:solidFill>
          <a:ln/>
        </p:spPr>
      </p:sp>
      <p:sp>
        <p:nvSpPr>
          <p:cNvPr id="14" name="Shape 12"/>
          <p:cNvSpPr/>
          <p:nvPr/>
        </p:nvSpPr>
        <p:spPr>
          <a:xfrm>
            <a:off x="1103452" y="3844366"/>
            <a:ext cx="380848" cy="380848"/>
          </a:xfrm>
          <a:prstGeom prst="ellipse">
            <a:avLst/>
          </a:prstGeom>
          <a:solidFill>
            <a:srgbClr val="C9CFDC"/>
          </a:solidFill>
          <a:ln/>
        </p:spPr>
      </p:sp>
      <p:sp>
        <p:nvSpPr>
          <p:cNvPr id="15" name="Shape 13"/>
          <p:cNvSpPr/>
          <p:nvPr/>
        </p:nvSpPr>
        <p:spPr>
          <a:xfrm>
            <a:off x="2136724" y="3844366"/>
            <a:ext cx="380848" cy="380848"/>
          </a:xfrm>
          <a:prstGeom prst="ellipse">
            <a:avLst/>
          </a:prstGeom>
          <a:solidFill>
            <a:srgbClr val="C9CFDC"/>
          </a:solidFill>
          <a:ln/>
        </p:spPr>
      </p:sp>
      <p:sp>
        <p:nvSpPr>
          <p:cNvPr id="16" name="Shape 14"/>
          <p:cNvSpPr/>
          <p:nvPr/>
        </p:nvSpPr>
        <p:spPr>
          <a:xfrm>
            <a:off x="3169996" y="3844366"/>
            <a:ext cx="380848" cy="380848"/>
          </a:xfrm>
          <a:prstGeom prst="ellipse">
            <a:avLst/>
          </a:prstGeom>
          <a:solidFill>
            <a:srgbClr val="C9CFDC"/>
          </a:solidFill>
          <a:ln/>
        </p:spPr>
      </p:sp>
      <p:sp>
        <p:nvSpPr>
          <p:cNvPr id="17" name="Shape 15"/>
          <p:cNvSpPr/>
          <p:nvPr/>
        </p:nvSpPr>
        <p:spPr>
          <a:xfrm>
            <a:off x="4203268" y="3844366"/>
            <a:ext cx="380848" cy="380848"/>
          </a:xfrm>
          <a:prstGeom prst="ellipse">
            <a:avLst/>
          </a:prstGeom>
          <a:solidFill>
            <a:srgbClr val="C9CFDC"/>
          </a:solidFill>
          <a:ln/>
        </p:spPr>
      </p:sp>
      <p:sp>
        <p:nvSpPr>
          <p:cNvPr id="18" name="Shape 16"/>
          <p:cNvSpPr/>
          <p:nvPr/>
        </p:nvSpPr>
        <p:spPr>
          <a:xfrm>
            <a:off x="5236540" y="3844366"/>
            <a:ext cx="380848" cy="380848"/>
          </a:xfrm>
          <a:prstGeom prst="ellipse">
            <a:avLst/>
          </a:prstGeom>
          <a:solidFill>
            <a:srgbClr val="C9CFDC"/>
          </a:solidFill>
          <a:ln/>
        </p:spPr>
      </p:sp>
      <p:sp>
        <p:nvSpPr>
          <p:cNvPr id="19" name="Shape 17"/>
          <p:cNvSpPr/>
          <p:nvPr/>
        </p:nvSpPr>
        <p:spPr>
          <a:xfrm>
            <a:off x="1103452" y="4388434"/>
            <a:ext cx="380848" cy="380848"/>
          </a:xfrm>
          <a:prstGeom prst="ellipse">
            <a:avLst/>
          </a:prstGeom>
          <a:solidFill>
            <a:srgbClr val="C9CFDC"/>
          </a:solidFill>
          <a:ln/>
        </p:spPr>
      </p:sp>
      <p:sp>
        <p:nvSpPr>
          <p:cNvPr id="20" name="Shape 18"/>
          <p:cNvSpPr/>
          <p:nvPr/>
        </p:nvSpPr>
        <p:spPr>
          <a:xfrm>
            <a:off x="2136724" y="4388434"/>
            <a:ext cx="380848" cy="380848"/>
          </a:xfrm>
          <a:prstGeom prst="ellipse">
            <a:avLst/>
          </a:prstGeom>
          <a:solidFill>
            <a:srgbClr val="C9CFDC"/>
          </a:solidFill>
          <a:ln/>
        </p:spPr>
      </p:sp>
      <p:sp>
        <p:nvSpPr>
          <p:cNvPr id="21" name="Shape 19"/>
          <p:cNvSpPr/>
          <p:nvPr/>
        </p:nvSpPr>
        <p:spPr>
          <a:xfrm>
            <a:off x="3169996" y="4388434"/>
            <a:ext cx="380848" cy="380848"/>
          </a:xfrm>
          <a:prstGeom prst="ellipse">
            <a:avLst/>
          </a:prstGeom>
          <a:solidFill>
            <a:srgbClr val="C9CFDC"/>
          </a:solidFill>
          <a:ln/>
        </p:spPr>
      </p:sp>
      <p:sp>
        <p:nvSpPr>
          <p:cNvPr id="22" name="Shape 20"/>
          <p:cNvSpPr/>
          <p:nvPr/>
        </p:nvSpPr>
        <p:spPr>
          <a:xfrm>
            <a:off x="4203268" y="4388434"/>
            <a:ext cx="380848" cy="380848"/>
          </a:xfrm>
          <a:prstGeom prst="ellipse">
            <a:avLst/>
          </a:prstGeom>
          <a:solidFill>
            <a:srgbClr val="C9CFDC"/>
          </a:solidFill>
          <a:ln/>
        </p:spPr>
      </p:sp>
      <p:sp>
        <p:nvSpPr>
          <p:cNvPr id="23" name="Shape 21"/>
          <p:cNvSpPr/>
          <p:nvPr/>
        </p:nvSpPr>
        <p:spPr>
          <a:xfrm>
            <a:off x="5236540" y="4388434"/>
            <a:ext cx="380848" cy="380848"/>
          </a:xfrm>
          <a:prstGeom prst="ellipse">
            <a:avLst/>
          </a:prstGeom>
          <a:solidFill>
            <a:srgbClr val="C9CFDC"/>
          </a:solidFill>
          <a:ln/>
        </p:spPr>
      </p:sp>
      <p:sp>
        <p:nvSpPr>
          <p:cNvPr id="24" name="Shape 22"/>
          <p:cNvSpPr/>
          <p:nvPr/>
        </p:nvSpPr>
        <p:spPr>
          <a:xfrm>
            <a:off x="1103452" y="4932502"/>
            <a:ext cx="380848" cy="380848"/>
          </a:xfrm>
          <a:prstGeom prst="ellipse">
            <a:avLst/>
          </a:prstGeom>
          <a:solidFill>
            <a:srgbClr val="C9CFDC"/>
          </a:solidFill>
          <a:ln/>
        </p:spPr>
      </p:sp>
      <p:sp>
        <p:nvSpPr>
          <p:cNvPr id="25" name="Shape 23"/>
          <p:cNvSpPr/>
          <p:nvPr/>
        </p:nvSpPr>
        <p:spPr>
          <a:xfrm>
            <a:off x="2136724" y="4932502"/>
            <a:ext cx="380848" cy="380848"/>
          </a:xfrm>
          <a:prstGeom prst="ellipse">
            <a:avLst/>
          </a:prstGeom>
          <a:solidFill>
            <a:srgbClr val="C9CFDC"/>
          </a:solidFill>
          <a:ln/>
        </p:spPr>
      </p:sp>
      <p:sp>
        <p:nvSpPr>
          <p:cNvPr id="26" name="Shape 24"/>
          <p:cNvSpPr/>
          <p:nvPr/>
        </p:nvSpPr>
        <p:spPr>
          <a:xfrm>
            <a:off x="3169996" y="4932502"/>
            <a:ext cx="380848" cy="380848"/>
          </a:xfrm>
          <a:prstGeom prst="ellipse">
            <a:avLst/>
          </a:prstGeom>
          <a:solidFill>
            <a:srgbClr val="C9CFDC"/>
          </a:solidFill>
          <a:ln/>
        </p:spPr>
      </p:sp>
      <p:sp>
        <p:nvSpPr>
          <p:cNvPr id="27" name="Shape 25"/>
          <p:cNvSpPr/>
          <p:nvPr/>
        </p:nvSpPr>
        <p:spPr>
          <a:xfrm>
            <a:off x="4203268" y="4932502"/>
            <a:ext cx="380848" cy="380848"/>
          </a:xfrm>
          <a:prstGeom prst="ellipse">
            <a:avLst/>
          </a:prstGeom>
          <a:solidFill>
            <a:srgbClr val="C9CFDC"/>
          </a:solidFill>
          <a:ln/>
        </p:spPr>
      </p:sp>
      <p:sp>
        <p:nvSpPr>
          <p:cNvPr id="28" name="Shape 26"/>
          <p:cNvSpPr/>
          <p:nvPr/>
        </p:nvSpPr>
        <p:spPr>
          <a:xfrm>
            <a:off x="5236540" y="4932502"/>
            <a:ext cx="380848" cy="380848"/>
          </a:xfrm>
          <a:prstGeom prst="ellipse">
            <a:avLst/>
          </a:prstGeom>
          <a:solidFill>
            <a:srgbClr val="E74C3C"/>
          </a:solidFill>
          <a:ln/>
        </p:spPr>
      </p:sp>
      <p:sp>
        <p:nvSpPr>
          <p:cNvPr id="29" name="Shape 27"/>
          <p:cNvSpPr/>
          <p:nvPr/>
        </p:nvSpPr>
        <p:spPr>
          <a:xfrm>
            <a:off x="731520" y="5559552"/>
            <a:ext cx="164592" cy="164592"/>
          </a:xfrm>
          <a:prstGeom prst="ellipse">
            <a:avLst/>
          </a:prstGeom>
          <a:solidFill>
            <a:srgbClr val="C9CFDC"/>
          </a:solidFill>
          <a:ln/>
        </p:spPr>
      </p:sp>
      <p:sp>
        <p:nvSpPr>
          <p:cNvPr id="30" name="Text 28"/>
          <p:cNvSpPr/>
          <p:nvPr/>
        </p:nvSpPr>
        <p:spPr>
          <a:xfrm>
            <a:off x="932688" y="5504688"/>
            <a:ext cx="2354580"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Test non signif. (19)</a:t>
            </a:r>
            <a:endParaRPr lang="en-US" sz="900" dirty="0"/>
          </a:p>
        </p:txBody>
      </p:sp>
      <p:sp>
        <p:nvSpPr>
          <p:cNvPr id="31" name="Shape 29"/>
          <p:cNvSpPr/>
          <p:nvPr/>
        </p:nvSpPr>
        <p:spPr>
          <a:xfrm>
            <a:off x="3360420" y="5559552"/>
            <a:ext cx="164592" cy="164592"/>
          </a:xfrm>
          <a:prstGeom prst="ellipse">
            <a:avLst/>
          </a:prstGeom>
          <a:solidFill>
            <a:srgbClr val="E74C3C"/>
          </a:solidFill>
          <a:ln/>
        </p:spPr>
      </p:sp>
      <p:sp>
        <p:nvSpPr>
          <p:cNvPr id="32" name="Text 30"/>
          <p:cNvSpPr/>
          <p:nvPr/>
        </p:nvSpPr>
        <p:spPr>
          <a:xfrm>
            <a:off x="3561588" y="5504688"/>
            <a:ext cx="2354580"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Faux positif (1)</a:t>
            </a:r>
            <a:endParaRPr lang="en-US" sz="900" dirty="0"/>
          </a:p>
        </p:txBody>
      </p:sp>
      <p:sp>
        <p:nvSpPr>
          <p:cNvPr id="33" name="Shape 31"/>
          <p:cNvSpPr/>
          <p:nvPr/>
        </p:nvSpPr>
        <p:spPr>
          <a:xfrm>
            <a:off x="6291072" y="2926080"/>
            <a:ext cx="5440680" cy="1508760"/>
          </a:xfrm>
          <a:prstGeom prst="roundRect">
            <a:avLst>
              <a:gd name="adj" fmla="val 6061"/>
            </a:avLst>
          </a:prstGeom>
          <a:solidFill>
            <a:srgbClr val="FFFFFF"/>
          </a:solidFill>
          <a:ln w="19050">
            <a:solidFill>
              <a:srgbClr val="F09042"/>
            </a:solidFill>
            <a:prstDash val="solid"/>
          </a:ln>
        </p:spPr>
      </p:sp>
      <p:sp>
        <p:nvSpPr>
          <p:cNvPr id="34" name="Text 32"/>
          <p:cNvSpPr/>
          <p:nvPr/>
        </p:nvSpPr>
        <p:spPr>
          <a:xfrm>
            <a:off x="6473952" y="3035808"/>
            <a:ext cx="5029200" cy="27432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BONFERRONI</a:t>
            </a:r>
            <a:endParaRPr lang="en-US" sz="1100" dirty="0"/>
          </a:p>
        </p:txBody>
      </p:sp>
      <p:sp>
        <p:nvSpPr>
          <p:cNvPr id="35" name="Text 33"/>
          <p:cNvSpPr/>
          <p:nvPr/>
        </p:nvSpPr>
        <p:spPr>
          <a:xfrm>
            <a:off x="6473952" y="3310128"/>
            <a:ext cx="5029200" cy="411480"/>
          </a:xfrm>
          <a:prstGeom prst="rect">
            <a:avLst/>
          </a:prstGeom>
          <a:noFill/>
          <a:ln/>
        </p:spPr>
        <p:txBody>
          <a:bodyPr wrap="square" rtlCol="0" anchor="ctr"/>
          <a:lstStyle/>
          <a:p>
            <a:pPr indent="0" marL="0">
              <a:buNone/>
            </a:pPr>
            <a:r>
              <a:rPr lang="en-US" sz="1600" b="1" dirty="0">
                <a:solidFill>
                  <a:srgbClr val="15233F"/>
                </a:solidFill>
                <a:latin typeface="Consolas" pitchFamily="34" charset="0"/>
                <a:ea typeface="Consolas" pitchFamily="34" charset="-122"/>
                <a:cs typeface="Consolas" pitchFamily="34" charset="-120"/>
              </a:rPr>
              <a:t>α corrigé = α / k</a:t>
            </a:r>
            <a:endParaRPr lang="en-US" sz="1600" dirty="0"/>
          </a:p>
        </p:txBody>
      </p:sp>
      <p:sp>
        <p:nvSpPr>
          <p:cNvPr id="36" name="Text 34"/>
          <p:cNvSpPr/>
          <p:nvPr/>
        </p:nvSpPr>
        <p:spPr>
          <a:xfrm>
            <a:off x="6473952" y="3749040"/>
            <a:ext cx="5029200" cy="64008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Simple, conservateur. À privilégier en confirmatoire.</a:t>
            </a:r>
            <a:endParaRPr lang="en-US" sz="1100" dirty="0"/>
          </a:p>
        </p:txBody>
      </p:sp>
      <p:sp>
        <p:nvSpPr>
          <p:cNvPr id="37" name="Shape 35"/>
          <p:cNvSpPr/>
          <p:nvPr/>
        </p:nvSpPr>
        <p:spPr>
          <a:xfrm>
            <a:off x="6291072" y="4526280"/>
            <a:ext cx="5440680" cy="1508760"/>
          </a:xfrm>
          <a:prstGeom prst="roundRect">
            <a:avLst>
              <a:gd name="adj" fmla="val 6061"/>
            </a:avLst>
          </a:prstGeom>
          <a:solidFill>
            <a:srgbClr val="FFFFFF"/>
          </a:solidFill>
          <a:ln w="19050">
            <a:solidFill>
              <a:srgbClr val="F09042"/>
            </a:solidFill>
            <a:prstDash val="solid"/>
          </a:ln>
        </p:spPr>
      </p:sp>
      <p:sp>
        <p:nvSpPr>
          <p:cNvPr id="38" name="Text 36"/>
          <p:cNvSpPr/>
          <p:nvPr/>
        </p:nvSpPr>
        <p:spPr>
          <a:xfrm>
            <a:off x="6473952" y="4636008"/>
            <a:ext cx="5029200" cy="27432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BENJAMINI-HOCHBERG (FDR)</a:t>
            </a:r>
            <a:endParaRPr lang="en-US" sz="1100" dirty="0"/>
          </a:p>
        </p:txBody>
      </p:sp>
      <p:sp>
        <p:nvSpPr>
          <p:cNvPr id="39" name="Text 37"/>
          <p:cNvSpPr/>
          <p:nvPr/>
        </p:nvSpPr>
        <p:spPr>
          <a:xfrm>
            <a:off x="6473952" y="4910328"/>
            <a:ext cx="5029200" cy="411480"/>
          </a:xfrm>
          <a:prstGeom prst="rect">
            <a:avLst/>
          </a:prstGeom>
          <a:noFill/>
          <a:ln/>
        </p:spPr>
        <p:txBody>
          <a:bodyPr wrap="square" rtlCol="0" anchor="ctr"/>
          <a:lstStyle/>
          <a:p>
            <a:pPr indent="0" marL="0">
              <a:buNone/>
            </a:pPr>
            <a:r>
              <a:rPr lang="en-US" sz="1400" b="1" dirty="0">
                <a:solidFill>
                  <a:srgbClr val="15233F"/>
                </a:solidFill>
                <a:latin typeface="Consolas" pitchFamily="34" charset="0"/>
                <a:ea typeface="Consolas" pitchFamily="34" charset="-122"/>
                <a:cs typeface="Consolas" pitchFamily="34" charset="-120"/>
              </a:rPr>
              <a:t>p.adjust(pvals, "BH")</a:t>
            </a:r>
            <a:endParaRPr lang="en-US" sz="1400" dirty="0"/>
          </a:p>
        </p:txBody>
      </p:sp>
      <p:sp>
        <p:nvSpPr>
          <p:cNvPr id="40" name="Text 38"/>
          <p:cNvSpPr/>
          <p:nvPr/>
        </p:nvSpPr>
        <p:spPr>
          <a:xfrm>
            <a:off x="6473952" y="5330952"/>
            <a:ext cx="5029200" cy="64008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Moins strict. À privilégier en exploratoire ou beaucoup de tests.</a:t>
            </a:r>
            <a:endParaRPr lang="en-US" sz="1100" dirty="0"/>
          </a:p>
        </p:txBody>
      </p:sp>
      <p:sp>
        <p:nvSpPr>
          <p:cNvPr id="41" name="Text 39"/>
          <p:cNvSpPr/>
          <p:nvPr/>
        </p:nvSpPr>
        <p:spPr>
          <a:xfrm>
            <a:off x="640080" y="6126480"/>
            <a:ext cx="10972800" cy="27432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Documenter dans la méthode : « k = 12 tests, correction de Bonferroni appliquée (α corrigé = 0,0042). »</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LA CARTE D'ENSEMBLE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Quatre situations, quatre familles de tests.</a:t>
            </a:r>
            <a:endParaRPr lang="en-US" sz="2800" dirty="0"/>
          </a:p>
        </p:txBody>
      </p:sp>
      <p:sp>
        <p:nvSpPr>
          <p:cNvPr id="6" name="Text 4"/>
          <p:cNvSpPr/>
          <p:nvPr/>
        </p:nvSpPr>
        <p:spPr>
          <a:xfrm>
            <a:off x="640080" y="1874520"/>
            <a:ext cx="10972800" cy="82296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Avant le détail (modules 2 à 4), voici la vue d'ensemble. À chaque situation correspond une famille de tests, selon la nature des variables et leur distribution.</a:t>
            </a:r>
            <a:endParaRPr lang="en-US" sz="1300" dirty="0"/>
          </a:p>
        </p:txBody>
      </p:sp>
      <p:sp>
        <p:nvSpPr>
          <p:cNvPr id="7" name="Shape 5"/>
          <p:cNvSpPr/>
          <p:nvPr/>
        </p:nvSpPr>
        <p:spPr>
          <a:xfrm>
            <a:off x="640080" y="2834640"/>
            <a:ext cx="2697480" cy="502920"/>
          </a:xfrm>
          <a:prstGeom prst="rect">
            <a:avLst/>
          </a:prstGeom>
          <a:solidFill>
            <a:srgbClr val="F09042"/>
          </a:solidFill>
          <a:ln/>
        </p:spPr>
      </p:sp>
      <p:sp>
        <p:nvSpPr>
          <p:cNvPr id="8" name="Text 6"/>
          <p:cNvSpPr/>
          <p:nvPr/>
        </p:nvSpPr>
        <p:spPr>
          <a:xfrm>
            <a:off x="73152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2 GROUPES INDÉPENDANTS</a:t>
            </a:r>
            <a:endParaRPr lang="en-US" sz="1000" dirty="0"/>
          </a:p>
        </p:txBody>
      </p:sp>
      <p:sp>
        <p:nvSpPr>
          <p:cNvPr id="9" name="Shape 7"/>
          <p:cNvSpPr/>
          <p:nvPr/>
        </p:nvSpPr>
        <p:spPr>
          <a:xfrm>
            <a:off x="640080" y="3337560"/>
            <a:ext cx="2697480" cy="2880360"/>
          </a:xfrm>
          <a:prstGeom prst="rect">
            <a:avLst/>
          </a:prstGeom>
          <a:solidFill>
            <a:srgbClr val="FFFFFF"/>
          </a:solidFill>
          <a:ln w="9525">
            <a:solidFill>
              <a:srgbClr val="D6CFB8"/>
            </a:solidFill>
            <a:prstDash val="solid"/>
          </a:ln>
        </p:spPr>
      </p:sp>
      <p:sp>
        <p:nvSpPr>
          <p:cNvPr id="10" name="Text 8"/>
          <p:cNvSpPr/>
          <p:nvPr/>
        </p:nvSpPr>
        <p:spPr>
          <a:xfrm>
            <a:off x="77724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11" name="Text 9"/>
          <p:cNvSpPr/>
          <p:nvPr/>
        </p:nvSpPr>
        <p:spPr>
          <a:xfrm>
            <a:off x="77724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Welch (Student si var. égales)</a:t>
            </a:r>
            <a:endParaRPr lang="en-US" sz="1100" dirty="0"/>
          </a:p>
        </p:txBody>
      </p:sp>
      <p:sp>
        <p:nvSpPr>
          <p:cNvPr id="12" name="Text 10"/>
          <p:cNvSpPr/>
          <p:nvPr/>
        </p:nvSpPr>
        <p:spPr>
          <a:xfrm>
            <a:off x="77724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13" name="Text 11"/>
          <p:cNvSpPr/>
          <p:nvPr/>
        </p:nvSpPr>
        <p:spPr>
          <a:xfrm>
            <a:off x="77724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Mann-Whitney</a:t>
            </a:r>
            <a:endParaRPr lang="en-US" sz="1100" dirty="0"/>
          </a:p>
        </p:txBody>
      </p:sp>
      <p:sp>
        <p:nvSpPr>
          <p:cNvPr id="14" name="Text 12"/>
          <p:cNvSpPr/>
          <p:nvPr/>
        </p:nvSpPr>
        <p:spPr>
          <a:xfrm>
            <a:off x="77724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15" name="Text 13"/>
          <p:cNvSpPr/>
          <p:nvPr/>
        </p:nvSpPr>
        <p:spPr>
          <a:xfrm>
            <a:off x="77724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Chi² ou Fisher exact</a:t>
            </a:r>
            <a:endParaRPr lang="en-US" sz="1100" dirty="0"/>
          </a:p>
        </p:txBody>
      </p:sp>
      <p:sp>
        <p:nvSpPr>
          <p:cNvPr id="16" name="Shape 14"/>
          <p:cNvSpPr/>
          <p:nvPr/>
        </p:nvSpPr>
        <p:spPr>
          <a:xfrm>
            <a:off x="3429000" y="2834640"/>
            <a:ext cx="2697480" cy="502920"/>
          </a:xfrm>
          <a:prstGeom prst="rect">
            <a:avLst/>
          </a:prstGeom>
          <a:solidFill>
            <a:srgbClr val="F09042"/>
          </a:solidFill>
          <a:ln/>
        </p:spPr>
      </p:sp>
      <p:sp>
        <p:nvSpPr>
          <p:cNvPr id="17" name="Text 15"/>
          <p:cNvSpPr/>
          <p:nvPr/>
        </p:nvSpPr>
        <p:spPr>
          <a:xfrm>
            <a:off x="352044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2 GROUPES APPARIÉS</a:t>
            </a:r>
            <a:endParaRPr lang="en-US" sz="1000" dirty="0"/>
          </a:p>
        </p:txBody>
      </p:sp>
      <p:sp>
        <p:nvSpPr>
          <p:cNvPr id="18" name="Shape 16"/>
          <p:cNvSpPr/>
          <p:nvPr/>
        </p:nvSpPr>
        <p:spPr>
          <a:xfrm>
            <a:off x="3429000" y="3337560"/>
            <a:ext cx="2697480" cy="2880360"/>
          </a:xfrm>
          <a:prstGeom prst="rect">
            <a:avLst/>
          </a:prstGeom>
          <a:solidFill>
            <a:srgbClr val="FFFFFF"/>
          </a:solidFill>
          <a:ln w="9525">
            <a:solidFill>
              <a:srgbClr val="D6CFB8"/>
            </a:solidFill>
            <a:prstDash val="solid"/>
          </a:ln>
        </p:spPr>
      </p:sp>
      <p:sp>
        <p:nvSpPr>
          <p:cNvPr id="19" name="Text 17"/>
          <p:cNvSpPr/>
          <p:nvPr/>
        </p:nvSpPr>
        <p:spPr>
          <a:xfrm>
            <a:off x="356616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20" name="Text 18"/>
          <p:cNvSpPr/>
          <p:nvPr/>
        </p:nvSpPr>
        <p:spPr>
          <a:xfrm>
            <a:off x="356616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t-test apparié</a:t>
            </a:r>
            <a:endParaRPr lang="en-US" sz="1100" dirty="0"/>
          </a:p>
        </p:txBody>
      </p:sp>
      <p:sp>
        <p:nvSpPr>
          <p:cNvPr id="21" name="Text 19"/>
          <p:cNvSpPr/>
          <p:nvPr/>
        </p:nvSpPr>
        <p:spPr>
          <a:xfrm>
            <a:off x="356616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22" name="Text 20"/>
          <p:cNvSpPr/>
          <p:nvPr/>
        </p:nvSpPr>
        <p:spPr>
          <a:xfrm>
            <a:off x="356616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Wilcoxon signed-rank</a:t>
            </a:r>
            <a:endParaRPr lang="en-US" sz="1100" dirty="0"/>
          </a:p>
        </p:txBody>
      </p:sp>
      <p:sp>
        <p:nvSpPr>
          <p:cNvPr id="23" name="Text 21"/>
          <p:cNvSpPr/>
          <p:nvPr/>
        </p:nvSpPr>
        <p:spPr>
          <a:xfrm>
            <a:off x="356616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24" name="Text 22"/>
          <p:cNvSpPr/>
          <p:nvPr/>
        </p:nvSpPr>
        <p:spPr>
          <a:xfrm>
            <a:off x="356616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McNemar</a:t>
            </a:r>
            <a:endParaRPr lang="en-US" sz="1100" dirty="0"/>
          </a:p>
        </p:txBody>
      </p:sp>
      <p:sp>
        <p:nvSpPr>
          <p:cNvPr id="25" name="Shape 23"/>
          <p:cNvSpPr/>
          <p:nvPr/>
        </p:nvSpPr>
        <p:spPr>
          <a:xfrm>
            <a:off x="6217920" y="2834640"/>
            <a:ext cx="2697480" cy="502920"/>
          </a:xfrm>
          <a:prstGeom prst="rect">
            <a:avLst/>
          </a:prstGeom>
          <a:solidFill>
            <a:srgbClr val="F09042"/>
          </a:solidFill>
          <a:ln/>
        </p:spPr>
      </p:sp>
      <p:sp>
        <p:nvSpPr>
          <p:cNvPr id="26" name="Text 24"/>
          <p:cNvSpPr/>
          <p:nvPr/>
        </p:nvSpPr>
        <p:spPr>
          <a:xfrm>
            <a:off x="630936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 3 GROUPES INDÉPENDANTS</a:t>
            </a:r>
            <a:endParaRPr lang="en-US" sz="1000" dirty="0"/>
          </a:p>
        </p:txBody>
      </p:sp>
      <p:sp>
        <p:nvSpPr>
          <p:cNvPr id="27" name="Shape 25"/>
          <p:cNvSpPr/>
          <p:nvPr/>
        </p:nvSpPr>
        <p:spPr>
          <a:xfrm>
            <a:off x="6217920" y="3337560"/>
            <a:ext cx="2697480" cy="2880360"/>
          </a:xfrm>
          <a:prstGeom prst="rect">
            <a:avLst/>
          </a:prstGeom>
          <a:solidFill>
            <a:srgbClr val="FFFFFF"/>
          </a:solidFill>
          <a:ln w="9525">
            <a:solidFill>
              <a:srgbClr val="D6CFB8"/>
            </a:solidFill>
            <a:prstDash val="solid"/>
          </a:ln>
        </p:spPr>
      </p:sp>
      <p:sp>
        <p:nvSpPr>
          <p:cNvPr id="28" name="Text 26"/>
          <p:cNvSpPr/>
          <p:nvPr/>
        </p:nvSpPr>
        <p:spPr>
          <a:xfrm>
            <a:off x="635508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29" name="Text 27"/>
          <p:cNvSpPr/>
          <p:nvPr/>
        </p:nvSpPr>
        <p:spPr>
          <a:xfrm>
            <a:off x="635508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ANOVA + Tukey HSD</a:t>
            </a:r>
            <a:endParaRPr lang="en-US" sz="1100" dirty="0"/>
          </a:p>
        </p:txBody>
      </p:sp>
      <p:sp>
        <p:nvSpPr>
          <p:cNvPr id="30" name="Text 28"/>
          <p:cNvSpPr/>
          <p:nvPr/>
        </p:nvSpPr>
        <p:spPr>
          <a:xfrm>
            <a:off x="635508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31" name="Text 29"/>
          <p:cNvSpPr/>
          <p:nvPr/>
        </p:nvSpPr>
        <p:spPr>
          <a:xfrm>
            <a:off x="635508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Kruskal-Wallis</a:t>
            </a:r>
            <a:endParaRPr lang="en-US" sz="1100" dirty="0"/>
          </a:p>
        </p:txBody>
      </p:sp>
      <p:sp>
        <p:nvSpPr>
          <p:cNvPr id="32" name="Text 30"/>
          <p:cNvSpPr/>
          <p:nvPr/>
        </p:nvSpPr>
        <p:spPr>
          <a:xfrm>
            <a:off x="635508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33" name="Text 31"/>
          <p:cNvSpPr/>
          <p:nvPr/>
        </p:nvSpPr>
        <p:spPr>
          <a:xfrm>
            <a:off x="635508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Chi² ou Fisher</a:t>
            </a:r>
            <a:endParaRPr lang="en-US" sz="1100" dirty="0"/>
          </a:p>
        </p:txBody>
      </p:sp>
      <p:sp>
        <p:nvSpPr>
          <p:cNvPr id="34" name="Shape 32"/>
          <p:cNvSpPr/>
          <p:nvPr/>
        </p:nvSpPr>
        <p:spPr>
          <a:xfrm>
            <a:off x="9006840" y="2834640"/>
            <a:ext cx="2697480" cy="502920"/>
          </a:xfrm>
          <a:prstGeom prst="rect">
            <a:avLst/>
          </a:prstGeom>
          <a:solidFill>
            <a:srgbClr val="F09042"/>
          </a:solidFill>
          <a:ln/>
        </p:spPr>
      </p:sp>
      <p:sp>
        <p:nvSpPr>
          <p:cNvPr id="35" name="Text 33"/>
          <p:cNvSpPr/>
          <p:nvPr/>
        </p:nvSpPr>
        <p:spPr>
          <a:xfrm>
            <a:off x="909828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ASSOCIATION ENTRE VARIABLES</a:t>
            </a:r>
            <a:endParaRPr lang="en-US" sz="1000" dirty="0"/>
          </a:p>
        </p:txBody>
      </p:sp>
      <p:sp>
        <p:nvSpPr>
          <p:cNvPr id="36" name="Shape 34"/>
          <p:cNvSpPr/>
          <p:nvPr/>
        </p:nvSpPr>
        <p:spPr>
          <a:xfrm>
            <a:off x="9006840" y="3337560"/>
            <a:ext cx="2697480" cy="2880360"/>
          </a:xfrm>
          <a:prstGeom prst="rect">
            <a:avLst/>
          </a:prstGeom>
          <a:solidFill>
            <a:srgbClr val="FFFFFF"/>
          </a:solidFill>
          <a:ln w="9525">
            <a:solidFill>
              <a:srgbClr val="D6CFB8"/>
            </a:solidFill>
            <a:prstDash val="solid"/>
          </a:ln>
        </p:spPr>
      </p:sp>
      <p:sp>
        <p:nvSpPr>
          <p:cNvPr id="37" name="Text 35"/>
          <p:cNvSpPr/>
          <p:nvPr/>
        </p:nvSpPr>
        <p:spPr>
          <a:xfrm>
            <a:off x="914400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38" name="Text 36"/>
          <p:cNvSpPr/>
          <p:nvPr/>
        </p:nvSpPr>
        <p:spPr>
          <a:xfrm>
            <a:off x="914400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Pearson · régression lin.</a:t>
            </a:r>
            <a:endParaRPr lang="en-US" sz="1100" dirty="0"/>
          </a:p>
        </p:txBody>
      </p:sp>
      <p:sp>
        <p:nvSpPr>
          <p:cNvPr id="39" name="Text 37"/>
          <p:cNvSpPr/>
          <p:nvPr/>
        </p:nvSpPr>
        <p:spPr>
          <a:xfrm>
            <a:off x="914400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40" name="Text 38"/>
          <p:cNvSpPr/>
          <p:nvPr/>
        </p:nvSpPr>
        <p:spPr>
          <a:xfrm>
            <a:off x="914400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Spearman</a:t>
            </a:r>
            <a:endParaRPr lang="en-US" sz="1100" dirty="0"/>
          </a:p>
        </p:txBody>
      </p:sp>
      <p:sp>
        <p:nvSpPr>
          <p:cNvPr id="41" name="Text 39"/>
          <p:cNvSpPr/>
          <p:nvPr/>
        </p:nvSpPr>
        <p:spPr>
          <a:xfrm>
            <a:off x="914400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42" name="Text 40"/>
          <p:cNvSpPr/>
          <p:nvPr/>
        </p:nvSpPr>
        <p:spPr>
          <a:xfrm>
            <a:off x="914400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Régression logistique</a:t>
            </a:r>
            <a:endParaRPr lang="en-US" sz="1100" dirty="0"/>
          </a:p>
        </p:txBody>
      </p:sp>
      <p:sp>
        <p:nvSpPr>
          <p:cNvPr id="43" name="Text 41"/>
          <p:cNvSpPr/>
          <p:nvPr/>
        </p:nvSpPr>
        <p:spPr>
          <a:xfrm>
            <a:off x="640080" y="6355080"/>
            <a:ext cx="10972800" cy="320040"/>
          </a:xfrm>
          <a:prstGeom prst="rect">
            <a:avLst/>
          </a:prstGeom>
          <a:noFill/>
          <a:ln/>
        </p:spPr>
        <p:txBody>
          <a:bodyPr wrap="square"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Le détail dans les modules suivants. Module 2 — comparaisons. Module 3 — associations. Module 4 — outils biomédicaux (ROC, Kaplan-Meier, Kappa).</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LA RECETTE QUE J'UTILISE AU QUOTIDIEN</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Sept étapes pour démarrer toute analyse.</a:t>
            </a:r>
            <a:endParaRPr lang="en-US" sz="3000" dirty="0"/>
          </a:p>
        </p:txBody>
      </p:sp>
      <p:sp>
        <p:nvSpPr>
          <p:cNvPr id="6" name="Text 4"/>
          <p:cNvSpPr/>
          <p:nvPr/>
        </p:nvSpPr>
        <p:spPr>
          <a:xfrm>
            <a:off x="640080" y="1828800"/>
            <a:ext cx="10972800" cy="86868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Ce squelette, je le réutilise sur la majorité de mes analyses HES. Il couvre l'import, l'inspection, les vérifications préalables, le test, et la taille d'effet — l'ordre exact dans lequel on doit travailler.</a:t>
            </a:r>
            <a:endParaRPr lang="en-US" sz="1300" dirty="0"/>
          </a:p>
        </p:txBody>
      </p:sp>
      <p:sp>
        <p:nvSpPr>
          <p:cNvPr id="7" name="Shape 5"/>
          <p:cNvSpPr/>
          <p:nvPr/>
        </p:nvSpPr>
        <p:spPr>
          <a:xfrm>
            <a:off x="640080" y="2788920"/>
            <a:ext cx="6766560" cy="3383280"/>
          </a:xfrm>
          <a:prstGeom prst="roundRect">
            <a:avLst>
              <a:gd name="adj" fmla="val 1351"/>
            </a:avLst>
          </a:prstGeom>
          <a:solidFill>
            <a:srgbClr val="1A2541"/>
          </a:solidFill>
          <a:ln w="6350">
            <a:solidFill>
              <a:srgbClr val="F09042"/>
            </a:solidFill>
            <a:prstDash val="solid"/>
          </a:ln>
        </p:spPr>
      </p:sp>
      <p:sp>
        <p:nvSpPr>
          <p:cNvPr id="8" name="Shape 6"/>
          <p:cNvSpPr/>
          <p:nvPr/>
        </p:nvSpPr>
        <p:spPr>
          <a:xfrm>
            <a:off x="777240" y="2898648"/>
            <a:ext cx="365760" cy="256032"/>
          </a:xfrm>
          <a:prstGeom prst="roundRect">
            <a:avLst>
              <a:gd name="adj" fmla="val 14286"/>
            </a:avLst>
          </a:prstGeom>
          <a:solidFill>
            <a:srgbClr val="F09042"/>
          </a:solidFill>
          <a:ln/>
        </p:spPr>
      </p:sp>
      <p:sp>
        <p:nvSpPr>
          <p:cNvPr id="9" name="Text 7"/>
          <p:cNvSpPr/>
          <p:nvPr/>
        </p:nvSpPr>
        <p:spPr>
          <a:xfrm>
            <a:off x="777240" y="289864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246120"/>
            <a:ext cx="6492240" cy="2834640"/>
          </a:xfrm>
          <a:prstGeom prst="rect">
            <a:avLst/>
          </a:prstGeom>
          <a:noFill/>
          <a:ln/>
        </p:spPr>
        <p:txBody>
          <a:bodyPr wrap="square" rtlCol="0" anchor="t"/>
          <a:lstStyle/>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1. Importer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donnees &lt;- read.csv("data.csv")</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2. Inspecter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head(donnees); summary(donnees); str(donnees)</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3. Normalité</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shapiro.test(donnees$tension)</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qqnorm(donnees$tension); qqline(donnees$tension)</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4. Variances</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library(car)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leveneTest(tension ~ groupe, data = donnees)</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5. Test (Welch direct, robuste)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t.test(tension ~ groupe, data = donnees,</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var.equal = FALSE)</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6. Taille d'effet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library(effsize)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cohen.d(tension ~ groupe, data = donnees)</a:t>
            </a:r>
            <a:endParaRPr lang="en-US" sz="1050" dirty="0"/>
          </a:p>
        </p:txBody>
      </p:sp>
      <p:sp>
        <p:nvSpPr>
          <p:cNvPr id="11" name="Text 9"/>
          <p:cNvSpPr/>
          <p:nvPr/>
        </p:nvSpPr>
        <p:spPr>
          <a:xfrm>
            <a:off x="7589520" y="2788920"/>
            <a:ext cx="4142232" cy="274320"/>
          </a:xfrm>
          <a:prstGeom prst="rect">
            <a:avLst/>
          </a:prstGeom>
          <a:noFill/>
          <a:ln/>
        </p:spPr>
        <p:txBody>
          <a:bodyPr wrap="square" rtlCol="0" anchor="ctr"/>
          <a:lstStyle/>
          <a:p>
            <a:pPr algn="ctr" indent="0" marL="0">
              <a:buNone/>
            </a:pPr>
            <a:r>
              <a:rPr lang="en-US" sz="1100" b="1" dirty="0">
                <a:solidFill>
                  <a:srgbClr val="15233F"/>
                </a:solidFill>
                <a:latin typeface="Calibri" pitchFamily="34" charset="0"/>
                <a:ea typeface="Calibri" pitchFamily="34" charset="-122"/>
                <a:cs typeface="Calibri" pitchFamily="34" charset="-120"/>
              </a:rPr>
              <a:t>L'ordre que je suis</a:t>
            </a:r>
            <a:endParaRPr lang="en-US" sz="1100" dirty="0"/>
          </a:p>
        </p:txBody>
      </p:sp>
      <p:sp>
        <p:nvSpPr>
          <p:cNvPr id="12" name="Shape 10"/>
          <p:cNvSpPr/>
          <p:nvPr/>
        </p:nvSpPr>
        <p:spPr>
          <a:xfrm>
            <a:off x="7589520" y="3108960"/>
            <a:ext cx="4142232" cy="205740"/>
          </a:xfrm>
          <a:prstGeom prst="roundRect">
            <a:avLst>
              <a:gd name="adj" fmla="val 35556"/>
            </a:avLst>
          </a:prstGeom>
          <a:solidFill>
            <a:srgbClr val="FFFFFF"/>
          </a:solidFill>
          <a:ln w="12700">
            <a:solidFill>
              <a:srgbClr val="D6CFB8"/>
            </a:solidFill>
            <a:prstDash val="solid"/>
          </a:ln>
        </p:spPr>
      </p:sp>
      <p:sp>
        <p:nvSpPr>
          <p:cNvPr id="13" name="Text 11"/>
          <p:cNvSpPr/>
          <p:nvPr/>
        </p:nvSpPr>
        <p:spPr>
          <a:xfrm>
            <a:off x="7726680" y="32004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1. Importer</a:t>
            </a:r>
            <a:endParaRPr lang="en-US" sz="1200" dirty="0"/>
          </a:p>
        </p:txBody>
      </p:sp>
      <p:sp>
        <p:nvSpPr>
          <p:cNvPr id="14" name="Shape 12"/>
          <p:cNvSpPr/>
          <p:nvPr/>
        </p:nvSpPr>
        <p:spPr>
          <a:xfrm>
            <a:off x="9660636" y="3360420"/>
            <a:ext cx="0" cy="274320"/>
          </a:xfrm>
          <a:prstGeom prst="line">
            <a:avLst/>
          </a:prstGeom>
          <a:noFill/>
          <a:ln w="19050">
            <a:solidFill>
              <a:srgbClr val="F09042"/>
            </a:solidFill>
            <a:prstDash val="solid"/>
          </a:ln>
        </p:spPr>
      </p:sp>
      <p:sp>
        <p:nvSpPr>
          <p:cNvPr id="15" name="Shape 13"/>
          <p:cNvSpPr/>
          <p:nvPr/>
        </p:nvSpPr>
        <p:spPr>
          <a:xfrm>
            <a:off x="9587484" y="3561588"/>
            <a:ext cx="73152" cy="73152"/>
          </a:xfrm>
          <a:prstGeom prst="line">
            <a:avLst/>
          </a:prstGeom>
          <a:noFill/>
          <a:ln w="19050">
            <a:solidFill>
              <a:srgbClr val="F09042"/>
            </a:solidFill>
            <a:prstDash val="solid"/>
          </a:ln>
        </p:spPr>
      </p:sp>
      <p:sp>
        <p:nvSpPr>
          <p:cNvPr id="16" name="Shape 14"/>
          <p:cNvSpPr/>
          <p:nvPr/>
        </p:nvSpPr>
        <p:spPr>
          <a:xfrm>
            <a:off x="9733788" y="3561588"/>
            <a:ext cx="-73152" cy="73152"/>
          </a:xfrm>
          <a:prstGeom prst="line">
            <a:avLst/>
          </a:prstGeom>
          <a:noFill/>
          <a:ln w="19050">
            <a:solidFill>
              <a:srgbClr val="F09042"/>
            </a:solidFill>
            <a:prstDash val="solid"/>
          </a:ln>
        </p:spPr>
      </p:sp>
      <p:sp>
        <p:nvSpPr>
          <p:cNvPr id="17" name="Shape 15"/>
          <p:cNvSpPr/>
          <p:nvPr/>
        </p:nvSpPr>
        <p:spPr>
          <a:xfrm>
            <a:off x="7589520" y="3680460"/>
            <a:ext cx="4142232" cy="205740"/>
          </a:xfrm>
          <a:prstGeom prst="roundRect">
            <a:avLst>
              <a:gd name="adj" fmla="val 35556"/>
            </a:avLst>
          </a:prstGeom>
          <a:solidFill>
            <a:srgbClr val="FFFFFF"/>
          </a:solidFill>
          <a:ln w="12700">
            <a:solidFill>
              <a:srgbClr val="D6CFB8"/>
            </a:solidFill>
            <a:prstDash val="solid"/>
          </a:ln>
        </p:spPr>
      </p:sp>
      <p:sp>
        <p:nvSpPr>
          <p:cNvPr id="18" name="Text 16"/>
          <p:cNvSpPr/>
          <p:nvPr/>
        </p:nvSpPr>
        <p:spPr>
          <a:xfrm>
            <a:off x="7726680" y="37719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2. Inspecter</a:t>
            </a:r>
            <a:endParaRPr lang="en-US" sz="1200" dirty="0"/>
          </a:p>
        </p:txBody>
      </p:sp>
      <p:sp>
        <p:nvSpPr>
          <p:cNvPr id="19" name="Shape 17"/>
          <p:cNvSpPr/>
          <p:nvPr/>
        </p:nvSpPr>
        <p:spPr>
          <a:xfrm>
            <a:off x="9660636" y="3931920"/>
            <a:ext cx="0" cy="274320"/>
          </a:xfrm>
          <a:prstGeom prst="line">
            <a:avLst/>
          </a:prstGeom>
          <a:noFill/>
          <a:ln w="19050">
            <a:solidFill>
              <a:srgbClr val="F09042"/>
            </a:solidFill>
            <a:prstDash val="solid"/>
          </a:ln>
        </p:spPr>
      </p:sp>
      <p:sp>
        <p:nvSpPr>
          <p:cNvPr id="20" name="Shape 18"/>
          <p:cNvSpPr/>
          <p:nvPr/>
        </p:nvSpPr>
        <p:spPr>
          <a:xfrm>
            <a:off x="9587484" y="4133088"/>
            <a:ext cx="73152" cy="73152"/>
          </a:xfrm>
          <a:prstGeom prst="line">
            <a:avLst/>
          </a:prstGeom>
          <a:noFill/>
          <a:ln w="19050">
            <a:solidFill>
              <a:srgbClr val="F09042"/>
            </a:solidFill>
            <a:prstDash val="solid"/>
          </a:ln>
        </p:spPr>
      </p:sp>
      <p:sp>
        <p:nvSpPr>
          <p:cNvPr id="21" name="Shape 19"/>
          <p:cNvSpPr/>
          <p:nvPr/>
        </p:nvSpPr>
        <p:spPr>
          <a:xfrm>
            <a:off x="9733788" y="4133088"/>
            <a:ext cx="-73152" cy="73152"/>
          </a:xfrm>
          <a:prstGeom prst="line">
            <a:avLst/>
          </a:prstGeom>
          <a:noFill/>
          <a:ln w="19050">
            <a:solidFill>
              <a:srgbClr val="F09042"/>
            </a:solidFill>
            <a:prstDash val="solid"/>
          </a:ln>
        </p:spPr>
      </p:sp>
      <p:sp>
        <p:nvSpPr>
          <p:cNvPr id="22" name="Shape 20"/>
          <p:cNvSpPr/>
          <p:nvPr/>
        </p:nvSpPr>
        <p:spPr>
          <a:xfrm>
            <a:off x="7589520" y="4251960"/>
            <a:ext cx="4142232" cy="205740"/>
          </a:xfrm>
          <a:prstGeom prst="roundRect">
            <a:avLst>
              <a:gd name="adj" fmla="val 35556"/>
            </a:avLst>
          </a:prstGeom>
          <a:solidFill>
            <a:srgbClr val="FFFFFF"/>
          </a:solidFill>
          <a:ln w="12700">
            <a:solidFill>
              <a:srgbClr val="D6CFB8"/>
            </a:solidFill>
            <a:prstDash val="solid"/>
          </a:ln>
        </p:spPr>
      </p:sp>
      <p:sp>
        <p:nvSpPr>
          <p:cNvPr id="23" name="Text 21"/>
          <p:cNvSpPr/>
          <p:nvPr/>
        </p:nvSpPr>
        <p:spPr>
          <a:xfrm>
            <a:off x="7726680" y="43434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3. Normalité</a:t>
            </a:r>
            <a:endParaRPr lang="en-US" sz="1200" dirty="0"/>
          </a:p>
        </p:txBody>
      </p:sp>
      <p:sp>
        <p:nvSpPr>
          <p:cNvPr id="24" name="Shape 22"/>
          <p:cNvSpPr/>
          <p:nvPr/>
        </p:nvSpPr>
        <p:spPr>
          <a:xfrm>
            <a:off x="9660636" y="4503420"/>
            <a:ext cx="0" cy="274320"/>
          </a:xfrm>
          <a:prstGeom prst="line">
            <a:avLst/>
          </a:prstGeom>
          <a:noFill/>
          <a:ln w="19050">
            <a:solidFill>
              <a:srgbClr val="F09042"/>
            </a:solidFill>
            <a:prstDash val="solid"/>
          </a:ln>
        </p:spPr>
      </p:sp>
      <p:sp>
        <p:nvSpPr>
          <p:cNvPr id="25" name="Shape 23"/>
          <p:cNvSpPr/>
          <p:nvPr/>
        </p:nvSpPr>
        <p:spPr>
          <a:xfrm>
            <a:off x="9587484" y="4704588"/>
            <a:ext cx="73152" cy="73152"/>
          </a:xfrm>
          <a:prstGeom prst="line">
            <a:avLst/>
          </a:prstGeom>
          <a:noFill/>
          <a:ln w="19050">
            <a:solidFill>
              <a:srgbClr val="F09042"/>
            </a:solidFill>
            <a:prstDash val="solid"/>
          </a:ln>
        </p:spPr>
      </p:sp>
      <p:sp>
        <p:nvSpPr>
          <p:cNvPr id="26" name="Shape 24"/>
          <p:cNvSpPr/>
          <p:nvPr/>
        </p:nvSpPr>
        <p:spPr>
          <a:xfrm>
            <a:off x="9733788" y="4704588"/>
            <a:ext cx="-73152" cy="73152"/>
          </a:xfrm>
          <a:prstGeom prst="line">
            <a:avLst/>
          </a:prstGeom>
          <a:noFill/>
          <a:ln w="19050">
            <a:solidFill>
              <a:srgbClr val="F09042"/>
            </a:solidFill>
            <a:prstDash val="solid"/>
          </a:ln>
        </p:spPr>
      </p:sp>
      <p:sp>
        <p:nvSpPr>
          <p:cNvPr id="27" name="Shape 25"/>
          <p:cNvSpPr/>
          <p:nvPr/>
        </p:nvSpPr>
        <p:spPr>
          <a:xfrm>
            <a:off x="7589520" y="4823460"/>
            <a:ext cx="4142232" cy="205740"/>
          </a:xfrm>
          <a:prstGeom prst="roundRect">
            <a:avLst>
              <a:gd name="adj" fmla="val 35556"/>
            </a:avLst>
          </a:prstGeom>
          <a:solidFill>
            <a:srgbClr val="FFFFFF"/>
          </a:solidFill>
          <a:ln w="12700">
            <a:solidFill>
              <a:srgbClr val="D6CFB8"/>
            </a:solidFill>
            <a:prstDash val="solid"/>
          </a:ln>
        </p:spPr>
      </p:sp>
      <p:sp>
        <p:nvSpPr>
          <p:cNvPr id="28" name="Text 26"/>
          <p:cNvSpPr/>
          <p:nvPr/>
        </p:nvSpPr>
        <p:spPr>
          <a:xfrm>
            <a:off x="7726680" y="49149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4. Variances</a:t>
            </a:r>
            <a:endParaRPr lang="en-US" sz="1200" dirty="0"/>
          </a:p>
        </p:txBody>
      </p:sp>
      <p:sp>
        <p:nvSpPr>
          <p:cNvPr id="29" name="Shape 27"/>
          <p:cNvSpPr/>
          <p:nvPr/>
        </p:nvSpPr>
        <p:spPr>
          <a:xfrm>
            <a:off x="9660636" y="5074920"/>
            <a:ext cx="0" cy="274320"/>
          </a:xfrm>
          <a:prstGeom prst="line">
            <a:avLst/>
          </a:prstGeom>
          <a:noFill/>
          <a:ln w="19050">
            <a:solidFill>
              <a:srgbClr val="F09042"/>
            </a:solidFill>
            <a:prstDash val="solid"/>
          </a:ln>
        </p:spPr>
      </p:sp>
      <p:sp>
        <p:nvSpPr>
          <p:cNvPr id="30" name="Shape 28"/>
          <p:cNvSpPr/>
          <p:nvPr/>
        </p:nvSpPr>
        <p:spPr>
          <a:xfrm>
            <a:off x="9587484" y="5276088"/>
            <a:ext cx="73152" cy="73152"/>
          </a:xfrm>
          <a:prstGeom prst="line">
            <a:avLst/>
          </a:prstGeom>
          <a:noFill/>
          <a:ln w="19050">
            <a:solidFill>
              <a:srgbClr val="F09042"/>
            </a:solidFill>
            <a:prstDash val="solid"/>
          </a:ln>
        </p:spPr>
      </p:sp>
      <p:sp>
        <p:nvSpPr>
          <p:cNvPr id="31" name="Shape 29"/>
          <p:cNvSpPr/>
          <p:nvPr/>
        </p:nvSpPr>
        <p:spPr>
          <a:xfrm>
            <a:off x="9733788" y="5276088"/>
            <a:ext cx="-73152" cy="73152"/>
          </a:xfrm>
          <a:prstGeom prst="line">
            <a:avLst/>
          </a:prstGeom>
          <a:noFill/>
          <a:ln w="19050">
            <a:solidFill>
              <a:srgbClr val="F09042"/>
            </a:solidFill>
            <a:prstDash val="solid"/>
          </a:ln>
        </p:spPr>
      </p:sp>
      <p:sp>
        <p:nvSpPr>
          <p:cNvPr id="32" name="Shape 30"/>
          <p:cNvSpPr/>
          <p:nvPr/>
        </p:nvSpPr>
        <p:spPr>
          <a:xfrm>
            <a:off x="7589520" y="5394960"/>
            <a:ext cx="4142232" cy="205740"/>
          </a:xfrm>
          <a:prstGeom prst="roundRect">
            <a:avLst>
              <a:gd name="adj" fmla="val 35556"/>
            </a:avLst>
          </a:prstGeom>
          <a:solidFill>
            <a:srgbClr val="FFFFFF"/>
          </a:solidFill>
          <a:ln w="12700">
            <a:solidFill>
              <a:srgbClr val="D6CFB8"/>
            </a:solidFill>
            <a:prstDash val="solid"/>
          </a:ln>
        </p:spPr>
      </p:sp>
      <p:sp>
        <p:nvSpPr>
          <p:cNvPr id="33" name="Text 31"/>
          <p:cNvSpPr/>
          <p:nvPr/>
        </p:nvSpPr>
        <p:spPr>
          <a:xfrm>
            <a:off x="7726680" y="54864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5. Test</a:t>
            </a:r>
            <a:endParaRPr lang="en-US" sz="1200" dirty="0"/>
          </a:p>
        </p:txBody>
      </p:sp>
      <p:sp>
        <p:nvSpPr>
          <p:cNvPr id="34" name="Text 32"/>
          <p:cNvSpPr/>
          <p:nvPr/>
        </p:nvSpPr>
        <p:spPr>
          <a:xfrm>
            <a:off x="7726680" y="5852160"/>
            <a:ext cx="3867912" cy="-297180"/>
          </a:xfrm>
          <a:prstGeom prst="rect">
            <a:avLst/>
          </a:prstGeom>
          <a:noFill/>
          <a:ln/>
        </p:spPr>
        <p:txBody>
          <a:bodyPr wrap="square" rtlCol="0" anchor="t"/>
          <a:lstStyle/>
          <a:p>
            <a:pPr algn="ctr" indent="0" marL="0">
              <a:buNone/>
            </a:pPr>
            <a:r>
              <a:rPr lang="en-US" sz="1000" i="1" dirty="0">
                <a:solidFill>
                  <a:srgbClr val="15233F"/>
                </a:solidFill>
                <a:latin typeface="Calibri" pitchFamily="34" charset="0"/>
                <a:ea typeface="Calibri" pitchFamily="34" charset="-122"/>
                <a:cs typeface="Calibri" pitchFamily="34" charset="-120"/>
              </a:rPr>
              <a:t>(Welch direct)</a:t>
            </a:r>
            <a:endParaRPr lang="en-US" sz="1000" dirty="0"/>
          </a:p>
        </p:txBody>
      </p:sp>
      <p:sp>
        <p:nvSpPr>
          <p:cNvPr id="35" name="Shape 33"/>
          <p:cNvSpPr/>
          <p:nvPr/>
        </p:nvSpPr>
        <p:spPr>
          <a:xfrm>
            <a:off x="9660636" y="5646420"/>
            <a:ext cx="0" cy="274320"/>
          </a:xfrm>
          <a:prstGeom prst="line">
            <a:avLst/>
          </a:prstGeom>
          <a:noFill/>
          <a:ln w="19050">
            <a:solidFill>
              <a:srgbClr val="F09042"/>
            </a:solidFill>
            <a:prstDash val="solid"/>
          </a:ln>
        </p:spPr>
      </p:sp>
      <p:sp>
        <p:nvSpPr>
          <p:cNvPr id="36" name="Shape 34"/>
          <p:cNvSpPr/>
          <p:nvPr/>
        </p:nvSpPr>
        <p:spPr>
          <a:xfrm>
            <a:off x="9587484" y="5847588"/>
            <a:ext cx="73152" cy="73152"/>
          </a:xfrm>
          <a:prstGeom prst="line">
            <a:avLst/>
          </a:prstGeom>
          <a:noFill/>
          <a:ln w="19050">
            <a:solidFill>
              <a:srgbClr val="F09042"/>
            </a:solidFill>
            <a:prstDash val="solid"/>
          </a:ln>
        </p:spPr>
      </p:sp>
      <p:sp>
        <p:nvSpPr>
          <p:cNvPr id="37" name="Shape 35"/>
          <p:cNvSpPr/>
          <p:nvPr/>
        </p:nvSpPr>
        <p:spPr>
          <a:xfrm>
            <a:off x="9733788" y="5847588"/>
            <a:ext cx="-73152" cy="73152"/>
          </a:xfrm>
          <a:prstGeom prst="line">
            <a:avLst/>
          </a:prstGeom>
          <a:noFill/>
          <a:ln w="19050">
            <a:solidFill>
              <a:srgbClr val="F09042"/>
            </a:solidFill>
            <a:prstDash val="solid"/>
          </a:ln>
        </p:spPr>
      </p:sp>
      <p:sp>
        <p:nvSpPr>
          <p:cNvPr id="38" name="Shape 36"/>
          <p:cNvSpPr/>
          <p:nvPr/>
        </p:nvSpPr>
        <p:spPr>
          <a:xfrm>
            <a:off x="7589520" y="5966460"/>
            <a:ext cx="4142232" cy="205740"/>
          </a:xfrm>
          <a:prstGeom prst="roundRect">
            <a:avLst>
              <a:gd name="adj" fmla="val 35556"/>
            </a:avLst>
          </a:prstGeom>
          <a:solidFill>
            <a:srgbClr val="F09042"/>
          </a:solidFill>
          <a:ln w="12700">
            <a:solidFill>
              <a:srgbClr val="D9772B"/>
            </a:solidFill>
            <a:prstDash val="solid"/>
          </a:ln>
        </p:spPr>
      </p:sp>
      <p:sp>
        <p:nvSpPr>
          <p:cNvPr id="39" name="Text 37"/>
          <p:cNvSpPr/>
          <p:nvPr/>
        </p:nvSpPr>
        <p:spPr>
          <a:xfrm>
            <a:off x="7726680" y="6057900"/>
            <a:ext cx="3867912" cy="365760"/>
          </a:xfrm>
          <a:prstGeom prst="rect">
            <a:avLst/>
          </a:prstGeom>
          <a:noFill/>
          <a:ln/>
        </p:spPr>
        <p:txBody>
          <a:bodyPr wrap="square" rtlCol="0" anchor="ctr"/>
          <a:lstStyle/>
          <a:p>
            <a:pPr algn="ctr" indent="0" marL="0">
              <a:buNone/>
            </a:pPr>
            <a:r>
              <a:rPr lang="en-US" sz="1200" b="1" dirty="0">
                <a:solidFill>
                  <a:srgbClr val="0E1729"/>
                </a:solidFill>
                <a:latin typeface="Calibri" pitchFamily="34" charset="0"/>
                <a:ea typeface="Calibri" pitchFamily="34" charset="-122"/>
                <a:cs typeface="Calibri" pitchFamily="34" charset="-120"/>
              </a:rPr>
              <a:t>6. Effet</a:t>
            </a:r>
            <a:endParaRPr lang="en-US" sz="1200" dirty="0"/>
          </a:p>
        </p:txBody>
      </p:sp>
      <p:sp>
        <p:nvSpPr>
          <p:cNvPr id="40" name="Text 38"/>
          <p:cNvSpPr/>
          <p:nvPr/>
        </p:nvSpPr>
        <p:spPr>
          <a:xfrm>
            <a:off x="7726680" y="6423660"/>
            <a:ext cx="3867912" cy="-297180"/>
          </a:xfrm>
          <a:prstGeom prst="rect">
            <a:avLst/>
          </a:prstGeom>
          <a:noFill/>
          <a:ln/>
        </p:spPr>
        <p:txBody>
          <a:bodyPr wrap="square" rtlCol="0" anchor="t"/>
          <a:lstStyle/>
          <a:p>
            <a:pPr algn="ctr" indent="0" marL="0">
              <a:buNone/>
            </a:pPr>
            <a:r>
              <a:rPr lang="en-US" sz="1000" i="1" dirty="0">
                <a:solidFill>
                  <a:srgbClr val="0E1729"/>
                </a:solidFill>
                <a:latin typeface="Calibri" pitchFamily="34" charset="0"/>
                <a:ea typeface="Calibri" pitchFamily="34" charset="-122"/>
                <a:cs typeface="Calibri" pitchFamily="34" charset="-120"/>
              </a:rPr>
              <a:t>(cohen.d)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14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CE QUI RESTE QUAND ON A TOUT OUBLIÉ</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Six réflexes qui font la différence en soutenance.</a:t>
            </a:r>
            <a:endParaRPr lang="en-US" sz="2800" dirty="0"/>
          </a:p>
        </p:txBody>
      </p:sp>
      <p:sp>
        <p:nvSpPr>
          <p:cNvPr id="6" name="Shape 4"/>
          <p:cNvSpPr/>
          <p:nvPr/>
        </p:nvSpPr>
        <p:spPr>
          <a:xfrm>
            <a:off x="640080" y="1920240"/>
            <a:ext cx="11091672" cy="685800"/>
          </a:xfrm>
          <a:prstGeom prst="roundRect">
            <a:avLst>
              <a:gd name="adj" fmla="val 8000"/>
            </a:avLst>
          </a:prstGeom>
          <a:solidFill>
            <a:srgbClr val="FFFFFF"/>
          </a:solidFill>
          <a:ln w="9525">
            <a:solidFill>
              <a:srgbClr val="D6CFB8"/>
            </a:solidFill>
            <a:prstDash val="solid"/>
          </a:ln>
        </p:spPr>
      </p:sp>
      <p:sp>
        <p:nvSpPr>
          <p:cNvPr id="7" name="Shape 5"/>
          <p:cNvSpPr/>
          <p:nvPr/>
        </p:nvSpPr>
        <p:spPr>
          <a:xfrm>
            <a:off x="640080" y="1920240"/>
            <a:ext cx="73152" cy="685800"/>
          </a:xfrm>
          <a:prstGeom prst="rect">
            <a:avLst/>
          </a:prstGeom>
          <a:solidFill>
            <a:srgbClr val="F09042"/>
          </a:solidFill>
          <a:ln/>
        </p:spPr>
      </p:sp>
      <p:sp>
        <p:nvSpPr>
          <p:cNvPr id="8" name="Text 6"/>
          <p:cNvSpPr/>
          <p:nvPr/>
        </p:nvSpPr>
        <p:spPr>
          <a:xfrm>
            <a:off x="914400" y="201168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Formuler H₀ et H₁ avant tout — par écrit, pas dans ta tête.</a:t>
            </a:r>
            <a:endParaRPr lang="en-US" sz="1300" dirty="0"/>
          </a:p>
        </p:txBody>
      </p:sp>
      <p:sp>
        <p:nvSpPr>
          <p:cNvPr id="9" name="Text 7"/>
          <p:cNvSpPr/>
          <p:nvPr/>
        </p:nvSpPr>
        <p:spPr>
          <a:xfrm>
            <a:off x="914400" y="230428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C'est l'étape que les jurys aiment vérifier en premier.</a:t>
            </a:r>
            <a:endParaRPr lang="en-US" sz="1100" dirty="0"/>
          </a:p>
        </p:txBody>
      </p:sp>
      <p:sp>
        <p:nvSpPr>
          <p:cNvPr id="10" name="Shape 8"/>
          <p:cNvSpPr/>
          <p:nvPr/>
        </p:nvSpPr>
        <p:spPr>
          <a:xfrm>
            <a:off x="640080" y="2651760"/>
            <a:ext cx="11091672" cy="685800"/>
          </a:xfrm>
          <a:prstGeom prst="roundRect">
            <a:avLst>
              <a:gd name="adj" fmla="val 8000"/>
            </a:avLst>
          </a:prstGeom>
          <a:solidFill>
            <a:srgbClr val="FFFFFF"/>
          </a:solidFill>
          <a:ln w="9525">
            <a:solidFill>
              <a:srgbClr val="D6CFB8"/>
            </a:solidFill>
            <a:prstDash val="solid"/>
          </a:ln>
        </p:spPr>
      </p:sp>
      <p:sp>
        <p:nvSpPr>
          <p:cNvPr id="11" name="Shape 9"/>
          <p:cNvSpPr/>
          <p:nvPr/>
        </p:nvSpPr>
        <p:spPr>
          <a:xfrm>
            <a:off x="640080" y="2651760"/>
            <a:ext cx="73152" cy="685800"/>
          </a:xfrm>
          <a:prstGeom prst="rect">
            <a:avLst/>
          </a:prstGeom>
          <a:solidFill>
            <a:srgbClr val="F09042"/>
          </a:solidFill>
          <a:ln/>
        </p:spPr>
      </p:sp>
      <p:sp>
        <p:nvSpPr>
          <p:cNvPr id="12" name="Text 10"/>
          <p:cNvSpPr/>
          <p:nvPr/>
        </p:nvSpPr>
        <p:spPr>
          <a:xfrm>
            <a:off x="914400" y="274320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Bilatéral par défaut. Unilatéral seulement si justifié, déclaré ex ante.</a:t>
            </a:r>
            <a:endParaRPr lang="en-US" sz="1300" dirty="0"/>
          </a:p>
        </p:txBody>
      </p:sp>
      <p:sp>
        <p:nvSpPr>
          <p:cNvPr id="13" name="Text 11"/>
          <p:cNvSpPr/>
          <p:nvPr/>
        </p:nvSpPr>
        <p:spPr>
          <a:xfrm>
            <a:off x="914400" y="303580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 changement de direction en cours de route, ça se voit immédiatement.</a:t>
            </a:r>
            <a:endParaRPr lang="en-US" sz="1100" dirty="0"/>
          </a:p>
        </p:txBody>
      </p:sp>
      <p:sp>
        <p:nvSpPr>
          <p:cNvPr id="14" name="Shape 12"/>
          <p:cNvSpPr/>
          <p:nvPr/>
        </p:nvSpPr>
        <p:spPr>
          <a:xfrm>
            <a:off x="640080" y="3383280"/>
            <a:ext cx="11091672" cy="685800"/>
          </a:xfrm>
          <a:prstGeom prst="roundRect">
            <a:avLst>
              <a:gd name="adj" fmla="val 8000"/>
            </a:avLst>
          </a:prstGeom>
          <a:solidFill>
            <a:srgbClr val="FFFFFF"/>
          </a:solidFill>
          <a:ln w="9525">
            <a:solidFill>
              <a:srgbClr val="D6CFB8"/>
            </a:solidFill>
            <a:prstDash val="solid"/>
          </a:ln>
        </p:spPr>
      </p:sp>
      <p:sp>
        <p:nvSpPr>
          <p:cNvPr id="15" name="Shape 13"/>
          <p:cNvSpPr/>
          <p:nvPr/>
        </p:nvSpPr>
        <p:spPr>
          <a:xfrm>
            <a:off x="640080" y="3383280"/>
            <a:ext cx="73152" cy="685800"/>
          </a:xfrm>
          <a:prstGeom prst="rect">
            <a:avLst/>
          </a:prstGeom>
          <a:solidFill>
            <a:srgbClr val="F09042"/>
          </a:solidFill>
          <a:ln/>
        </p:spPr>
      </p:sp>
      <p:sp>
        <p:nvSpPr>
          <p:cNvPr id="16" name="Text 14"/>
          <p:cNvSpPr/>
          <p:nvPr/>
        </p:nvSpPr>
        <p:spPr>
          <a:xfrm>
            <a:off x="914400" y="347472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Vérifier les hypothèses du test avant de l'appliquer.</a:t>
            </a:r>
            <a:endParaRPr lang="en-US" sz="1300" dirty="0"/>
          </a:p>
        </p:txBody>
      </p:sp>
      <p:sp>
        <p:nvSpPr>
          <p:cNvPr id="17" name="Text 15"/>
          <p:cNvSpPr/>
          <p:nvPr/>
        </p:nvSpPr>
        <p:spPr>
          <a:xfrm>
            <a:off x="914400" y="376732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Normalité + variances. C'est la base. C'est aussi ce qu'un jury sonde.</a:t>
            </a:r>
            <a:endParaRPr lang="en-US" sz="1100" dirty="0"/>
          </a:p>
        </p:txBody>
      </p:sp>
      <p:sp>
        <p:nvSpPr>
          <p:cNvPr id="18" name="Shape 16"/>
          <p:cNvSpPr/>
          <p:nvPr/>
        </p:nvSpPr>
        <p:spPr>
          <a:xfrm>
            <a:off x="640080" y="4114800"/>
            <a:ext cx="11091672" cy="685800"/>
          </a:xfrm>
          <a:prstGeom prst="roundRect">
            <a:avLst>
              <a:gd name="adj" fmla="val 8000"/>
            </a:avLst>
          </a:prstGeom>
          <a:solidFill>
            <a:srgbClr val="FFFFFF"/>
          </a:solidFill>
          <a:ln w="9525">
            <a:solidFill>
              <a:srgbClr val="D6CFB8"/>
            </a:solidFill>
            <a:prstDash val="solid"/>
          </a:ln>
        </p:spPr>
      </p:sp>
      <p:sp>
        <p:nvSpPr>
          <p:cNvPr id="19" name="Shape 17"/>
          <p:cNvSpPr/>
          <p:nvPr/>
        </p:nvSpPr>
        <p:spPr>
          <a:xfrm>
            <a:off x="640080" y="4114800"/>
            <a:ext cx="73152" cy="685800"/>
          </a:xfrm>
          <a:prstGeom prst="rect">
            <a:avLst/>
          </a:prstGeom>
          <a:solidFill>
            <a:srgbClr val="F09042"/>
          </a:solidFill>
          <a:ln/>
        </p:spPr>
      </p:sp>
      <p:sp>
        <p:nvSpPr>
          <p:cNvPr id="20" name="Text 18"/>
          <p:cNvSpPr/>
          <p:nvPr/>
        </p:nvSpPr>
        <p:spPr>
          <a:xfrm>
            <a:off x="914400" y="420624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Rapporter taille d'effet + IC95% + p-value. Toujours les trois.</a:t>
            </a:r>
            <a:endParaRPr lang="en-US" sz="1300" dirty="0"/>
          </a:p>
        </p:txBody>
      </p:sp>
      <p:sp>
        <p:nvSpPr>
          <p:cNvPr id="21" name="Text 19"/>
          <p:cNvSpPr/>
          <p:nvPr/>
        </p:nvSpPr>
        <p:spPr>
          <a:xfrm>
            <a:off x="914400" y="449884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Une p-value seule te fragilise. Les trois ensemble te blindent.</a:t>
            </a:r>
            <a:endParaRPr lang="en-US" sz="1100" dirty="0"/>
          </a:p>
        </p:txBody>
      </p:sp>
      <p:sp>
        <p:nvSpPr>
          <p:cNvPr id="22" name="Shape 20"/>
          <p:cNvSpPr/>
          <p:nvPr/>
        </p:nvSpPr>
        <p:spPr>
          <a:xfrm>
            <a:off x="640080" y="4846320"/>
            <a:ext cx="11091672" cy="685800"/>
          </a:xfrm>
          <a:prstGeom prst="roundRect">
            <a:avLst>
              <a:gd name="adj" fmla="val 8000"/>
            </a:avLst>
          </a:prstGeom>
          <a:solidFill>
            <a:srgbClr val="FFFFFF"/>
          </a:solidFill>
          <a:ln w="9525">
            <a:solidFill>
              <a:srgbClr val="D6CFB8"/>
            </a:solidFill>
            <a:prstDash val="solid"/>
          </a:ln>
        </p:spPr>
      </p:sp>
      <p:sp>
        <p:nvSpPr>
          <p:cNvPr id="23" name="Shape 21"/>
          <p:cNvSpPr/>
          <p:nvPr/>
        </p:nvSpPr>
        <p:spPr>
          <a:xfrm>
            <a:off x="640080" y="4846320"/>
            <a:ext cx="73152" cy="685800"/>
          </a:xfrm>
          <a:prstGeom prst="rect">
            <a:avLst/>
          </a:prstGeom>
          <a:solidFill>
            <a:srgbClr val="F09042"/>
          </a:solidFill>
          <a:ln/>
        </p:spPr>
      </p:sp>
      <p:sp>
        <p:nvSpPr>
          <p:cNvPr id="24" name="Text 22"/>
          <p:cNvSpPr/>
          <p:nvPr/>
        </p:nvSpPr>
        <p:spPr>
          <a:xfrm>
            <a:off x="914400" y="493776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Corriger pour les comparaisons multiples au-delà de 3-4 tests.</a:t>
            </a:r>
            <a:endParaRPr lang="en-US" sz="1300" dirty="0"/>
          </a:p>
        </p:txBody>
      </p:sp>
      <p:sp>
        <p:nvSpPr>
          <p:cNvPr id="25" name="Text 23"/>
          <p:cNvSpPr/>
          <p:nvPr/>
        </p:nvSpPr>
        <p:spPr>
          <a:xfrm>
            <a:off x="914400" y="523036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Sinon tu pêches dans tes données. Le jury va te le rappeler.</a:t>
            </a:r>
            <a:endParaRPr lang="en-US" sz="1100" dirty="0"/>
          </a:p>
        </p:txBody>
      </p:sp>
      <p:sp>
        <p:nvSpPr>
          <p:cNvPr id="26" name="Shape 24"/>
          <p:cNvSpPr/>
          <p:nvPr/>
        </p:nvSpPr>
        <p:spPr>
          <a:xfrm>
            <a:off x="640080" y="5577840"/>
            <a:ext cx="11091672" cy="685800"/>
          </a:xfrm>
          <a:prstGeom prst="roundRect">
            <a:avLst>
              <a:gd name="adj" fmla="val 8000"/>
            </a:avLst>
          </a:prstGeom>
          <a:solidFill>
            <a:srgbClr val="FFFFFF"/>
          </a:solidFill>
          <a:ln w="9525">
            <a:solidFill>
              <a:srgbClr val="D6CFB8"/>
            </a:solidFill>
            <a:prstDash val="solid"/>
          </a:ln>
        </p:spPr>
      </p:sp>
      <p:sp>
        <p:nvSpPr>
          <p:cNvPr id="27" name="Shape 25"/>
          <p:cNvSpPr/>
          <p:nvPr/>
        </p:nvSpPr>
        <p:spPr>
          <a:xfrm>
            <a:off x="640080" y="5577840"/>
            <a:ext cx="73152" cy="685800"/>
          </a:xfrm>
          <a:prstGeom prst="rect">
            <a:avLst/>
          </a:prstGeom>
          <a:solidFill>
            <a:srgbClr val="F09042"/>
          </a:solidFill>
          <a:ln/>
        </p:spPr>
      </p:sp>
      <p:sp>
        <p:nvSpPr>
          <p:cNvPr id="28" name="Text 26"/>
          <p:cNvSpPr/>
          <p:nvPr/>
        </p:nvSpPr>
        <p:spPr>
          <a:xfrm>
            <a:off x="914400" y="566928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Documenter chaque choix méthodologique dans la rédaction.</a:t>
            </a:r>
            <a:endParaRPr lang="en-US" sz="1300" dirty="0"/>
          </a:p>
        </p:txBody>
      </p:sp>
      <p:sp>
        <p:nvSpPr>
          <p:cNvPr id="29" name="Text 27"/>
          <p:cNvSpPr/>
          <p:nvPr/>
        </p:nvSpPr>
        <p:spPr>
          <a:xfrm>
            <a:off x="914400" y="596188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Une méthode lisible = un jury rassuré = des questions plus faciles.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729"/>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 / 15</a:t>
            </a:r>
            <a:endParaRPr lang="en-US" sz="900" dirty="0"/>
          </a:p>
        </p:txBody>
      </p:sp>
      <p:sp>
        <p:nvSpPr>
          <p:cNvPr id="4" name="Shape 2"/>
          <p:cNvSpPr/>
          <p:nvPr/>
        </p:nvSpPr>
        <p:spPr>
          <a:xfrm>
            <a:off x="7315200" y="2743200"/>
            <a:ext cx="7315200" cy="7315200"/>
          </a:xfrm>
          <a:prstGeom prst="ellipse">
            <a:avLst/>
          </a:prstGeom>
          <a:solidFill>
            <a:srgbClr val="F09042">
              <a:alpha val="12000"/>
            </a:srgbClr>
          </a:solidFill>
          <a:ln/>
        </p:spPr>
      </p:sp>
      <p:pic>
        <p:nvPicPr>
          <p:cNvPr id="5" name="Image 0" descr="E:\Projets\heaven-elijah-site\public\logo-picto.png">    </p:cNvPr>
          <p:cNvPicPr>
            <a:picLocks noChangeAspect="1"/>
          </p:cNvPicPr>
          <p:nvPr/>
        </p:nvPicPr>
        <p:blipFill>
          <a:blip r:embed="rId1">
            <a:alphaModFix amt="75000"/>
          </a:blip>
          <a:stretch>
            <a:fillRect/>
          </a:stretch>
        </p:blipFill>
        <p:spPr>
          <a:xfrm>
            <a:off x="10424160" y="274320"/>
            <a:ext cx="1371600" cy="1371600"/>
          </a:xfrm>
          <a:prstGeom prst="rect">
            <a:avLst/>
          </a:prstGeom>
        </p:spPr>
      </p:pic>
      <p:sp>
        <p:nvSpPr>
          <p:cNvPr id="6" name="Text 3"/>
          <p:cNvSpPr/>
          <p:nvPr/>
        </p:nvSpPr>
        <p:spPr>
          <a:xfrm>
            <a:off x="640080" y="640080"/>
            <a:ext cx="5486400" cy="365760"/>
          </a:xfrm>
          <a:prstGeom prst="rect">
            <a:avLst/>
          </a:prstGeom>
          <a:noFill/>
          <a:ln/>
        </p:spPr>
        <p:txBody>
          <a:bodyPr wrap="square" rtlCol="0" anchor="ctr"/>
          <a:lstStyle/>
          <a:p>
            <a:pPr indent="0" marL="0">
              <a:buNone/>
            </a:pPr>
            <a:r>
              <a:rPr lang="en-US" sz="1300" b="1" spc="500" kern="0" dirty="0">
                <a:solidFill>
                  <a:srgbClr val="F09042"/>
                </a:solidFill>
                <a:latin typeface="Calibri" pitchFamily="34" charset="0"/>
                <a:ea typeface="Calibri" pitchFamily="34" charset="-122"/>
                <a:cs typeface="Calibri" pitchFamily="34" charset="-120"/>
              </a:rPr>
              <a:t>— LA SUITE</a:t>
            </a:r>
            <a:endParaRPr lang="en-US" sz="1300" dirty="0"/>
          </a:p>
        </p:txBody>
      </p:sp>
      <p:sp>
        <p:nvSpPr>
          <p:cNvPr id="7" name="Text 4"/>
          <p:cNvSpPr/>
          <p:nvPr/>
        </p:nvSpPr>
        <p:spPr>
          <a:xfrm>
            <a:off x="640080" y="1371600"/>
            <a:ext cx="10972800" cy="2194560"/>
          </a:xfrm>
          <a:prstGeom prst="rect">
            <a:avLst/>
          </a:prstGeom>
          <a:noFill/>
          <a:ln/>
        </p:spPr>
        <p:txBody>
          <a:bodyPr wrap="square" rtlCol="0" anchor="ctr"/>
          <a:lstStyle/>
          <a:p>
            <a:pPr indent="0" marL="0">
              <a:lnSpc>
                <a:spcPct val="105000"/>
              </a:lnSpc>
              <a:buNone/>
            </a:pPr>
            <a:r>
              <a:rPr lang="en-US" sz="4000" b="1" spc="-100" kern="0" dirty="0">
                <a:solidFill>
                  <a:srgbClr val="FFFFFF"/>
                </a:solidFill>
                <a:latin typeface="Calibri" pitchFamily="34" charset="0"/>
                <a:ea typeface="Calibri" pitchFamily="34" charset="-122"/>
                <a:cs typeface="Calibri" pitchFamily="34" charset="-120"/>
              </a:rPr>
              <a:t>Tu as les fondations.</a:t>
            </a:r>
            <a:endParaRPr lang="en-US" sz="4000" dirty="0"/>
          </a:p>
          <a:p>
            <a:pPr indent="0" marL="0">
              <a:lnSpc>
                <a:spcPct val="105000"/>
              </a:lnSpc>
              <a:buNone/>
            </a:pPr>
            <a:r>
              <a:rPr lang="en-US" sz="4000" b="1" spc="-100" kern="0" dirty="0">
                <a:solidFill>
                  <a:srgbClr val="FFFFFF"/>
                </a:solidFill>
                <a:latin typeface="Calibri" pitchFamily="34" charset="0"/>
                <a:ea typeface="Calibri" pitchFamily="34" charset="-122"/>
                <a:cs typeface="Calibri" pitchFamily="34" charset="-120"/>
              </a:rPr>
              <a:t>Maintenant, place aux tests.</a:t>
            </a:r>
            <a:endParaRPr lang="en-US" sz="4000" dirty="0"/>
          </a:p>
        </p:txBody>
      </p:sp>
      <p:sp>
        <p:nvSpPr>
          <p:cNvPr id="8" name="Text 5"/>
          <p:cNvSpPr/>
          <p:nvPr/>
        </p:nvSpPr>
        <p:spPr>
          <a:xfrm>
            <a:off x="640080" y="3474720"/>
            <a:ext cx="10972800" cy="1554480"/>
          </a:xfrm>
          <a:prstGeom prst="rect">
            <a:avLst/>
          </a:prstGeom>
          <a:noFill/>
          <a:ln/>
        </p:spPr>
        <p:txBody>
          <a:bodyPr wrap="square" rtlCol="0" anchor="ctr"/>
          <a:lstStyle/>
          <a:p>
            <a:pPr indent="0" marL="0">
              <a:lnSpc>
                <a:spcPct val="140000"/>
              </a:lnSpc>
              <a:buNone/>
            </a:pPr>
            <a:r>
              <a:rPr lang="en-US" sz="1400" i="1" dirty="0">
                <a:solidFill>
                  <a:srgbClr val="C9CFDC"/>
                </a:solidFill>
                <a:latin typeface="Calibri" pitchFamily="34" charset="0"/>
                <a:ea typeface="Calibri" pitchFamily="34" charset="-122"/>
                <a:cs typeface="Calibri" pitchFamily="34" charset="-120"/>
              </a:rPr>
              <a:t>Le Module 2 entre dans le détail des comparaisons : t-test, ANOVA, Mann-Whitney, Chi², McNemar, Fisher — quand, comment, comment lire la sortie, et ce que le jury va creuser.</a:t>
            </a:r>
            <a:endParaRPr lang="en-US" sz="1400" dirty="0"/>
          </a:p>
          <a:p>
            <a:pPr indent="0" marL="0">
              <a:lnSpc>
                <a:spcPct val="140000"/>
              </a:lnSpc>
              <a:buNone/>
            </a:pPr>
            <a:endParaRPr lang="en-US" sz="1400" dirty="0"/>
          </a:p>
          <a:p>
            <a:pPr indent="0" marL="0">
              <a:lnSpc>
                <a:spcPct val="140000"/>
              </a:lnSpc>
              <a:buNone/>
            </a:pPr>
            <a:r>
              <a:rPr lang="en-US" sz="1400" i="1" dirty="0">
                <a:solidFill>
                  <a:srgbClr val="C9CFDC"/>
                </a:solidFill>
                <a:latin typeface="Calibri" pitchFamily="34" charset="0"/>
                <a:ea typeface="Calibri" pitchFamily="34" charset="-122"/>
                <a:cs typeface="Calibri" pitchFamily="34" charset="-120"/>
              </a:rPr>
              <a:t>En attendant, si tu veux qu'on regarde ta méthodo sur ton projet réel : 15 minutes de diagnostic, sans engagement.</a:t>
            </a:r>
            <a:endParaRPr lang="en-US" sz="1400" dirty="0"/>
          </a:p>
        </p:txBody>
      </p:sp>
      <p:sp>
        <p:nvSpPr>
          <p:cNvPr id="9" name="Shape 6"/>
          <p:cNvSpPr/>
          <p:nvPr/>
        </p:nvSpPr>
        <p:spPr>
          <a:xfrm>
            <a:off x="640080" y="5166360"/>
            <a:ext cx="5303520" cy="1005840"/>
          </a:xfrm>
          <a:prstGeom prst="roundRect">
            <a:avLst>
              <a:gd name="adj" fmla="val 9091"/>
            </a:avLst>
          </a:prstGeom>
          <a:solidFill>
            <a:srgbClr val="25D366"/>
          </a:solidFill>
          <a:ln/>
        </p:spPr>
      </p:sp>
      <p:sp>
        <p:nvSpPr>
          <p:cNvPr id="10" name="Text 7"/>
          <p:cNvSpPr/>
          <p:nvPr/>
        </p:nvSpPr>
        <p:spPr>
          <a:xfrm>
            <a:off x="822960" y="5230368"/>
            <a:ext cx="4937760" cy="365760"/>
          </a:xfrm>
          <a:prstGeom prst="rect">
            <a:avLst/>
          </a:prstGeom>
          <a:noFill/>
          <a:ln/>
        </p:spPr>
        <p:txBody>
          <a:bodyPr wrap="square" rtlCol="0" anchor="ctr"/>
          <a:lstStyle/>
          <a:p>
            <a:pPr indent="0" marL="0">
              <a:buNone/>
            </a:pPr>
            <a:r>
              <a:rPr lang="en-US" sz="1200" b="1" spc="200" kern="0" dirty="0">
                <a:solidFill>
                  <a:srgbClr val="FFFFFF"/>
                </a:solidFill>
                <a:latin typeface="Calibri" pitchFamily="34" charset="0"/>
                <a:ea typeface="Calibri" pitchFamily="34" charset="-122"/>
                <a:cs typeface="Calibri" pitchFamily="34" charset="-120"/>
              </a:rPr>
              <a:t>WhatsApp direct</a:t>
            </a:r>
            <a:endParaRPr lang="en-US" sz="1200" dirty="0"/>
          </a:p>
        </p:txBody>
      </p:sp>
      <p:sp>
        <p:nvSpPr>
          <p:cNvPr id="11" name="Text 8"/>
          <p:cNvSpPr/>
          <p:nvPr/>
        </p:nvSpPr>
        <p:spPr>
          <a:xfrm>
            <a:off x="822960" y="5577840"/>
            <a:ext cx="4937760" cy="502920"/>
          </a:xfrm>
          <a:prstGeom prst="rect">
            <a:avLst/>
          </a:prstGeom>
          <a:noFill/>
          <a:ln/>
        </p:spPr>
        <p:txBody>
          <a:bodyPr wrap="square" rtlCol="0" anchor="ctr"/>
          <a:lstStyle/>
          <a:p>
            <a:pPr indent="0" marL="0">
              <a:buNone/>
            </a:pPr>
            <a:r>
              <a:rPr lang="en-US" sz="2000" b="1" dirty="0">
                <a:solidFill>
                  <a:srgbClr val="FFFFFF"/>
                </a:solidFill>
                <a:latin typeface="Consolas" pitchFamily="34" charset="0"/>
                <a:ea typeface="Consolas" pitchFamily="34" charset="-122"/>
                <a:cs typeface="Consolas" pitchFamily="34" charset="-120"/>
              </a:rPr>
              <a:t>+221 76 387 34 28</a:t>
            </a:r>
            <a:endParaRPr lang="en-US" sz="2000" dirty="0"/>
          </a:p>
        </p:txBody>
      </p:sp>
      <p:sp>
        <p:nvSpPr>
          <p:cNvPr id="12" name="Shape 9"/>
          <p:cNvSpPr/>
          <p:nvPr/>
        </p:nvSpPr>
        <p:spPr>
          <a:xfrm>
            <a:off x="6309360" y="5166360"/>
            <a:ext cx="5422392" cy="1005840"/>
          </a:xfrm>
          <a:prstGeom prst="roundRect">
            <a:avLst>
              <a:gd name="adj" fmla="val 9091"/>
            </a:avLst>
          </a:prstGeom>
          <a:solidFill>
            <a:srgbClr val="F09042"/>
          </a:solidFill>
          <a:ln/>
        </p:spPr>
      </p:sp>
      <p:sp>
        <p:nvSpPr>
          <p:cNvPr id="13" name="Text 10"/>
          <p:cNvSpPr/>
          <p:nvPr/>
        </p:nvSpPr>
        <p:spPr>
          <a:xfrm>
            <a:off x="6492240" y="5230368"/>
            <a:ext cx="5029200" cy="365760"/>
          </a:xfrm>
          <a:prstGeom prst="rect">
            <a:avLst/>
          </a:prstGeom>
          <a:noFill/>
          <a:ln/>
        </p:spPr>
        <p:txBody>
          <a:bodyPr wrap="square" rtlCol="0" anchor="ctr"/>
          <a:lstStyle/>
          <a:p>
            <a:pPr indent="0" marL="0">
              <a:buNone/>
            </a:pPr>
            <a:r>
              <a:rPr lang="en-US" sz="1200" b="1" spc="200" kern="0" dirty="0">
                <a:solidFill>
                  <a:srgbClr val="0E1729"/>
                </a:solidFill>
                <a:latin typeface="Calibri" pitchFamily="34" charset="0"/>
                <a:ea typeface="Calibri" pitchFamily="34" charset="-122"/>
                <a:cs typeface="Calibri" pitchFamily="34" charset="-120"/>
              </a:rPr>
              <a:t>Site web HES</a:t>
            </a:r>
            <a:endParaRPr lang="en-US" sz="1200" dirty="0"/>
          </a:p>
        </p:txBody>
      </p:sp>
      <p:sp>
        <p:nvSpPr>
          <p:cNvPr id="14" name="Text 11"/>
          <p:cNvSpPr/>
          <p:nvPr/>
        </p:nvSpPr>
        <p:spPr>
          <a:xfrm>
            <a:off x="6492240" y="5577840"/>
            <a:ext cx="5029200" cy="502920"/>
          </a:xfrm>
          <a:prstGeom prst="rect">
            <a:avLst/>
          </a:prstGeom>
          <a:noFill/>
          <a:ln/>
        </p:spPr>
        <p:txBody>
          <a:bodyPr wrap="square" rtlCol="0" anchor="ctr"/>
          <a:lstStyle/>
          <a:p>
            <a:pPr indent="0" marL="0">
              <a:buNone/>
            </a:pPr>
            <a:r>
              <a:rPr lang="en-US" sz="1800" b="1" dirty="0">
                <a:solidFill>
                  <a:srgbClr val="0E1729"/>
                </a:solidFill>
                <a:latin typeface="Consolas" pitchFamily="34" charset="0"/>
                <a:ea typeface="Consolas" pitchFamily="34" charset="-122"/>
                <a:cs typeface="Consolas" pitchFamily="34" charset="-120"/>
              </a:rPr>
              <a:t>heavenelijahservice.org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Heaven Elijah Service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Avant le test, la méthode — Module 1</dc:title>
  <dc:subject>Formation HES — Biostatistique</dc:subject>
  <dc:creator>Heaven Elijah Service</dc:creator>
  <cp:lastModifiedBy>Heaven Elijah Service</cp:lastModifiedBy>
  <cp:revision>1</cp:revision>
  <dcterms:created xsi:type="dcterms:W3CDTF">2026-05-14T19:39:35Z</dcterms:created>
  <dcterms:modified xsi:type="dcterms:W3CDTF">2026-05-14T19:39:35Z</dcterms:modified>
</cp:coreProperties>
</file>