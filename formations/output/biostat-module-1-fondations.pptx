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729"/>
        </a:solidFill>
      </p:bgPr>
    </p:bg>
    <p:spTree>
      <p:nvGrpSpPr>
        <p:cNvPr id="1" name=""/>
        <p:cNvGrpSpPr/>
        <p:nvPr/>
      </p:nvGrpSpPr>
      <p:grpSpPr>
        <a:xfrm>
          <a:off x="0" y="0"/>
          <a:ext cx="0" cy="0"/>
          <a:chOff x="0" y="0"/>
          <a:chExt cx="0" cy="0"/>
        </a:xfrm>
      </p:grpSpPr>
      <p:sp>
        <p:nvSpPr>
          <p:cNvPr id="2" name="Shape 0"/>
          <p:cNvSpPr/>
          <p:nvPr/>
        </p:nvSpPr>
        <p:spPr>
          <a:xfrm>
            <a:off x="8229600" y="-1828800"/>
            <a:ext cx="5486400" cy="5486400"/>
          </a:xfrm>
          <a:prstGeom prst="ellipse">
            <a:avLst/>
          </a:prstGeom>
          <a:solidFill>
            <a:srgbClr val="F09042">
              <a:alpha val="12000"/>
            </a:srgbClr>
          </a:solidFill>
          <a:ln/>
        </p:spPr>
      </p:sp>
      <p:pic>
        <p:nvPicPr>
          <p:cNvPr id="3" name="Image 0" descr="E:\Projets\heaven-elijah-site\public\logo-picto.png">    </p:cNvPr>
          <p:cNvPicPr>
            <a:picLocks noChangeAspect="1"/>
          </p:cNvPicPr>
          <p:nvPr/>
        </p:nvPicPr>
        <p:blipFill>
          <a:blip r:embed="rId1">
            <a:alphaModFix amt="70000"/>
          </a:blip>
          <a:stretch>
            <a:fillRect/>
          </a:stretch>
        </p:blipFill>
        <p:spPr>
          <a:xfrm>
            <a:off x="10515600" y="5303520"/>
            <a:ext cx="1188720" cy="1188720"/>
          </a:xfrm>
          <a:prstGeom prst="rect">
            <a:avLst/>
          </a:prstGeom>
        </p:spPr>
      </p:pic>
      <p:sp>
        <p:nvSpPr>
          <p:cNvPr id="4" name="Text 1"/>
          <p:cNvSpPr/>
          <p:nvPr/>
        </p:nvSpPr>
        <p:spPr>
          <a:xfrm>
            <a:off x="640080" y="640080"/>
            <a:ext cx="8229600" cy="365760"/>
          </a:xfrm>
          <a:prstGeom prst="rect">
            <a:avLst/>
          </a:prstGeom>
          <a:noFill/>
          <a:ln/>
        </p:spPr>
        <p:txBody>
          <a:bodyPr wrap="square" rtlCol="0" anchor="ctr"/>
          <a:lstStyle/>
          <a:p>
            <a:pPr indent="0" marL="0">
              <a:buNone/>
            </a:pPr>
            <a:r>
              <a:rPr lang="en-US" sz="1300" b="1" spc="500" kern="0" dirty="0">
                <a:solidFill>
                  <a:srgbClr val="F09042"/>
                </a:solidFill>
                <a:latin typeface="Calibri" pitchFamily="34" charset="0"/>
                <a:ea typeface="Calibri" pitchFamily="34" charset="-122"/>
                <a:cs typeface="Calibri" pitchFamily="34" charset="-120"/>
              </a:rPr>
              <a:t>— FORMATION HES · BIOSTAT · MODULE 1</a:t>
            </a:r>
            <a:endParaRPr lang="en-US" sz="1300" dirty="0"/>
          </a:p>
        </p:txBody>
      </p:sp>
      <p:sp>
        <p:nvSpPr>
          <p:cNvPr id="5" name="Text 2"/>
          <p:cNvSpPr/>
          <p:nvPr/>
        </p:nvSpPr>
        <p:spPr>
          <a:xfrm>
            <a:off x="640080" y="1737360"/>
            <a:ext cx="10972800" cy="2560320"/>
          </a:xfrm>
          <a:prstGeom prst="rect">
            <a:avLst/>
          </a:prstGeom>
          <a:noFill/>
          <a:ln/>
        </p:spPr>
        <p:txBody>
          <a:bodyPr wrap="square" rtlCol="0" anchor="ctr"/>
          <a:lstStyle/>
          <a:p>
            <a:pPr indent="0" marL="0">
              <a:lnSpc>
                <a:spcPct val="100000"/>
              </a:lnSpc>
              <a:buNone/>
            </a:pPr>
            <a:r>
              <a:rPr lang="en-US" sz="6200" b="1" spc="-200" kern="0" dirty="0">
                <a:solidFill>
                  <a:srgbClr val="FFFFFF"/>
                </a:solidFill>
                <a:latin typeface="Calibri" pitchFamily="34" charset="0"/>
                <a:ea typeface="Calibri" pitchFamily="34" charset="-122"/>
                <a:cs typeface="Calibri" pitchFamily="34" charset="-120"/>
              </a:rPr>
              <a:t>Avant le test,</a:t>
            </a:r>
            <a:endParaRPr lang="en-US" sz="6200" dirty="0"/>
          </a:p>
          <a:p>
            <a:pPr indent="0" marL="0">
              <a:lnSpc>
                <a:spcPct val="100000"/>
              </a:lnSpc>
              <a:buNone/>
            </a:pPr>
            <a:r>
              <a:rPr lang="en-US" sz="6200" b="1" spc="-200" kern="0" dirty="0">
                <a:solidFill>
                  <a:srgbClr val="FFFFFF"/>
                </a:solidFill>
                <a:latin typeface="Calibri" pitchFamily="34" charset="0"/>
                <a:ea typeface="Calibri" pitchFamily="34" charset="-122"/>
                <a:cs typeface="Calibri" pitchFamily="34" charset="-120"/>
              </a:rPr>
              <a:t>la méthode.</a:t>
            </a:r>
            <a:endParaRPr lang="en-US" sz="6200" dirty="0"/>
          </a:p>
        </p:txBody>
      </p:sp>
      <p:sp>
        <p:nvSpPr>
          <p:cNvPr id="6" name="Shape 3"/>
          <p:cNvSpPr/>
          <p:nvPr/>
        </p:nvSpPr>
        <p:spPr>
          <a:xfrm>
            <a:off x="640080" y="4617720"/>
            <a:ext cx="1371600" cy="54864"/>
          </a:xfrm>
          <a:prstGeom prst="rect">
            <a:avLst/>
          </a:prstGeom>
          <a:solidFill>
            <a:srgbClr val="F09042"/>
          </a:solidFill>
          <a:ln/>
        </p:spPr>
      </p:sp>
      <p:sp>
        <p:nvSpPr>
          <p:cNvPr id="7" name="Text 4"/>
          <p:cNvSpPr/>
          <p:nvPr/>
        </p:nvSpPr>
        <p:spPr>
          <a:xfrm>
            <a:off x="640080" y="4800600"/>
            <a:ext cx="10058400" cy="548640"/>
          </a:xfrm>
          <a:prstGeom prst="rect">
            <a:avLst/>
          </a:prstGeom>
          <a:noFill/>
          <a:ln/>
        </p:spPr>
        <p:txBody>
          <a:bodyPr wrap="square" rtlCol="0" anchor="ctr"/>
          <a:lstStyle/>
          <a:p>
            <a:pPr indent="0" marL="0">
              <a:buNone/>
            </a:pPr>
            <a:r>
              <a:rPr lang="en-US" sz="2200" i="1" dirty="0">
                <a:solidFill>
                  <a:srgbClr val="C9CFDC"/>
                </a:solidFill>
                <a:latin typeface="Calibri" pitchFamily="34" charset="0"/>
                <a:ea typeface="Calibri" pitchFamily="34" charset="-122"/>
                <a:cs typeface="Calibri" pitchFamily="34" charset="-120"/>
              </a:rPr>
              <a:t>Six concepts que ton jury va sonder en soutenance.</a:t>
            </a:r>
            <a:endParaRPr lang="en-US" sz="2200" dirty="0"/>
          </a:p>
        </p:txBody>
      </p:sp>
      <p:sp>
        <p:nvSpPr>
          <p:cNvPr id="8" name="Text 5"/>
          <p:cNvSpPr/>
          <p:nvPr/>
        </p:nvSpPr>
        <p:spPr>
          <a:xfrm>
            <a:off x="640080" y="5943600"/>
            <a:ext cx="6400800" cy="274320"/>
          </a:xfrm>
          <a:prstGeom prst="rect">
            <a:avLst/>
          </a:prstGeom>
          <a:noFill/>
          <a:ln/>
        </p:spPr>
        <p:txBody>
          <a:bodyPr wrap="square" rtlCol="0" anchor="ctr"/>
          <a:lstStyle/>
          <a:p>
            <a:pPr indent="0" marL="0">
              <a:buNone/>
            </a:pPr>
            <a:r>
              <a:rPr lang="en-US" sz="1100" dirty="0">
                <a:solidFill>
                  <a:srgbClr val="F09042"/>
                </a:solidFill>
                <a:latin typeface="Consolas" pitchFamily="34" charset="0"/>
                <a:ea typeface="Consolas" pitchFamily="34" charset="-122"/>
                <a:cs typeface="Consolas" pitchFamily="34" charset="-120"/>
              </a:rPr>
              <a:t>15 slides · ~45 min · M2 et doctorants</a:t>
            </a:r>
            <a:endParaRPr lang="en-US" sz="1100" dirty="0"/>
          </a:p>
        </p:txBody>
      </p:sp>
      <p:sp>
        <p:nvSpPr>
          <p:cNvPr id="9" name="Text 6"/>
          <p:cNvSpPr/>
          <p:nvPr/>
        </p:nvSpPr>
        <p:spPr>
          <a:xfrm>
            <a:off x="5486400" y="5943600"/>
            <a:ext cx="6245352" cy="274320"/>
          </a:xfrm>
          <a:prstGeom prst="rect">
            <a:avLst/>
          </a:prstGeom>
          <a:noFill/>
          <a:ln/>
        </p:spPr>
        <p:txBody>
          <a:bodyPr wrap="square" rtlCol="0" anchor="ctr"/>
          <a:lstStyle/>
          <a:p>
            <a:pPr algn="r" indent="0" marL="0">
              <a:buNone/>
            </a:pPr>
            <a:r>
              <a:rPr lang="en-US" sz="1100" dirty="0">
                <a:solidFill>
                  <a:srgbClr val="C9CFDC"/>
                </a:solidFill>
                <a:latin typeface="Consolas" pitchFamily="34" charset="0"/>
                <a:ea typeface="Consolas" pitchFamily="34" charset="-122"/>
                <a:cs typeface="Consolas" pitchFamily="34" charset="-120"/>
              </a:rPr>
              <a:t>heavenelijahservice.org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POURQUOI CE MODULE EXISTE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3000" b="1" spc="-100" kern="0" dirty="0">
                <a:solidFill>
                  <a:srgbClr val="15233F"/>
                </a:solidFill>
                <a:latin typeface="Calibri" pitchFamily="34" charset="0"/>
                <a:ea typeface="Calibri" pitchFamily="34" charset="-122"/>
                <a:cs typeface="Calibri" pitchFamily="34" charset="-120"/>
              </a:rPr>
              <a:t>Ta méthode pèse plus lourd que tu ne penses.</a:t>
            </a:r>
            <a:endParaRPr lang="en-US" sz="3000" dirty="0"/>
          </a:p>
        </p:txBody>
      </p:sp>
      <p:sp>
        <p:nvSpPr>
          <p:cNvPr id="6" name="Text 4"/>
          <p:cNvSpPr/>
          <p:nvPr/>
        </p:nvSpPr>
        <p:spPr>
          <a:xfrm>
            <a:off x="640080" y="2011680"/>
            <a:ext cx="7040880" cy="1554480"/>
          </a:xfrm>
          <a:prstGeom prst="rect">
            <a:avLst/>
          </a:prstGeom>
          <a:noFill/>
          <a:ln/>
        </p:spPr>
        <p:txBody>
          <a:bodyPr wrap="square" rtlCol="0" anchor="t"/>
          <a:lstStyle/>
          <a:p>
            <a:pPr indent="0" marL="0">
              <a:lnSpc>
                <a:spcPct val="140000"/>
              </a:lnSpc>
              <a:buNone/>
            </a:pPr>
            <a:r>
              <a:rPr lang="en-US" sz="1500" dirty="0">
                <a:solidFill>
                  <a:srgbClr val="15233F"/>
                </a:solidFill>
                <a:latin typeface="Calibri" pitchFamily="34" charset="0"/>
                <a:ea typeface="Calibri" pitchFamily="34" charset="-122"/>
                <a:cs typeface="Calibri" pitchFamily="34" charset="-120"/>
              </a:rPr>
              <a:t>Quand un président de jury ouvre ton mémoire, il passe en général plus de temps sur tes pages méthodologie que sur tes résultats. C'est dans la méthode qu'il décide s'il peut faire confiance à tes chiffres.</a:t>
            </a:r>
            <a:endParaRPr lang="en-US" sz="1500" dirty="0"/>
          </a:p>
        </p:txBody>
      </p:sp>
      <p:sp>
        <p:nvSpPr>
          <p:cNvPr id="7" name="Text 5"/>
          <p:cNvSpPr/>
          <p:nvPr/>
        </p:nvSpPr>
        <p:spPr>
          <a:xfrm>
            <a:off x="640080" y="3703320"/>
            <a:ext cx="7040880" cy="18288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C'est aussi dans la méthode que la plupart des étudiants se mettent en difficulté — pas par manque de travail, mais parce qu'on leur a appris la statistique comme une boîte à outils ("Student dans ce cas, Mann-Whitney dans cet autre") sans leur expliquer ce qui se joue derrière.</a:t>
            </a:r>
            <a:endParaRPr lang="en-US" sz="1400" dirty="0"/>
          </a:p>
        </p:txBody>
      </p:sp>
      <p:sp>
        <p:nvSpPr>
          <p:cNvPr id="8" name="Shape 6"/>
          <p:cNvSpPr/>
          <p:nvPr/>
        </p:nvSpPr>
        <p:spPr>
          <a:xfrm>
            <a:off x="7955280" y="2011680"/>
            <a:ext cx="3794760" cy="4023360"/>
          </a:xfrm>
          <a:prstGeom prst="roundRect">
            <a:avLst>
              <a:gd name="adj" fmla="val 2410"/>
            </a:avLst>
          </a:prstGeom>
          <a:solidFill>
            <a:srgbClr val="0E1729"/>
          </a:solidFill>
          <a:ln/>
        </p:spPr>
      </p:sp>
      <p:sp>
        <p:nvSpPr>
          <p:cNvPr id="9" name="Text 7"/>
          <p:cNvSpPr/>
          <p:nvPr/>
        </p:nvSpPr>
        <p:spPr>
          <a:xfrm>
            <a:off x="8138160" y="2194560"/>
            <a:ext cx="3474720" cy="320040"/>
          </a:xfrm>
          <a:prstGeom prst="rect">
            <a:avLst/>
          </a:prstGeom>
          <a:noFill/>
          <a:ln/>
        </p:spPr>
        <p:txBody>
          <a:bodyPr wrap="square" rtlCol="0" anchor="ctr"/>
          <a:lstStyle/>
          <a:p>
            <a:pPr indent="0" marL="0">
              <a:buNone/>
            </a:pPr>
            <a:r>
              <a:rPr lang="en-US" sz="1100" b="1" spc="300" kern="0" dirty="0">
                <a:solidFill>
                  <a:srgbClr val="F09042"/>
                </a:solidFill>
                <a:latin typeface="Calibri" pitchFamily="34" charset="0"/>
                <a:ea typeface="Calibri" pitchFamily="34" charset="-122"/>
                <a:cs typeface="Calibri" pitchFamily="34" charset="-120"/>
              </a:rPr>
              <a:t>CE MODULE COUVRE</a:t>
            </a:r>
            <a:endParaRPr lang="en-US" sz="1100" dirty="0"/>
          </a:p>
        </p:txBody>
      </p:sp>
      <p:sp>
        <p:nvSpPr>
          <p:cNvPr id="10" name="Text 8"/>
          <p:cNvSpPr/>
          <p:nvPr/>
        </p:nvSpPr>
        <p:spPr>
          <a:xfrm>
            <a:off x="8138160" y="2606040"/>
            <a:ext cx="3474720" cy="1005840"/>
          </a:xfrm>
          <a:prstGeom prst="rect">
            <a:avLst/>
          </a:prstGeom>
          <a:noFill/>
          <a:ln/>
        </p:spPr>
        <p:txBody>
          <a:bodyPr wrap="square" rtlCol="0" anchor="ctr"/>
          <a:lstStyle/>
          <a:p>
            <a:pPr indent="0" marL="0">
              <a:buNone/>
            </a:pPr>
            <a:r>
              <a:rPr lang="en-US" sz="9000" b="1" dirty="0">
                <a:solidFill>
                  <a:srgbClr val="F09042"/>
                </a:solidFill>
                <a:latin typeface="Consolas" pitchFamily="34" charset="0"/>
                <a:ea typeface="Consolas" pitchFamily="34" charset="-122"/>
                <a:cs typeface="Consolas" pitchFamily="34" charset="-120"/>
              </a:rPr>
              <a:t>6</a:t>
            </a:r>
            <a:endParaRPr lang="en-US" sz="9000" dirty="0"/>
          </a:p>
        </p:txBody>
      </p:sp>
      <p:sp>
        <p:nvSpPr>
          <p:cNvPr id="11" name="Text 9"/>
          <p:cNvSpPr/>
          <p:nvPr/>
        </p:nvSpPr>
        <p:spPr>
          <a:xfrm>
            <a:off x="8138160" y="3657600"/>
            <a:ext cx="3474720" cy="1280160"/>
          </a:xfrm>
          <a:prstGeom prst="rect">
            <a:avLst/>
          </a:prstGeom>
          <a:noFill/>
          <a:ln/>
        </p:spPr>
        <p:txBody>
          <a:bodyPr wrap="square" rtlCol="0" anchor="ctr"/>
          <a:lstStyle/>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points</a:t>
            </a:r>
            <a:endParaRPr lang="en-US" sz="1400" dirty="0"/>
          </a:p>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que neuf jurys sur dix</a:t>
            </a:r>
            <a:endParaRPr lang="en-US" sz="1400" dirty="0"/>
          </a:p>
          <a:p>
            <a:pPr indent="0" marL="0">
              <a:lnSpc>
                <a:spcPct val="135000"/>
              </a:lnSpc>
              <a:buNone/>
            </a:pPr>
            <a:r>
              <a:rPr lang="en-US" sz="1400" dirty="0">
                <a:solidFill>
                  <a:srgbClr val="FFFFFF"/>
                </a:solidFill>
                <a:latin typeface="Calibri" pitchFamily="34" charset="0"/>
                <a:ea typeface="Calibri" pitchFamily="34" charset="-122"/>
                <a:cs typeface="Calibri" pitchFamily="34" charset="-120"/>
              </a:rPr>
              <a:t>vont chercher à creuser.</a:t>
            </a:r>
            <a:endParaRPr lang="en-US" sz="1400" dirty="0"/>
          </a:p>
        </p:txBody>
      </p:sp>
      <p:sp>
        <p:nvSpPr>
          <p:cNvPr id="12" name="Shape 10"/>
          <p:cNvSpPr/>
          <p:nvPr/>
        </p:nvSpPr>
        <p:spPr>
          <a:xfrm>
            <a:off x="8138160" y="5074920"/>
            <a:ext cx="3383280" cy="18288"/>
          </a:xfrm>
          <a:prstGeom prst="rect">
            <a:avLst/>
          </a:prstGeom>
          <a:solidFill>
            <a:srgbClr val="F09042"/>
          </a:solidFill>
          <a:ln/>
        </p:spPr>
      </p:sp>
      <p:sp>
        <p:nvSpPr>
          <p:cNvPr id="13" name="Text 11"/>
          <p:cNvSpPr/>
          <p:nvPr/>
        </p:nvSpPr>
        <p:spPr>
          <a:xfrm>
            <a:off x="8138160" y="5212080"/>
            <a:ext cx="3474720" cy="731520"/>
          </a:xfrm>
          <a:prstGeom prst="rect">
            <a:avLst/>
          </a:prstGeom>
          <a:noFill/>
          <a:ln/>
        </p:spPr>
        <p:txBody>
          <a:bodyPr wrap="square" rtlCol="0" anchor="ctr"/>
          <a:lstStyle/>
          <a:p>
            <a:pPr indent="0" marL="0">
              <a:lnSpc>
                <a:spcPct val="130000"/>
              </a:lnSpc>
              <a:buNone/>
            </a:pPr>
            <a:r>
              <a:rPr lang="en-US" sz="1100" i="1" dirty="0">
                <a:solidFill>
                  <a:srgbClr val="C9CFDC"/>
                </a:solidFill>
                <a:latin typeface="Calibri" pitchFamily="34" charset="0"/>
                <a:ea typeface="Calibri" pitchFamily="34" charset="-122"/>
                <a:cs typeface="Calibri" pitchFamily="34" charset="-120"/>
              </a:rPr>
              <a:t>Maîtrise-les et tu transformes les questions méthodo en arguments à ton avantage.</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POINT N°1 · LE DÉPART</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600" b="1" spc="-100" kern="0" dirty="0">
                <a:solidFill>
                  <a:srgbClr val="15233F"/>
                </a:solidFill>
                <a:latin typeface="Calibri" pitchFamily="34" charset="0"/>
                <a:ea typeface="Calibri" pitchFamily="34" charset="-122"/>
                <a:cs typeface="Calibri" pitchFamily="34" charset="-120"/>
              </a:rPr>
              <a:t>Avant « quel test ? », il y a « qu'est-ce que je teste ? »</a:t>
            </a:r>
            <a:endParaRPr lang="en-US" sz="2600" dirty="0"/>
          </a:p>
        </p:txBody>
      </p:sp>
      <p:sp>
        <p:nvSpPr>
          <p:cNvPr id="6" name="Text 4"/>
          <p:cNvSpPr/>
          <p:nvPr/>
        </p:nvSpPr>
        <p:spPr>
          <a:xfrm>
            <a:off x="640080" y="2011680"/>
            <a:ext cx="10972800" cy="13716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Le premier piège classique : démarrer une analyse en se demandant « quel test je dois lancer ? ». La bonne première question, c'est « qu'est-ce que je cherche à montrer ? ». Tu formules H₀ et H₁ — avec des mots — avant d'ouvrir le logiciel.</a:t>
            </a:r>
            <a:endParaRPr lang="en-US" sz="1400" dirty="0"/>
          </a:p>
        </p:txBody>
      </p:sp>
      <p:sp>
        <p:nvSpPr>
          <p:cNvPr id="7" name="Shape 5"/>
          <p:cNvSpPr/>
          <p:nvPr/>
        </p:nvSpPr>
        <p:spPr>
          <a:xfrm>
            <a:off x="640080" y="3566160"/>
            <a:ext cx="5440680" cy="2194560"/>
          </a:xfrm>
          <a:prstGeom prst="roundRect">
            <a:avLst>
              <a:gd name="adj" fmla="val 4167"/>
            </a:avLst>
          </a:prstGeom>
          <a:solidFill>
            <a:srgbClr val="0E1729"/>
          </a:solidFill>
          <a:ln/>
        </p:spPr>
      </p:sp>
      <p:sp>
        <p:nvSpPr>
          <p:cNvPr id="8" name="Text 6"/>
          <p:cNvSpPr/>
          <p:nvPr/>
        </p:nvSpPr>
        <p:spPr>
          <a:xfrm>
            <a:off x="822960" y="3703320"/>
            <a:ext cx="5120640" cy="365760"/>
          </a:xfrm>
          <a:prstGeom prst="rect">
            <a:avLst/>
          </a:prstGeom>
          <a:noFill/>
          <a:ln/>
        </p:spPr>
        <p:txBody>
          <a:bodyPr wrap="square" rtlCol="0" anchor="ctr"/>
          <a:lstStyle/>
          <a:p>
            <a:pPr indent="0" marL="0">
              <a:buNone/>
            </a:pPr>
            <a:r>
              <a:rPr lang="en-US" sz="1200" b="1" spc="300" kern="0" dirty="0">
                <a:solidFill>
                  <a:srgbClr val="F09042"/>
                </a:solidFill>
                <a:latin typeface="Calibri" pitchFamily="34" charset="0"/>
                <a:ea typeface="Calibri" pitchFamily="34" charset="-122"/>
                <a:cs typeface="Calibri" pitchFamily="34" charset="-120"/>
              </a:rPr>
              <a:t>H₀  —  L'HYPOTHÈSE PAR DÉFAUT</a:t>
            </a:r>
            <a:endParaRPr lang="en-US" sz="1200" dirty="0"/>
          </a:p>
        </p:txBody>
      </p:sp>
      <p:sp>
        <p:nvSpPr>
          <p:cNvPr id="9" name="Text 7"/>
          <p:cNvSpPr/>
          <p:nvPr/>
        </p:nvSpPr>
        <p:spPr>
          <a:xfrm>
            <a:off x="822960" y="4114800"/>
            <a:ext cx="5120640" cy="640080"/>
          </a:xfrm>
          <a:prstGeom prst="rect">
            <a:avLst/>
          </a:prstGeom>
          <a:noFill/>
          <a:ln/>
        </p:spPr>
        <p:txBody>
          <a:bodyPr wrap="square" rtlCol="0" anchor="ctr"/>
          <a:lstStyle/>
          <a:p>
            <a:pPr indent="0" marL="0">
              <a:lnSpc>
                <a:spcPct val="125000"/>
              </a:lnSpc>
              <a:buNone/>
            </a:pPr>
            <a:r>
              <a:rPr lang="en-US" sz="1500" b="1" dirty="0">
                <a:solidFill>
                  <a:srgbClr val="FFFFFF"/>
                </a:solidFill>
                <a:latin typeface="Calibri" pitchFamily="34" charset="0"/>
                <a:ea typeface="Calibri" pitchFamily="34" charset="-122"/>
                <a:cs typeface="Calibri" pitchFamily="34" charset="-120"/>
              </a:rPr>
              <a:t>« Il n'y a pas de différence, pas d'effet, pas de lien. »</a:t>
            </a:r>
            <a:endParaRPr lang="en-US" sz="1500" dirty="0"/>
          </a:p>
        </p:txBody>
      </p:sp>
      <p:sp>
        <p:nvSpPr>
          <p:cNvPr id="10" name="Text 8"/>
          <p:cNvSpPr/>
          <p:nvPr/>
        </p:nvSpPr>
        <p:spPr>
          <a:xfrm>
            <a:off x="822960" y="4937760"/>
            <a:ext cx="5120640" cy="822960"/>
          </a:xfrm>
          <a:prstGeom prst="rect">
            <a:avLst/>
          </a:prstGeom>
          <a:noFill/>
          <a:ln/>
        </p:spPr>
        <p:txBody>
          <a:bodyPr wrap="square" rtlCol="0" anchor="ctr"/>
          <a:lstStyle/>
          <a:p>
            <a:pPr indent="0" marL="0">
              <a:lnSpc>
                <a:spcPct val="130000"/>
              </a:lnSpc>
              <a:buNone/>
            </a:pPr>
            <a:r>
              <a:rPr lang="en-US" sz="1200" i="1" dirty="0">
                <a:solidFill>
                  <a:srgbClr val="C9CFDC"/>
                </a:solidFill>
                <a:latin typeface="Calibri" pitchFamily="34" charset="0"/>
                <a:ea typeface="Calibri" pitchFamily="34" charset="-122"/>
                <a:cs typeface="Calibri" pitchFamily="34" charset="-120"/>
              </a:rPr>
              <a:t>C'est l'hypothèse que tu cherches à rejeter avec tes données. Pas celle que tu cherches à « prouver ».</a:t>
            </a:r>
            <a:endParaRPr lang="en-US" sz="1200" dirty="0"/>
          </a:p>
        </p:txBody>
      </p:sp>
      <p:sp>
        <p:nvSpPr>
          <p:cNvPr id="11" name="Shape 9"/>
          <p:cNvSpPr/>
          <p:nvPr/>
        </p:nvSpPr>
        <p:spPr>
          <a:xfrm>
            <a:off x="6291072" y="3566160"/>
            <a:ext cx="5440680" cy="2194560"/>
          </a:xfrm>
          <a:prstGeom prst="roundRect">
            <a:avLst>
              <a:gd name="adj" fmla="val 4167"/>
            </a:avLst>
          </a:prstGeom>
          <a:solidFill>
            <a:srgbClr val="F09042"/>
          </a:solidFill>
          <a:ln/>
        </p:spPr>
      </p:sp>
      <p:sp>
        <p:nvSpPr>
          <p:cNvPr id="12" name="Text 10"/>
          <p:cNvSpPr/>
          <p:nvPr/>
        </p:nvSpPr>
        <p:spPr>
          <a:xfrm>
            <a:off x="6473952" y="3703320"/>
            <a:ext cx="5120640" cy="365760"/>
          </a:xfrm>
          <a:prstGeom prst="rect">
            <a:avLst/>
          </a:prstGeom>
          <a:noFill/>
          <a:ln/>
        </p:spPr>
        <p:txBody>
          <a:bodyPr wrap="square" rtlCol="0" anchor="ctr"/>
          <a:lstStyle/>
          <a:p>
            <a:pPr indent="0" marL="0">
              <a:buNone/>
            </a:pPr>
            <a:r>
              <a:rPr lang="en-US" sz="1200" b="1" spc="300" kern="0" dirty="0">
                <a:solidFill>
                  <a:srgbClr val="0E1729"/>
                </a:solidFill>
                <a:latin typeface="Calibri" pitchFamily="34" charset="0"/>
                <a:ea typeface="Calibri" pitchFamily="34" charset="-122"/>
                <a:cs typeface="Calibri" pitchFamily="34" charset="-120"/>
              </a:rPr>
              <a:t>H₁  —  CE QUE TU DÉFENDS</a:t>
            </a:r>
            <a:endParaRPr lang="en-US" sz="1200" dirty="0"/>
          </a:p>
        </p:txBody>
      </p:sp>
      <p:sp>
        <p:nvSpPr>
          <p:cNvPr id="13" name="Text 11"/>
          <p:cNvSpPr/>
          <p:nvPr/>
        </p:nvSpPr>
        <p:spPr>
          <a:xfrm>
            <a:off x="6473952" y="4114800"/>
            <a:ext cx="5120640" cy="640080"/>
          </a:xfrm>
          <a:prstGeom prst="rect">
            <a:avLst/>
          </a:prstGeom>
          <a:noFill/>
          <a:ln/>
        </p:spPr>
        <p:txBody>
          <a:bodyPr wrap="square" rtlCol="0" anchor="ctr"/>
          <a:lstStyle/>
          <a:p>
            <a:pPr indent="0" marL="0">
              <a:lnSpc>
                <a:spcPct val="125000"/>
              </a:lnSpc>
              <a:buNone/>
            </a:pPr>
            <a:r>
              <a:rPr lang="en-US" sz="1500" b="1" dirty="0">
                <a:solidFill>
                  <a:srgbClr val="0E1729"/>
                </a:solidFill>
                <a:latin typeface="Calibri" pitchFamily="34" charset="0"/>
                <a:ea typeface="Calibri" pitchFamily="34" charset="-122"/>
                <a:cs typeface="Calibri" pitchFamily="34" charset="-120"/>
              </a:rPr>
              <a:t>« Il y a une différence, un effet, un lien. »</a:t>
            </a:r>
            <a:endParaRPr lang="en-US" sz="1500" dirty="0"/>
          </a:p>
        </p:txBody>
      </p:sp>
      <p:sp>
        <p:nvSpPr>
          <p:cNvPr id="14" name="Text 12"/>
          <p:cNvSpPr/>
          <p:nvPr/>
        </p:nvSpPr>
        <p:spPr>
          <a:xfrm>
            <a:off x="6473952" y="4937760"/>
            <a:ext cx="5120640" cy="822960"/>
          </a:xfrm>
          <a:prstGeom prst="rect">
            <a:avLst/>
          </a:prstGeom>
          <a:noFill/>
          <a:ln/>
        </p:spPr>
        <p:txBody>
          <a:bodyPr wrap="square" rtlCol="0" anchor="ctr"/>
          <a:lstStyle/>
          <a:p>
            <a:pPr indent="0" marL="0">
              <a:lnSpc>
                <a:spcPct val="130000"/>
              </a:lnSpc>
              <a:buNone/>
            </a:pPr>
            <a:r>
              <a:rPr lang="en-US" sz="1200" i="1" dirty="0">
                <a:solidFill>
                  <a:srgbClr val="0E1729"/>
                </a:solidFill>
                <a:latin typeface="Calibri" pitchFamily="34" charset="0"/>
                <a:ea typeface="Calibri" pitchFamily="34" charset="-122"/>
                <a:cs typeface="Calibri" pitchFamily="34" charset="-120"/>
              </a:rPr>
              <a:t>Tu ne la « prouves » jamais directement. Tu la fais admettre lorsque H₀ devient trop improbable au vu de tes données.</a:t>
            </a:r>
            <a:endParaRPr lang="en-US" sz="1200" dirty="0"/>
          </a:p>
        </p:txBody>
      </p:sp>
      <p:sp>
        <p:nvSpPr>
          <p:cNvPr id="15" name="Text 13"/>
          <p:cNvSpPr/>
          <p:nvPr/>
        </p:nvSpPr>
        <p:spPr>
          <a:xfrm>
            <a:off x="640080" y="5897880"/>
            <a:ext cx="10972800" cy="41148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Subtilité que les jurys aiment tester : un test ne « confirme » jamais H₁. Il rejette ou ne rejette pas H₀. Si tu maîtrises cette distinction, ta soutenance commence avec 2 points d'avance.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POINT N°2 · LES DEUX ERREURS</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α, β, et l'erreur qu'on ne voit jamais venir.</a:t>
            </a:r>
            <a:endParaRPr lang="en-US" sz="2800" dirty="0"/>
          </a:p>
        </p:txBody>
      </p:sp>
      <p:sp>
        <p:nvSpPr>
          <p:cNvPr id="6" name="Text 4"/>
          <p:cNvSpPr/>
          <p:nvPr/>
        </p:nvSpPr>
        <p:spPr>
          <a:xfrm>
            <a:off x="640080" y="1874520"/>
            <a:ext cx="10972800" cy="9144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Un test ne te dit jamais la vérité. Il te donne une décision sous incertitude. Et l'incertitude se décline en deux types d'erreurs, qu'il faut accepter avant de commencer.</a:t>
            </a:r>
            <a:endParaRPr lang="en-US" sz="1400" dirty="0"/>
          </a:p>
        </p:txBody>
      </p:sp>
      <p:sp>
        <p:nvSpPr>
          <p:cNvPr id="7" name="Text 5"/>
          <p:cNvSpPr/>
          <p:nvPr/>
        </p:nvSpPr>
        <p:spPr>
          <a:xfrm>
            <a:off x="6858000" y="2606040"/>
            <a:ext cx="9144000" cy="274320"/>
          </a:xfrm>
          <a:prstGeom prst="rect">
            <a:avLst/>
          </a:prstGeom>
          <a:noFill/>
          <a:ln/>
        </p:spPr>
        <p:txBody>
          <a:bodyPr wrap="square" rtlCol="0" anchor="ctr"/>
          <a:lstStyle/>
          <a:p>
            <a:pPr algn="ctr" indent="0" marL="0">
              <a:buNone/>
            </a:pPr>
            <a:r>
              <a:rPr lang="en-US" sz="1000" b="1" spc="300" kern="0" dirty="0">
                <a:solidFill>
                  <a:srgbClr val="6B7280"/>
                </a:solidFill>
                <a:latin typeface="Calibri" pitchFamily="34" charset="0"/>
                <a:ea typeface="Calibri" pitchFamily="34" charset="-122"/>
                <a:cs typeface="Calibri" pitchFamily="34" charset="-120"/>
              </a:rPr>
              <a:t>RÉALITÉ</a:t>
            </a:r>
            <a:endParaRPr lang="en-US" sz="1000" dirty="0"/>
          </a:p>
        </p:txBody>
      </p:sp>
      <p:sp>
        <p:nvSpPr>
          <p:cNvPr id="8" name="Text 6"/>
          <p:cNvSpPr/>
          <p:nvPr/>
        </p:nvSpPr>
        <p:spPr>
          <a:xfrm>
            <a:off x="6858000" y="2880360"/>
            <a:ext cx="4572000" cy="228600"/>
          </a:xfrm>
          <a:prstGeom prst="rect">
            <a:avLst/>
          </a:prstGeom>
          <a:noFill/>
          <a:ln/>
        </p:spPr>
        <p:txBody>
          <a:bodyPr wrap="square" rtlCol="0" anchor="ctr"/>
          <a:lstStyle/>
          <a:p>
            <a:pPr algn="ctr" indent="0" marL="0">
              <a:buNone/>
            </a:pPr>
            <a:r>
              <a:rPr lang="en-US" sz="1200" b="1" dirty="0">
                <a:solidFill>
                  <a:srgbClr val="15233F"/>
                </a:solidFill>
                <a:latin typeface="Calibri" pitchFamily="34" charset="0"/>
                <a:ea typeface="Calibri" pitchFamily="34" charset="-122"/>
                <a:cs typeface="Calibri" pitchFamily="34" charset="-120"/>
              </a:rPr>
              <a:t>H₀ vraie</a:t>
            </a:r>
            <a:endParaRPr lang="en-US" sz="1200" dirty="0"/>
          </a:p>
        </p:txBody>
      </p:sp>
      <p:sp>
        <p:nvSpPr>
          <p:cNvPr id="9" name="Text 7"/>
          <p:cNvSpPr/>
          <p:nvPr/>
        </p:nvSpPr>
        <p:spPr>
          <a:xfrm>
            <a:off x="11430000" y="2880360"/>
            <a:ext cx="4572000" cy="228600"/>
          </a:xfrm>
          <a:prstGeom prst="rect">
            <a:avLst/>
          </a:prstGeom>
          <a:noFill/>
          <a:ln/>
        </p:spPr>
        <p:txBody>
          <a:bodyPr wrap="square" rtlCol="0" anchor="ctr"/>
          <a:lstStyle/>
          <a:p>
            <a:pPr algn="ctr" indent="0" marL="0">
              <a:buNone/>
            </a:pPr>
            <a:r>
              <a:rPr lang="en-US" sz="1200" b="1" dirty="0">
                <a:solidFill>
                  <a:srgbClr val="15233F"/>
                </a:solidFill>
                <a:latin typeface="Calibri" pitchFamily="34" charset="0"/>
                <a:ea typeface="Calibri" pitchFamily="34" charset="-122"/>
                <a:cs typeface="Calibri" pitchFamily="34" charset="-120"/>
              </a:rPr>
              <a:t>H₁ vraie</a:t>
            </a:r>
            <a:endParaRPr lang="en-US" sz="1200" dirty="0"/>
          </a:p>
        </p:txBody>
      </p:sp>
      <p:sp>
        <p:nvSpPr>
          <p:cNvPr id="10" name="Text 8"/>
          <p:cNvSpPr/>
          <p:nvPr/>
        </p:nvSpPr>
        <p:spPr>
          <a:xfrm>
            <a:off x="822960" y="3566160"/>
            <a:ext cx="1371600" cy="548640"/>
          </a:xfrm>
          <a:prstGeom prst="rect">
            <a:avLst/>
          </a:prstGeom>
          <a:noFill/>
          <a:ln/>
        </p:spPr>
        <p:txBody>
          <a:bodyPr wrap="square" rtlCol="0" anchor="ctr"/>
          <a:lstStyle/>
          <a:p>
            <a:pPr indent="0" marL="0">
              <a:lnSpc>
                <a:spcPct val="120000"/>
              </a:lnSpc>
              <a:buNone/>
            </a:pPr>
            <a:r>
              <a:rPr lang="en-US" sz="1000" b="1" spc="300" kern="0" dirty="0">
                <a:solidFill>
                  <a:srgbClr val="6B7280"/>
                </a:solidFill>
                <a:latin typeface="Calibri" pitchFamily="34" charset="0"/>
                <a:ea typeface="Calibri" pitchFamily="34" charset="-122"/>
                <a:cs typeface="Calibri" pitchFamily="34" charset="-120"/>
              </a:rPr>
              <a:t>TA</a:t>
            </a:r>
            <a:endParaRPr lang="en-US" sz="1000" dirty="0"/>
          </a:p>
          <a:p>
            <a:pPr indent="0" marL="0">
              <a:lnSpc>
                <a:spcPct val="120000"/>
              </a:lnSpc>
              <a:buNone/>
            </a:pPr>
            <a:r>
              <a:rPr lang="en-US" sz="1000" b="1" spc="300" kern="0" dirty="0">
                <a:solidFill>
                  <a:srgbClr val="6B7280"/>
                </a:solidFill>
                <a:latin typeface="Calibri" pitchFamily="34" charset="0"/>
                <a:ea typeface="Calibri" pitchFamily="34" charset="-122"/>
                <a:cs typeface="Calibri" pitchFamily="34" charset="-120"/>
              </a:rPr>
              <a:t>DÉCISION</a:t>
            </a:r>
            <a:endParaRPr lang="en-US" sz="1000" dirty="0"/>
          </a:p>
        </p:txBody>
      </p:sp>
      <p:sp>
        <p:nvSpPr>
          <p:cNvPr id="11" name="Text 9"/>
          <p:cNvSpPr/>
          <p:nvPr/>
        </p:nvSpPr>
        <p:spPr>
          <a:xfrm>
            <a:off x="822960" y="3291840"/>
            <a:ext cx="1371600" cy="1188720"/>
          </a:xfrm>
          <a:prstGeom prst="rect">
            <a:avLst/>
          </a:prstGeom>
          <a:noFill/>
          <a:ln/>
        </p:spPr>
        <p:txBody>
          <a:bodyPr wrap="square" rtlCol="0" anchor="ctr"/>
          <a:lstStyle/>
          <a:p>
            <a:pPr indent="0" marL="0">
              <a:buNone/>
            </a:pPr>
            <a:r>
              <a:rPr lang="en-US" sz="1200" b="1" dirty="0">
                <a:solidFill>
                  <a:srgbClr val="15233F"/>
                </a:solidFill>
                <a:latin typeface="Calibri" pitchFamily="34" charset="0"/>
                <a:ea typeface="Calibri" pitchFamily="34" charset="-122"/>
                <a:cs typeface="Calibri" pitchFamily="34" charset="-120"/>
              </a:rPr>
              <a:t>Ne pas rejeter H₀</a:t>
            </a:r>
            <a:endParaRPr lang="en-US" sz="1200" dirty="0"/>
          </a:p>
        </p:txBody>
      </p:sp>
      <p:sp>
        <p:nvSpPr>
          <p:cNvPr id="12" name="Text 10"/>
          <p:cNvSpPr/>
          <p:nvPr/>
        </p:nvSpPr>
        <p:spPr>
          <a:xfrm>
            <a:off x="822960" y="4480560"/>
            <a:ext cx="1371600" cy="1188720"/>
          </a:xfrm>
          <a:prstGeom prst="rect">
            <a:avLst/>
          </a:prstGeom>
          <a:noFill/>
          <a:ln/>
        </p:spPr>
        <p:txBody>
          <a:bodyPr wrap="square" rtlCol="0" anchor="ctr"/>
          <a:lstStyle/>
          <a:p>
            <a:pPr indent="0" marL="0">
              <a:buNone/>
            </a:pPr>
            <a:r>
              <a:rPr lang="en-US" sz="1200" b="1" dirty="0">
                <a:solidFill>
                  <a:srgbClr val="15233F"/>
                </a:solidFill>
                <a:latin typeface="Calibri" pitchFamily="34" charset="0"/>
                <a:ea typeface="Calibri" pitchFamily="34" charset="-122"/>
                <a:cs typeface="Calibri" pitchFamily="34" charset="-120"/>
              </a:rPr>
              <a:t>Rejeter H₀</a:t>
            </a:r>
            <a:endParaRPr lang="en-US" sz="1200" dirty="0"/>
          </a:p>
        </p:txBody>
      </p:sp>
      <p:sp>
        <p:nvSpPr>
          <p:cNvPr id="13" name="Shape 11"/>
          <p:cNvSpPr/>
          <p:nvPr/>
        </p:nvSpPr>
        <p:spPr>
          <a:xfrm>
            <a:off x="6858000" y="3291840"/>
            <a:ext cx="4572000" cy="1188720"/>
          </a:xfrm>
          <a:prstGeom prst="rect">
            <a:avLst/>
          </a:prstGeom>
          <a:solidFill>
            <a:srgbClr val="FFFFFF"/>
          </a:solidFill>
          <a:ln w="12700">
            <a:solidFill>
              <a:srgbClr val="D6CFB8"/>
            </a:solidFill>
            <a:prstDash val="solid"/>
          </a:ln>
        </p:spPr>
      </p:sp>
      <p:sp>
        <p:nvSpPr>
          <p:cNvPr id="14" name="Text 12"/>
          <p:cNvSpPr/>
          <p:nvPr/>
        </p:nvSpPr>
        <p:spPr>
          <a:xfrm>
            <a:off x="6949440" y="3383280"/>
            <a:ext cx="4389120" cy="457200"/>
          </a:xfrm>
          <a:prstGeom prst="rect">
            <a:avLst/>
          </a:prstGeom>
          <a:noFill/>
          <a:ln/>
        </p:spPr>
        <p:txBody>
          <a:bodyPr wrap="square" rtlCol="0" anchor="ctr"/>
          <a:lstStyle/>
          <a:p>
            <a:pPr algn="ctr" indent="0" marL="0">
              <a:buNone/>
            </a:pPr>
            <a:r>
              <a:rPr lang="en-US" sz="1800" b="1" dirty="0">
                <a:solidFill>
                  <a:srgbClr val="15233F"/>
                </a:solidFill>
                <a:latin typeface="Calibri" pitchFamily="34" charset="0"/>
                <a:ea typeface="Calibri" pitchFamily="34" charset="-122"/>
                <a:cs typeface="Calibri" pitchFamily="34" charset="-120"/>
              </a:rPr>
              <a:t>Bonne décision</a:t>
            </a:r>
            <a:endParaRPr lang="en-US" sz="1800" dirty="0"/>
          </a:p>
        </p:txBody>
      </p:sp>
      <p:sp>
        <p:nvSpPr>
          <p:cNvPr id="15" name="Text 13"/>
          <p:cNvSpPr/>
          <p:nvPr/>
        </p:nvSpPr>
        <p:spPr>
          <a:xfrm>
            <a:off x="6949440" y="3886200"/>
            <a:ext cx="4389120" cy="548640"/>
          </a:xfrm>
          <a:prstGeom prst="rect">
            <a:avLst/>
          </a:prstGeom>
          <a:noFill/>
          <a:ln/>
        </p:spPr>
        <p:txBody>
          <a:bodyPr wrap="square" rtlCol="0" anchor="ctr"/>
          <a:lstStyle/>
          <a:p>
            <a:pPr algn="ctr" indent="0" marL="0">
              <a:lnSpc>
                <a:spcPct val="120000"/>
              </a:lnSpc>
              <a:buNone/>
            </a:pPr>
            <a:r>
              <a:rPr lang="en-US" sz="1000" i="1" dirty="0">
                <a:solidFill>
                  <a:srgbClr val="15233F"/>
                </a:solidFill>
                <a:latin typeface="Calibri" pitchFamily="34" charset="0"/>
                <a:ea typeface="Calibri" pitchFamily="34" charset="-122"/>
                <a:cs typeface="Calibri" pitchFamily="34" charset="-120"/>
              </a:rPr>
              <a:t>Niveau de confiance (1 − α)</a:t>
            </a:r>
            <a:endParaRPr lang="en-US" sz="1000" dirty="0"/>
          </a:p>
        </p:txBody>
      </p:sp>
      <p:sp>
        <p:nvSpPr>
          <p:cNvPr id="16" name="Shape 14"/>
          <p:cNvSpPr/>
          <p:nvPr/>
        </p:nvSpPr>
        <p:spPr>
          <a:xfrm>
            <a:off x="11430000" y="3291840"/>
            <a:ext cx="4572000" cy="1188720"/>
          </a:xfrm>
          <a:prstGeom prst="rect">
            <a:avLst/>
          </a:prstGeom>
          <a:solidFill>
            <a:srgbClr val="FFFFFF"/>
          </a:solidFill>
          <a:ln w="12700">
            <a:solidFill>
              <a:srgbClr val="D6CFB8"/>
            </a:solidFill>
            <a:prstDash val="solid"/>
          </a:ln>
        </p:spPr>
      </p:sp>
      <p:sp>
        <p:nvSpPr>
          <p:cNvPr id="17" name="Text 15"/>
          <p:cNvSpPr/>
          <p:nvPr/>
        </p:nvSpPr>
        <p:spPr>
          <a:xfrm>
            <a:off x="11521440" y="3383280"/>
            <a:ext cx="4389120" cy="457200"/>
          </a:xfrm>
          <a:prstGeom prst="rect">
            <a:avLst/>
          </a:prstGeom>
          <a:noFill/>
          <a:ln/>
        </p:spPr>
        <p:txBody>
          <a:bodyPr wrap="square" rtlCol="0" anchor="ctr"/>
          <a:lstStyle/>
          <a:p>
            <a:pPr algn="ctr" indent="0" marL="0">
              <a:buNone/>
            </a:pPr>
            <a:r>
              <a:rPr lang="en-US" sz="1800" b="1" dirty="0">
                <a:solidFill>
                  <a:srgbClr val="E74C3C"/>
                </a:solidFill>
                <a:latin typeface="Calibri" pitchFamily="34" charset="0"/>
                <a:ea typeface="Calibri" pitchFamily="34" charset="-122"/>
                <a:cs typeface="Calibri" pitchFamily="34" charset="-120"/>
              </a:rPr>
              <a:t>Erreur β</a:t>
            </a:r>
            <a:endParaRPr lang="en-US" sz="1800" dirty="0"/>
          </a:p>
        </p:txBody>
      </p:sp>
      <p:sp>
        <p:nvSpPr>
          <p:cNvPr id="18" name="Text 16"/>
          <p:cNvSpPr/>
          <p:nvPr/>
        </p:nvSpPr>
        <p:spPr>
          <a:xfrm>
            <a:off x="11521440" y="3886200"/>
            <a:ext cx="4389120" cy="548640"/>
          </a:xfrm>
          <a:prstGeom prst="rect">
            <a:avLst/>
          </a:prstGeom>
          <a:noFill/>
          <a:ln/>
        </p:spPr>
        <p:txBody>
          <a:bodyPr wrap="square" rtlCol="0" anchor="ctr"/>
          <a:lstStyle/>
          <a:p>
            <a:pPr algn="ctr" indent="0" marL="0">
              <a:lnSpc>
                <a:spcPct val="120000"/>
              </a:lnSpc>
              <a:buNone/>
            </a:pPr>
            <a:r>
              <a:rPr lang="en-US" sz="1000" i="1" dirty="0">
                <a:solidFill>
                  <a:srgbClr val="E74C3C"/>
                </a:solidFill>
                <a:latin typeface="Calibri" pitchFamily="34" charset="0"/>
                <a:ea typeface="Calibri" pitchFamily="34" charset="-122"/>
                <a:cs typeface="Calibri" pitchFamily="34" charset="-120"/>
              </a:rPr>
              <a:t>Faux négatif — tu rates un vrai effet</a:t>
            </a:r>
            <a:endParaRPr lang="en-US" sz="1000" dirty="0"/>
          </a:p>
        </p:txBody>
      </p:sp>
      <p:sp>
        <p:nvSpPr>
          <p:cNvPr id="19" name="Shape 17"/>
          <p:cNvSpPr/>
          <p:nvPr/>
        </p:nvSpPr>
        <p:spPr>
          <a:xfrm>
            <a:off x="6858000" y="4480560"/>
            <a:ext cx="4572000" cy="1188720"/>
          </a:xfrm>
          <a:prstGeom prst="rect">
            <a:avLst/>
          </a:prstGeom>
          <a:solidFill>
            <a:srgbClr val="FFFFFF"/>
          </a:solidFill>
          <a:ln w="12700">
            <a:solidFill>
              <a:srgbClr val="D6CFB8"/>
            </a:solidFill>
            <a:prstDash val="solid"/>
          </a:ln>
        </p:spPr>
      </p:sp>
      <p:sp>
        <p:nvSpPr>
          <p:cNvPr id="20" name="Text 18"/>
          <p:cNvSpPr/>
          <p:nvPr/>
        </p:nvSpPr>
        <p:spPr>
          <a:xfrm>
            <a:off x="6949440" y="4572000"/>
            <a:ext cx="4389120" cy="457200"/>
          </a:xfrm>
          <a:prstGeom prst="rect">
            <a:avLst/>
          </a:prstGeom>
          <a:noFill/>
          <a:ln/>
        </p:spPr>
        <p:txBody>
          <a:bodyPr wrap="square" rtlCol="0" anchor="ctr"/>
          <a:lstStyle/>
          <a:p>
            <a:pPr algn="ctr" indent="0" marL="0">
              <a:buNone/>
            </a:pPr>
            <a:r>
              <a:rPr lang="en-US" sz="1800" b="1" dirty="0">
                <a:solidFill>
                  <a:srgbClr val="E74C3C"/>
                </a:solidFill>
                <a:latin typeface="Calibri" pitchFamily="34" charset="0"/>
                <a:ea typeface="Calibri" pitchFamily="34" charset="-122"/>
                <a:cs typeface="Calibri" pitchFamily="34" charset="-120"/>
              </a:rPr>
              <a:t>Erreur α</a:t>
            </a:r>
            <a:endParaRPr lang="en-US" sz="1800" dirty="0"/>
          </a:p>
        </p:txBody>
      </p:sp>
      <p:sp>
        <p:nvSpPr>
          <p:cNvPr id="21" name="Text 19"/>
          <p:cNvSpPr/>
          <p:nvPr/>
        </p:nvSpPr>
        <p:spPr>
          <a:xfrm>
            <a:off x="6949440" y="5074920"/>
            <a:ext cx="4389120" cy="548640"/>
          </a:xfrm>
          <a:prstGeom prst="rect">
            <a:avLst/>
          </a:prstGeom>
          <a:noFill/>
          <a:ln/>
        </p:spPr>
        <p:txBody>
          <a:bodyPr wrap="square" rtlCol="0" anchor="ctr"/>
          <a:lstStyle/>
          <a:p>
            <a:pPr algn="ctr" indent="0" marL="0">
              <a:lnSpc>
                <a:spcPct val="120000"/>
              </a:lnSpc>
              <a:buNone/>
            </a:pPr>
            <a:r>
              <a:rPr lang="en-US" sz="1000" i="1" dirty="0">
                <a:solidFill>
                  <a:srgbClr val="E74C3C"/>
                </a:solidFill>
                <a:latin typeface="Calibri" pitchFamily="34" charset="0"/>
                <a:ea typeface="Calibri" pitchFamily="34" charset="-122"/>
                <a:cs typeface="Calibri" pitchFamily="34" charset="-120"/>
              </a:rPr>
              <a:t>Faux positif — tu « trouves » un effet inexistant</a:t>
            </a:r>
            <a:endParaRPr lang="en-US" sz="1000" dirty="0"/>
          </a:p>
        </p:txBody>
      </p:sp>
      <p:sp>
        <p:nvSpPr>
          <p:cNvPr id="22" name="Shape 20"/>
          <p:cNvSpPr/>
          <p:nvPr/>
        </p:nvSpPr>
        <p:spPr>
          <a:xfrm>
            <a:off x="11430000" y="4480560"/>
            <a:ext cx="4572000" cy="1188720"/>
          </a:xfrm>
          <a:prstGeom prst="rect">
            <a:avLst/>
          </a:prstGeom>
          <a:solidFill>
            <a:srgbClr val="F09042"/>
          </a:solidFill>
          <a:ln w="12700">
            <a:solidFill>
              <a:srgbClr val="D6CFB8"/>
            </a:solidFill>
            <a:prstDash val="solid"/>
          </a:ln>
        </p:spPr>
      </p:sp>
      <p:sp>
        <p:nvSpPr>
          <p:cNvPr id="23" name="Text 21"/>
          <p:cNvSpPr/>
          <p:nvPr/>
        </p:nvSpPr>
        <p:spPr>
          <a:xfrm>
            <a:off x="11521440" y="4572000"/>
            <a:ext cx="4389120" cy="457200"/>
          </a:xfrm>
          <a:prstGeom prst="rect">
            <a:avLst/>
          </a:prstGeom>
          <a:noFill/>
          <a:ln/>
        </p:spPr>
        <p:txBody>
          <a:bodyPr wrap="square" rtlCol="0" anchor="ctr"/>
          <a:lstStyle/>
          <a:p>
            <a:pPr algn="ctr" indent="0" marL="0">
              <a:buNone/>
            </a:pPr>
            <a:r>
              <a:rPr lang="en-US" sz="1800" b="1" dirty="0">
                <a:solidFill>
                  <a:srgbClr val="0E1729"/>
                </a:solidFill>
                <a:latin typeface="Calibri" pitchFamily="34" charset="0"/>
                <a:ea typeface="Calibri" pitchFamily="34" charset="-122"/>
                <a:cs typeface="Calibri" pitchFamily="34" charset="-120"/>
              </a:rPr>
              <a:t>Puissance</a:t>
            </a:r>
            <a:endParaRPr lang="en-US" sz="1800" dirty="0"/>
          </a:p>
        </p:txBody>
      </p:sp>
      <p:sp>
        <p:nvSpPr>
          <p:cNvPr id="24" name="Text 22"/>
          <p:cNvSpPr/>
          <p:nvPr/>
        </p:nvSpPr>
        <p:spPr>
          <a:xfrm>
            <a:off x="11521440" y="5074920"/>
            <a:ext cx="4389120" cy="548640"/>
          </a:xfrm>
          <a:prstGeom prst="rect">
            <a:avLst/>
          </a:prstGeom>
          <a:noFill/>
          <a:ln/>
        </p:spPr>
        <p:txBody>
          <a:bodyPr wrap="square" rtlCol="0" anchor="ctr"/>
          <a:lstStyle/>
          <a:p>
            <a:pPr algn="ctr" indent="0" marL="0">
              <a:lnSpc>
                <a:spcPct val="120000"/>
              </a:lnSpc>
              <a:buNone/>
            </a:pPr>
            <a:r>
              <a:rPr lang="en-US" sz="1000" i="1" dirty="0">
                <a:solidFill>
                  <a:srgbClr val="0E1729"/>
                </a:solidFill>
                <a:latin typeface="Calibri" pitchFamily="34" charset="0"/>
                <a:ea typeface="Calibri" pitchFamily="34" charset="-122"/>
                <a:cs typeface="Calibri" pitchFamily="34" charset="-120"/>
              </a:rPr>
              <a:t>(1 − β) — c'est ce que tu cherches</a:t>
            </a:r>
            <a:endParaRPr lang="en-US" sz="1000" dirty="0"/>
          </a:p>
        </p:txBody>
      </p:sp>
      <p:sp>
        <p:nvSpPr>
          <p:cNvPr id="25" name="Text 23"/>
          <p:cNvSpPr/>
          <p:nvPr/>
        </p:nvSpPr>
        <p:spPr>
          <a:xfrm>
            <a:off x="640080" y="5897880"/>
            <a:ext cx="10972800" cy="41148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Entre nous : 80 % de puissance, ça veut dire que 1 fois sur 5 tu rates un vrai effet. La norme "α = 5 %, puissance = 80 %" n'est pas magique — c'est un compromis. Quand tu vises une publication, monte à 90 %.</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POINT N°3 · DIRECTION DU TEST</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3200" b="1" spc="-100" kern="0" dirty="0">
                <a:solidFill>
                  <a:srgbClr val="15233F"/>
                </a:solidFill>
                <a:latin typeface="Calibri" pitchFamily="34" charset="0"/>
                <a:ea typeface="Calibri" pitchFamily="34" charset="-122"/>
                <a:cs typeface="Calibri" pitchFamily="34" charset="-120"/>
              </a:rPr>
              <a:t>Bilatéral par défaut. Toujours.</a:t>
            </a:r>
            <a:endParaRPr lang="en-US" sz="3200" dirty="0"/>
          </a:p>
        </p:txBody>
      </p:sp>
      <p:sp>
        <p:nvSpPr>
          <p:cNvPr id="6" name="Text 4"/>
          <p:cNvSpPr/>
          <p:nvPr/>
        </p:nvSpPr>
        <p:spPr>
          <a:xfrm>
            <a:off x="640080" y="1920240"/>
            <a:ext cx="10972800" cy="9144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On te demandera presque jamais « pourquoi bilatéral ? ». Mais on peut te demander « pourquoi unilatéral ? » — et là, il faut une réponse blindée. Quand tu hésites, choisis bilatéral.</a:t>
            </a:r>
            <a:endParaRPr lang="en-US" sz="1400" dirty="0"/>
          </a:p>
        </p:txBody>
      </p:sp>
      <p:sp>
        <p:nvSpPr>
          <p:cNvPr id="7" name="Shape 5"/>
          <p:cNvSpPr/>
          <p:nvPr/>
        </p:nvSpPr>
        <p:spPr>
          <a:xfrm>
            <a:off x="640080" y="3108960"/>
            <a:ext cx="6675120" cy="2926080"/>
          </a:xfrm>
          <a:prstGeom prst="roundRect">
            <a:avLst>
              <a:gd name="adj" fmla="val 3125"/>
            </a:avLst>
          </a:prstGeom>
          <a:solidFill>
            <a:srgbClr val="FFFFFF"/>
          </a:solidFill>
          <a:ln w="25400">
            <a:solidFill>
              <a:srgbClr val="F09042"/>
            </a:solidFill>
            <a:prstDash val="solid"/>
          </a:ln>
        </p:spPr>
      </p:sp>
      <p:sp>
        <p:nvSpPr>
          <p:cNvPr id="8" name="Text 6"/>
          <p:cNvSpPr/>
          <p:nvPr/>
        </p:nvSpPr>
        <p:spPr>
          <a:xfrm>
            <a:off x="822960" y="3246120"/>
            <a:ext cx="6309360" cy="320040"/>
          </a:xfrm>
          <a:prstGeom prst="rect">
            <a:avLst/>
          </a:prstGeom>
          <a:noFill/>
          <a:ln/>
        </p:spPr>
        <p:txBody>
          <a:bodyPr wrap="square" rtlCol="0" anchor="ctr"/>
          <a:lstStyle/>
          <a:p>
            <a:pPr indent="0" marL="0">
              <a:buNone/>
            </a:pPr>
            <a:r>
              <a:rPr lang="en-US" sz="1200" b="1" spc="300" kern="0" dirty="0">
                <a:solidFill>
                  <a:srgbClr val="F09042"/>
                </a:solidFill>
                <a:latin typeface="Calibri" pitchFamily="34" charset="0"/>
                <a:ea typeface="Calibri" pitchFamily="34" charset="-122"/>
                <a:cs typeface="Calibri" pitchFamily="34" charset="-120"/>
              </a:rPr>
              <a:t>BILATÉRAL  ·  À UTILISER PAR DÉFAUT</a:t>
            </a:r>
            <a:endParaRPr lang="en-US" sz="1200" dirty="0"/>
          </a:p>
        </p:txBody>
      </p:sp>
      <p:sp>
        <p:nvSpPr>
          <p:cNvPr id="9" name="Text 7"/>
          <p:cNvSpPr/>
          <p:nvPr/>
        </p:nvSpPr>
        <p:spPr>
          <a:xfrm>
            <a:off x="822960" y="3611880"/>
            <a:ext cx="6309360" cy="457200"/>
          </a:xfrm>
          <a:prstGeom prst="rect">
            <a:avLst/>
          </a:prstGeom>
          <a:noFill/>
          <a:ln/>
        </p:spPr>
        <p:txBody>
          <a:bodyPr wrap="square" rtlCol="0" anchor="ctr"/>
          <a:lstStyle/>
          <a:p>
            <a:pPr indent="0" marL="0">
              <a:buNone/>
            </a:pPr>
            <a:r>
              <a:rPr lang="en-US" sz="1500" b="1" dirty="0">
                <a:solidFill>
                  <a:srgbClr val="15233F"/>
                </a:solidFill>
                <a:latin typeface="Calibri" pitchFamily="34" charset="0"/>
                <a:ea typeface="Calibri" pitchFamily="34" charset="-122"/>
                <a:cs typeface="Calibri" pitchFamily="34" charset="-120"/>
              </a:rPr>
              <a:t>H₁ : « il y a une différence — peu importe le sens »</a:t>
            </a:r>
            <a:endParaRPr lang="en-US" sz="1500" dirty="0"/>
          </a:p>
        </p:txBody>
      </p:sp>
      <p:sp>
        <p:nvSpPr>
          <p:cNvPr id="10" name="Text 8"/>
          <p:cNvSpPr/>
          <p:nvPr/>
        </p:nvSpPr>
        <p:spPr>
          <a:xfrm>
            <a:off x="822960" y="4160520"/>
            <a:ext cx="6309360" cy="91440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Tu ne préjuges pas du sens. La différence peut aller dans les deux directions. Standard absolu en biomédical — 99 % des publications sérieuses l'utilisent.</a:t>
            </a:r>
            <a:endParaRPr lang="en-US" sz="1200" dirty="0"/>
          </a:p>
        </p:txBody>
      </p:sp>
      <p:sp>
        <p:nvSpPr>
          <p:cNvPr id="11" name="Text 9"/>
          <p:cNvSpPr/>
          <p:nvPr/>
        </p:nvSpPr>
        <p:spPr>
          <a:xfrm>
            <a:off x="822960" y="5257800"/>
            <a:ext cx="6309360" cy="365760"/>
          </a:xfrm>
          <a:prstGeom prst="rect">
            <a:avLst/>
          </a:prstGeom>
          <a:noFill/>
          <a:ln/>
        </p:spPr>
        <p:txBody>
          <a:bodyPr wrap="square" rtlCol="0" anchor="ctr"/>
          <a:lstStyle/>
          <a:p>
            <a:pPr indent="0" marL="0">
              <a:buNone/>
            </a:pPr>
            <a:r>
              <a:rPr lang="en-US" sz="1100" dirty="0">
                <a:solidFill>
                  <a:srgbClr val="F09042"/>
                </a:solidFill>
                <a:latin typeface="Consolas" pitchFamily="34" charset="0"/>
                <a:ea typeface="Consolas" pitchFamily="34" charset="-122"/>
                <a:cs typeface="Consolas" pitchFamily="34" charset="-120"/>
              </a:rPr>
              <a:t>En R : c'est le défaut. Pas besoin de spécifier.</a:t>
            </a:r>
            <a:endParaRPr lang="en-US" sz="1100" dirty="0"/>
          </a:p>
        </p:txBody>
      </p:sp>
      <p:sp>
        <p:nvSpPr>
          <p:cNvPr id="12" name="Text 10"/>
          <p:cNvSpPr/>
          <p:nvPr/>
        </p:nvSpPr>
        <p:spPr>
          <a:xfrm>
            <a:off x="822960" y="5577840"/>
            <a:ext cx="6309360" cy="365760"/>
          </a:xfrm>
          <a:prstGeom prst="rect">
            <a:avLst/>
          </a:prstGeom>
          <a:noFill/>
          <a:ln/>
        </p:spPr>
        <p:txBody>
          <a:bodyPr wrap="square" rtlCol="0" anchor="ctr"/>
          <a:lstStyle/>
          <a:p>
            <a:pPr indent="0" marL="0">
              <a:buNone/>
            </a:pPr>
            <a:r>
              <a:rPr lang="en-US" sz="1300" dirty="0">
                <a:solidFill>
                  <a:srgbClr val="15233F"/>
                </a:solidFill>
                <a:latin typeface="Consolas" pitchFamily="34" charset="0"/>
                <a:ea typeface="Consolas" pitchFamily="34" charset="-122"/>
                <a:cs typeface="Consolas" pitchFamily="34" charset="-120"/>
              </a:rPr>
              <a:t>t.test(x, y)</a:t>
            </a:r>
            <a:endParaRPr lang="en-US" sz="1300" dirty="0"/>
          </a:p>
        </p:txBody>
      </p:sp>
      <p:sp>
        <p:nvSpPr>
          <p:cNvPr id="13" name="Shape 11"/>
          <p:cNvSpPr/>
          <p:nvPr/>
        </p:nvSpPr>
        <p:spPr>
          <a:xfrm>
            <a:off x="7498080" y="3108960"/>
            <a:ext cx="4233672" cy="2926080"/>
          </a:xfrm>
          <a:prstGeom prst="roundRect">
            <a:avLst>
              <a:gd name="adj" fmla="val 3125"/>
            </a:avLst>
          </a:prstGeom>
          <a:solidFill>
            <a:srgbClr val="FFFFFF"/>
          </a:solidFill>
          <a:ln w="12700">
            <a:solidFill>
              <a:srgbClr val="D6CFB8"/>
            </a:solidFill>
            <a:prstDash val="solid"/>
          </a:ln>
        </p:spPr>
      </p:sp>
      <p:sp>
        <p:nvSpPr>
          <p:cNvPr id="14" name="Text 12"/>
          <p:cNvSpPr/>
          <p:nvPr/>
        </p:nvSpPr>
        <p:spPr>
          <a:xfrm>
            <a:off x="7680960" y="3246120"/>
            <a:ext cx="3931920" cy="320040"/>
          </a:xfrm>
          <a:prstGeom prst="rect">
            <a:avLst/>
          </a:prstGeom>
          <a:noFill/>
          <a:ln/>
        </p:spPr>
        <p:txBody>
          <a:bodyPr wrap="square" rtlCol="0" anchor="ctr"/>
          <a:lstStyle/>
          <a:p>
            <a:pPr indent="0" marL="0">
              <a:buNone/>
            </a:pPr>
            <a:r>
              <a:rPr lang="en-US" sz="1100" b="1" spc="300" kern="0" dirty="0">
                <a:solidFill>
                  <a:srgbClr val="E74C3C"/>
                </a:solidFill>
                <a:latin typeface="Calibri" pitchFamily="34" charset="0"/>
                <a:ea typeface="Calibri" pitchFamily="34" charset="-122"/>
                <a:cs typeface="Calibri" pitchFamily="34" charset="-120"/>
              </a:rPr>
              <a:t>UNILATÉRAL  ·  À JUSTIFIER</a:t>
            </a:r>
            <a:endParaRPr lang="en-US" sz="1100" dirty="0"/>
          </a:p>
        </p:txBody>
      </p:sp>
      <p:sp>
        <p:nvSpPr>
          <p:cNvPr id="15" name="Text 13"/>
          <p:cNvSpPr/>
          <p:nvPr/>
        </p:nvSpPr>
        <p:spPr>
          <a:xfrm>
            <a:off x="7680960" y="3611880"/>
            <a:ext cx="3931920" cy="457200"/>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H₁ : « A &gt; B » ou « A &lt; B »</a:t>
            </a:r>
            <a:endParaRPr lang="en-US" sz="1300" dirty="0"/>
          </a:p>
        </p:txBody>
      </p:sp>
      <p:sp>
        <p:nvSpPr>
          <p:cNvPr id="16" name="Text 14"/>
          <p:cNvSpPr/>
          <p:nvPr/>
        </p:nvSpPr>
        <p:spPr>
          <a:xfrm>
            <a:off x="7680960" y="4160520"/>
            <a:ext cx="3931920" cy="1828800"/>
          </a:xfrm>
          <a:prstGeom prst="rect">
            <a:avLst/>
          </a:prstGeom>
          <a:noFill/>
          <a:ln/>
        </p:spPr>
        <p:txBody>
          <a:bodyPr wrap="square" rtlCol="0" anchor="ctr"/>
          <a:lstStyle/>
          <a:p>
            <a:pPr indent="0" marL="0">
              <a:lnSpc>
                <a:spcPct val="140000"/>
              </a:lnSpc>
              <a:buNone/>
            </a:pPr>
            <a:r>
              <a:rPr lang="en-US" sz="1100" dirty="0">
                <a:solidFill>
                  <a:srgbClr val="15233F"/>
                </a:solidFill>
                <a:latin typeface="Calibri" pitchFamily="34" charset="0"/>
                <a:ea typeface="Calibri" pitchFamily="34" charset="-122"/>
                <a:cs typeface="Calibri" pitchFamily="34" charset="-120"/>
              </a:rPr>
              <a:t>Plus puissant si la direction est correcte. Doit être déclaré dans le protocole AVANT recueil. Jamais choisir unilatéral pour franchir 0,05 — c'est la chose la plus repérable du monde.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POINT N°4 · LA p-VALUE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3200" b="1" spc="-100" kern="0" dirty="0">
                <a:solidFill>
                  <a:srgbClr val="15233F"/>
                </a:solidFill>
                <a:latin typeface="Calibri" pitchFamily="34" charset="0"/>
                <a:ea typeface="Calibri" pitchFamily="34" charset="-122"/>
                <a:cs typeface="Calibri" pitchFamily="34" charset="-120"/>
              </a:rPr>
              <a:t>La question piège du jury.</a:t>
            </a:r>
            <a:endParaRPr lang="en-US" sz="3200" dirty="0"/>
          </a:p>
        </p:txBody>
      </p:sp>
      <p:sp>
        <p:nvSpPr>
          <p:cNvPr id="6" name="Text 4"/>
          <p:cNvSpPr/>
          <p:nvPr/>
        </p:nvSpPr>
        <p:spPr>
          <a:xfrm>
            <a:off x="640080" y="1874520"/>
            <a:ext cx="10972800" cy="128016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Le scénario classique : ton président de jury te demande, l'air innocent, « concrètement, qu'est-ce que ça signifie p = 0,03 dans votre étude ? ». Un étudiant sur deux répond « ça veut dire que H₀ a 3 % de chances d'être vraie ». C'est faux. La vraie réponse est plus subtile.</a:t>
            </a:r>
            <a:endParaRPr lang="en-US" sz="1400" dirty="0"/>
          </a:p>
        </p:txBody>
      </p:sp>
      <p:sp>
        <p:nvSpPr>
          <p:cNvPr id="7" name="Shape 5"/>
          <p:cNvSpPr/>
          <p:nvPr/>
        </p:nvSpPr>
        <p:spPr>
          <a:xfrm>
            <a:off x="640080" y="3291840"/>
            <a:ext cx="5440680" cy="2743200"/>
          </a:xfrm>
          <a:prstGeom prst="roundRect">
            <a:avLst>
              <a:gd name="adj" fmla="val 3333"/>
            </a:avLst>
          </a:prstGeom>
          <a:solidFill>
            <a:srgbClr val="FFFFFF"/>
          </a:solidFill>
          <a:ln w="19050">
            <a:solidFill>
              <a:srgbClr val="4CAF50"/>
            </a:solidFill>
            <a:prstDash val="solid"/>
          </a:ln>
        </p:spPr>
      </p:sp>
      <p:sp>
        <p:nvSpPr>
          <p:cNvPr id="8" name="Text 6"/>
          <p:cNvSpPr/>
          <p:nvPr/>
        </p:nvSpPr>
        <p:spPr>
          <a:xfrm>
            <a:off x="822960" y="3429000"/>
            <a:ext cx="5029200" cy="320040"/>
          </a:xfrm>
          <a:prstGeom prst="rect">
            <a:avLst/>
          </a:prstGeom>
          <a:noFill/>
          <a:ln/>
        </p:spPr>
        <p:txBody>
          <a:bodyPr wrap="square" rtlCol="0" anchor="ctr"/>
          <a:lstStyle/>
          <a:p>
            <a:pPr indent="0" marL="0">
              <a:buNone/>
            </a:pPr>
            <a:r>
              <a:rPr lang="en-US" sz="1100" b="1" spc="300" kern="0" dirty="0">
                <a:solidFill>
                  <a:srgbClr val="4CAF50"/>
                </a:solidFill>
                <a:latin typeface="Calibri" pitchFamily="34" charset="0"/>
                <a:ea typeface="Calibri" pitchFamily="34" charset="-122"/>
                <a:cs typeface="Calibri" pitchFamily="34" charset="-120"/>
              </a:rPr>
              <a:t>CE QU'ELLE DIT</a:t>
            </a:r>
            <a:endParaRPr lang="en-US" sz="1100" dirty="0"/>
          </a:p>
        </p:txBody>
      </p:sp>
      <p:sp>
        <p:nvSpPr>
          <p:cNvPr id="9" name="Text 7"/>
          <p:cNvSpPr/>
          <p:nvPr/>
        </p:nvSpPr>
        <p:spPr>
          <a:xfrm>
            <a:off x="822960" y="3794760"/>
            <a:ext cx="5074920" cy="1005840"/>
          </a:xfrm>
          <a:prstGeom prst="rect">
            <a:avLst/>
          </a:prstGeom>
          <a:noFill/>
          <a:ln/>
        </p:spPr>
        <p:txBody>
          <a:bodyPr wrap="square" rtlCol="0" anchor="ctr"/>
          <a:lstStyle/>
          <a:p>
            <a:pPr indent="0" marL="0">
              <a:lnSpc>
                <a:spcPct val="130000"/>
              </a:lnSpc>
              <a:buNone/>
            </a:pPr>
            <a:r>
              <a:rPr lang="en-US" sz="1400" b="1" dirty="0">
                <a:solidFill>
                  <a:srgbClr val="15233F"/>
                </a:solidFill>
                <a:latin typeface="Calibri" pitchFamily="34" charset="0"/>
                <a:ea typeface="Calibri" pitchFamily="34" charset="-122"/>
                <a:cs typeface="Calibri" pitchFamily="34" charset="-120"/>
              </a:rPr>
              <a:t>Probabilité d'observer ces données — ou plus extrêmes — SI H₀ était vraie.</a:t>
            </a:r>
            <a:endParaRPr lang="en-US" sz="1400" dirty="0"/>
          </a:p>
        </p:txBody>
      </p:sp>
      <p:sp>
        <p:nvSpPr>
          <p:cNvPr id="10" name="Text 8"/>
          <p:cNvSpPr/>
          <p:nvPr/>
        </p:nvSpPr>
        <p:spPr>
          <a:xfrm>
            <a:off x="822960" y="4846320"/>
            <a:ext cx="5074920" cy="1097280"/>
          </a:xfrm>
          <a:prstGeom prst="rect">
            <a:avLst/>
          </a:prstGeom>
          <a:noFill/>
          <a:ln/>
        </p:spPr>
        <p:txBody>
          <a:bodyPr wrap="square" rtlCol="0" anchor="ctr"/>
          <a:lstStyle/>
          <a:p>
            <a:pPr indent="0" marL="0">
              <a:lnSpc>
                <a:spcPct val="140000"/>
              </a:lnSpc>
              <a:buNone/>
            </a:pPr>
            <a:r>
              <a:rPr lang="en-US" sz="1200" i="1" dirty="0">
                <a:solidFill>
                  <a:srgbClr val="6B7280"/>
                </a:solidFill>
                <a:latin typeface="Calibri" pitchFamily="34" charset="0"/>
                <a:ea typeface="Calibri" pitchFamily="34" charset="-122"/>
                <a:cs typeface="Calibri" pitchFamily="34" charset="-120"/>
              </a:rPr>
              <a:t>C'est une probabilité conditionnée par H₀. Pas une probabilité de H₀ elle-même. La distinction est subtile mais elle pèse lourd en soutenance.</a:t>
            </a:r>
            <a:endParaRPr lang="en-US" sz="1200" dirty="0"/>
          </a:p>
        </p:txBody>
      </p:sp>
      <p:sp>
        <p:nvSpPr>
          <p:cNvPr id="11" name="Shape 9"/>
          <p:cNvSpPr/>
          <p:nvPr/>
        </p:nvSpPr>
        <p:spPr>
          <a:xfrm>
            <a:off x="6291072" y="3291840"/>
            <a:ext cx="5440680" cy="2743200"/>
          </a:xfrm>
          <a:prstGeom prst="roundRect">
            <a:avLst>
              <a:gd name="adj" fmla="val 3333"/>
            </a:avLst>
          </a:prstGeom>
          <a:solidFill>
            <a:srgbClr val="FFFFFF"/>
          </a:solidFill>
          <a:ln w="19050">
            <a:solidFill>
              <a:srgbClr val="E74C3C"/>
            </a:solidFill>
            <a:prstDash val="solid"/>
          </a:ln>
        </p:spPr>
      </p:sp>
      <p:sp>
        <p:nvSpPr>
          <p:cNvPr id="12" name="Text 10"/>
          <p:cNvSpPr/>
          <p:nvPr/>
        </p:nvSpPr>
        <p:spPr>
          <a:xfrm>
            <a:off x="6473952" y="3429000"/>
            <a:ext cx="5029200" cy="320040"/>
          </a:xfrm>
          <a:prstGeom prst="rect">
            <a:avLst/>
          </a:prstGeom>
          <a:noFill/>
          <a:ln/>
        </p:spPr>
        <p:txBody>
          <a:bodyPr wrap="square" rtlCol="0" anchor="ctr"/>
          <a:lstStyle/>
          <a:p>
            <a:pPr indent="0" marL="0">
              <a:buNone/>
            </a:pPr>
            <a:r>
              <a:rPr lang="en-US" sz="1100" b="1" spc="300" kern="0" dirty="0">
                <a:solidFill>
                  <a:srgbClr val="E74C3C"/>
                </a:solidFill>
                <a:latin typeface="Calibri" pitchFamily="34" charset="0"/>
                <a:ea typeface="Calibri" pitchFamily="34" charset="-122"/>
                <a:cs typeface="Calibri" pitchFamily="34" charset="-120"/>
              </a:rPr>
              <a:t>CE QU'ELLE NE DIT PAS</a:t>
            </a:r>
            <a:endParaRPr lang="en-US" sz="1100" dirty="0"/>
          </a:p>
        </p:txBody>
      </p:sp>
      <p:sp>
        <p:nvSpPr>
          <p:cNvPr id="13" name="Text 11"/>
          <p:cNvSpPr/>
          <p:nvPr/>
        </p:nvSpPr>
        <p:spPr>
          <a:xfrm>
            <a:off x="6473952" y="3794760"/>
            <a:ext cx="5074920" cy="365760"/>
          </a:xfrm>
          <a:prstGeom prst="rect">
            <a:avLst/>
          </a:prstGeom>
          <a:noFill/>
          <a:ln/>
        </p:spPr>
        <p:txBody>
          <a:bodyPr wrap="square" rtlCol="0" anchor="ctr"/>
          <a:lstStyle/>
          <a:p>
            <a:pPr indent="0" marL="0">
              <a:buNone/>
            </a:pPr>
            <a:r>
              <a:rPr lang="en-US" sz="1300" dirty="0">
                <a:solidFill>
                  <a:srgbClr val="15233F"/>
                </a:solidFill>
                <a:latin typeface="Calibri" pitchFamily="34" charset="0"/>
                <a:ea typeface="Calibri" pitchFamily="34" charset="-122"/>
                <a:cs typeface="Calibri" pitchFamily="34" charset="-120"/>
              </a:rPr>
              <a:t>Que H₀ est vraie ou fausse.</a:t>
            </a:r>
            <a:endParaRPr lang="en-US" sz="1300" dirty="0"/>
          </a:p>
        </p:txBody>
      </p:sp>
      <p:sp>
        <p:nvSpPr>
          <p:cNvPr id="14" name="Text 12"/>
          <p:cNvSpPr/>
          <p:nvPr/>
        </p:nvSpPr>
        <p:spPr>
          <a:xfrm>
            <a:off x="6473952" y="4160520"/>
            <a:ext cx="5074920" cy="365760"/>
          </a:xfrm>
          <a:prstGeom prst="rect">
            <a:avLst/>
          </a:prstGeom>
          <a:noFill/>
          <a:ln/>
        </p:spPr>
        <p:txBody>
          <a:bodyPr wrap="square" rtlCol="0" anchor="ctr"/>
          <a:lstStyle/>
          <a:p>
            <a:pPr indent="0" marL="0">
              <a:buNone/>
            </a:pPr>
            <a:r>
              <a:rPr lang="en-US" sz="1300" dirty="0">
                <a:solidFill>
                  <a:srgbClr val="15233F"/>
                </a:solidFill>
                <a:latin typeface="Calibri" pitchFamily="34" charset="0"/>
                <a:ea typeface="Calibri" pitchFamily="34" charset="-122"/>
                <a:cs typeface="Calibri" pitchFamily="34" charset="-120"/>
              </a:rPr>
              <a:t>Que ton résultat est important.</a:t>
            </a:r>
            <a:endParaRPr lang="en-US" sz="1300" dirty="0"/>
          </a:p>
        </p:txBody>
      </p:sp>
      <p:sp>
        <p:nvSpPr>
          <p:cNvPr id="15" name="Text 13"/>
          <p:cNvSpPr/>
          <p:nvPr/>
        </p:nvSpPr>
        <p:spPr>
          <a:xfrm>
            <a:off x="6473952" y="4526280"/>
            <a:ext cx="5074920" cy="365760"/>
          </a:xfrm>
          <a:prstGeom prst="rect">
            <a:avLst/>
          </a:prstGeom>
          <a:noFill/>
          <a:ln/>
        </p:spPr>
        <p:txBody>
          <a:bodyPr wrap="square" rtlCol="0" anchor="ctr"/>
          <a:lstStyle/>
          <a:p>
            <a:pPr indent="0" marL="0">
              <a:buNone/>
            </a:pPr>
            <a:r>
              <a:rPr lang="en-US" sz="1300" dirty="0">
                <a:solidFill>
                  <a:srgbClr val="15233F"/>
                </a:solidFill>
                <a:latin typeface="Calibri" pitchFamily="34" charset="0"/>
                <a:ea typeface="Calibri" pitchFamily="34" charset="-122"/>
                <a:cs typeface="Calibri" pitchFamily="34" charset="-120"/>
              </a:rPr>
              <a:t>Que l'effet est cliniquement pertinent.</a:t>
            </a:r>
            <a:endParaRPr lang="en-US" sz="1300" dirty="0"/>
          </a:p>
        </p:txBody>
      </p:sp>
      <p:sp>
        <p:nvSpPr>
          <p:cNvPr id="16" name="Text 14"/>
          <p:cNvSpPr/>
          <p:nvPr/>
        </p:nvSpPr>
        <p:spPr>
          <a:xfrm>
            <a:off x="6473952" y="4983480"/>
            <a:ext cx="5074920" cy="1005840"/>
          </a:xfrm>
          <a:prstGeom prst="rect">
            <a:avLst/>
          </a:prstGeom>
          <a:noFill/>
          <a:ln/>
        </p:spPr>
        <p:txBody>
          <a:bodyPr wrap="square" rtlCol="0" anchor="ctr"/>
          <a:lstStyle/>
          <a:p>
            <a:pPr indent="0" marL="0">
              <a:lnSpc>
                <a:spcPct val="140000"/>
              </a:lnSpc>
              <a:buNone/>
            </a:pPr>
            <a:r>
              <a:rPr lang="en-US" sz="1200" i="1" dirty="0">
                <a:solidFill>
                  <a:srgbClr val="6B7280"/>
                </a:solidFill>
                <a:latin typeface="Calibri" pitchFamily="34" charset="0"/>
                <a:ea typeface="Calibri" pitchFamily="34" charset="-122"/>
                <a:cs typeface="Calibri" pitchFamily="34" charset="-120"/>
              </a:rPr>
              <a:t>p = 0,049 n'est pas « plus fort » que p = 0,051. Le seuil de 5 % est arbitraire — c'est une convention, pas une vérité.</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POINT N°5 · TAILLE D'EFFET</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500" b="1" spc="-100" kern="0" dirty="0">
                <a:solidFill>
                  <a:srgbClr val="15233F"/>
                </a:solidFill>
                <a:latin typeface="Calibri" pitchFamily="34" charset="0"/>
                <a:ea typeface="Calibri" pitchFamily="34" charset="-122"/>
                <a:cs typeface="Calibri" pitchFamily="34" charset="-120"/>
              </a:rPr>
              <a:t>« Statistiquement significatif » ne signifie pas « important ».</a:t>
            </a:r>
            <a:endParaRPr lang="en-US" sz="2500" dirty="0"/>
          </a:p>
        </p:txBody>
      </p:sp>
      <p:sp>
        <p:nvSpPr>
          <p:cNvPr id="6" name="Text 4"/>
          <p:cNvSpPr/>
          <p:nvPr/>
        </p:nvSpPr>
        <p:spPr>
          <a:xfrm>
            <a:off x="640080" y="1874520"/>
            <a:ext cx="10972800" cy="9144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Tu présentes un résultat « significatif » à p &lt; 0,001. Très bien. Quel est l'effet, exactement ? Si tu réponds « p &lt; 0,001 », tu n'as pas répondu à la question. Le jury va creuser.</a:t>
            </a:r>
            <a:endParaRPr lang="en-US" sz="1400" dirty="0"/>
          </a:p>
        </p:txBody>
      </p:sp>
      <p:sp>
        <p:nvSpPr>
          <p:cNvPr id="7" name="Shape 5"/>
          <p:cNvSpPr/>
          <p:nvPr/>
        </p:nvSpPr>
        <p:spPr>
          <a:xfrm>
            <a:off x="640080" y="2880360"/>
            <a:ext cx="5440680" cy="2011680"/>
          </a:xfrm>
          <a:prstGeom prst="roundRect">
            <a:avLst>
              <a:gd name="adj" fmla="val 4545"/>
            </a:avLst>
          </a:prstGeom>
          <a:solidFill>
            <a:srgbClr val="0E1729"/>
          </a:solidFill>
          <a:ln/>
        </p:spPr>
      </p:sp>
      <p:sp>
        <p:nvSpPr>
          <p:cNvPr id="8" name="Text 6"/>
          <p:cNvSpPr/>
          <p:nvPr/>
        </p:nvSpPr>
        <p:spPr>
          <a:xfrm>
            <a:off x="822960" y="3017520"/>
            <a:ext cx="5029200" cy="320040"/>
          </a:xfrm>
          <a:prstGeom prst="rect">
            <a:avLst/>
          </a:prstGeom>
          <a:noFill/>
          <a:ln/>
        </p:spPr>
        <p:txBody>
          <a:bodyPr wrap="square" rtlCol="0" anchor="ctr"/>
          <a:lstStyle/>
          <a:p>
            <a:pPr indent="0" marL="0">
              <a:buNone/>
            </a:pPr>
            <a:r>
              <a:rPr lang="en-US" sz="1100" b="1" spc="300" kern="0" dirty="0">
                <a:solidFill>
                  <a:srgbClr val="F09042"/>
                </a:solidFill>
                <a:latin typeface="Calibri" pitchFamily="34" charset="0"/>
                <a:ea typeface="Calibri" pitchFamily="34" charset="-122"/>
                <a:cs typeface="Calibri" pitchFamily="34" charset="-120"/>
              </a:rPr>
              <a:t>GRANDE ÉTUDE, PETIT EFFET</a:t>
            </a:r>
            <a:endParaRPr lang="en-US" sz="1100" dirty="0"/>
          </a:p>
        </p:txBody>
      </p:sp>
      <p:sp>
        <p:nvSpPr>
          <p:cNvPr id="9" name="Text 7"/>
          <p:cNvSpPr/>
          <p:nvPr/>
        </p:nvSpPr>
        <p:spPr>
          <a:xfrm>
            <a:off x="822960" y="3383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 = 10 000  ·  réduction de 0,5 mmHg</a:t>
            </a:r>
            <a:endParaRPr lang="en-US" sz="1300" dirty="0"/>
          </a:p>
        </p:txBody>
      </p:sp>
      <p:sp>
        <p:nvSpPr>
          <p:cNvPr id="10" name="Text 8"/>
          <p:cNvSpPr/>
          <p:nvPr/>
        </p:nvSpPr>
        <p:spPr>
          <a:xfrm>
            <a:off x="822960" y="3794760"/>
            <a:ext cx="5029200" cy="365760"/>
          </a:xfrm>
          <a:prstGeom prst="rect">
            <a:avLst/>
          </a:prstGeom>
          <a:noFill/>
          <a:ln/>
        </p:spPr>
        <p:txBody>
          <a:bodyPr wrap="square" rtlCol="0" anchor="ctr"/>
          <a:lstStyle/>
          <a:p>
            <a:pPr indent="0" marL="0">
              <a:buNone/>
            </a:pPr>
            <a:r>
              <a:rPr lang="en-US" sz="1300" dirty="0">
                <a:solidFill>
                  <a:srgbClr val="4CAF50"/>
                </a:solidFill>
                <a:latin typeface="Consolas" pitchFamily="34" charset="0"/>
                <a:ea typeface="Consolas" pitchFamily="34" charset="-122"/>
                <a:cs typeface="Consolas" pitchFamily="34" charset="-120"/>
              </a:rPr>
              <a:t>p &lt; 0,001  → statistiquement significatif</a:t>
            </a:r>
            <a:endParaRPr lang="en-US" sz="1300" dirty="0"/>
          </a:p>
        </p:txBody>
      </p:sp>
      <p:sp>
        <p:nvSpPr>
          <p:cNvPr id="11" name="Text 9"/>
          <p:cNvSpPr/>
          <p:nvPr/>
        </p:nvSpPr>
        <p:spPr>
          <a:xfrm>
            <a:off x="822960" y="4206240"/>
            <a:ext cx="5074920" cy="640080"/>
          </a:xfrm>
          <a:prstGeom prst="rect">
            <a:avLst/>
          </a:prstGeom>
          <a:noFill/>
          <a:ln/>
        </p:spPr>
        <p:txBody>
          <a:bodyPr wrap="square" rtlCol="0" anchor="ctr"/>
          <a:lstStyle/>
          <a:p>
            <a:pPr indent="0" marL="0">
              <a:lnSpc>
                <a:spcPct val="130000"/>
              </a:lnSpc>
              <a:buNone/>
            </a:pPr>
            <a:r>
              <a:rPr lang="en-US" sz="1100" i="1" dirty="0">
                <a:solidFill>
                  <a:srgbClr val="C9CFDC"/>
                </a:solidFill>
                <a:latin typeface="Calibri" pitchFamily="34" charset="0"/>
                <a:ea typeface="Calibri" pitchFamily="34" charset="-122"/>
                <a:cs typeface="Calibri" pitchFamily="34" charset="-120"/>
              </a:rPr>
              <a:t>Cliniquement, 0,5 mmHg n'a aucun impact. Le grand N a juste rendu détectable une variation négligeable.</a:t>
            </a:r>
            <a:endParaRPr lang="en-US" sz="1100" dirty="0"/>
          </a:p>
        </p:txBody>
      </p:sp>
      <p:sp>
        <p:nvSpPr>
          <p:cNvPr id="12" name="Shape 10"/>
          <p:cNvSpPr/>
          <p:nvPr/>
        </p:nvSpPr>
        <p:spPr>
          <a:xfrm>
            <a:off x="6291072" y="2880360"/>
            <a:ext cx="5440680" cy="2011680"/>
          </a:xfrm>
          <a:prstGeom prst="roundRect">
            <a:avLst>
              <a:gd name="adj" fmla="val 4545"/>
            </a:avLst>
          </a:prstGeom>
          <a:solidFill>
            <a:srgbClr val="0E1729"/>
          </a:solidFill>
          <a:ln/>
        </p:spPr>
      </p:sp>
      <p:sp>
        <p:nvSpPr>
          <p:cNvPr id="13" name="Text 11"/>
          <p:cNvSpPr/>
          <p:nvPr/>
        </p:nvSpPr>
        <p:spPr>
          <a:xfrm>
            <a:off x="6473952" y="3017520"/>
            <a:ext cx="5029200" cy="320040"/>
          </a:xfrm>
          <a:prstGeom prst="rect">
            <a:avLst/>
          </a:prstGeom>
          <a:noFill/>
          <a:ln/>
        </p:spPr>
        <p:txBody>
          <a:bodyPr wrap="square" rtlCol="0" anchor="ctr"/>
          <a:lstStyle/>
          <a:p>
            <a:pPr indent="0" marL="0">
              <a:buNone/>
            </a:pPr>
            <a:r>
              <a:rPr lang="en-US" sz="1100" b="1" spc="300" kern="0" dirty="0">
                <a:solidFill>
                  <a:srgbClr val="F09042"/>
                </a:solidFill>
                <a:latin typeface="Calibri" pitchFamily="34" charset="0"/>
                <a:ea typeface="Calibri" pitchFamily="34" charset="-122"/>
                <a:cs typeface="Calibri" pitchFamily="34" charset="-120"/>
              </a:rPr>
              <a:t>PETITE ÉTUDE, GROS EFFET</a:t>
            </a:r>
            <a:endParaRPr lang="en-US" sz="1100" dirty="0"/>
          </a:p>
        </p:txBody>
      </p:sp>
      <p:sp>
        <p:nvSpPr>
          <p:cNvPr id="14" name="Text 12"/>
          <p:cNvSpPr/>
          <p:nvPr/>
        </p:nvSpPr>
        <p:spPr>
          <a:xfrm>
            <a:off x="6473952" y="3383280"/>
            <a:ext cx="5029200" cy="36576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N = 20  ·  réduction de 12 mmHg</a:t>
            </a:r>
            <a:endParaRPr lang="en-US" sz="1300" dirty="0"/>
          </a:p>
        </p:txBody>
      </p:sp>
      <p:sp>
        <p:nvSpPr>
          <p:cNvPr id="15" name="Text 13"/>
          <p:cNvSpPr/>
          <p:nvPr/>
        </p:nvSpPr>
        <p:spPr>
          <a:xfrm>
            <a:off x="6473952" y="3794760"/>
            <a:ext cx="5029200" cy="365760"/>
          </a:xfrm>
          <a:prstGeom prst="rect">
            <a:avLst/>
          </a:prstGeom>
          <a:noFill/>
          <a:ln/>
        </p:spPr>
        <p:txBody>
          <a:bodyPr wrap="square" rtlCol="0" anchor="ctr"/>
          <a:lstStyle/>
          <a:p>
            <a:pPr indent="0" marL="0">
              <a:buNone/>
            </a:pPr>
            <a:r>
              <a:rPr lang="en-US" sz="1300" dirty="0">
                <a:solidFill>
                  <a:srgbClr val="E74C3C"/>
                </a:solidFill>
                <a:latin typeface="Consolas" pitchFamily="34" charset="0"/>
                <a:ea typeface="Consolas" pitchFamily="34" charset="-122"/>
                <a:cs typeface="Consolas" pitchFamily="34" charset="-120"/>
              </a:rPr>
              <a:t>p = 0,08  → « non significatif »</a:t>
            </a:r>
            <a:endParaRPr lang="en-US" sz="1300" dirty="0"/>
          </a:p>
        </p:txBody>
      </p:sp>
      <p:sp>
        <p:nvSpPr>
          <p:cNvPr id="16" name="Text 14"/>
          <p:cNvSpPr/>
          <p:nvPr/>
        </p:nvSpPr>
        <p:spPr>
          <a:xfrm>
            <a:off x="6473952" y="4206240"/>
            <a:ext cx="5074920" cy="640080"/>
          </a:xfrm>
          <a:prstGeom prst="rect">
            <a:avLst/>
          </a:prstGeom>
          <a:noFill/>
          <a:ln/>
        </p:spPr>
        <p:txBody>
          <a:bodyPr wrap="square" rtlCol="0" anchor="ctr"/>
          <a:lstStyle/>
          <a:p>
            <a:pPr indent="0" marL="0">
              <a:lnSpc>
                <a:spcPct val="130000"/>
              </a:lnSpc>
              <a:buNone/>
            </a:pPr>
            <a:r>
              <a:rPr lang="en-US" sz="1100" i="1" dirty="0">
                <a:solidFill>
                  <a:srgbClr val="C9CFDC"/>
                </a:solidFill>
                <a:latin typeface="Calibri" pitchFamily="34" charset="0"/>
                <a:ea typeface="Calibri" pitchFamily="34" charset="-122"/>
                <a:cs typeface="Calibri" pitchFamily="34" charset="-120"/>
              </a:rPr>
              <a:t>Pourtant 12 mmHg, c'est énorme cliniquement. L'étude manque juste de puissance pour le confirmer statistiquement.</a:t>
            </a:r>
            <a:endParaRPr lang="en-US" sz="1100" dirty="0"/>
          </a:p>
        </p:txBody>
      </p:sp>
      <p:sp>
        <p:nvSpPr>
          <p:cNvPr id="17" name="Shape 15"/>
          <p:cNvSpPr/>
          <p:nvPr/>
        </p:nvSpPr>
        <p:spPr>
          <a:xfrm>
            <a:off x="640080" y="5074920"/>
            <a:ext cx="11091672" cy="1188720"/>
          </a:xfrm>
          <a:prstGeom prst="roundRect">
            <a:avLst>
              <a:gd name="adj" fmla="val 7692"/>
            </a:avLst>
          </a:prstGeom>
          <a:solidFill>
            <a:srgbClr val="FFFFFF"/>
          </a:solidFill>
          <a:ln w="12700">
            <a:solidFill>
              <a:srgbClr val="F09042"/>
            </a:solidFill>
            <a:prstDash val="solid"/>
          </a:ln>
        </p:spPr>
      </p:sp>
      <p:sp>
        <p:nvSpPr>
          <p:cNvPr id="18" name="Text 16"/>
          <p:cNvSpPr/>
          <p:nvPr/>
        </p:nvSpPr>
        <p:spPr>
          <a:xfrm>
            <a:off x="822960" y="5166360"/>
            <a:ext cx="10515600" cy="274320"/>
          </a:xfrm>
          <a:prstGeom prst="rect">
            <a:avLst/>
          </a:prstGeom>
          <a:noFill/>
          <a:ln/>
        </p:spPr>
        <p:txBody>
          <a:bodyPr wrap="square" rtlCol="0" anchor="ctr"/>
          <a:lstStyle/>
          <a:p>
            <a:pPr indent="0" marL="0">
              <a:buNone/>
            </a:pPr>
            <a:r>
              <a:rPr lang="en-US" sz="1100" b="1" spc="300" kern="0" dirty="0">
                <a:solidFill>
                  <a:srgbClr val="F09042"/>
                </a:solidFill>
                <a:latin typeface="Calibri" pitchFamily="34" charset="0"/>
                <a:ea typeface="Calibri" pitchFamily="34" charset="-122"/>
                <a:cs typeface="Calibri" pitchFamily="34" charset="-120"/>
              </a:rPr>
              <a:t>CE QUE TU DOIS TOUJOURS RAPPORTER</a:t>
            </a:r>
            <a:endParaRPr lang="en-US" sz="1100" dirty="0"/>
          </a:p>
        </p:txBody>
      </p:sp>
      <p:sp>
        <p:nvSpPr>
          <p:cNvPr id="19" name="Text 17"/>
          <p:cNvSpPr/>
          <p:nvPr/>
        </p:nvSpPr>
        <p:spPr>
          <a:xfrm>
            <a:off x="822960" y="5440680"/>
            <a:ext cx="10515600" cy="77724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Cohen's d pour les moyennes  ·  OR / RR / HR pour les ratios  ·  r ou r² pour les corrélations  ·  différence absolue brute toujours, sans exception.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POINT N°6 · INTERVALLE DE CONFIANCE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3000" b="1" spc="-100" kern="0" dirty="0">
                <a:solidFill>
                  <a:srgbClr val="15233F"/>
                </a:solidFill>
                <a:latin typeface="Calibri" pitchFamily="34" charset="0"/>
                <a:ea typeface="Calibri" pitchFamily="34" charset="-122"/>
                <a:cs typeface="Calibri" pitchFamily="34" charset="-120"/>
              </a:rPr>
              <a:t>L'IC95% te dit ce que la p-value cache.</a:t>
            </a:r>
            <a:endParaRPr lang="en-US" sz="3000" dirty="0"/>
          </a:p>
        </p:txBody>
      </p:sp>
      <p:sp>
        <p:nvSpPr>
          <p:cNvPr id="6" name="Text 4"/>
          <p:cNvSpPr/>
          <p:nvPr/>
        </p:nvSpPr>
        <p:spPr>
          <a:xfrm>
            <a:off x="640080" y="1874520"/>
            <a:ext cx="10972800" cy="128016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L'IC95% mesure ta précision d'estimation, pas seulement l'existence d'un effet. Un IC large : « j'ai un effet mais je ne sais pas combien ». Un IC étroit : « j'ai l'effet ET je le mesure bien ». La différence pèse lourd quand un jury creuse.</a:t>
            </a:r>
            <a:endParaRPr lang="en-US" sz="1400" dirty="0"/>
          </a:p>
        </p:txBody>
      </p:sp>
      <p:sp>
        <p:nvSpPr>
          <p:cNvPr id="7" name="Shape 5"/>
          <p:cNvSpPr/>
          <p:nvPr/>
        </p:nvSpPr>
        <p:spPr>
          <a:xfrm>
            <a:off x="640080" y="3200400"/>
            <a:ext cx="3611880" cy="2560320"/>
          </a:xfrm>
          <a:prstGeom prst="roundRect">
            <a:avLst>
              <a:gd name="adj" fmla="val 3571"/>
            </a:avLst>
          </a:prstGeom>
          <a:solidFill>
            <a:srgbClr val="FFFFFF"/>
          </a:solidFill>
          <a:ln w="19050">
            <a:solidFill>
              <a:srgbClr val="4CAF50"/>
            </a:solidFill>
            <a:prstDash val="solid"/>
          </a:ln>
        </p:spPr>
      </p:sp>
      <p:sp>
        <p:nvSpPr>
          <p:cNvPr id="8" name="Text 6"/>
          <p:cNvSpPr/>
          <p:nvPr/>
        </p:nvSpPr>
        <p:spPr>
          <a:xfrm>
            <a:off x="822960" y="3337560"/>
            <a:ext cx="3246120" cy="320040"/>
          </a:xfrm>
          <a:prstGeom prst="rect">
            <a:avLst/>
          </a:prstGeom>
          <a:noFill/>
          <a:ln/>
        </p:spPr>
        <p:txBody>
          <a:bodyPr wrap="square" rtlCol="0" anchor="ctr"/>
          <a:lstStyle/>
          <a:p>
            <a:pPr indent="0" marL="0">
              <a:buNone/>
            </a:pPr>
            <a:r>
              <a:rPr lang="en-US" sz="1100" b="1" spc="300" kern="0" dirty="0">
                <a:solidFill>
                  <a:srgbClr val="4CAF50"/>
                </a:solidFill>
                <a:latin typeface="Calibri" pitchFamily="34" charset="0"/>
                <a:ea typeface="Calibri" pitchFamily="34" charset="-122"/>
                <a:cs typeface="Calibri" pitchFamily="34" charset="-120"/>
              </a:rPr>
              <a:t>IC ÉTROIT</a:t>
            </a:r>
            <a:endParaRPr lang="en-US" sz="1100" dirty="0"/>
          </a:p>
        </p:txBody>
      </p:sp>
      <p:sp>
        <p:nvSpPr>
          <p:cNvPr id="9" name="Text 7"/>
          <p:cNvSpPr/>
          <p:nvPr/>
        </p:nvSpPr>
        <p:spPr>
          <a:xfrm>
            <a:off x="822960" y="3657600"/>
            <a:ext cx="3246120" cy="502920"/>
          </a:xfrm>
          <a:prstGeom prst="rect">
            <a:avLst/>
          </a:prstGeom>
          <a:noFill/>
          <a:ln/>
        </p:spPr>
        <p:txBody>
          <a:bodyPr wrap="square" rtlCol="0" anchor="ctr"/>
          <a:lstStyle/>
          <a:p>
            <a:pPr indent="0" marL="0">
              <a:buNone/>
            </a:pPr>
            <a:r>
              <a:rPr lang="en-US" sz="2200" b="1" dirty="0">
                <a:solidFill>
                  <a:srgbClr val="15233F"/>
                </a:solidFill>
                <a:latin typeface="Consolas" pitchFamily="34" charset="0"/>
                <a:ea typeface="Consolas" pitchFamily="34" charset="-122"/>
                <a:cs typeface="Consolas" pitchFamily="34" charset="-120"/>
              </a:rPr>
              <a:t>OR = 2,4</a:t>
            </a:r>
            <a:endParaRPr lang="en-US" sz="2200" dirty="0"/>
          </a:p>
        </p:txBody>
      </p:sp>
      <p:sp>
        <p:nvSpPr>
          <p:cNvPr id="10" name="Text 8"/>
          <p:cNvSpPr/>
          <p:nvPr/>
        </p:nvSpPr>
        <p:spPr>
          <a:xfrm>
            <a:off x="822960" y="4206240"/>
            <a:ext cx="3246120" cy="411480"/>
          </a:xfrm>
          <a:prstGeom prst="rect">
            <a:avLst/>
          </a:prstGeom>
          <a:noFill/>
          <a:ln/>
        </p:spPr>
        <p:txBody>
          <a:bodyPr wrap="square" rtlCol="0" anchor="ctr"/>
          <a:lstStyle/>
          <a:p>
            <a:pPr indent="0" marL="0">
              <a:buNone/>
            </a:pPr>
            <a:r>
              <a:rPr lang="en-US" sz="1400" dirty="0">
                <a:solidFill>
                  <a:srgbClr val="15233F"/>
                </a:solidFill>
                <a:latin typeface="Consolas" pitchFamily="34" charset="0"/>
                <a:ea typeface="Consolas" pitchFamily="34" charset="-122"/>
                <a:cs typeface="Consolas" pitchFamily="34" charset="-120"/>
              </a:rPr>
              <a:t>IC95% [1,9 ; 3,0]</a:t>
            </a:r>
            <a:endParaRPr lang="en-US" sz="1400" dirty="0"/>
          </a:p>
        </p:txBody>
      </p:sp>
      <p:sp>
        <p:nvSpPr>
          <p:cNvPr id="11" name="Text 9"/>
          <p:cNvSpPr/>
          <p:nvPr/>
        </p:nvSpPr>
        <p:spPr>
          <a:xfrm>
            <a:off x="822960" y="4709160"/>
            <a:ext cx="3246120" cy="100584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Estimation précise. Effet clairement supérieur à 1. Conclusion robuste.</a:t>
            </a:r>
            <a:endParaRPr lang="en-US" sz="1100" dirty="0"/>
          </a:p>
        </p:txBody>
      </p:sp>
      <p:sp>
        <p:nvSpPr>
          <p:cNvPr id="12" name="Shape 10"/>
          <p:cNvSpPr/>
          <p:nvPr/>
        </p:nvSpPr>
        <p:spPr>
          <a:xfrm>
            <a:off x="4343400" y="3200400"/>
            <a:ext cx="3611880" cy="2560320"/>
          </a:xfrm>
          <a:prstGeom prst="roundRect">
            <a:avLst>
              <a:gd name="adj" fmla="val 3571"/>
            </a:avLst>
          </a:prstGeom>
          <a:solidFill>
            <a:srgbClr val="FFFFFF"/>
          </a:solidFill>
          <a:ln w="19050">
            <a:solidFill>
              <a:srgbClr val="E74C3C"/>
            </a:solidFill>
            <a:prstDash val="solid"/>
          </a:ln>
        </p:spPr>
      </p:sp>
      <p:sp>
        <p:nvSpPr>
          <p:cNvPr id="13" name="Text 11"/>
          <p:cNvSpPr/>
          <p:nvPr/>
        </p:nvSpPr>
        <p:spPr>
          <a:xfrm>
            <a:off x="4526280" y="3337560"/>
            <a:ext cx="3246120" cy="320040"/>
          </a:xfrm>
          <a:prstGeom prst="rect">
            <a:avLst/>
          </a:prstGeom>
          <a:noFill/>
          <a:ln/>
        </p:spPr>
        <p:txBody>
          <a:bodyPr wrap="square" rtlCol="0" anchor="ctr"/>
          <a:lstStyle/>
          <a:p>
            <a:pPr indent="0" marL="0">
              <a:buNone/>
            </a:pPr>
            <a:r>
              <a:rPr lang="en-US" sz="1100" b="1" spc="300" kern="0" dirty="0">
                <a:solidFill>
                  <a:srgbClr val="E74C3C"/>
                </a:solidFill>
                <a:latin typeface="Calibri" pitchFamily="34" charset="0"/>
                <a:ea typeface="Calibri" pitchFamily="34" charset="-122"/>
                <a:cs typeface="Calibri" pitchFamily="34" charset="-120"/>
              </a:rPr>
              <a:t>IC LARGE</a:t>
            </a:r>
            <a:endParaRPr lang="en-US" sz="1100" dirty="0"/>
          </a:p>
        </p:txBody>
      </p:sp>
      <p:sp>
        <p:nvSpPr>
          <p:cNvPr id="14" name="Text 12"/>
          <p:cNvSpPr/>
          <p:nvPr/>
        </p:nvSpPr>
        <p:spPr>
          <a:xfrm>
            <a:off x="4526280" y="3657600"/>
            <a:ext cx="3246120" cy="502920"/>
          </a:xfrm>
          <a:prstGeom prst="rect">
            <a:avLst/>
          </a:prstGeom>
          <a:noFill/>
          <a:ln/>
        </p:spPr>
        <p:txBody>
          <a:bodyPr wrap="square" rtlCol="0" anchor="ctr"/>
          <a:lstStyle/>
          <a:p>
            <a:pPr indent="0" marL="0">
              <a:buNone/>
            </a:pPr>
            <a:r>
              <a:rPr lang="en-US" sz="2200" b="1" dirty="0">
                <a:solidFill>
                  <a:srgbClr val="15233F"/>
                </a:solidFill>
                <a:latin typeface="Consolas" pitchFamily="34" charset="0"/>
                <a:ea typeface="Consolas" pitchFamily="34" charset="-122"/>
                <a:cs typeface="Consolas" pitchFamily="34" charset="-120"/>
              </a:rPr>
              <a:t>OR = 2,4</a:t>
            </a:r>
            <a:endParaRPr lang="en-US" sz="2200" dirty="0"/>
          </a:p>
        </p:txBody>
      </p:sp>
      <p:sp>
        <p:nvSpPr>
          <p:cNvPr id="15" name="Text 13"/>
          <p:cNvSpPr/>
          <p:nvPr/>
        </p:nvSpPr>
        <p:spPr>
          <a:xfrm>
            <a:off x="4526280" y="4206240"/>
            <a:ext cx="3246120" cy="411480"/>
          </a:xfrm>
          <a:prstGeom prst="rect">
            <a:avLst/>
          </a:prstGeom>
          <a:noFill/>
          <a:ln/>
        </p:spPr>
        <p:txBody>
          <a:bodyPr wrap="square" rtlCol="0" anchor="ctr"/>
          <a:lstStyle/>
          <a:p>
            <a:pPr indent="0" marL="0">
              <a:buNone/>
            </a:pPr>
            <a:r>
              <a:rPr lang="en-US" sz="1400" dirty="0">
                <a:solidFill>
                  <a:srgbClr val="15233F"/>
                </a:solidFill>
                <a:latin typeface="Consolas" pitchFamily="34" charset="0"/>
                <a:ea typeface="Consolas" pitchFamily="34" charset="-122"/>
                <a:cs typeface="Consolas" pitchFamily="34" charset="-120"/>
              </a:rPr>
              <a:t>IC95% [0,7 ; 8,2]</a:t>
            </a:r>
            <a:endParaRPr lang="en-US" sz="1400" dirty="0"/>
          </a:p>
        </p:txBody>
      </p:sp>
      <p:sp>
        <p:nvSpPr>
          <p:cNvPr id="16" name="Text 14"/>
          <p:cNvSpPr/>
          <p:nvPr/>
        </p:nvSpPr>
        <p:spPr>
          <a:xfrm>
            <a:off x="4526280" y="4709160"/>
            <a:ext cx="3246120" cy="100584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Estimation imprécise. L'IC croise 1 — tu ne peux pas conclure à une association.</a:t>
            </a:r>
            <a:endParaRPr lang="en-US" sz="1100" dirty="0"/>
          </a:p>
        </p:txBody>
      </p:sp>
      <p:sp>
        <p:nvSpPr>
          <p:cNvPr id="17" name="Shape 15"/>
          <p:cNvSpPr/>
          <p:nvPr/>
        </p:nvSpPr>
        <p:spPr>
          <a:xfrm>
            <a:off x="8046720" y="3200400"/>
            <a:ext cx="3611880" cy="2560320"/>
          </a:xfrm>
          <a:prstGeom prst="roundRect">
            <a:avLst>
              <a:gd name="adj" fmla="val 3571"/>
            </a:avLst>
          </a:prstGeom>
          <a:solidFill>
            <a:srgbClr val="FFFFFF"/>
          </a:solidFill>
          <a:ln w="19050">
            <a:solidFill>
              <a:srgbClr val="4CAF50"/>
            </a:solidFill>
            <a:prstDash val="solid"/>
          </a:ln>
        </p:spPr>
      </p:sp>
      <p:sp>
        <p:nvSpPr>
          <p:cNvPr id="18" name="Text 16"/>
          <p:cNvSpPr/>
          <p:nvPr/>
        </p:nvSpPr>
        <p:spPr>
          <a:xfrm>
            <a:off x="8229600" y="3337560"/>
            <a:ext cx="3246120" cy="320040"/>
          </a:xfrm>
          <a:prstGeom prst="rect">
            <a:avLst/>
          </a:prstGeom>
          <a:noFill/>
          <a:ln/>
        </p:spPr>
        <p:txBody>
          <a:bodyPr wrap="square" rtlCol="0" anchor="ctr"/>
          <a:lstStyle/>
          <a:p>
            <a:pPr indent="0" marL="0">
              <a:buNone/>
            </a:pPr>
            <a:r>
              <a:rPr lang="en-US" sz="1100" b="1" spc="300" kern="0" dirty="0">
                <a:solidFill>
                  <a:srgbClr val="4CAF50"/>
                </a:solidFill>
                <a:latin typeface="Calibri" pitchFamily="34" charset="0"/>
                <a:ea typeface="Calibri" pitchFamily="34" charset="-122"/>
                <a:cs typeface="Calibri" pitchFamily="34" charset="-120"/>
              </a:rPr>
              <a:t>IC ASYMÉTRIQUE</a:t>
            </a:r>
            <a:endParaRPr lang="en-US" sz="1100" dirty="0"/>
          </a:p>
        </p:txBody>
      </p:sp>
      <p:sp>
        <p:nvSpPr>
          <p:cNvPr id="19" name="Text 17"/>
          <p:cNvSpPr/>
          <p:nvPr/>
        </p:nvSpPr>
        <p:spPr>
          <a:xfrm>
            <a:off x="8229600" y="3657600"/>
            <a:ext cx="3246120" cy="502920"/>
          </a:xfrm>
          <a:prstGeom prst="rect">
            <a:avLst/>
          </a:prstGeom>
          <a:noFill/>
          <a:ln/>
        </p:spPr>
        <p:txBody>
          <a:bodyPr wrap="square" rtlCol="0" anchor="ctr"/>
          <a:lstStyle/>
          <a:p>
            <a:pPr indent="0" marL="0">
              <a:buNone/>
            </a:pPr>
            <a:r>
              <a:rPr lang="en-US" sz="2200" b="1" dirty="0">
                <a:solidFill>
                  <a:srgbClr val="15233F"/>
                </a:solidFill>
                <a:latin typeface="Consolas" pitchFamily="34" charset="0"/>
                <a:ea typeface="Consolas" pitchFamily="34" charset="-122"/>
                <a:cs typeface="Consolas" pitchFamily="34" charset="-120"/>
              </a:rPr>
              <a:t>OR = 5,1</a:t>
            </a:r>
            <a:endParaRPr lang="en-US" sz="2200" dirty="0"/>
          </a:p>
        </p:txBody>
      </p:sp>
      <p:sp>
        <p:nvSpPr>
          <p:cNvPr id="20" name="Text 18"/>
          <p:cNvSpPr/>
          <p:nvPr/>
        </p:nvSpPr>
        <p:spPr>
          <a:xfrm>
            <a:off x="8229600" y="4206240"/>
            <a:ext cx="3246120" cy="411480"/>
          </a:xfrm>
          <a:prstGeom prst="rect">
            <a:avLst/>
          </a:prstGeom>
          <a:noFill/>
          <a:ln/>
        </p:spPr>
        <p:txBody>
          <a:bodyPr wrap="square" rtlCol="0" anchor="ctr"/>
          <a:lstStyle/>
          <a:p>
            <a:pPr indent="0" marL="0">
              <a:buNone/>
            </a:pPr>
            <a:r>
              <a:rPr lang="en-US" sz="1400" dirty="0">
                <a:solidFill>
                  <a:srgbClr val="15233F"/>
                </a:solidFill>
                <a:latin typeface="Consolas" pitchFamily="34" charset="0"/>
                <a:ea typeface="Consolas" pitchFamily="34" charset="-122"/>
                <a:cs typeface="Consolas" pitchFamily="34" charset="-120"/>
              </a:rPr>
              <a:t>IC95% [3,2 ; 8,1]</a:t>
            </a:r>
            <a:endParaRPr lang="en-US" sz="1400" dirty="0"/>
          </a:p>
        </p:txBody>
      </p:sp>
      <p:sp>
        <p:nvSpPr>
          <p:cNvPr id="21" name="Text 19"/>
          <p:cNvSpPr/>
          <p:nvPr/>
        </p:nvSpPr>
        <p:spPr>
          <a:xfrm>
            <a:off x="8229600" y="4709160"/>
            <a:ext cx="3246120" cy="1005840"/>
          </a:xfrm>
          <a:prstGeom prst="rect">
            <a:avLst/>
          </a:prstGeom>
          <a:noFill/>
          <a:ln/>
        </p:spPr>
        <p:txBody>
          <a:bodyPr wrap="square" rtlCol="0" anchor="ctr"/>
          <a:lstStyle/>
          <a:p>
            <a:pPr indent="0" marL="0">
              <a:lnSpc>
                <a:spcPct val="130000"/>
              </a:lnSpc>
              <a:buNone/>
            </a:pPr>
            <a:r>
              <a:rPr lang="en-US" sz="1100" i="1" dirty="0">
                <a:solidFill>
                  <a:srgbClr val="6B7280"/>
                </a:solidFill>
                <a:latin typeface="Calibri" pitchFamily="34" charset="0"/>
                <a:ea typeface="Calibri" pitchFamily="34" charset="-122"/>
                <a:cs typeface="Calibri" pitchFamily="34" charset="-120"/>
              </a:rPr>
              <a:t>Effet fort et précis. Largement supérieur à 1. Tu défends ça sans broncher.</a:t>
            </a:r>
            <a:endParaRPr lang="en-US" sz="1100" dirty="0"/>
          </a:p>
        </p:txBody>
      </p:sp>
      <p:sp>
        <p:nvSpPr>
          <p:cNvPr id="22" name="Text 20"/>
          <p:cNvSpPr/>
          <p:nvPr/>
        </p:nvSpPr>
        <p:spPr>
          <a:xfrm>
            <a:off x="640080" y="5897880"/>
            <a:ext cx="10972800" cy="41148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Règle pratique : un IC95% qui ne croise pas zéro (différence) ou un (ratio) équivaut à p &lt; 0,05. Mais l'IC te dit aussi si tu es à un poil de la non-significativité ou très loin de H₀.</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9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PRÉALABLE · NORMALITÉ</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Shapiro-Wilk + QQ-plot. Toujours les deux.</a:t>
            </a:r>
            <a:endParaRPr lang="en-US" sz="2800" dirty="0"/>
          </a:p>
        </p:txBody>
      </p:sp>
      <p:sp>
        <p:nvSpPr>
          <p:cNvPr id="6" name="Text 4"/>
          <p:cNvSpPr/>
          <p:nvPr/>
        </p:nvSpPr>
        <p:spPr>
          <a:xfrm>
            <a:off x="640080" y="1874520"/>
            <a:ext cx="10972800" cy="128016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Quand tu testes la normalité, ne te fie pas qu'à Shapiro. Sur N = 30, il rate des écarts visibles à l'œil. Sur N = 1 000, il rejette pour des écarts microscopiques sans conséquence pratique. Le QQ-plot est ton garde-fou visuel.</a:t>
            </a:r>
            <a:endParaRPr lang="en-US" sz="1400" dirty="0"/>
          </a:p>
        </p:txBody>
      </p:sp>
      <p:sp>
        <p:nvSpPr>
          <p:cNvPr id="7" name="Shape 5"/>
          <p:cNvSpPr/>
          <p:nvPr/>
        </p:nvSpPr>
        <p:spPr>
          <a:xfrm>
            <a:off x="640080" y="3246120"/>
            <a:ext cx="5486400" cy="2468880"/>
          </a:xfrm>
          <a:prstGeom prst="roundRect">
            <a:avLst>
              <a:gd name="adj" fmla="val 1852"/>
            </a:avLst>
          </a:prstGeom>
          <a:solidFill>
            <a:srgbClr val="1A2541"/>
          </a:solidFill>
          <a:ln w="6350">
            <a:solidFill>
              <a:srgbClr val="F09042"/>
            </a:solidFill>
            <a:prstDash val="solid"/>
          </a:ln>
        </p:spPr>
      </p:sp>
      <p:sp>
        <p:nvSpPr>
          <p:cNvPr id="8" name="Shape 6"/>
          <p:cNvSpPr/>
          <p:nvPr/>
        </p:nvSpPr>
        <p:spPr>
          <a:xfrm>
            <a:off x="777240" y="3355848"/>
            <a:ext cx="365760" cy="256032"/>
          </a:xfrm>
          <a:prstGeom prst="roundRect">
            <a:avLst>
              <a:gd name="adj" fmla="val 14286"/>
            </a:avLst>
          </a:prstGeom>
          <a:solidFill>
            <a:srgbClr val="F09042"/>
          </a:solidFill>
          <a:ln/>
        </p:spPr>
      </p:sp>
      <p:sp>
        <p:nvSpPr>
          <p:cNvPr id="9" name="Text 7"/>
          <p:cNvSpPr/>
          <p:nvPr/>
        </p:nvSpPr>
        <p:spPr>
          <a:xfrm>
            <a:off x="777240" y="335584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703320"/>
            <a:ext cx="5212080" cy="1920240"/>
          </a:xfrm>
          <a:prstGeom prst="rect">
            <a:avLst/>
          </a:prstGeom>
          <a:noFill/>
          <a:ln/>
        </p:spPr>
        <p:txBody>
          <a:bodyPr wrap="square" rtlCol="0" anchor="t"/>
          <a:lstStyle/>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Test</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shapiro.test(donnees$tension)</a:t>
            </a:r>
            <a:endParaRPr lang="en-US" sz="1100" dirty="0"/>
          </a:p>
          <a:p>
            <a:pPr indent="0" marL="0">
              <a:lnSpc>
                <a:spcPct val="140000"/>
              </a:lnSpc>
              <a:buNone/>
            </a:pP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Toujours doublé par le QQ-plot</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qqnorm(donnees$tension,</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main = "QQ-plot tension")</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qqline(donnees$tension,</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col = "red", lwd = 2)</a:t>
            </a:r>
            <a:endParaRPr lang="en-US" sz="1100" dirty="0"/>
          </a:p>
        </p:txBody>
      </p:sp>
      <p:sp>
        <p:nvSpPr>
          <p:cNvPr id="11" name="Shape 9"/>
          <p:cNvSpPr/>
          <p:nvPr/>
        </p:nvSpPr>
        <p:spPr>
          <a:xfrm>
            <a:off x="6400800" y="3246120"/>
            <a:ext cx="5330952" cy="2468880"/>
          </a:xfrm>
          <a:prstGeom prst="roundRect">
            <a:avLst>
              <a:gd name="adj" fmla="val 1852"/>
            </a:avLst>
          </a:prstGeom>
          <a:solidFill>
            <a:srgbClr val="1A2541"/>
          </a:solidFill>
          <a:ln w="6350">
            <a:solidFill>
              <a:srgbClr val="6B7280"/>
            </a:solidFill>
            <a:prstDash val="dash"/>
          </a:ln>
        </p:spPr>
      </p:sp>
      <p:sp>
        <p:nvSpPr>
          <p:cNvPr id="12" name="Text 10"/>
          <p:cNvSpPr/>
          <p:nvPr/>
        </p:nvSpPr>
        <p:spPr>
          <a:xfrm>
            <a:off x="6537960" y="3337560"/>
            <a:ext cx="914400" cy="228600"/>
          </a:xfrm>
          <a:prstGeom prst="rect">
            <a:avLst/>
          </a:prstGeom>
          <a:noFill/>
          <a:ln/>
        </p:spPr>
        <p:txBody>
          <a:bodyPr wrap="square" rtlCol="0" anchor="ctr"/>
          <a:lstStyle/>
          <a:p>
            <a:pPr indent="0" marL="0">
              <a:buNone/>
            </a:pPr>
            <a:r>
              <a:rPr lang="en-US" sz="900" b="1" spc="300" kern="0" dirty="0">
                <a:solidFill>
                  <a:srgbClr val="C9CFDC"/>
                </a:solidFill>
                <a:latin typeface="Calibri" pitchFamily="34" charset="0"/>
                <a:ea typeface="Calibri" pitchFamily="34" charset="-122"/>
                <a:cs typeface="Calibri" pitchFamily="34" charset="-120"/>
              </a:rPr>
              <a:t>SORTIE</a:t>
            </a:r>
            <a:endParaRPr lang="en-US" sz="900" dirty="0"/>
          </a:p>
        </p:txBody>
      </p:sp>
      <p:sp>
        <p:nvSpPr>
          <p:cNvPr id="13" name="Text 11"/>
          <p:cNvSpPr/>
          <p:nvPr/>
        </p:nvSpPr>
        <p:spPr>
          <a:xfrm>
            <a:off x="6583680" y="3611880"/>
            <a:ext cx="5056632" cy="2011680"/>
          </a:xfrm>
          <a:prstGeom prst="rect">
            <a:avLst/>
          </a:prstGeom>
          <a:noFill/>
          <a:ln/>
        </p:spPr>
        <p:txBody>
          <a:bodyPr wrap="square" rtlCol="0" anchor="t"/>
          <a:lstStyle/>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Shapiro-Wilk normality test</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data:  donnees$tension</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W = 0.987, p-value = 0.234</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p &gt; 0,05, on ne rejette pas</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la normalité.</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Si les points du QQ-plot</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suivent la ligne : test</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paramétrique acceptable.</a:t>
            </a:r>
            <a:endParaRPr lang="en-US" sz="1100" dirty="0"/>
          </a:p>
        </p:txBody>
      </p:sp>
      <p:sp>
        <p:nvSpPr>
          <p:cNvPr id="14" name="Text 12"/>
          <p:cNvSpPr/>
          <p:nvPr/>
        </p:nvSpPr>
        <p:spPr>
          <a:xfrm>
            <a:off x="640080" y="5897880"/>
            <a:ext cx="10972800" cy="36576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Sur les gros échantillons, Shapiro rejette presque toujours — fais confiance au QQ-plot avant tout.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10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PRÉALABLE · VARIANCES</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3000" b="1" spc="-100" kern="0" dirty="0">
                <a:solidFill>
                  <a:srgbClr val="15233F"/>
                </a:solidFill>
                <a:latin typeface="Calibri" pitchFamily="34" charset="0"/>
                <a:ea typeface="Calibri" pitchFamily="34" charset="-122"/>
                <a:cs typeface="Calibri" pitchFamily="34" charset="-120"/>
              </a:rPr>
              <a:t>Variances inégales : Welch, pas Student.</a:t>
            </a:r>
            <a:endParaRPr lang="en-US" sz="3000" dirty="0"/>
          </a:p>
        </p:txBody>
      </p:sp>
      <p:sp>
        <p:nvSpPr>
          <p:cNvPr id="6" name="Text 4"/>
          <p:cNvSpPr/>
          <p:nvPr/>
        </p:nvSpPr>
        <p:spPr>
          <a:xfrm>
            <a:off x="640080" y="1874520"/>
            <a:ext cx="10972800" cy="137160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Le t-test de Student suppose des variances comparables entre groupes. Si elles diffèrent, tes résultats sont biaisés. Levene vérifie. Mais en routine, je saute souvent Levene et je lance directement Welch : il est robuste aux variances inégales, sans préalable nécessaire.</a:t>
            </a:r>
            <a:endParaRPr lang="en-US" sz="1400" dirty="0"/>
          </a:p>
        </p:txBody>
      </p:sp>
      <p:sp>
        <p:nvSpPr>
          <p:cNvPr id="7" name="Shape 5"/>
          <p:cNvSpPr/>
          <p:nvPr/>
        </p:nvSpPr>
        <p:spPr>
          <a:xfrm>
            <a:off x="640080" y="3337560"/>
            <a:ext cx="5486400" cy="2560320"/>
          </a:xfrm>
          <a:prstGeom prst="roundRect">
            <a:avLst>
              <a:gd name="adj" fmla="val 1786"/>
            </a:avLst>
          </a:prstGeom>
          <a:solidFill>
            <a:srgbClr val="1A2541"/>
          </a:solidFill>
          <a:ln w="6350">
            <a:solidFill>
              <a:srgbClr val="F09042"/>
            </a:solidFill>
            <a:prstDash val="solid"/>
          </a:ln>
        </p:spPr>
      </p:sp>
      <p:sp>
        <p:nvSpPr>
          <p:cNvPr id="8" name="Shape 6"/>
          <p:cNvSpPr/>
          <p:nvPr/>
        </p:nvSpPr>
        <p:spPr>
          <a:xfrm>
            <a:off x="777240" y="3447288"/>
            <a:ext cx="365760" cy="256032"/>
          </a:xfrm>
          <a:prstGeom prst="roundRect">
            <a:avLst>
              <a:gd name="adj" fmla="val 14286"/>
            </a:avLst>
          </a:prstGeom>
          <a:solidFill>
            <a:srgbClr val="F09042"/>
          </a:solidFill>
          <a:ln/>
        </p:spPr>
      </p:sp>
      <p:sp>
        <p:nvSpPr>
          <p:cNvPr id="9" name="Text 7"/>
          <p:cNvSpPr/>
          <p:nvPr/>
        </p:nvSpPr>
        <p:spPr>
          <a:xfrm>
            <a:off x="777240" y="344728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794760"/>
            <a:ext cx="5212080" cy="2011680"/>
          </a:xfrm>
          <a:prstGeom prst="rect">
            <a:avLst/>
          </a:prstGeom>
          <a:noFill/>
          <a:ln/>
        </p:spPr>
        <p:txBody>
          <a:bodyPr wrap="square" rtlCol="0" anchor="t"/>
          <a:lstStyle/>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Vérification (optionnelle)</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library(car)</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leveneTest(tension ~ groupe,</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data = donnees)</a:t>
            </a:r>
            <a:endParaRPr lang="en-US" sz="1100" dirty="0"/>
          </a:p>
          <a:p>
            <a:pPr indent="0" marL="0">
              <a:lnSpc>
                <a:spcPct val="140000"/>
              </a:lnSpc>
              <a:buNone/>
            </a:pP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En routine : Welch direct</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t.test(tension ~ groupe,</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data = donnees,</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var.equal = FALSE)</a:t>
            </a:r>
            <a:endParaRPr lang="en-US" sz="1100" dirty="0"/>
          </a:p>
        </p:txBody>
      </p:sp>
      <p:sp>
        <p:nvSpPr>
          <p:cNvPr id="11" name="Shape 9"/>
          <p:cNvSpPr/>
          <p:nvPr/>
        </p:nvSpPr>
        <p:spPr>
          <a:xfrm>
            <a:off x="6400800" y="3337560"/>
            <a:ext cx="5330952" cy="2560320"/>
          </a:xfrm>
          <a:prstGeom prst="roundRect">
            <a:avLst>
              <a:gd name="adj" fmla="val 1786"/>
            </a:avLst>
          </a:prstGeom>
          <a:solidFill>
            <a:srgbClr val="1A2541"/>
          </a:solidFill>
          <a:ln w="6350">
            <a:solidFill>
              <a:srgbClr val="6B7280"/>
            </a:solidFill>
            <a:prstDash val="dash"/>
          </a:ln>
        </p:spPr>
      </p:sp>
      <p:sp>
        <p:nvSpPr>
          <p:cNvPr id="12" name="Text 10"/>
          <p:cNvSpPr/>
          <p:nvPr/>
        </p:nvSpPr>
        <p:spPr>
          <a:xfrm>
            <a:off x="6537960" y="3429000"/>
            <a:ext cx="914400" cy="228600"/>
          </a:xfrm>
          <a:prstGeom prst="rect">
            <a:avLst/>
          </a:prstGeom>
          <a:noFill/>
          <a:ln/>
        </p:spPr>
        <p:txBody>
          <a:bodyPr wrap="square" rtlCol="0" anchor="ctr"/>
          <a:lstStyle/>
          <a:p>
            <a:pPr indent="0" marL="0">
              <a:buNone/>
            </a:pPr>
            <a:r>
              <a:rPr lang="en-US" sz="900" b="1" spc="300" kern="0" dirty="0">
                <a:solidFill>
                  <a:srgbClr val="C9CFDC"/>
                </a:solidFill>
                <a:latin typeface="Calibri" pitchFamily="34" charset="0"/>
                <a:ea typeface="Calibri" pitchFamily="34" charset="-122"/>
                <a:cs typeface="Calibri" pitchFamily="34" charset="-120"/>
              </a:rPr>
              <a:t>SORTIE</a:t>
            </a:r>
            <a:endParaRPr lang="en-US" sz="900" dirty="0"/>
          </a:p>
        </p:txBody>
      </p:sp>
      <p:sp>
        <p:nvSpPr>
          <p:cNvPr id="13" name="Text 11"/>
          <p:cNvSpPr/>
          <p:nvPr/>
        </p:nvSpPr>
        <p:spPr>
          <a:xfrm>
            <a:off x="6583680" y="3703320"/>
            <a:ext cx="5056632" cy="2103120"/>
          </a:xfrm>
          <a:prstGeom prst="rect">
            <a:avLst/>
          </a:prstGeom>
          <a:noFill/>
          <a:ln/>
        </p:spPr>
        <p:txBody>
          <a:bodyPr wrap="square" rtlCol="0" anchor="t"/>
          <a:lstStyle/>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Levene's Test for Homogeneity</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of Variance (center = median)</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Df  F value  Pr(&gt;F)</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group   1  4.521    0.038 *</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58</a:t>
            </a:r>
            <a:endParaRPr lang="en-US" sz="1100" dirty="0"/>
          </a:p>
          <a:p>
            <a:pPr indent="0" marL="0">
              <a:lnSpc>
                <a:spcPct val="130000"/>
              </a:lnSpc>
              <a:buNone/>
            </a:pP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Variances inégales.</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Utiliser Welch dans tous</a:t>
            </a:r>
            <a:endParaRPr lang="en-US" sz="1100" dirty="0"/>
          </a:p>
          <a:p>
            <a:pPr indent="0" marL="0">
              <a:lnSpc>
                <a:spcPct val="130000"/>
              </a:lnSpc>
              <a:buNone/>
            </a:pPr>
            <a:r>
              <a:rPr lang="en-US" sz="1100" dirty="0">
                <a:solidFill>
                  <a:srgbClr val="FFFFFF"/>
                </a:solidFill>
                <a:latin typeface="Consolas" pitchFamily="34" charset="0"/>
                <a:ea typeface="Consolas" pitchFamily="34" charset="-122"/>
                <a:cs typeface="Consolas" pitchFamily="34" charset="-120"/>
              </a:rPr>
              <a:t>  les cas, par sécurité.</a:t>
            </a:r>
            <a:endParaRPr lang="en-US" sz="1100" dirty="0"/>
          </a:p>
        </p:txBody>
      </p:sp>
      <p:sp>
        <p:nvSpPr>
          <p:cNvPr id="14" name="Text 12"/>
          <p:cNvSpPr/>
          <p:nvPr/>
        </p:nvSpPr>
        <p:spPr>
          <a:xfrm>
            <a:off x="640080" y="5989320"/>
            <a:ext cx="10972800" cy="36576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Welch est aussi puissant que Student quand les variances sont égales, et nettement plus juste quand elles diffèrent. Aucune raison de s'en priver.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11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COMPARAISONS MULTIPLES</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400" b="1" spc="-100" kern="0" dirty="0">
                <a:solidFill>
                  <a:srgbClr val="15233F"/>
                </a:solidFill>
                <a:latin typeface="Calibri" pitchFamily="34" charset="0"/>
                <a:ea typeface="Calibri" pitchFamily="34" charset="-122"/>
                <a:cs typeface="Calibri" pitchFamily="34" charset="-120"/>
              </a:rPr>
              <a:t>Tu fais 20 tests ? Tu as 64 % de chances d'un faux positif.</a:t>
            </a:r>
            <a:endParaRPr lang="en-US" sz="2400" dirty="0"/>
          </a:p>
        </p:txBody>
      </p:sp>
      <p:sp>
        <p:nvSpPr>
          <p:cNvPr id="6" name="Text 4"/>
          <p:cNvSpPr/>
          <p:nvPr/>
        </p:nvSpPr>
        <p:spPr>
          <a:xfrm>
            <a:off x="640080" y="1920240"/>
            <a:ext cx="10972800" cy="1463040"/>
          </a:xfrm>
          <a:prstGeom prst="rect">
            <a:avLst/>
          </a:prstGeom>
          <a:noFill/>
          <a:ln/>
        </p:spPr>
        <p:txBody>
          <a:bodyPr wrap="square" rtlCol="0" anchor="t"/>
          <a:lstStyle/>
          <a:p>
            <a:pPr indent="0" marL="0">
              <a:lnSpc>
                <a:spcPct val="140000"/>
              </a:lnSpc>
              <a:buNone/>
            </a:pPr>
            <a:r>
              <a:rPr lang="en-US" sz="1400" dirty="0">
                <a:solidFill>
                  <a:srgbClr val="15233F"/>
                </a:solidFill>
                <a:latin typeface="Calibri" pitchFamily="34" charset="0"/>
                <a:ea typeface="Calibri" pitchFamily="34" charset="-122"/>
                <a:cs typeface="Calibri" pitchFamily="34" charset="-120"/>
              </a:rPr>
              <a:t>Le calcul exact : 1 − (1 − 0,05)²⁰ = 0,64. Plus tu multiplies les tests, plus tu pêches dans tes données. Le jury le sait. Si tu présentes une étude où tu as fait 15 comparaisons et trouvé 3 « significatives », il te demandera comment tu as géré le risque global.</a:t>
            </a:r>
            <a:endParaRPr lang="en-US" sz="1400" dirty="0"/>
          </a:p>
        </p:txBody>
      </p:sp>
      <p:sp>
        <p:nvSpPr>
          <p:cNvPr id="7" name="Shape 5"/>
          <p:cNvSpPr/>
          <p:nvPr/>
        </p:nvSpPr>
        <p:spPr>
          <a:xfrm>
            <a:off x="640080" y="3520440"/>
            <a:ext cx="5440680" cy="2468880"/>
          </a:xfrm>
          <a:prstGeom prst="roundRect">
            <a:avLst>
              <a:gd name="adj" fmla="val 3704"/>
            </a:avLst>
          </a:prstGeom>
          <a:solidFill>
            <a:srgbClr val="FFFFFF"/>
          </a:solidFill>
          <a:ln w="19050">
            <a:solidFill>
              <a:srgbClr val="F09042"/>
            </a:solidFill>
            <a:prstDash val="solid"/>
          </a:ln>
        </p:spPr>
      </p:sp>
      <p:sp>
        <p:nvSpPr>
          <p:cNvPr id="8" name="Text 6"/>
          <p:cNvSpPr/>
          <p:nvPr/>
        </p:nvSpPr>
        <p:spPr>
          <a:xfrm>
            <a:off x="822960" y="3657600"/>
            <a:ext cx="5029200" cy="320040"/>
          </a:xfrm>
          <a:prstGeom prst="rect">
            <a:avLst/>
          </a:prstGeom>
          <a:noFill/>
          <a:ln/>
        </p:spPr>
        <p:txBody>
          <a:bodyPr wrap="square" rtlCol="0" anchor="ctr"/>
          <a:lstStyle/>
          <a:p>
            <a:pPr indent="0" marL="0">
              <a:buNone/>
            </a:pPr>
            <a:r>
              <a:rPr lang="en-US" sz="1200" b="1" spc="400" kern="0" dirty="0">
                <a:solidFill>
                  <a:srgbClr val="F09042"/>
                </a:solidFill>
                <a:latin typeface="Calibri" pitchFamily="34" charset="0"/>
                <a:ea typeface="Calibri" pitchFamily="34" charset="-122"/>
                <a:cs typeface="Calibri" pitchFamily="34" charset="-120"/>
              </a:rPr>
              <a:t>BONFERRONI</a:t>
            </a:r>
            <a:endParaRPr lang="en-US" sz="1200" dirty="0"/>
          </a:p>
        </p:txBody>
      </p:sp>
      <p:sp>
        <p:nvSpPr>
          <p:cNvPr id="9" name="Text 7"/>
          <p:cNvSpPr/>
          <p:nvPr/>
        </p:nvSpPr>
        <p:spPr>
          <a:xfrm>
            <a:off x="822960" y="4023360"/>
            <a:ext cx="5029200" cy="457200"/>
          </a:xfrm>
          <a:prstGeom prst="rect">
            <a:avLst/>
          </a:prstGeom>
          <a:noFill/>
          <a:ln/>
        </p:spPr>
        <p:txBody>
          <a:bodyPr wrap="square" rtlCol="0" anchor="ctr"/>
          <a:lstStyle/>
          <a:p>
            <a:pPr indent="0" marL="0">
              <a:buNone/>
            </a:pPr>
            <a:r>
              <a:rPr lang="en-US" sz="1800" b="1" dirty="0">
                <a:solidFill>
                  <a:srgbClr val="15233F"/>
                </a:solidFill>
                <a:latin typeface="Consolas" pitchFamily="34" charset="0"/>
                <a:ea typeface="Consolas" pitchFamily="34" charset="-122"/>
                <a:cs typeface="Consolas" pitchFamily="34" charset="-120"/>
              </a:rPr>
              <a:t>α corrigé = α / k</a:t>
            </a:r>
            <a:endParaRPr lang="en-US" sz="1800" dirty="0"/>
          </a:p>
        </p:txBody>
      </p:sp>
      <p:sp>
        <p:nvSpPr>
          <p:cNvPr id="10" name="Text 8"/>
          <p:cNvSpPr/>
          <p:nvPr/>
        </p:nvSpPr>
        <p:spPr>
          <a:xfrm>
            <a:off x="822960" y="4572000"/>
            <a:ext cx="5029200" cy="100584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Simple et très conservateur. À privilégier en confirmatoire, quand peu de tests et hypothèses fixées à l'avance.</a:t>
            </a:r>
            <a:endParaRPr lang="en-US" sz="1200" dirty="0"/>
          </a:p>
        </p:txBody>
      </p:sp>
      <p:sp>
        <p:nvSpPr>
          <p:cNvPr id="11" name="Text 9"/>
          <p:cNvSpPr/>
          <p:nvPr/>
        </p:nvSpPr>
        <p:spPr>
          <a:xfrm>
            <a:off x="822960" y="5623560"/>
            <a:ext cx="5029200" cy="320040"/>
          </a:xfrm>
          <a:prstGeom prst="rect">
            <a:avLst/>
          </a:prstGeom>
          <a:noFill/>
          <a:ln/>
        </p:spPr>
        <p:txBody>
          <a:bodyPr wrap="square" rtlCol="0" anchor="ctr"/>
          <a:lstStyle/>
          <a:p>
            <a:pPr indent="0" marL="0">
              <a:buNone/>
            </a:pPr>
            <a:r>
              <a:rPr lang="en-US" sz="1100" dirty="0">
                <a:solidFill>
                  <a:srgbClr val="F09042"/>
                </a:solidFill>
                <a:latin typeface="Consolas" pitchFamily="34" charset="0"/>
                <a:ea typeface="Consolas" pitchFamily="34" charset="-122"/>
                <a:cs typeface="Consolas" pitchFamily="34" charset="-120"/>
              </a:rPr>
              <a:t>p.adjust(pvals, "bonferroni")</a:t>
            </a:r>
            <a:endParaRPr lang="en-US" sz="1100" dirty="0"/>
          </a:p>
        </p:txBody>
      </p:sp>
      <p:sp>
        <p:nvSpPr>
          <p:cNvPr id="12" name="Shape 10"/>
          <p:cNvSpPr/>
          <p:nvPr/>
        </p:nvSpPr>
        <p:spPr>
          <a:xfrm>
            <a:off x="6291072" y="3520440"/>
            <a:ext cx="5440680" cy="2468880"/>
          </a:xfrm>
          <a:prstGeom prst="roundRect">
            <a:avLst>
              <a:gd name="adj" fmla="val 3704"/>
            </a:avLst>
          </a:prstGeom>
          <a:solidFill>
            <a:srgbClr val="FFFFFF"/>
          </a:solidFill>
          <a:ln w="19050">
            <a:solidFill>
              <a:srgbClr val="F09042"/>
            </a:solidFill>
            <a:prstDash val="solid"/>
          </a:ln>
        </p:spPr>
      </p:sp>
      <p:sp>
        <p:nvSpPr>
          <p:cNvPr id="13" name="Text 11"/>
          <p:cNvSpPr/>
          <p:nvPr/>
        </p:nvSpPr>
        <p:spPr>
          <a:xfrm>
            <a:off x="6473952" y="3657600"/>
            <a:ext cx="5029200" cy="320040"/>
          </a:xfrm>
          <a:prstGeom prst="rect">
            <a:avLst/>
          </a:prstGeom>
          <a:noFill/>
          <a:ln/>
        </p:spPr>
        <p:txBody>
          <a:bodyPr wrap="square" rtlCol="0" anchor="ctr"/>
          <a:lstStyle/>
          <a:p>
            <a:pPr indent="0" marL="0">
              <a:buNone/>
            </a:pPr>
            <a:r>
              <a:rPr lang="en-US" sz="1200" b="1" spc="400" kern="0" dirty="0">
                <a:solidFill>
                  <a:srgbClr val="F09042"/>
                </a:solidFill>
                <a:latin typeface="Calibri" pitchFamily="34" charset="0"/>
                <a:ea typeface="Calibri" pitchFamily="34" charset="-122"/>
                <a:cs typeface="Calibri" pitchFamily="34" charset="-120"/>
              </a:rPr>
              <a:t>BENJAMINI-HOCHBERG  (FDR)</a:t>
            </a:r>
            <a:endParaRPr lang="en-US" sz="1200" dirty="0"/>
          </a:p>
        </p:txBody>
      </p:sp>
      <p:sp>
        <p:nvSpPr>
          <p:cNvPr id="14" name="Text 12"/>
          <p:cNvSpPr/>
          <p:nvPr/>
        </p:nvSpPr>
        <p:spPr>
          <a:xfrm>
            <a:off x="6473952" y="4023360"/>
            <a:ext cx="5029200" cy="640080"/>
          </a:xfrm>
          <a:prstGeom prst="rect">
            <a:avLst/>
          </a:prstGeom>
          <a:noFill/>
          <a:ln/>
        </p:spPr>
        <p:txBody>
          <a:bodyPr wrap="square" rtlCol="0" anchor="ctr"/>
          <a:lstStyle/>
          <a:p>
            <a:pPr indent="0" marL="0">
              <a:lnSpc>
                <a:spcPct val="120000"/>
              </a:lnSpc>
              <a:buNone/>
            </a:pPr>
            <a:r>
              <a:rPr lang="en-US" sz="1300" b="1" dirty="0">
                <a:solidFill>
                  <a:srgbClr val="15233F"/>
                </a:solidFill>
                <a:latin typeface="Calibri" pitchFamily="34" charset="0"/>
                <a:ea typeface="Calibri" pitchFamily="34" charset="-122"/>
                <a:cs typeface="Calibri" pitchFamily="34" charset="-120"/>
              </a:rPr>
              <a:t>Contrôle le taux de fausses</a:t>
            </a:r>
            <a:endParaRPr lang="en-US" sz="1300" dirty="0"/>
          </a:p>
          <a:p>
            <a:pPr indent="0" marL="0">
              <a:lnSpc>
                <a:spcPct val="120000"/>
              </a:lnSpc>
              <a:buNone/>
            </a:pPr>
            <a:r>
              <a:rPr lang="en-US" sz="1300" b="1" dirty="0">
                <a:solidFill>
                  <a:srgbClr val="15233F"/>
                </a:solidFill>
                <a:latin typeface="Calibri" pitchFamily="34" charset="0"/>
                <a:ea typeface="Calibri" pitchFamily="34" charset="-122"/>
                <a:cs typeface="Calibri" pitchFamily="34" charset="-120"/>
              </a:rPr>
              <a:t>découvertes, pas l'erreur globale.</a:t>
            </a:r>
            <a:endParaRPr lang="en-US" sz="1300" dirty="0"/>
          </a:p>
        </p:txBody>
      </p:sp>
      <p:sp>
        <p:nvSpPr>
          <p:cNvPr id="15" name="Text 13"/>
          <p:cNvSpPr/>
          <p:nvPr/>
        </p:nvSpPr>
        <p:spPr>
          <a:xfrm>
            <a:off x="6473952" y="4709160"/>
            <a:ext cx="5029200" cy="822960"/>
          </a:xfrm>
          <a:prstGeom prst="rect">
            <a:avLst/>
          </a:prstGeom>
          <a:noFill/>
          <a:ln/>
        </p:spPr>
        <p:txBody>
          <a:bodyPr wrap="square" rtlCol="0" anchor="ctr"/>
          <a:lstStyle/>
          <a:p>
            <a:pPr indent="0" marL="0">
              <a:lnSpc>
                <a:spcPct val="140000"/>
              </a:lnSpc>
              <a:buNone/>
            </a:pPr>
            <a:r>
              <a:rPr lang="en-US" sz="1200" dirty="0">
                <a:solidFill>
                  <a:srgbClr val="15233F"/>
                </a:solidFill>
                <a:latin typeface="Calibri" pitchFamily="34" charset="0"/>
                <a:ea typeface="Calibri" pitchFamily="34" charset="-122"/>
                <a:cs typeface="Calibri" pitchFamily="34" charset="-120"/>
              </a:rPr>
              <a:t>Moins strict. À privilégier en exploratoire ou avec beaucoup de tests (génomique, métabolomique).</a:t>
            </a:r>
            <a:endParaRPr lang="en-US" sz="1200" dirty="0"/>
          </a:p>
        </p:txBody>
      </p:sp>
      <p:sp>
        <p:nvSpPr>
          <p:cNvPr id="16" name="Text 14"/>
          <p:cNvSpPr/>
          <p:nvPr/>
        </p:nvSpPr>
        <p:spPr>
          <a:xfrm>
            <a:off x="6473952" y="5623560"/>
            <a:ext cx="5029200" cy="320040"/>
          </a:xfrm>
          <a:prstGeom prst="rect">
            <a:avLst/>
          </a:prstGeom>
          <a:noFill/>
          <a:ln/>
        </p:spPr>
        <p:txBody>
          <a:bodyPr wrap="square" rtlCol="0" anchor="ctr"/>
          <a:lstStyle/>
          <a:p>
            <a:pPr indent="0" marL="0">
              <a:buNone/>
            </a:pPr>
            <a:r>
              <a:rPr lang="en-US" sz="1100" dirty="0">
                <a:solidFill>
                  <a:srgbClr val="F09042"/>
                </a:solidFill>
                <a:latin typeface="Consolas" pitchFamily="34" charset="0"/>
                <a:ea typeface="Consolas" pitchFamily="34" charset="-122"/>
                <a:cs typeface="Consolas" pitchFamily="34" charset="-120"/>
              </a:rPr>
              <a:t>p.adjust(pvals, "BH")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12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LA CARTE D'ENSEMBLE</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3000" b="1" spc="-100" kern="0" dirty="0">
                <a:solidFill>
                  <a:srgbClr val="15233F"/>
                </a:solidFill>
                <a:latin typeface="Calibri" pitchFamily="34" charset="0"/>
                <a:ea typeface="Calibri" pitchFamily="34" charset="-122"/>
                <a:cs typeface="Calibri" pitchFamily="34" charset="-120"/>
              </a:rPr>
              <a:t>Quatre situations, quatre familles de tests.</a:t>
            </a:r>
            <a:endParaRPr lang="en-US" sz="3000" dirty="0"/>
          </a:p>
        </p:txBody>
      </p:sp>
      <p:sp>
        <p:nvSpPr>
          <p:cNvPr id="6" name="Text 4"/>
          <p:cNvSpPr/>
          <p:nvPr/>
        </p:nvSpPr>
        <p:spPr>
          <a:xfrm>
            <a:off x="640080" y="1874520"/>
            <a:ext cx="10972800" cy="822960"/>
          </a:xfrm>
          <a:prstGeom prst="rect">
            <a:avLst/>
          </a:prstGeom>
          <a:noFill/>
          <a:ln/>
        </p:spPr>
        <p:txBody>
          <a:bodyPr wrap="square" rtlCol="0" anchor="t"/>
          <a:lstStyle/>
          <a:p>
            <a:pPr indent="0" marL="0">
              <a:lnSpc>
                <a:spcPct val="140000"/>
              </a:lnSpc>
              <a:buNone/>
            </a:pPr>
            <a:r>
              <a:rPr lang="en-US" sz="1300" dirty="0">
                <a:solidFill>
                  <a:srgbClr val="15233F"/>
                </a:solidFill>
                <a:latin typeface="Calibri" pitchFamily="34" charset="0"/>
                <a:ea typeface="Calibri" pitchFamily="34" charset="-122"/>
                <a:cs typeface="Calibri" pitchFamily="34" charset="-120"/>
              </a:rPr>
              <a:t>Avant le détail (modules 2 à 4), voici la vue d'ensemble. À chaque situation correspond une famille de tests, selon la nature des variables et leur distribution.</a:t>
            </a:r>
            <a:endParaRPr lang="en-US" sz="1300" dirty="0"/>
          </a:p>
        </p:txBody>
      </p:sp>
      <p:sp>
        <p:nvSpPr>
          <p:cNvPr id="7" name="Shape 5"/>
          <p:cNvSpPr/>
          <p:nvPr/>
        </p:nvSpPr>
        <p:spPr>
          <a:xfrm>
            <a:off x="640080" y="2834640"/>
            <a:ext cx="2697480" cy="502920"/>
          </a:xfrm>
          <a:prstGeom prst="rect">
            <a:avLst/>
          </a:prstGeom>
          <a:solidFill>
            <a:srgbClr val="F09042"/>
          </a:solidFill>
          <a:ln/>
        </p:spPr>
      </p:sp>
      <p:sp>
        <p:nvSpPr>
          <p:cNvPr id="8" name="Text 6"/>
          <p:cNvSpPr/>
          <p:nvPr/>
        </p:nvSpPr>
        <p:spPr>
          <a:xfrm>
            <a:off x="731520" y="2834640"/>
            <a:ext cx="2514600" cy="502920"/>
          </a:xfrm>
          <a:prstGeom prst="rect">
            <a:avLst/>
          </a:prstGeom>
          <a:noFill/>
          <a:ln/>
        </p:spPr>
        <p:txBody>
          <a:bodyPr wrap="square" rtlCol="0" anchor="ctr"/>
          <a:lstStyle/>
          <a:p>
            <a:pPr algn="ctr" indent="0" marL="0">
              <a:buNone/>
            </a:pPr>
            <a:r>
              <a:rPr lang="en-US" sz="1000" b="1" spc="200" kern="0" dirty="0">
                <a:solidFill>
                  <a:srgbClr val="0E1729"/>
                </a:solidFill>
                <a:latin typeface="Calibri" pitchFamily="34" charset="0"/>
                <a:ea typeface="Calibri" pitchFamily="34" charset="-122"/>
                <a:cs typeface="Calibri" pitchFamily="34" charset="-120"/>
              </a:rPr>
              <a:t>2 GROUPES INDÉPENDANTS</a:t>
            </a:r>
            <a:endParaRPr lang="en-US" sz="1000" dirty="0"/>
          </a:p>
        </p:txBody>
      </p:sp>
      <p:sp>
        <p:nvSpPr>
          <p:cNvPr id="9" name="Shape 7"/>
          <p:cNvSpPr/>
          <p:nvPr/>
        </p:nvSpPr>
        <p:spPr>
          <a:xfrm>
            <a:off x="640080" y="3337560"/>
            <a:ext cx="2697480" cy="2880360"/>
          </a:xfrm>
          <a:prstGeom prst="rect">
            <a:avLst/>
          </a:prstGeom>
          <a:solidFill>
            <a:srgbClr val="FFFFFF"/>
          </a:solidFill>
          <a:ln w="9525">
            <a:solidFill>
              <a:srgbClr val="D6CFB8"/>
            </a:solidFill>
            <a:prstDash val="solid"/>
          </a:ln>
        </p:spPr>
      </p:sp>
      <p:sp>
        <p:nvSpPr>
          <p:cNvPr id="10" name="Text 8"/>
          <p:cNvSpPr/>
          <p:nvPr/>
        </p:nvSpPr>
        <p:spPr>
          <a:xfrm>
            <a:off x="777240" y="347472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NORMAL</a:t>
            </a:r>
            <a:endParaRPr lang="en-US" sz="900" dirty="0"/>
          </a:p>
        </p:txBody>
      </p:sp>
      <p:sp>
        <p:nvSpPr>
          <p:cNvPr id="11" name="Text 9"/>
          <p:cNvSpPr/>
          <p:nvPr/>
        </p:nvSpPr>
        <p:spPr>
          <a:xfrm>
            <a:off x="777240" y="370332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Welch (Student si variances égales)</a:t>
            </a:r>
            <a:endParaRPr lang="en-US" sz="1100" dirty="0"/>
          </a:p>
        </p:txBody>
      </p:sp>
      <p:sp>
        <p:nvSpPr>
          <p:cNvPr id="12" name="Text 10"/>
          <p:cNvSpPr/>
          <p:nvPr/>
        </p:nvSpPr>
        <p:spPr>
          <a:xfrm>
            <a:off x="777240" y="443484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NON-NORMAL</a:t>
            </a:r>
            <a:endParaRPr lang="en-US" sz="900" dirty="0"/>
          </a:p>
        </p:txBody>
      </p:sp>
      <p:sp>
        <p:nvSpPr>
          <p:cNvPr id="13" name="Text 11"/>
          <p:cNvSpPr/>
          <p:nvPr/>
        </p:nvSpPr>
        <p:spPr>
          <a:xfrm>
            <a:off x="777240" y="466344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Mann-Whitney</a:t>
            </a:r>
            <a:endParaRPr lang="en-US" sz="1100" dirty="0"/>
          </a:p>
        </p:txBody>
      </p:sp>
      <p:sp>
        <p:nvSpPr>
          <p:cNvPr id="14" name="Text 12"/>
          <p:cNvSpPr/>
          <p:nvPr/>
        </p:nvSpPr>
        <p:spPr>
          <a:xfrm>
            <a:off x="777240" y="539496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QUALITATIF</a:t>
            </a:r>
            <a:endParaRPr lang="en-US" sz="900" dirty="0"/>
          </a:p>
        </p:txBody>
      </p:sp>
      <p:sp>
        <p:nvSpPr>
          <p:cNvPr id="15" name="Text 13"/>
          <p:cNvSpPr/>
          <p:nvPr/>
        </p:nvSpPr>
        <p:spPr>
          <a:xfrm>
            <a:off x="777240" y="562356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Chi² ou Fisher exact</a:t>
            </a:r>
            <a:endParaRPr lang="en-US" sz="1100" dirty="0"/>
          </a:p>
        </p:txBody>
      </p:sp>
      <p:sp>
        <p:nvSpPr>
          <p:cNvPr id="16" name="Shape 14"/>
          <p:cNvSpPr/>
          <p:nvPr/>
        </p:nvSpPr>
        <p:spPr>
          <a:xfrm>
            <a:off x="3429000" y="2834640"/>
            <a:ext cx="2697480" cy="502920"/>
          </a:xfrm>
          <a:prstGeom prst="rect">
            <a:avLst/>
          </a:prstGeom>
          <a:solidFill>
            <a:srgbClr val="F09042"/>
          </a:solidFill>
          <a:ln/>
        </p:spPr>
      </p:sp>
      <p:sp>
        <p:nvSpPr>
          <p:cNvPr id="17" name="Text 15"/>
          <p:cNvSpPr/>
          <p:nvPr/>
        </p:nvSpPr>
        <p:spPr>
          <a:xfrm>
            <a:off x="3520440" y="2834640"/>
            <a:ext cx="2514600" cy="502920"/>
          </a:xfrm>
          <a:prstGeom prst="rect">
            <a:avLst/>
          </a:prstGeom>
          <a:noFill/>
          <a:ln/>
        </p:spPr>
        <p:txBody>
          <a:bodyPr wrap="square" rtlCol="0" anchor="ctr"/>
          <a:lstStyle/>
          <a:p>
            <a:pPr algn="ctr" indent="0" marL="0">
              <a:buNone/>
            </a:pPr>
            <a:r>
              <a:rPr lang="en-US" sz="1000" b="1" spc="200" kern="0" dirty="0">
                <a:solidFill>
                  <a:srgbClr val="0E1729"/>
                </a:solidFill>
                <a:latin typeface="Calibri" pitchFamily="34" charset="0"/>
                <a:ea typeface="Calibri" pitchFamily="34" charset="-122"/>
                <a:cs typeface="Calibri" pitchFamily="34" charset="-120"/>
              </a:rPr>
              <a:t>2 GROUPES APPARIÉS</a:t>
            </a:r>
            <a:endParaRPr lang="en-US" sz="1000" dirty="0"/>
          </a:p>
        </p:txBody>
      </p:sp>
      <p:sp>
        <p:nvSpPr>
          <p:cNvPr id="18" name="Shape 16"/>
          <p:cNvSpPr/>
          <p:nvPr/>
        </p:nvSpPr>
        <p:spPr>
          <a:xfrm>
            <a:off x="3429000" y="3337560"/>
            <a:ext cx="2697480" cy="2880360"/>
          </a:xfrm>
          <a:prstGeom prst="rect">
            <a:avLst/>
          </a:prstGeom>
          <a:solidFill>
            <a:srgbClr val="FFFFFF"/>
          </a:solidFill>
          <a:ln w="9525">
            <a:solidFill>
              <a:srgbClr val="D6CFB8"/>
            </a:solidFill>
            <a:prstDash val="solid"/>
          </a:ln>
        </p:spPr>
      </p:sp>
      <p:sp>
        <p:nvSpPr>
          <p:cNvPr id="19" name="Text 17"/>
          <p:cNvSpPr/>
          <p:nvPr/>
        </p:nvSpPr>
        <p:spPr>
          <a:xfrm>
            <a:off x="3566160" y="347472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NORMAL</a:t>
            </a:r>
            <a:endParaRPr lang="en-US" sz="900" dirty="0"/>
          </a:p>
        </p:txBody>
      </p:sp>
      <p:sp>
        <p:nvSpPr>
          <p:cNvPr id="20" name="Text 18"/>
          <p:cNvSpPr/>
          <p:nvPr/>
        </p:nvSpPr>
        <p:spPr>
          <a:xfrm>
            <a:off x="3566160" y="370332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t-test apparié</a:t>
            </a:r>
            <a:endParaRPr lang="en-US" sz="1100" dirty="0"/>
          </a:p>
        </p:txBody>
      </p:sp>
      <p:sp>
        <p:nvSpPr>
          <p:cNvPr id="21" name="Text 19"/>
          <p:cNvSpPr/>
          <p:nvPr/>
        </p:nvSpPr>
        <p:spPr>
          <a:xfrm>
            <a:off x="3566160" y="443484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NON-NORMAL</a:t>
            </a:r>
            <a:endParaRPr lang="en-US" sz="900" dirty="0"/>
          </a:p>
        </p:txBody>
      </p:sp>
      <p:sp>
        <p:nvSpPr>
          <p:cNvPr id="22" name="Text 20"/>
          <p:cNvSpPr/>
          <p:nvPr/>
        </p:nvSpPr>
        <p:spPr>
          <a:xfrm>
            <a:off x="3566160" y="466344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Wilcoxon signed-rank</a:t>
            </a:r>
            <a:endParaRPr lang="en-US" sz="1100" dirty="0"/>
          </a:p>
        </p:txBody>
      </p:sp>
      <p:sp>
        <p:nvSpPr>
          <p:cNvPr id="23" name="Text 21"/>
          <p:cNvSpPr/>
          <p:nvPr/>
        </p:nvSpPr>
        <p:spPr>
          <a:xfrm>
            <a:off x="3566160" y="539496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QUALITATIF</a:t>
            </a:r>
            <a:endParaRPr lang="en-US" sz="900" dirty="0"/>
          </a:p>
        </p:txBody>
      </p:sp>
      <p:sp>
        <p:nvSpPr>
          <p:cNvPr id="24" name="Text 22"/>
          <p:cNvSpPr/>
          <p:nvPr/>
        </p:nvSpPr>
        <p:spPr>
          <a:xfrm>
            <a:off x="3566160" y="562356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McNemar</a:t>
            </a:r>
            <a:endParaRPr lang="en-US" sz="1100" dirty="0"/>
          </a:p>
        </p:txBody>
      </p:sp>
      <p:sp>
        <p:nvSpPr>
          <p:cNvPr id="25" name="Shape 23"/>
          <p:cNvSpPr/>
          <p:nvPr/>
        </p:nvSpPr>
        <p:spPr>
          <a:xfrm>
            <a:off x="6217920" y="2834640"/>
            <a:ext cx="2697480" cy="502920"/>
          </a:xfrm>
          <a:prstGeom prst="rect">
            <a:avLst/>
          </a:prstGeom>
          <a:solidFill>
            <a:srgbClr val="F09042"/>
          </a:solidFill>
          <a:ln/>
        </p:spPr>
      </p:sp>
      <p:sp>
        <p:nvSpPr>
          <p:cNvPr id="26" name="Text 24"/>
          <p:cNvSpPr/>
          <p:nvPr/>
        </p:nvSpPr>
        <p:spPr>
          <a:xfrm>
            <a:off x="6309360" y="2834640"/>
            <a:ext cx="2514600" cy="502920"/>
          </a:xfrm>
          <a:prstGeom prst="rect">
            <a:avLst/>
          </a:prstGeom>
          <a:noFill/>
          <a:ln/>
        </p:spPr>
        <p:txBody>
          <a:bodyPr wrap="square" rtlCol="0" anchor="ctr"/>
          <a:lstStyle/>
          <a:p>
            <a:pPr algn="ctr" indent="0" marL="0">
              <a:buNone/>
            </a:pPr>
            <a:r>
              <a:rPr lang="en-US" sz="1000" b="1" spc="200" kern="0" dirty="0">
                <a:solidFill>
                  <a:srgbClr val="0E1729"/>
                </a:solidFill>
                <a:latin typeface="Calibri" pitchFamily="34" charset="0"/>
                <a:ea typeface="Calibri" pitchFamily="34" charset="-122"/>
                <a:cs typeface="Calibri" pitchFamily="34" charset="-120"/>
              </a:rPr>
              <a:t>≥ 3 GROUPES INDÉPENDANTS</a:t>
            </a:r>
            <a:endParaRPr lang="en-US" sz="1000" dirty="0"/>
          </a:p>
        </p:txBody>
      </p:sp>
      <p:sp>
        <p:nvSpPr>
          <p:cNvPr id="27" name="Shape 25"/>
          <p:cNvSpPr/>
          <p:nvPr/>
        </p:nvSpPr>
        <p:spPr>
          <a:xfrm>
            <a:off x="6217920" y="3337560"/>
            <a:ext cx="2697480" cy="2880360"/>
          </a:xfrm>
          <a:prstGeom prst="rect">
            <a:avLst/>
          </a:prstGeom>
          <a:solidFill>
            <a:srgbClr val="FFFFFF"/>
          </a:solidFill>
          <a:ln w="9525">
            <a:solidFill>
              <a:srgbClr val="D6CFB8"/>
            </a:solidFill>
            <a:prstDash val="solid"/>
          </a:ln>
        </p:spPr>
      </p:sp>
      <p:sp>
        <p:nvSpPr>
          <p:cNvPr id="28" name="Text 26"/>
          <p:cNvSpPr/>
          <p:nvPr/>
        </p:nvSpPr>
        <p:spPr>
          <a:xfrm>
            <a:off x="6355080" y="347472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NORMAL</a:t>
            </a:r>
            <a:endParaRPr lang="en-US" sz="900" dirty="0"/>
          </a:p>
        </p:txBody>
      </p:sp>
      <p:sp>
        <p:nvSpPr>
          <p:cNvPr id="29" name="Text 27"/>
          <p:cNvSpPr/>
          <p:nvPr/>
        </p:nvSpPr>
        <p:spPr>
          <a:xfrm>
            <a:off x="6355080" y="370332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ANOVA + Tukey HSD</a:t>
            </a:r>
            <a:endParaRPr lang="en-US" sz="1100" dirty="0"/>
          </a:p>
        </p:txBody>
      </p:sp>
      <p:sp>
        <p:nvSpPr>
          <p:cNvPr id="30" name="Text 28"/>
          <p:cNvSpPr/>
          <p:nvPr/>
        </p:nvSpPr>
        <p:spPr>
          <a:xfrm>
            <a:off x="6355080" y="443484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NON-NORMAL</a:t>
            </a:r>
            <a:endParaRPr lang="en-US" sz="900" dirty="0"/>
          </a:p>
        </p:txBody>
      </p:sp>
      <p:sp>
        <p:nvSpPr>
          <p:cNvPr id="31" name="Text 29"/>
          <p:cNvSpPr/>
          <p:nvPr/>
        </p:nvSpPr>
        <p:spPr>
          <a:xfrm>
            <a:off x="6355080" y="466344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Kruskal-Wallis</a:t>
            </a:r>
            <a:endParaRPr lang="en-US" sz="1100" dirty="0"/>
          </a:p>
        </p:txBody>
      </p:sp>
      <p:sp>
        <p:nvSpPr>
          <p:cNvPr id="32" name="Text 30"/>
          <p:cNvSpPr/>
          <p:nvPr/>
        </p:nvSpPr>
        <p:spPr>
          <a:xfrm>
            <a:off x="6355080" y="539496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QUALITATIF</a:t>
            </a:r>
            <a:endParaRPr lang="en-US" sz="900" dirty="0"/>
          </a:p>
        </p:txBody>
      </p:sp>
      <p:sp>
        <p:nvSpPr>
          <p:cNvPr id="33" name="Text 31"/>
          <p:cNvSpPr/>
          <p:nvPr/>
        </p:nvSpPr>
        <p:spPr>
          <a:xfrm>
            <a:off x="6355080" y="562356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Chi² ou Fisher</a:t>
            </a:r>
            <a:endParaRPr lang="en-US" sz="1100" dirty="0"/>
          </a:p>
        </p:txBody>
      </p:sp>
      <p:sp>
        <p:nvSpPr>
          <p:cNvPr id="34" name="Shape 32"/>
          <p:cNvSpPr/>
          <p:nvPr/>
        </p:nvSpPr>
        <p:spPr>
          <a:xfrm>
            <a:off x="9006840" y="2834640"/>
            <a:ext cx="2697480" cy="502920"/>
          </a:xfrm>
          <a:prstGeom prst="rect">
            <a:avLst/>
          </a:prstGeom>
          <a:solidFill>
            <a:srgbClr val="F09042"/>
          </a:solidFill>
          <a:ln/>
        </p:spPr>
      </p:sp>
      <p:sp>
        <p:nvSpPr>
          <p:cNvPr id="35" name="Text 33"/>
          <p:cNvSpPr/>
          <p:nvPr/>
        </p:nvSpPr>
        <p:spPr>
          <a:xfrm>
            <a:off x="9098280" y="2834640"/>
            <a:ext cx="2514600" cy="502920"/>
          </a:xfrm>
          <a:prstGeom prst="rect">
            <a:avLst/>
          </a:prstGeom>
          <a:noFill/>
          <a:ln/>
        </p:spPr>
        <p:txBody>
          <a:bodyPr wrap="square" rtlCol="0" anchor="ctr"/>
          <a:lstStyle/>
          <a:p>
            <a:pPr algn="ctr" indent="0" marL="0">
              <a:buNone/>
            </a:pPr>
            <a:r>
              <a:rPr lang="en-US" sz="1000" b="1" spc="200" kern="0" dirty="0">
                <a:solidFill>
                  <a:srgbClr val="0E1729"/>
                </a:solidFill>
                <a:latin typeface="Calibri" pitchFamily="34" charset="0"/>
                <a:ea typeface="Calibri" pitchFamily="34" charset="-122"/>
                <a:cs typeface="Calibri" pitchFamily="34" charset="-120"/>
              </a:rPr>
              <a:t>ASSOCIATION ENTRE VARIABLES</a:t>
            </a:r>
            <a:endParaRPr lang="en-US" sz="1000" dirty="0"/>
          </a:p>
        </p:txBody>
      </p:sp>
      <p:sp>
        <p:nvSpPr>
          <p:cNvPr id="36" name="Shape 34"/>
          <p:cNvSpPr/>
          <p:nvPr/>
        </p:nvSpPr>
        <p:spPr>
          <a:xfrm>
            <a:off x="9006840" y="3337560"/>
            <a:ext cx="2697480" cy="2880360"/>
          </a:xfrm>
          <a:prstGeom prst="rect">
            <a:avLst/>
          </a:prstGeom>
          <a:solidFill>
            <a:srgbClr val="FFFFFF"/>
          </a:solidFill>
          <a:ln w="9525">
            <a:solidFill>
              <a:srgbClr val="D6CFB8"/>
            </a:solidFill>
            <a:prstDash val="solid"/>
          </a:ln>
        </p:spPr>
      </p:sp>
      <p:sp>
        <p:nvSpPr>
          <p:cNvPr id="37" name="Text 35"/>
          <p:cNvSpPr/>
          <p:nvPr/>
        </p:nvSpPr>
        <p:spPr>
          <a:xfrm>
            <a:off x="9144000" y="347472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NORMAL</a:t>
            </a:r>
            <a:endParaRPr lang="en-US" sz="900" dirty="0"/>
          </a:p>
        </p:txBody>
      </p:sp>
      <p:sp>
        <p:nvSpPr>
          <p:cNvPr id="38" name="Text 36"/>
          <p:cNvSpPr/>
          <p:nvPr/>
        </p:nvSpPr>
        <p:spPr>
          <a:xfrm>
            <a:off x="9144000" y="370332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Pearson · régression linéaire</a:t>
            </a:r>
            <a:endParaRPr lang="en-US" sz="1100" dirty="0"/>
          </a:p>
        </p:txBody>
      </p:sp>
      <p:sp>
        <p:nvSpPr>
          <p:cNvPr id="39" name="Text 37"/>
          <p:cNvSpPr/>
          <p:nvPr/>
        </p:nvSpPr>
        <p:spPr>
          <a:xfrm>
            <a:off x="9144000" y="443484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NON-NORMAL</a:t>
            </a:r>
            <a:endParaRPr lang="en-US" sz="900" dirty="0"/>
          </a:p>
        </p:txBody>
      </p:sp>
      <p:sp>
        <p:nvSpPr>
          <p:cNvPr id="40" name="Text 38"/>
          <p:cNvSpPr/>
          <p:nvPr/>
        </p:nvSpPr>
        <p:spPr>
          <a:xfrm>
            <a:off x="9144000" y="466344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Spearman</a:t>
            </a:r>
            <a:endParaRPr lang="en-US" sz="1100" dirty="0"/>
          </a:p>
        </p:txBody>
      </p:sp>
      <p:sp>
        <p:nvSpPr>
          <p:cNvPr id="41" name="Text 39"/>
          <p:cNvSpPr/>
          <p:nvPr/>
        </p:nvSpPr>
        <p:spPr>
          <a:xfrm>
            <a:off x="9144000" y="5394960"/>
            <a:ext cx="2423160" cy="228600"/>
          </a:xfrm>
          <a:prstGeom prst="rect">
            <a:avLst/>
          </a:prstGeom>
          <a:noFill/>
          <a:ln/>
        </p:spPr>
        <p:txBody>
          <a:bodyPr wrap="square" rtlCol="0" anchor="ctr"/>
          <a:lstStyle/>
          <a:p>
            <a:pPr indent="0" marL="0">
              <a:buNone/>
            </a:pPr>
            <a:r>
              <a:rPr lang="en-US" sz="900" b="1" spc="200" kern="0" dirty="0">
                <a:solidFill>
                  <a:srgbClr val="6B7280"/>
                </a:solidFill>
                <a:latin typeface="Calibri" pitchFamily="34" charset="0"/>
                <a:ea typeface="Calibri" pitchFamily="34" charset="-122"/>
                <a:cs typeface="Calibri" pitchFamily="34" charset="-120"/>
              </a:rPr>
              <a:t>QUALITATIF</a:t>
            </a:r>
            <a:endParaRPr lang="en-US" sz="900" dirty="0"/>
          </a:p>
        </p:txBody>
      </p:sp>
      <p:sp>
        <p:nvSpPr>
          <p:cNvPr id="42" name="Text 40"/>
          <p:cNvSpPr/>
          <p:nvPr/>
        </p:nvSpPr>
        <p:spPr>
          <a:xfrm>
            <a:off x="9144000" y="5623560"/>
            <a:ext cx="2423160" cy="640080"/>
          </a:xfrm>
          <a:prstGeom prst="rect">
            <a:avLst/>
          </a:prstGeom>
          <a:noFill/>
          <a:ln/>
        </p:spPr>
        <p:txBody>
          <a:bodyPr wrap="square" rtlCol="0" anchor="ctr"/>
          <a:lstStyle/>
          <a:p>
            <a:pPr indent="0" marL="0">
              <a:lnSpc>
                <a:spcPct val="120000"/>
              </a:lnSpc>
              <a:buNone/>
            </a:pPr>
            <a:r>
              <a:rPr lang="en-US" sz="1100" b="1" dirty="0">
                <a:solidFill>
                  <a:srgbClr val="15233F"/>
                </a:solidFill>
                <a:latin typeface="Consolas" pitchFamily="34" charset="0"/>
                <a:ea typeface="Consolas" pitchFamily="34" charset="-122"/>
                <a:cs typeface="Consolas" pitchFamily="34" charset="-120"/>
              </a:rPr>
              <a:t>Régression logistique</a:t>
            </a:r>
            <a:endParaRPr lang="en-US" sz="1100" dirty="0"/>
          </a:p>
        </p:txBody>
      </p:sp>
      <p:sp>
        <p:nvSpPr>
          <p:cNvPr id="43" name="Text 41"/>
          <p:cNvSpPr/>
          <p:nvPr/>
        </p:nvSpPr>
        <p:spPr>
          <a:xfrm>
            <a:off x="640080" y="6355080"/>
            <a:ext cx="10972800" cy="320040"/>
          </a:xfrm>
          <a:prstGeom prst="rect">
            <a:avLst/>
          </a:prstGeom>
          <a:noFill/>
          <a:ln/>
        </p:spPr>
        <p:txBody>
          <a:bodyPr wrap="square" rtlCol="0" anchor="ctr"/>
          <a:lstStyle/>
          <a:p>
            <a:pPr algn="ctr" indent="0" marL="0">
              <a:buNone/>
            </a:pPr>
            <a:r>
              <a:rPr lang="en-US" sz="1000" i="1" dirty="0">
                <a:solidFill>
                  <a:srgbClr val="6B7280"/>
                </a:solidFill>
                <a:latin typeface="Calibri" pitchFamily="34" charset="0"/>
                <a:ea typeface="Calibri" pitchFamily="34" charset="-122"/>
                <a:cs typeface="Calibri" pitchFamily="34" charset="-120"/>
              </a:rPr>
              <a:t>Le détail de chaque test arrive dans les modules suivants. Module 2 — comparaisons. Module 3 — associations. Module 4 — outils spécifiquement biomédicaux (ROC, Kaplan-Meier, Kappa).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13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LA RECETTE QUE J'UTILISE AU QUOTIDIEN</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3000" b="1" spc="-100" kern="0" dirty="0">
                <a:solidFill>
                  <a:srgbClr val="15233F"/>
                </a:solidFill>
                <a:latin typeface="Calibri" pitchFamily="34" charset="0"/>
                <a:ea typeface="Calibri" pitchFamily="34" charset="-122"/>
                <a:cs typeface="Calibri" pitchFamily="34" charset="-120"/>
              </a:rPr>
              <a:t>Sept étapes pour démarrer toute analyse.</a:t>
            </a:r>
            <a:endParaRPr lang="en-US" sz="3000" dirty="0"/>
          </a:p>
        </p:txBody>
      </p:sp>
      <p:sp>
        <p:nvSpPr>
          <p:cNvPr id="6" name="Text 4"/>
          <p:cNvSpPr/>
          <p:nvPr/>
        </p:nvSpPr>
        <p:spPr>
          <a:xfrm>
            <a:off x="640080" y="1874520"/>
            <a:ext cx="10972800" cy="914400"/>
          </a:xfrm>
          <a:prstGeom prst="rect">
            <a:avLst/>
          </a:prstGeom>
          <a:noFill/>
          <a:ln/>
        </p:spPr>
        <p:txBody>
          <a:bodyPr wrap="square" rtlCol="0" anchor="t"/>
          <a:lstStyle/>
          <a:p>
            <a:pPr indent="0" marL="0">
              <a:lnSpc>
                <a:spcPct val="140000"/>
              </a:lnSpc>
              <a:buNone/>
            </a:pPr>
            <a:r>
              <a:rPr lang="en-US" sz="1300" dirty="0">
                <a:solidFill>
                  <a:srgbClr val="15233F"/>
                </a:solidFill>
                <a:latin typeface="Calibri" pitchFamily="34" charset="0"/>
                <a:ea typeface="Calibri" pitchFamily="34" charset="-122"/>
                <a:cs typeface="Calibri" pitchFamily="34" charset="-120"/>
              </a:rPr>
              <a:t>Ce squelette, je le réutilise sur la majorité de mes analyses HES. Il couvre l'import, l'inspection, les vérifications préalables, le test, et la taille d'effet — l'ordre exact dans lequel on doit travailler.</a:t>
            </a:r>
            <a:endParaRPr lang="en-US" sz="1300" dirty="0"/>
          </a:p>
        </p:txBody>
      </p:sp>
      <p:sp>
        <p:nvSpPr>
          <p:cNvPr id="7" name="Shape 5"/>
          <p:cNvSpPr/>
          <p:nvPr/>
        </p:nvSpPr>
        <p:spPr>
          <a:xfrm>
            <a:off x="640080" y="2926080"/>
            <a:ext cx="6858000" cy="3337560"/>
          </a:xfrm>
          <a:prstGeom prst="roundRect">
            <a:avLst>
              <a:gd name="adj" fmla="val 1370"/>
            </a:avLst>
          </a:prstGeom>
          <a:solidFill>
            <a:srgbClr val="1A2541"/>
          </a:solidFill>
          <a:ln w="6350">
            <a:solidFill>
              <a:srgbClr val="F09042"/>
            </a:solidFill>
            <a:prstDash val="solid"/>
          </a:ln>
        </p:spPr>
      </p:sp>
      <p:sp>
        <p:nvSpPr>
          <p:cNvPr id="8" name="Shape 6"/>
          <p:cNvSpPr/>
          <p:nvPr/>
        </p:nvSpPr>
        <p:spPr>
          <a:xfrm>
            <a:off x="777240" y="3035808"/>
            <a:ext cx="365760" cy="256032"/>
          </a:xfrm>
          <a:prstGeom prst="roundRect">
            <a:avLst>
              <a:gd name="adj" fmla="val 14286"/>
            </a:avLst>
          </a:prstGeom>
          <a:solidFill>
            <a:srgbClr val="F09042"/>
          </a:solidFill>
          <a:ln/>
        </p:spPr>
      </p:sp>
      <p:sp>
        <p:nvSpPr>
          <p:cNvPr id="9" name="Text 7"/>
          <p:cNvSpPr/>
          <p:nvPr/>
        </p:nvSpPr>
        <p:spPr>
          <a:xfrm>
            <a:off x="777240" y="3035808"/>
            <a:ext cx="365760" cy="256032"/>
          </a:xfrm>
          <a:prstGeom prst="rect">
            <a:avLst/>
          </a:prstGeom>
          <a:noFill/>
          <a:ln/>
        </p:spPr>
        <p:txBody>
          <a:bodyPr wrap="square" rtlCol="0" anchor="ctr"/>
          <a:lstStyle/>
          <a:p>
            <a:pPr algn="ctr" indent="0" marL="0">
              <a:buNone/>
            </a:pPr>
            <a:r>
              <a:rPr lang="en-US" sz="1100" b="1" dirty="0">
                <a:solidFill>
                  <a:srgbClr val="0E1729"/>
                </a:solidFill>
                <a:latin typeface="Consolas" pitchFamily="34" charset="0"/>
                <a:ea typeface="Consolas" pitchFamily="34" charset="-122"/>
                <a:cs typeface="Consolas" pitchFamily="34" charset="-120"/>
              </a:rPr>
              <a:t>R</a:t>
            </a:r>
            <a:endParaRPr lang="en-US" sz="1100" dirty="0"/>
          </a:p>
        </p:txBody>
      </p:sp>
      <p:sp>
        <p:nvSpPr>
          <p:cNvPr id="10" name="Text 8"/>
          <p:cNvSpPr/>
          <p:nvPr/>
        </p:nvSpPr>
        <p:spPr>
          <a:xfrm>
            <a:off x="822960" y="3383280"/>
            <a:ext cx="6583680" cy="2788920"/>
          </a:xfrm>
          <a:prstGeom prst="rect">
            <a:avLst/>
          </a:prstGeom>
          <a:noFill/>
          <a:ln/>
        </p:spPr>
        <p:txBody>
          <a:bodyPr wrap="square" rtlCol="0" anchor="t"/>
          <a:lstStyle/>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1. Importer</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donnees &lt;- read.csv("data.csv")</a:t>
            </a:r>
            <a:endParaRPr lang="en-US" sz="1100" dirty="0"/>
          </a:p>
          <a:p>
            <a:pPr indent="0" marL="0">
              <a:lnSpc>
                <a:spcPct val="140000"/>
              </a:lnSpc>
              <a:buNone/>
            </a:pP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2. Inspecter</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head(donnees); summary(donnees); str(donnees)</a:t>
            </a:r>
            <a:endParaRPr lang="en-US" sz="1100" dirty="0"/>
          </a:p>
          <a:p>
            <a:pPr indent="0" marL="0">
              <a:lnSpc>
                <a:spcPct val="140000"/>
              </a:lnSpc>
              <a:buNone/>
            </a:pP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3. Normalité</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shapiro.test(donnees$tension)</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qqnorm(donnees$tension); qqline(donnees$tension)</a:t>
            </a:r>
            <a:endParaRPr lang="en-US" sz="1100" dirty="0"/>
          </a:p>
          <a:p>
            <a:pPr indent="0" marL="0">
              <a:lnSpc>
                <a:spcPct val="140000"/>
              </a:lnSpc>
              <a:buNone/>
            </a:pP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4. Variances</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library(car)</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leveneTest(tension ~ groupe, data = donnees)</a:t>
            </a:r>
            <a:endParaRPr lang="en-US" sz="1100" dirty="0"/>
          </a:p>
          <a:p>
            <a:pPr indent="0" marL="0">
              <a:lnSpc>
                <a:spcPct val="140000"/>
              </a:lnSpc>
              <a:buNone/>
            </a:pP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5. Test (Welch direct, robuste)</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t.test(tension ~ groupe, data = donnees,</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var.equal = FALSE)</a:t>
            </a:r>
            <a:endParaRPr lang="en-US" sz="1100" dirty="0"/>
          </a:p>
          <a:p>
            <a:pPr indent="0" marL="0">
              <a:lnSpc>
                <a:spcPct val="140000"/>
              </a:lnSpc>
              <a:buNone/>
            </a:pP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 6. Taille d'effet</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library(effsize)</a:t>
            </a:r>
            <a:endParaRPr lang="en-US" sz="1100" dirty="0"/>
          </a:p>
          <a:p>
            <a:pPr indent="0" marL="0">
              <a:lnSpc>
                <a:spcPct val="140000"/>
              </a:lnSpc>
              <a:buNone/>
            </a:pPr>
            <a:r>
              <a:rPr lang="en-US" sz="1100" dirty="0">
                <a:solidFill>
                  <a:srgbClr val="E8EAED"/>
                </a:solidFill>
                <a:latin typeface="Consolas" pitchFamily="34" charset="0"/>
                <a:ea typeface="Consolas" pitchFamily="34" charset="-122"/>
                <a:cs typeface="Consolas" pitchFamily="34" charset="-120"/>
              </a:rPr>
              <a:t>cohen.d(tension ~ groupe, data = donnees)</a:t>
            </a:r>
            <a:endParaRPr lang="en-US" sz="1100" dirty="0"/>
          </a:p>
        </p:txBody>
      </p:sp>
      <p:sp>
        <p:nvSpPr>
          <p:cNvPr id="11" name="Shape 9"/>
          <p:cNvSpPr/>
          <p:nvPr/>
        </p:nvSpPr>
        <p:spPr>
          <a:xfrm>
            <a:off x="7680960" y="2926080"/>
            <a:ext cx="4050792" cy="3337560"/>
          </a:xfrm>
          <a:prstGeom prst="roundRect">
            <a:avLst>
              <a:gd name="adj" fmla="val 2740"/>
            </a:avLst>
          </a:prstGeom>
          <a:solidFill>
            <a:srgbClr val="0E1729"/>
          </a:solidFill>
          <a:ln/>
        </p:spPr>
      </p:sp>
      <p:sp>
        <p:nvSpPr>
          <p:cNvPr id="12" name="Text 10"/>
          <p:cNvSpPr/>
          <p:nvPr/>
        </p:nvSpPr>
        <p:spPr>
          <a:xfrm>
            <a:off x="7863840" y="3063240"/>
            <a:ext cx="3749040" cy="320040"/>
          </a:xfrm>
          <a:prstGeom prst="rect">
            <a:avLst/>
          </a:prstGeom>
          <a:noFill/>
          <a:ln/>
        </p:spPr>
        <p:txBody>
          <a:bodyPr wrap="square" rtlCol="0" anchor="ctr"/>
          <a:lstStyle/>
          <a:p>
            <a:pPr indent="0" marL="0">
              <a:buNone/>
            </a:pPr>
            <a:r>
              <a:rPr lang="en-US" sz="1100" b="1" spc="300" kern="0" dirty="0">
                <a:solidFill>
                  <a:srgbClr val="F09042"/>
                </a:solidFill>
                <a:latin typeface="Calibri" pitchFamily="34" charset="0"/>
                <a:ea typeface="Calibri" pitchFamily="34" charset="-122"/>
                <a:cs typeface="Calibri" pitchFamily="34" charset="-120"/>
              </a:rPr>
              <a:t>CE QUI COMPTE ICI</a:t>
            </a:r>
            <a:endParaRPr lang="en-US" sz="1100" dirty="0"/>
          </a:p>
        </p:txBody>
      </p:sp>
      <p:sp>
        <p:nvSpPr>
          <p:cNvPr id="13" name="Text 11"/>
          <p:cNvSpPr/>
          <p:nvPr/>
        </p:nvSpPr>
        <p:spPr>
          <a:xfrm>
            <a:off x="7863840" y="3429000"/>
            <a:ext cx="3749040" cy="1188720"/>
          </a:xfrm>
          <a:prstGeom prst="rect">
            <a:avLst/>
          </a:prstGeom>
          <a:noFill/>
          <a:ln/>
        </p:spPr>
        <p:txBody>
          <a:bodyPr wrap="square" rtlCol="0" anchor="ctr"/>
          <a:lstStyle/>
          <a:p>
            <a:pPr indent="0" marL="0">
              <a:lnSpc>
                <a:spcPct val="140000"/>
              </a:lnSpc>
              <a:buNone/>
            </a:pPr>
            <a:r>
              <a:rPr lang="en-US" sz="1200" dirty="0">
                <a:solidFill>
                  <a:srgbClr val="FFFFFF"/>
                </a:solidFill>
                <a:latin typeface="Calibri" pitchFamily="34" charset="0"/>
                <a:ea typeface="Calibri" pitchFamily="34" charset="-122"/>
                <a:cs typeface="Calibri" pitchFamily="34" charset="-120"/>
              </a:rPr>
              <a:t>L'ordre. On ne lance pas le test avant les vérifications. On ne tire pas de conclusion sans la taille d'effet.</a:t>
            </a:r>
            <a:endParaRPr lang="en-US" sz="1200" dirty="0"/>
          </a:p>
        </p:txBody>
      </p:sp>
      <p:sp>
        <p:nvSpPr>
          <p:cNvPr id="14" name="Shape 12"/>
          <p:cNvSpPr/>
          <p:nvPr/>
        </p:nvSpPr>
        <p:spPr>
          <a:xfrm>
            <a:off x="7863840" y="4709160"/>
            <a:ext cx="3749040" cy="18288"/>
          </a:xfrm>
          <a:prstGeom prst="rect">
            <a:avLst/>
          </a:prstGeom>
          <a:solidFill>
            <a:srgbClr val="F09042"/>
          </a:solidFill>
          <a:ln/>
        </p:spPr>
      </p:sp>
      <p:sp>
        <p:nvSpPr>
          <p:cNvPr id="15" name="Text 13"/>
          <p:cNvSpPr/>
          <p:nvPr/>
        </p:nvSpPr>
        <p:spPr>
          <a:xfrm>
            <a:off x="7863840" y="4846320"/>
            <a:ext cx="3749040" cy="1280160"/>
          </a:xfrm>
          <a:prstGeom prst="rect">
            <a:avLst/>
          </a:prstGeom>
          <a:noFill/>
          <a:ln/>
        </p:spPr>
        <p:txBody>
          <a:bodyPr wrap="square" rtlCol="0" anchor="ctr"/>
          <a:lstStyle/>
          <a:p>
            <a:pPr indent="0" marL="0">
              <a:lnSpc>
                <a:spcPct val="140000"/>
              </a:lnSpc>
              <a:buNone/>
            </a:pPr>
            <a:r>
              <a:rPr lang="en-US" sz="1100" i="1" dirty="0">
                <a:solidFill>
                  <a:srgbClr val="C9CFDC"/>
                </a:solidFill>
                <a:latin typeface="Calibri" pitchFamily="34" charset="0"/>
                <a:ea typeface="Calibri" pitchFamily="34" charset="-122"/>
                <a:cs typeface="Calibri" pitchFamily="34" charset="-120"/>
              </a:rPr>
              <a:t>Garde ce squelette quelque part. Tu le réutiliseras tel quel sur 90 % de tes analyses — il suffit de remplacer les noms de variables.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EFE0"/>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14 / 15</a:t>
            </a:r>
            <a:endParaRPr lang="en-US" sz="900" dirty="0"/>
          </a:p>
        </p:txBody>
      </p:sp>
      <p:sp>
        <p:nvSpPr>
          <p:cNvPr id="4" name="Text 2"/>
          <p:cNvSpPr/>
          <p:nvPr/>
        </p:nvSpPr>
        <p:spPr>
          <a:xfrm>
            <a:off x="640080" y="457200"/>
            <a:ext cx="8229600" cy="320040"/>
          </a:xfrm>
          <a:prstGeom prst="rect">
            <a:avLst/>
          </a:prstGeom>
          <a:noFill/>
          <a:ln/>
        </p:spPr>
        <p:txBody>
          <a:bodyPr wrap="square" rtlCol="0" anchor="ctr"/>
          <a:lstStyle/>
          <a:p>
            <a:pPr indent="0" marL="0">
              <a:buNone/>
            </a:pPr>
            <a:r>
              <a:rPr lang="en-US" sz="1100" b="1" spc="400" kern="0" dirty="0">
                <a:solidFill>
                  <a:srgbClr val="F09042"/>
                </a:solidFill>
                <a:latin typeface="Calibri" pitchFamily="34" charset="0"/>
                <a:ea typeface="Calibri" pitchFamily="34" charset="-122"/>
                <a:cs typeface="Calibri" pitchFamily="34" charset="-120"/>
              </a:rPr>
              <a:t>— CE QUI RESTE QUAND ON A TOUT OUBLIÉ</a:t>
            </a:r>
            <a:endParaRPr lang="en-US" sz="1100" dirty="0"/>
          </a:p>
        </p:txBody>
      </p:sp>
      <p:sp>
        <p:nvSpPr>
          <p:cNvPr id="5" name="Text 3"/>
          <p:cNvSpPr/>
          <p:nvPr/>
        </p:nvSpPr>
        <p:spPr>
          <a:xfrm>
            <a:off x="640080" y="822960"/>
            <a:ext cx="10972800" cy="914400"/>
          </a:xfrm>
          <a:prstGeom prst="rect">
            <a:avLst/>
          </a:prstGeom>
          <a:noFill/>
          <a:ln/>
        </p:spPr>
        <p:txBody>
          <a:bodyPr wrap="square" rtlCol="0" anchor="ctr"/>
          <a:lstStyle/>
          <a:p>
            <a:pPr indent="0" marL="0">
              <a:lnSpc>
                <a:spcPct val="110000"/>
              </a:lnSpc>
              <a:buNone/>
            </a:pPr>
            <a:r>
              <a:rPr lang="en-US" sz="2800" b="1" spc="-100" kern="0" dirty="0">
                <a:solidFill>
                  <a:srgbClr val="15233F"/>
                </a:solidFill>
                <a:latin typeface="Calibri" pitchFamily="34" charset="0"/>
                <a:ea typeface="Calibri" pitchFamily="34" charset="-122"/>
                <a:cs typeface="Calibri" pitchFamily="34" charset="-120"/>
              </a:rPr>
              <a:t>Six réflexes qui font la différence en soutenance.</a:t>
            </a:r>
            <a:endParaRPr lang="en-US" sz="2800" dirty="0"/>
          </a:p>
        </p:txBody>
      </p:sp>
      <p:sp>
        <p:nvSpPr>
          <p:cNvPr id="6" name="Shape 4"/>
          <p:cNvSpPr/>
          <p:nvPr/>
        </p:nvSpPr>
        <p:spPr>
          <a:xfrm>
            <a:off x="640080" y="1920240"/>
            <a:ext cx="11091672" cy="685800"/>
          </a:xfrm>
          <a:prstGeom prst="roundRect">
            <a:avLst>
              <a:gd name="adj" fmla="val 8000"/>
            </a:avLst>
          </a:prstGeom>
          <a:solidFill>
            <a:srgbClr val="FFFFFF"/>
          </a:solidFill>
          <a:ln w="9525">
            <a:solidFill>
              <a:srgbClr val="D6CFB8"/>
            </a:solidFill>
            <a:prstDash val="solid"/>
          </a:ln>
        </p:spPr>
      </p:sp>
      <p:sp>
        <p:nvSpPr>
          <p:cNvPr id="7" name="Shape 5"/>
          <p:cNvSpPr/>
          <p:nvPr/>
        </p:nvSpPr>
        <p:spPr>
          <a:xfrm>
            <a:off x="640080" y="1920240"/>
            <a:ext cx="73152" cy="685800"/>
          </a:xfrm>
          <a:prstGeom prst="rect">
            <a:avLst/>
          </a:prstGeom>
          <a:solidFill>
            <a:srgbClr val="F09042"/>
          </a:solidFill>
          <a:ln/>
        </p:spPr>
      </p:sp>
      <p:sp>
        <p:nvSpPr>
          <p:cNvPr id="8" name="Text 6"/>
          <p:cNvSpPr/>
          <p:nvPr/>
        </p:nvSpPr>
        <p:spPr>
          <a:xfrm>
            <a:off x="914400" y="2011680"/>
            <a:ext cx="10698480" cy="292608"/>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Formuler H₀ et H₁ avant tout — par écrit, pas dans ta tête.</a:t>
            </a:r>
            <a:endParaRPr lang="en-US" sz="1300" dirty="0"/>
          </a:p>
        </p:txBody>
      </p:sp>
      <p:sp>
        <p:nvSpPr>
          <p:cNvPr id="9" name="Text 7"/>
          <p:cNvSpPr/>
          <p:nvPr/>
        </p:nvSpPr>
        <p:spPr>
          <a:xfrm>
            <a:off x="914400" y="2304288"/>
            <a:ext cx="1069848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C'est l'étape que les jurys aiment vérifier en premier.</a:t>
            </a:r>
            <a:endParaRPr lang="en-US" sz="1100" dirty="0"/>
          </a:p>
        </p:txBody>
      </p:sp>
      <p:sp>
        <p:nvSpPr>
          <p:cNvPr id="10" name="Shape 8"/>
          <p:cNvSpPr/>
          <p:nvPr/>
        </p:nvSpPr>
        <p:spPr>
          <a:xfrm>
            <a:off x="640080" y="2651760"/>
            <a:ext cx="11091672" cy="685800"/>
          </a:xfrm>
          <a:prstGeom prst="roundRect">
            <a:avLst>
              <a:gd name="adj" fmla="val 8000"/>
            </a:avLst>
          </a:prstGeom>
          <a:solidFill>
            <a:srgbClr val="FFFFFF"/>
          </a:solidFill>
          <a:ln w="9525">
            <a:solidFill>
              <a:srgbClr val="D6CFB8"/>
            </a:solidFill>
            <a:prstDash val="solid"/>
          </a:ln>
        </p:spPr>
      </p:sp>
      <p:sp>
        <p:nvSpPr>
          <p:cNvPr id="11" name="Shape 9"/>
          <p:cNvSpPr/>
          <p:nvPr/>
        </p:nvSpPr>
        <p:spPr>
          <a:xfrm>
            <a:off x="640080" y="2651760"/>
            <a:ext cx="73152" cy="685800"/>
          </a:xfrm>
          <a:prstGeom prst="rect">
            <a:avLst/>
          </a:prstGeom>
          <a:solidFill>
            <a:srgbClr val="F09042"/>
          </a:solidFill>
          <a:ln/>
        </p:spPr>
      </p:sp>
      <p:sp>
        <p:nvSpPr>
          <p:cNvPr id="12" name="Text 10"/>
          <p:cNvSpPr/>
          <p:nvPr/>
        </p:nvSpPr>
        <p:spPr>
          <a:xfrm>
            <a:off x="914400" y="2743200"/>
            <a:ext cx="10698480" cy="292608"/>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Bilatéral par défaut. Unilatéral seulement si justifié, déclaré ex ante.</a:t>
            </a:r>
            <a:endParaRPr lang="en-US" sz="1300" dirty="0"/>
          </a:p>
        </p:txBody>
      </p:sp>
      <p:sp>
        <p:nvSpPr>
          <p:cNvPr id="13" name="Text 11"/>
          <p:cNvSpPr/>
          <p:nvPr/>
        </p:nvSpPr>
        <p:spPr>
          <a:xfrm>
            <a:off x="914400" y="3035808"/>
            <a:ext cx="1069848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Un changement de direction en cours de route, ça se voit immédiatement.</a:t>
            </a:r>
            <a:endParaRPr lang="en-US" sz="1100" dirty="0"/>
          </a:p>
        </p:txBody>
      </p:sp>
      <p:sp>
        <p:nvSpPr>
          <p:cNvPr id="14" name="Shape 12"/>
          <p:cNvSpPr/>
          <p:nvPr/>
        </p:nvSpPr>
        <p:spPr>
          <a:xfrm>
            <a:off x="640080" y="3383280"/>
            <a:ext cx="11091672" cy="685800"/>
          </a:xfrm>
          <a:prstGeom prst="roundRect">
            <a:avLst>
              <a:gd name="adj" fmla="val 8000"/>
            </a:avLst>
          </a:prstGeom>
          <a:solidFill>
            <a:srgbClr val="FFFFFF"/>
          </a:solidFill>
          <a:ln w="9525">
            <a:solidFill>
              <a:srgbClr val="D6CFB8"/>
            </a:solidFill>
            <a:prstDash val="solid"/>
          </a:ln>
        </p:spPr>
      </p:sp>
      <p:sp>
        <p:nvSpPr>
          <p:cNvPr id="15" name="Shape 13"/>
          <p:cNvSpPr/>
          <p:nvPr/>
        </p:nvSpPr>
        <p:spPr>
          <a:xfrm>
            <a:off x="640080" y="3383280"/>
            <a:ext cx="73152" cy="685800"/>
          </a:xfrm>
          <a:prstGeom prst="rect">
            <a:avLst/>
          </a:prstGeom>
          <a:solidFill>
            <a:srgbClr val="F09042"/>
          </a:solidFill>
          <a:ln/>
        </p:spPr>
      </p:sp>
      <p:sp>
        <p:nvSpPr>
          <p:cNvPr id="16" name="Text 14"/>
          <p:cNvSpPr/>
          <p:nvPr/>
        </p:nvSpPr>
        <p:spPr>
          <a:xfrm>
            <a:off x="914400" y="3474720"/>
            <a:ext cx="10698480" cy="292608"/>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Vérifier les hypothèses du test avant de l'appliquer.</a:t>
            </a:r>
            <a:endParaRPr lang="en-US" sz="1300" dirty="0"/>
          </a:p>
        </p:txBody>
      </p:sp>
      <p:sp>
        <p:nvSpPr>
          <p:cNvPr id="17" name="Text 15"/>
          <p:cNvSpPr/>
          <p:nvPr/>
        </p:nvSpPr>
        <p:spPr>
          <a:xfrm>
            <a:off x="914400" y="3767328"/>
            <a:ext cx="1069848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Normalité + variances. C'est la base. C'est aussi ce qu'un jury sonde.</a:t>
            </a:r>
            <a:endParaRPr lang="en-US" sz="1100" dirty="0"/>
          </a:p>
        </p:txBody>
      </p:sp>
      <p:sp>
        <p:nvSpPr>
          <p:cNvPr id="18" name="Shape 16"/>
          <p:cNvSpPr/>
          <p:nvPr/>
        </p:nvSpPr>
        <p:spPr>
          <a:xfrm>
            <a:off x="640080" y="4114800"/>
            <a:ext cx="11091672" cy="685800"/>
          </a:xfrm>
          <a:prstGeom prst="roundRect">
            <a:avLst>
              <a:gd name="adj" fmla="val 8000"/>
            </a:avLst>
          </a:prstGeom>
          <a:solidFill>
            <a:srgbClr val="FFFFFF"/>
          </a:solidFill>
          <a:ln w="9525">
            <a:solidFill>
              <a:srgbClr val="D6CFB8"/>
            </a:solidFill>
            <a:prstDash val="solid"/>
          </a:ln>
        </p:spPr>
      </p:sp>
      <p:sp>
        <p:nvSpPr>
          <p:cNvPr id="19" name="Shape 17"/>
          <p:cNvSpPr/>
          <p:nvPr/>
        </p:nvSpPr>
        <p:spPr>
          <a:xfrm>
            <a:off x="640080" y="4114800"/>
            <a:ext cx="73152" cy="685800"/>
          </a:xfrm>
          <a:prstGeom prst="rect">
            <a:avLst/>
          </a:prstGeom>
          <a:solidFill>
            <a:srgbClr val="F09042"/>
          </a:solidFill>
          <a:ln/>
        </p:spPr>
      </p:sp>
      <p:sp>
        <p:nvSpPr>
          <p:cNvPr id="20" name="Text 18"/>
          <p:cNvSpPr/>
          <p:nvPr/>
        </p:nvSpPr>
        <p:spPr>
          <a:xfrm>
            <a:off x="914400" y="4206240"/>
            <a:ext cx="10698480" cy="292608"/>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Rapporter taille d'effet + IC95% + p-value. Toujours les trois.</a:t>
            </a:r>
            <a:endParaRPr lang="en-US" sz="1300" dirty="0"/>
          </a:p>
        </p:txBody>
      </p:sp>
      <p:sp>
        <p:nvSpPr>
          <p:cNvPr id="21" name="Text 19"/>
          <p:cNvSpPr/>
          <p:nvPr/>
        </p:nvSpPr>
        <p:spPr>
          <a:xfrm>
            <a:off x="914400" y="4498848"/>
            <a:ext cx="1069848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Une p-value seule te fragilise. Les trois ensemble te blindent.</a:t>
            </a:r>
            <a:endParaRPr lang="en-US" sz="1100" dirty="0"/>
          </a:p>
        </p:txBody>
      </p:sp>
      <p:sp>
        <p:nvSpPr>
          <p:cNvPr id="22" name="Shape 20"/>
          <p:cNvSpPr/>
          <p:nvPr/>
        </p:nvSpPr>
        <p:spPr>
          <a:xfrm>
            <a:off x="640080" y="4846320"/>
            <a:ext cx="11091672" cy="685800"/>
          </a:xfrm>
          <a:prstGeom prst="roundRect">
            <a:avLst>
              <a:gd name="adj" fmla="val 8000"/>
            </a:avLst>
          </a:prstGeom>
          <a:solidFill>
            <a:srgbClr val="FFFFFF"/>
          </a:solidFill>
          <a:ln w="9525">
            <a:solidFill>
              <a:srgbClr val="D6CFB8"/>
            </a:solidFill>
            <a:prstDash val="solid"/>
          </a:ln>
        </p:spPr>
      </p:sp>
      <p:sp>
        <p:nvSpPr>
          <p:cNvPr id="23" name="Shape 21"/>
          <p:cNvSpPr/>
          <p:nvPr/>
        </p:nvSpPr>
        <p:spPr>
          <a:xfrm>
            <a:off x="640080" y="4846320"/>
            <a:ext cx="73152" cy="685800"/>
          </a:xfrm>
          <a:prstGeom prst="rect">
            <a:avLst/>
          </a:prstGeom>
          <a:solidFill>
            <a:srgbClr val="F09042"/>
          </a:solidFill>
          <a:ln/>
        </p:spPr>
      </p:sp>
      <p:sp>
        <p:nvSpPr>
          <p:cNvPr id="24" name="Text 22"/>
          <p:cNvSpPr/>
          <p:nvPr/>
        </p:nvSpPr>
        <p:spPr>
          <a:xfrm>
            <a:off x="914400" y="4937760"/>
            <a:ext cx="10698480" cy="292608"/>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Corriger pour les comparaisons multiples au-delà de 3-4 tests.</a:t>
            </a:r>
            <a:endParaRPr lang="en-US" sz="1300" dirty="0"/>
          </a:p>
        </p:txBody>
      </p:sp>
      <p:sp>
        <p:nvSpPr>
          <p:cNvPr id="25" name="Text 23"/>
          <p:cNvSpPr/>
          <p:nvPr/>
        </p:nvSpPr>
        <p:spPr>
          <a:xfrm>
            <a:off x="914400" y="5230368"/>
            <a:ext cx="1069848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Sinon tu pêches dans tes données. Le jury va te le rappeler.</a:t>
            </a:r>
            <a:endParaRPr lang="en-US" sz="1100" dirty="0"/>
          </a:p>
        </p:txBody>
      </p:sp>
      <p:sp>
        <p:nvSpPr>
          <p:cNvPr id="26" name="Shape 24"/>
          <p:cNvSpPr/>
          <p:nvPr/>
        </p:nvSpPr>
        <p:spPr>
          <a:xfrm>
            <a:off x="640080" y="5577840"/>
            <a:ext cx="11091672" cy="685800"/>
          </a:xfrm>
          <a:prstGeom prst="roundRect">
            <a:avLst>
              <a:gd name="adj" fmla="val 8000"/>
            </a:avLst>
          </a:prstGeom>
          <a:solidFill>
            <a:srgbClr val="FFFFFF"/>
          </a:solidFill>
          <a:ln w="9525">
            <a:solidFill>
              <a:srgbClr val="D6CFB8"/>
            </a:solidFill>
            <a:prstDash val="solid"/>
          </a:ln>
        </p:spPr>
      </p:sp>
      <p:sp>
        <p:nvSpPr>
          <p:cNvPr id="27" name="Shape 25"/>
          <p:cNvSpPr/>
          <p:nvPr/>
        </p:nvSpPr>
        <p:spPr>
          <a:xfrm>
            <a:off x="640080" y="5577840"/>
            <a:ext cx="73152" cy="685800"/>
          </a:xfrm>
          <a:prstGeom prst="rect">
            <a:avLst/>
          </a:prstGeom>
          <a:solidFill>
            <a:srgbClr val="F09042"/>
          </a:solidFill>
          <a:ln/>
        </p:spPr>
      </p:sp>
      <p:sp>
        <p:nvSpPr>
          <p:cNvPr id="28" name="Text 26"/>
          <p:cNvSpPr/>
          <p:nvPr/>
        </p:nvSpPr>
        <p:spPr>
          <a:xfrm>
            <a:off x="914400" y="5669280"/>
            <a:ext cx="10698480" cy="292608"/>
          </a:xfrm>
          <a:prstGeom prst="rect">
            <a:avLst/>
          </a:prstGeom>
          <a:noFill/>
          <a:ln/>
        </p:spPr>
        <p:txBody>
          <a:bodyPr wrap="square" rtlCol="0" anchor="ctr"/>
          <a:lstStyle/>
          <a:p>
            <a:pPr indent="0" marL="0">
              <a:buNone/>
            </a:pPr>
            <a:r>
              <a:rPr lang="en-US" sz="1300" b="1" dirty="0">
                <a:solidFill>
                  <a:srgbClr val="15233F"/>
                </a:solidFill>
                <a:latin typeface="Calibri" pitchFamily="34" charset="0"/>
                <a:ea typeface="Calibri" pitchFamily="34" charset="-122"/>
                <a:cs typeface="Calibri" pitchFamily="34" charset="-120"/>
              </a:rPr>
              <a:t>Documenter chaque choix méthodologique dans la rédaction.</a:t>
            </a:r>
            <a:endParaRPr lang="en-US" sz="1300" dirty="0"/>
          </a:p>
        </p:txBody>
      </p:sp>
      <p:sp>
        <p:nvSpPr>
          <p:cNvPr id="29" name="Text 27"/>
          <p:cNvSpPr/>
          <p:nvPr/>
        </p:nvSpPr>
        <p:spPr>
          <a:xfrm>
            <a:off x="914400" y="5961888"/>
            <a:ext cx="10698480" cy="274320"/>
          </a:xfrm>
          <a:prstGeom prst="rect">
            <a:avLst/>
          </a:prstGeom>
          <a:noFill/>
          <a:ln/>
        </p:spPr>
        <p:txBody>
          <a:bodyPr wrap="square" rtlCol="0" anchor="ctr"/>
          <a:lstStyle/>
          <a:p>
            <a:pPr indent="0" marL="0">
              <a:buNone/>
            </a:pPr>
            <a:r>
              <a:rPr lang="en-US" sz="1100" i="1" dirty="0">
                <a:solidFill>
                  <a:srgbClr val="6B7280"/>
                </a:solidFill>
                <a:latin typeface="Calibri" pitchFamily="34" charset="0"/>
                <a:ea typeface="Calibri" pitchFamily="34" charset="-122"/>
                <a:cs typeface="Calibri" pitchFamily="34" charset="-120"/>
              </a:rPr>
              <a:t>Une méthode lisible = un jury rassuré = des questions plus faciles.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1729"/>
        </a:solidFill>
      </p:bgPr>
    </p:bg>
    <p:spTree>
      <p:nvGrpSpPr>
        <p:cNvPr id="1" name=""/>
        <p:cNvGrpSpPr/>
        <p:nvPr/>
      </p:nvGrpSpPr>
      <p:grpSpPr>
        <a:xfrm>
          <a:off x="0" y="0"/>
          <a:ext cx="0" cy="0"/>
          <a:chOff x="0" y="0"/>
          <a:chExt cx="0" cy="0"/>
        </a:xfrm>
      </p:grpSpPr>
      <p:sp>
        <p:nvSpPr>
          <p:cNvPr id="2" name="Text 0"/>
          <p:cNvSpPr/>
          <p:nvPr/>
        </p:nvSpPr>
        <p:spPr>
          <a:xfrm>
            <a:off x="457200" y="6446520"/>
            <a:ext cx="7315200" cy="274320"/>
          </a:xfrm>
          <a:prstGeom prst="rect">
            <a:avLst/>
          </a:prstGeom>
          <a:noFill/>
          <a:ln/>
        </p:spPr>
        <p:txBody>
          <a:bodyPr wrap="square" rtlCol="0" anchor="ctr"/>
          <a:lstStyle/>
          <a:p>
            <a:pPr indent="0" marL="0">
              <a:buNone/>
            </a:pPr>
            <a:r>
              <a:rPr lang="en-US" sz="900" i="1" dirty="0">
                <a:solidFill>
                  <a:srgbClr val="6B7280"/>
                </a:solidFill>
                <a:latin typeface="Calibri" pitchFamily="34" charset="0"/>
                <a:ea typeface="Calibri" pitchFamily="34" charset="-122"/>
                <a:cs typeface="Calibri" pitchFamily="34" charset="-120"/>
              </a:rPr>
              <a:t>Biostat · Module 1 · Heaven Elijah Service</a:t>
            </a:r>
            <a:endParaRPr lang="en-US" sz="900" dirty="0"/>
          </a:p>
        </p:txBody>
      </p:sp>
      <p:sp>
        <p:nvSpPr>
          <p:cNvPr id="3" name="Text 1"/>
          <p:cNvSpPr/>
          <p:nvPr/>
        </p:nvSpPr>
        <p:spPr>
          <a:xfrm>
            <a:off x="10817352" y="6446520"/>
            <a:ext cx="9144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15 / 15</a:t>
            </a:r>
            <a:endParaRPr lang="en-US" sz="900" dirty="0"/>
          </a:p>
        </p:txBody>
      </p:sp>
      <p:sp>
        <p:nvSpPr>
          <p:cNvPr id="4" name="Shape 2"/>
          <p:cNvSpPr/>
          <p:nvPr/>
        </p:nvSpPr>
        <p:spPr>
          <a:xfrm>
            <a:off x="7315200" y="2743200"/>
            <a:ext cx="7315200" cy="7315200"/>
          </a:xfrm>
          <a:prstGeom prst="ellipse">
            <a:avLst/>
          </a:prstGeom>
          <a:solidFill>
            <a:srgbClr val="F09042">
              <a:alpha val="12000"/>
            </a:srgbClr>
          </a:solidFill>
          <a:ln/>
        </p:spPr>
      </p:sp>
      <p:pic>
        <p:nvPicPr>
          <p:cNvPr id="5" name="Image 0" descr="E:\Projets\heaven-elijah-site\public\logo-picto.png">    </p:cNvPr>
          <p:cNvPicPr>
            <a:picLocks noChangeAspect="1"/>
          </p:cNvPicPr>
          <p:nvPr/>
        </p:nvPicPr>
        <p:blipFill>
          <a:blip r:embed="rId1">
            <a:alphaModFix amt="75000"/>
          </a:blip>
          <a:stretch>
            <a:fillRect/>
          </a:stretch>
        </p:blipFill>
        <p:spPr>
          <a:xfrm>
            <a:off x="10424160" y="274320"/>
            <a:ext cx="1371600" cy="1371600"/>
          </a:xfrm>
          <a:prstGeom prst="rect">
            <a:avLst/>
          </a:prstGeom>
        </p:spPr>
      </p:pic>
      <p:sp>
        <p:nvSpPr>
          <p:cNvPr id="6" name="Text 3"/>
          <p:cNvSpPr/>
          <p:nvPr/>
        </p:nvSpPr>
        <p:spPr>
          <a:xfrm>
            <a:off x="640080" y="640080"/>
            <a:ext cx="5486400" cy="365760"/>
          </a:xfrm>
          <a:prstGeom prst="rect">
            <a:avLst/>
          </a:prstGeom>
          <a:noFill/>
          <a:ln/>
        </p:spPr>
        <p:txBody>
          <a:bodyPr wrap="square" rtlCol="0" anchor="ctr"/>
          <a:lstStyle/>
          <a:p>
            <a:pPr indent="0" marL="0">
              <a:buNone/>
            </a:pPr>
            <a:r>
              <a:rPr lang="en-US" sz="1300" b="1" spc="500" kern="0" dirty="0">
                <a:solidFill>
                  <a:srgbClr val="F09042"/>
                </a:solidFill>
                <a:latin typeface="Calibri" pitchFamily="34" charset="0"/>
                <a:ea typeface="Calibri" pitchFamily="34" charset="-122"/>
                <a:cs typeface="Calibri" pitchFamily="34" charset="-120"/>
              </a:rPr>
              <a:t>— LA SUITE</a:t>
            </a:r>
            <a:endParaRPr lang="en-US" sz="1300" dirty="0"/>
          </a:p>
        </p:txBody>
      </p:sp>
      <p:sp>
        <p:nvSpPr>
          <p:cNvPr id="7" name="Text 4"/>
          <p:cNvSpPr/>
          <p:nvPr/>
        </p:nvSpPr>
        <p:spPr>
          <a:xfrm>
            <a:off x="640080" y="1371600"/>
            <a:ext cx="10972800" cy="2194560"/>
          </a:xfrm>
          <a:prstGeom prst="rect">
            <a:avLst/>
          </a:prstGeom>
          <a:noFill/>
          <a:ln/>
        </p:spPr>
        <p:txBody>
          <a:bodyPr wrap="square" rtlCol="0" anchor="ctr"/>
          <a:lstStyle/>
          <a:p>
            <a:pPr indent="0" marL="0">
              <a:lnSpc>
                <a:spcPct val="105000"/>
              </a:lnSpc>
              <a:buNone/>
            </a:pPr>
            <a:r>
              <a:rPr lang="en-US" sz="4000" b="1" spc="-100" kern="0" dirty="0">
                <a:solidFill>
                  <a:srgbClr val="FFFFFF"/>
                </a:solidFill>
                <a:latin typeface="Calibri" pitchFamily="34" charset="0"/>
                <a:ea typeface="Calibri" pitchFamily="34" charset="-122"/>
                <a:cs typeface="Calibri" pitchFamily="34" charset="-120"/>
              </a:rPr>
              <a:t>Tu as les fondations.</a:t>
            </a:r>
            <a:endParaRPr lang="en-US" sz="4000" dirty="0"/>
          </a:p>
          <a:p>
            <a:pPr indent="0" marL="0">
              <a:lnSpc>
                <a:spcPct val="105000"/>
              </a:lnSpc>
              <a:buNone/>
            </a:pPr>
            <a:r>
              <a:rPr lang="en-US" sz="4000" b="1" spc="-100" kern="0" dirty="0">
                <a:solidFill>
                  <a:srgbClr val="FFFFFF"/>
                </a:solidFill>
                <a:latin typeface="Calibri" pitchFamily="34" charset="0"/>
                <a:ea typeface="Calibri" pitchFamily="34" charset="-122"/>
                <a:cs typeface="Calibri" pitchFamily="34" charset="-120"/>
              </a:rPr>
              <a:t>Maintenant, place aux tests.</a:t>
            </a:r>
            <a:endParaRPr lang="en-US" sz="4000" dirty="0"/>
          </a:p>
        </p:txBody>
      </p:sp>
      <p:sp>
        <p:nvSpPr>
          <p:cNvPr id="8" name="Text 5"/>
          <p:cNvSpPr/>
          <p:nvPr/>
        </p:nvSpPr>
        <p:spPr>
          <a:xfrm>
            <a:off x="640080" y="3474720"/>
            <a:ext cx="10972800" cy="1554480"/>
          </a:xfrm>
          <a:prstGeom prst="rect">
            <a:avLst/>
          </a:prstGeom>
          <a:noFill/>
          <a:ln/>
        </p:spPr>
        <p:txBody>
          <a:bodyPr wrap="square" rtlCol="0" anchor="ctr"/>
          <a:lstStyle/>
          <a:p>
            <a:pPr indent="0" marL="0">
              <a:lnSpc>
                <a:spcPct val="140000"/>
              </a:lnSpc>
              <a:buNone/>
            </a:pPr>
            <a:r>
              <a:rPr lang="en-US" sz="1400" i="1" dirty="0">
                <a:solidFill>
                  <a:srgbClr val="C9CFDC"/>
                </a:solidFill>
                <a:latin typeface="Calibri" pitchFamily="34" charset="0"/>
                <a:ea typeface="Calibri" pitchFamily="34" charset="-122"/>
                <a:cs typeface="Calibri" pitchFamily="34" charset="-120"/>
              </a:rPr>
              <a:t>Le Module 2 entre dans le détail des comparaisons : t-test, ANOVA, Mann-Whitney, Chi², McNemar, Fisher — quand, comment, comment lire la sortie, et ce que le jury va creuser.</a:t>
            </a:r>
            <a:endParaRPr lang="en-US" sz="1400" dirty="0"/>
          </a:p>
          <a:p>
            <a:pPr indent="0" marL="0">
              <a:lnSpc>
                <a:spcPct val="140000"/>
              </a:lnSpc>
              <a:buNone/>
            </a:pPr>
            <a:endParaRPr lang="en-US" sz="1400" dirty="0"/>
          </a:p>
          <a:p>
            <a:pPr indent="0" marL="0">
              <a:lnSpc>
                <a:spcPct val="140000"/>
              </a:lnSpc>
              <a:buNone/>
            </a:pPr>
            <a:r>
              <a:rPr lang="en-US" sz="1400" i="1" dirty="0">
                <a:solidFill>
                  <a:srgbClr val="C9CFDC"/>
                </a:solidFill>
                <a:latin typeface="Calibri" pitchFamily="34" charset="0"/>
                <a:ea typeface="Calibri" pitchFamily="34" charset="-122"/>
                <a:cs typeface="Calibri" pitchFamily="34" charset="-120"/>
              </a:rPr>
              <a:t>En attendant, si tu veux qu'on regarde ta méthodo sur ton projet réel : 15 minutes de diagnostic, sans engagement.</a:t>
            </a:r>
            <a:endParaRPr lang="en-US" sz="1400" dirty="0"/>
          </a:p>
        </p:txBody>
      </p:sp>
      <p:sp>
        <p:nvSpPr>
          <p:cNvPr id="9" name="Shape 6"/>
          <p:cNvSpPr/>
          <p:nvPr/>
        </p:nvSpPr>
        <p:spPr>
          <a:xfrm>
            <a:off x="640080" y="5166360"/>
            <a:ext cx="5303520" cy="1005840"/>
          </a:xfrm>
          <a:prstGeom prst="roundRect">
            <a:avLst>
              <a:gd name="adj" fmla="val 9091"/>
            </a:avLst>
          </a:prstGeom>
          <a:solidFill>
            <a:srgbClr val="25D366"/>
          </a:solidFill>
          <a:ln/>
        </p:spPr>
      </p:sp>
      <p:sp>
        <p:nvSpPr>
          <p:cNvPr id="10" name="Text 7"/>
          <p:cNvSpPr/>
          <p:nvPr/>
        </p:nvSpPr>
        <p:spPr>
          <a:xfrm>
            <a:off x="822960" y="5230368"/>
            <a:ext cx="4937760" cy="36576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WhatsApp direct</a:t>
            </a:r>
            <a:endParaRPr lang="en-US" sz="1200" dirty="0"/>
          </a:p>
        </p:txBody>
      </p:sp>
      <p:sp>
        <p:nvSpPr>
          <p:cNvPr id="11" name="Text 8"/>
          <p:cNvSpPr/>
          <p:nvPr/>
        </p:nvSpPr>
        <p:spPr>
          <a:xfrm>
            <a:off x="822960" y="5577840"/>
            <a:ext cx="4937760" cy="502920"/>
          </a:xfrm>
          <a:prstGeom prst="rect">
            <a:avLst/>
          </a:prstGeom>
          <a:noFill/>
          <a:ln/>
        </p:spPr>
        <p:txBody>
          <a:bodyPr wrap="square" rtlCol="0" anchor="ctr"/>
          <a:lstStyle/>
          <a:p>
            <a:pPr indent="0" marL="0">
              <a:buNone/>
            </a:pPr>
            <a:r>
              <a:rPr lang="en-US" sz="2000" b="1" dirty="0">
                <a:solidFill>
                  <a:srgbClr val="FFFFFF"/>
                </a:solidFill>
                <a:latin typeface="Consolas" pitchFamily="34" charset="0"/>
                <a:ea typeface="Consolas" pitchFamily="34" charset="-122"/>
                <a:cs typeface="Consolas" pitchFamily="34" charset="-120"/>
              </a:rPr>
              <a:t>+221 76 387 34 28</a:t>
            </a:r>
            <a:endParaRPr lang="en-US" sz="2000" dirty="0"/>
          </a:p>
        </p:txBody>
      </p:sp>
      <p:sp>
        <p:nvSpPr>
          <p:cNvPr id="12" name="Shape 9"/>
          <p:cNvSpPr/>
          <p:nvPr/>
        </p:nvSpPr>
        <p:spPr>
          <a:xfrm>
            <a:off x="6309360" y="5166360"/>
            <a:ext cx="5422392" cy="1005840"/>
          </a:xfrm>
          <a:prstGeom prst="roundRect">
            <a:avLst>
              <a:gd name="adj" fmla="val 9091"/>
            </a:avLst>
          </a:prstGeom>
          <a:solidFill>
            <a:srgbClr val="F09042"/>
          </a:solidFill>
          <a:ln/>
        </p:spPr>
      </p:sp>
      <p:sp>
        <p:nvSpPr>
          <p:cNvPr id="13" name="Text 10"/>
          <p:cNvSpPr/>
          <p:nvPr/>
        </p:nvSpPr>
        <p:spPr>
          <a:xfrm>
            <a:off x="6492240" y="5230368"/>
            <a:ext cx="5029200" cy="365760"/>
          </a:xfrm>
          <a:prstGeom prst="rect">
            <a:avLst/>
          </a:prstGeom>
          <a:noFill/>
          <a:ln/>
        </p:spPr>
        <p:txBody>
          <a:bodyPr wrap="square" rtlCol="0" anchor="ctr"/>
          <a:lstStyle/>
          <a:p>
            <a:pPr indent="0" marL="0">
              <a:buNone/>
            </a:pPr>
            <a:r>
              <a:rPr lang="en-US" sz="1200" b="1" spc="200" kern="0" dirty="0">
                <a:solidFill>
                  <a:srgbClr val="0E1729"/>
                </a:solidFill>
                <a:latin typeface="Calibri" pitchFamily="34" charset="0"/>
                <a:ea typeface="Calibri" pitchFamily="34" charset="-122"/>
                <a:cs typeface="Calibri" pitchFamily="34" charset="-120"/>
              </a:rPr>
              <a:t>Site web HES</a:t>
            </a:r>
            <a:endParaRPr lang="en-US" sz="1200" dirty="0"/>
          </a:p>
        </p:txBody>
      </p:sp>
      <p:sp>
        <p:nvSpPr>
          <p:cNvPr id="14" name="Text 11"/>
          <p:cNvSpPr/>
          <p:nvPr/>
        </p:nvSpPr>
        <p:spPr>
          <a:xfrm>
            <a:off x="6492240" y="5577840"/>
            <a:ext cx="5029200" cy="502920"/>
          </a:xfrm>
          <a:prstGeom prst="rect">
            <a:avLst/>
          </a:prstGeom>
          <a:noFill/>
          <a:ln/>
        </p:spPr>
        <p:txBody>
          <a:bodyPr wrap="square" rtlCol="0" anchor="ctr"/>
          <a:lstStyle/>
          <a:p>
            <a:pPr indent="0" marL="0">
              <a:buNone/>
            </a:pPr>
            <a:r>
              <a:rPr lang="en-US" sz="1800" b="1" dirty="0">
                <a:solidFill>
                  <a:srgbClr val="0E1729"/>
                </a:solidFill>
                <a:latin typeface="Consolas" pitchFamily="34" charset="0"/>
                <a:ea typeface="Consolas" pitchFamily="34" charset="-122"/>
                <a:cs typeface="Consolas" pitchFamily="34" charset="-120"/>
              </a:rPr>
              <a:t>heavenelijahservice.org</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Heaven Elijah Service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Avant le test, la méthode — Module 1</dc:title>
  <dc:subject>Formation HES — Biostatistique</dc:subject>
  <dc:creator>Heaven Elijah Service</dc:creator>
  <cp:lastModifiedBy>Heaven Elijah Service</cp:lastModifiedBy>
  <cp:revision>1</cp:revision>
  <dcterms:created xsi:type="dcterms:W3CDTF">2026-05-14T17:31:34Z</dcterms:created>
  <dcterms:modified xsi:type="dcterms:W3CDTF">2026-05-14T17:31:34Z</dcterms:modified>
</cp:coreProperties>
</file>