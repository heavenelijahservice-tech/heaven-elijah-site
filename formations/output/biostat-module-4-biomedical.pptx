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9"/>
        </a:solidFill>
      </p:bgPr>
    </p:bg>
    <p:spTree>
      <p:nvGrpSpPr>
        <p:cNvPr id="1" name=""/>
        <p:cNvGrpSpPr/>
        <p:nvPr/>
      </p:nvGrpSpPr>
      <p:grpSpPr>
        <a:xfrm>
          <a:off x="0" y="0"/>
          <a:ext cx="0" cy="0"/>
          <a:chOff x="0" y="0"/>
          <a:chExt cx="0" cy="0"/>
        </a:xfrm>
      </p:grpSpPr>
      <p:sp>
        <p:nvSpPr>
          <p:cNvPr id="2" name="Shape 0"/>
          <p:cNvSpPr/>
          <p:nvPr/>
        </p:nvSpPr>
        <p:spPr>
          <a:xfrm>
            <a:off x="8229600" y="-1828800"/>
            <a:ext cx="4572000" cy="4572000"/>
          </a:xfrm>
          <a:prstGeom prst="ellipse">
            <a:avLst/>
          </a:prstGeom>
          <a:solidFill>
            <a:srgbClr val="F09042">
              <a:alpha val="12000"/>
            </a:srgbClr>
          </a:solidFill>
          <a:ln/>
        </p:spPr>
      </p:sp>
      <p:pic>
        <p:nvPicPr>
          <p:cNvPr id="3" name="Image 0" descr="E:\Projets\heaven-elijah-site\public\logo-picto.png">    </p:cNvPr>
          <p:cNvPicPr>
            <a:picLocks noChangeAspect="1"/>
          </p:cNvPicPr>
          <p:nvPr/>
        </p:nvPicPr>
        <p:blipFill>
          <a:blip r:embed="rId1">
            <a:alphaModFix amt="70000"/>
          </a:blip>
          <a:stretch>
            <a:fillRect/>
          </a:stretch>
        </p:blipFill>
        <p:spPr>
          <a:xfrm>
            <a:off x="10515600" y="5303520"/>
            <a:ext cx="1188720" cy="1188720"/>
          </a:xfrm>
          <a:prstGeom prst="rect">
            <a:avLst/>
          </a:prstGeom>
        </p:spPr>
      </p:pic>
      <p:sp>
        <p:nvSpPr>
          <p:cNvPr id="4" name="Text 1"/>
          <p:cNvSpPr/>
          <p:nvPr/>
        </p:nvSpPr>
        <p:spPr>
          <a:xfrm>
            <a:off x="640080" y="640080"/>
            <a:ext cx="8229600" cy="365760"/>
          </a:xfrm>
          <a:prstGeom prst="rect">
            <a:avLst/>
          </a:prstGeom>
          <a:noFill/>
          <a:ln/>
        </p:spPr>
        <p:txBody>
          <a:bodyPr wrap="square" rtlCol="0" anchor="ctr"/>
          <a:lstStyle/>
          <a:p>
            <a:pPr indent="0" marL="0">
              <a:buNone/>
            </a:pPr>
            <a:r>
              <a:rPr lang="en-US" sz="1300" b="1" spc="500" kern="0" dirty="0">
                <a:solidFill>
                  <a:srgbClr val="F09042"/>
                </a:solidFill>
                <a:latin typeface="Calibri" pitchFamily="34" charset="0"/>
                <a:ea typeface="Calibri" pitchFamily="34" charset="-122"/>
                <a:cs typeface="Calibri" pitchFamily="34" charset="-120"/>
              </a:rPr>
              <a:t>— FORMATION HES · BIOSTAT · MODULE 4</a:t>
            </a:r>
            <a:endParaRPr lang="en-US" sz="1300" dirty="0"/>
          </a:p>
        </p:txBody>
      </p:sp>
      <p:sp>
        <p:nvSpPr>
          <p:cNvPr id="5" name="Text 2"/>
          <p:cNvSpPr/>
          <p:nvPr/>
        </p:nvSpPr>
        <p:spPr>
          <a:xfrm>
            <a:off x="640080" y="1737360"/>
            <a:ext cx="10972800" cy="2560320"/>
          </a:xfrm>
          <a:prstGeom prst="rect">
            <a:avLst/>
          </a:prstGeom>
          <a:noFill/>
          <a:ln/>
        </p:spPr>
        <p:txBody>
          <a:bodyPr wrap="square" rtlCol="0" anchor="ctr"/>
          <a:lstStyle/>
          <a:p>
            <a:pPr indent="0" marL="0">
              <a:lnSpc>
                <a:spcPct val="100000"/>
              </a:lnSpc>
              <a:buNone/>
            </a:pPr>
            <a:r>
              <a:rPr lang="en-US" sz="6200" b="1" spc="-200" kern="0" dirty="0">
                <a:solidFill>
                  <a:srgbClr val="FFFFFF"/>
                </a:solidFill>
                <a:latin typeface="Calibri" pitchFamily="34" charset="0"/>
                <a:ea typeface="Calibri" pitchFamily="34" charset="-122"/>
                <a:cs typeface="Calibri" pitchFamily="34" charset="-120"/>
              </a:rPr>
              <a:t>Outils</a:t>
            </a:r>
            <a:endParaRPr lang="en-US" sz="6200" dirty="0"/>
          </a:p>
          <a:p>
            <a:pPr indent="0" marL="0">
              <a:lnSpc>
                <a:spcPct val="100000"/>
              </a:lnSpc>
              <a:buNone/>
            </a:pPr>
            <a:r>
              <a:rPr lang="en-US" sz="6200" b="1" spc="-200" kern="0" dirty="0">
                <a:solidFill>
                  <a:srgbClr val="FFFFFF"/>
                </a:solidFill>
                <a:latin typeface="Calibri" pitchFamily="34" charset="0"/>
                <a:ea typeface="Calibri" pitchFamily="34" charset="-122"/>
                <a:cs typeface="Calibri" pitchFamily="34" charset="-120"/>
              </a:rPr>
              <a:t>biomédicaux.</a:t>
            </a:r>
            <a:endParaRPr lang="en-US" sz="6200" dirty="0"/>
          </a:p>
        </p:txBody>
      </p:sp>
      <p:sp>
        <p:nvSpPr>
          <p:cNvPr id="6" name="Shape 3"/>
          <p:cNvSpPr/>
          <p:nvPr/>
        </p:nvSpPr>
        <p:spPr>
          <a:xfrm>
            <a:off x="640080" y="4617720"/>
            <a:ext cx="1371600" cy="54864"/>
          </a:xfrm>
          <a:prstGeom prst="rect">
            <a:avLst/>
          </a:prstGeom>
          <a:solidFill>
            <a:srgbClr val="F09042"/>
          </a:solidFill>
          <a:ln/>
        </p:spPr>
      </p:sp>
      <p:sp>
        <p:nvSpPr>
          <p:cNvPr id="7" name="Text 4"/>
          <p:cNvSpPr/>
          <p:nvPr/>
        </p:nvSpPr>
        <p:spPr>
          <a:xfrm>
            <a:off x="640080" y="4800600"/>
            <a:ext cx="10972800" cy="548640"/>
          </a:xfrm>
          <a:prstGeom prst="rect">
            <a:avLst/>
          </a:prstGeom>
          <a:noFill/>
          <a:ln/>
        </p:spPr>
        <p:txBody>
          <a:bodyPr wrap="square" rtlCol="0" anchor="ctr"/>
          <a:lstStyle/>
          <a:p>
            <a:pPr indent="0" marL="0">
              <a:buNone/>
            </a:pPr>
            <a:r>
              <a:rPr lang="en-US" sz="2200" i="1" dirty="0">
                <a:solidFill>
                  <a:srgbClr val="C9CFDC"/>
                </a:solidFill>
                <a:latin typeface="Calibri" pitchFamily="34" charset="0"/>
                <a:ea typeface="Calibri" pitchFamily="34" charset="-122"/>
                <a:cs typeface="Calibri" pitchFamily="34" charset="-120"/>
              </a:rPr>
              <a:t>Diagnostic, ROC, survie : les méthodes qui font la médecine.</a:t>
            </a:r>
            <a:endParaRPr lang="en-US" sz="2200" dirty="0"/>
          </a:p>
        </p:txBody>
      </p:sp>
      <p:sp>
        <p:nvSpPr>
          <p:cNvPr id="8" name="Text 5"/>
          <p:cNvSpPr/>
          <p:nvPr/>
        </p:nvSpPr>
        <p:spPr>
          <a:xfrm>
            <a:off x="640080" y="5943600"/>
            <a:ext cx="6400800" cy="274320"/>
          </a:xfrm>
          <a:prstGeom prst="rect">
            <a:avLst/>
          </a:prstGeom>
          <a:noFill/>
          <a:ln/>
        </p:spPr>
        <p:txBody>
          <a:bodyPr wrap="square" rtlCol="0" anchor="ctr"/>
          <a:lstStyle/>
          <a:p>
            <a:pPr indent="0" marL="0">
              <a:buNone/>
            </a:pPr>
            <a:r>
              <a:rPr lang="en-US" sz="1100" dirty="0">
                <a:solidFill>
                  <a:srgbClr val="F09042"/>
                </a:solidFill>
                <a:latin typeface="Consolas" pitchFamily="34" charset="0"/>
                <a:ea typeface="Consolas" pitchFamily="34" charset="-122"/>
                <a:cs typeface="Consolas" pitchFamily="34" charset="-120"/>
              </a:rPr>
              <a:t>15 slides · ~50 min · Doctorants et chercheurs</a:t>
            </a:r>
            <a:endParaRPr lang="en-US" sz="1100" dirty="0"/>
          </a:p>
        </p:txBody>
      </p:sp>
      <p:sp>
        <p:nvSpPr>
          <p:cNvPr id="9" name="Text 6"/>
          <p:cNvSpPr/>
          <p:nvPr/>
        </p:nvSpPr>
        <p:spPr>
          <a:xfrm>
            <a:off x="5486400" y="5943600"/>
            <a:ext cx="6245352" cy="274320"/>
          </a:xfrm>
          <a:prstGeom prst="rect">
            <a:avLst/>
          </a:prstGeom>
          <a:noFill/>
          <a:ln/>
        </p:spPr>
        <p:txBody>
          <a:bodyPr wrap="square" rtlCol="0" anchor="ctr"/>
          <a:lstStyle/>
          <a:p>
            <a:pPr algn="r" indent="0" marL="0">
              <a:buNone/>
            </a:pPr>
            <a:r>
              <a:rPr lang="en-US" sz="1100" dirty="0">
                <a:solidFill>
                  <a:srgbClr val="C9CFDC"/>
                </a:solidFill>
                <a:latin typeface="Consolas" pitchFamily="34" charset="0"/>
                <a:ea typeface="Consolas" pitchFamily="34" charset="-122"/>
                <a:cs typeface="Consolas" pitchFamily="34" charset="-120"/>
              </a:rPr>
              <a:t>heavenelijahservice.org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POURQUOI CE MODULE</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400" b="1" spc="-100" kern="0" dirty="0">
                <a:solidFill>
                  <a:srgbClr val="15233F"/>
                </a:solidFill>
                <a:latin typeface="Calibri" pitchFamily="34" charset="0"/>
                <a:ea typeface="Calibri" pitchFamily="34" charset="-122"/>
                <a:cs typeface="Calibri" pitchFamily="34" charset="-120"/>
              </a:rPr>
              <a:t>Les outils que tu trouveras dans 80 % des publications médicales.</a:t>
            </a:r>
            <a:endParaRPr lang="en-US" sz="2400" dirty="0"/>
          </a:p>
        </p:txBody>
      </p:sp>
      <p:sp>
        <p:nvSpPr>
          <p:cNvPr id="6" name="Text 4"/>
          <p:cNvSpPr/>
          <p:nvPr/>
        </p:nvSpPr>
        <p:spPr>
          <a:xfrm>
            <a:off x="640080" y="1920240"/>
            <a:ext cx="7040880" cy="201168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Sensibilité, spécificité, ROC, Kaplan-Meier, Cox — ces termes apparaissent dans presque toutes les thèses en médecine et en santé publique. Pas parce que c'est à la mode, parce que ce sont les outils adaptés aux questions cliniques : « ce test détecte-t-il bien la maladie ? », « ce traitement prolonge-t-il la survie ? ».</a:t>
            </a:r>
            <a:endParaRPr lang="en-US" sz="1400" dirty="0"/>
          </a:p>
        </p:txBody>
      </p:sp>
      <p:sp>
        <p:nvSpPr>
          <p:cNvPr id="7" name="Text 5"/>
          <p:cNvSpPr/>
          <p:nvPr/>
        </p:nvSpPr>
        <p:spPr>
          <a:xfrm>
            <a:off x="640080" y="4023360"/>
            <a:ext cx="7040880" cy="164592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Si tu maîtrises ces outils, tu lis sans peine une publication clinique. Si tu les maîtrises ET sais les défendre, tu soutiens une thèse de doctorat en médecine. C'est l'objectif de ce module.</a:t>
            </a:r>
            <a:endParaRPr lang="en-US" sz="1400" dirty="0"/>
          </a:p>
        </p:txBody>
      </p:sp>
      <p:sp>
        <p:nvSpPr>
          <p:cNvPr id="8" name="Shape 6"/>
          <p:cNvSpPr/>
          <p:nvPr/>
        </p:nvSpPr>
        <p:spPr>
          <a:xfrm>
            <a:off x="7955280" y="1920240"/>
            <a:ext cx="3794760" cy="4023360"/>
          </a:xfrm>
          <a:prstGeom prst="roundRect">
            <a:avLst>
              <a:gd name="adj" fmla="val 2410"/>
            </a:avLst>
          </a:prstGeom>
          <a:solidFill>
            <a:srgbClr val="0E1729"/>
          </a:solidFill>
          <a:ln/>
        </p:spPr>
      </p:sp>
      <p:sp>
        <p:nvSpPr>
          <p:cNvPr id="9" name="Text 7"/>
          <p:cNvSpPr/>
          <p:nvPr/>
        </p:nvSpPr>
        <p:spPr>
          <a:xfrm>
            <a:off x="8138160" y="2103120"/>
            <a:ext cx="3474720" cy="320040"/>
          </a:xfrm>
          <a:prstGeom prst="rect">
            <a:avLst/>
          </a:prstGeom>
          <a:noFill/>
          <a:ln/>
        </p:spPr>
        <p:txBody>
          <a:bodyPr wrap="square" rtlCol="0" anchor="ctr"/>
          <a:lstStyle/>
          <a:p>
            <a:pPr indent="0" marL="0">
              <a:buNone/>
            </a:pPr>
            <a:r>
              <a:rPr lang="en-US" sz="1100" b="1" spc="300" kern="0" dirty="0">
                <a:solidFill>
                  <a:srgbClr val="F09042"/>
                </a:solidFill>
                <a:latin typeface="Calibri" pitchFamily="34" charset="0"/>
                <a:ea typeface="Calibri" pitchFamily="34" charset="-122"/>
                <a:cs typeface="Calibri" pitchFamily="34" charset="-120"/>
              </a:rPr>
              <a:t>CE MODULE COUVRE</a:t>
            </a:r>
            <a:endParaRPr lang="en-US" sz="1100" dirty="0"/>
          </a:p>
        </p:txBody>
      </p:sp>
      <p:sp>
        <p:nvSpPr>
          <p:cNvPr id="10" name="Text 8"/>
          <p:cNvSpPr/>
          <p:nvPr/>
        </p:nvSpPr>
        <p:spPr>
          <a:xfrm>
            <a:off x="8138160" y="2514600"/>
            <a:ext cx="3474720" cy="1005840"/>
          </a:xfrm>
          <a:prstGeom prst="rect">
            <a:avLst/>
          </a:prstGeom>
          <a:noFill/>
          <a:ln/>
        </p:spPr>
        <p:txBody>
          <a:bodyPr wrap="square" rtlCol="0" anchor="ctr"/>
          <a:lstStyle/>
          <a:p>
            <a:pPr indent="0" marL="0">
              <a:buNone/>
            </a:pPr>
            <a:r>
              <a:rPr lang="en-US" sz="9000" b="1" dirty="0">
                <a:solidFill>
                  <a:srgbClr val="F09042"/>
                </a:solidFill>
                <a:latin typeface="Consolas" pitchFamily="34" charset="0"/>
                <a:ea typeface="Consolas" pitchFamily="34" charset="-122"/>
                <a:cs typeface="Consolas" pitchFamily="34" charset="-120"/>
              </a:rPr>
              <a:t>3</a:t>
            </a:r>
            <a:endParaRPr lang="en-US" sz="9000" dirty="0"/>
          </a:p>
        </p:txBody>
      </p:sp>
      <p:sp>
        <p:nvSpPr>
          <p:cNvPr id="11" name="Text 9"/>
          <p:cNvSpPr/>
          <p:nvPr/>
        </p:nvSpPr>
        <p:spPr>
          <a:xfrm>
            <a:off x="8138160" y="3566160"/>
            <a:ext cx="3474720" cy="1280160"/>
          </a:xfrm>
          <a:prstGeom prst="rect">
            <a:avLst/>
          </a:prstGeom>
          <a:noFill/>
          <a:ln/>
        </p:spPr>
        <p:txBody>
          <a:bodyPr wrap="square" rtlCol="0" anchor="ctr"/>
          <a:lstStyle/>
          <a:p>
            <a:pPr indent="0" marL="0">
              <a:lnSpc>
                <a:spcPct val="135000"/>
              </a:lnSpc>
              <a:buNone/>
            </a:pPr>
            <a:r>
              <a:rPr lang="en-US" sz="1300" dirty="0">
                <a:solidFill>
                  <a:srgbClr val="FFFFFF"/>
                </a:solidFill>
                <a:latin typeface="Calibri" pitchFamily="34" charset="0"/>
                <a:ea typeface="Calibri" pitchFamily="34" charset="-122"/>
                <a:cs typeface="Calibri" pitchFamily="34" charset="-120"/>
              </a:rPr>
              <a:t>grandes familles :</a:t>
            </a:r>
            <a:endParaRPr lang="en-US" sz="1300" dirty="0"/>
          </a:p>
          <a:p>
            <a:pPr indent="0" marL="0">
              <a:lnSpc>
                <a:spcPct val="135000"/>
              </a:lnSpc>
              <a:buNone/>
            </a:pPr>
            <a:r>
              <a:rPr lang="en-US" sz="1300" dirty="0">
                <a:solidFill>
                  <a:srgbClr val="FFFFFF"/>
                </a:solidFill>
                <a:latin typeface="Calibri" pitchFamily="34" charset="0"/>
                <a:ea typeface="Calibri" pitchFamily="34" charset="-122"/>
                <a:cs typeface="Calibri" pitchFamily="34" charset="-120"/>
              </a:rPr>
              <a:t>diagnostic, accord</a:t>
            </a:r>
            <a:endParaRPr lang="en-US" sz="1300" dirty="0"/>
          </a:p>
          <a:p>
            <a:pPr indent="0" marL="0">
              <a:lnSpc>
                <a:spcPct val="135000"/>
              </a:lnSpc>
              <a:buNone/>
            </a:pPr>
            <a:r>
              <a:rPr lang="en-US" sz="1300" dirty="0">
                <a:solidFill>
                  <a:srgbClr val="FFFFFF"/>
                </a:solidFill>
                <a:latin typeface="Calibri" pitchFamily="34" charset="0"/>
                <a:ea typeface="Calibri" pitchFamily="34" charset="-122"/>
                <a:cs typeface="Calibri" pitchFamily="34" charset="-120"/>
              </a:rPr>
              <a:t>inter-méthodes,</a:t>
            </a:r>
            <a:endParaRPr lang="en-US" sz="1300" dirty="0"/>
          </a:p>
          <a:p>
            <a:pPr indent="0" marL="0">
              <a:lnSpc>
                <a:spcPct val="135000"/>
              </a:lnSpc>
              <a:buNone/>
            </a:pPr>
            <a:r>
              <a:rPr lang="en-US" sz="1300" dirty="0">
                <a:solidFill>
                  <a:srgbClr val="FFFFFF"/>
                </a:solidFill>
                <a:latin typeface="Calibri" pitchFamily="34" charset="0"/>
                <a:ea typeface="Calibri" pitchFamily="34" charset="-122"/>
                <a:cs typeface="Calibri" pitchFamily="34" charset="-120"/>
              </a:rPr>
              <a:t>analyse de survie.</a:t>
            </a:r>
            <a:endParaRPr lang="en-US" sz="1300" dirty="0"/>
          </a:p>
        </p:txBody>
      </p:sp>
      <p:sp>
        <p:nvSpPr>
          <p:cNvPr id="12" name="Shape 10"/>
          <p:cNvSpPr/>
          <p:nvPr/>
        </p:nvSpPr>
        <p:spPr>
          <a:xfrm>
            <a:off x="8138160" y="5029200"/>
            <a:ext cx="3383280" cy="18288"/>
          </a:xfrm>
          <a:prstGeom prst="rect">
            <a:avLst/>
          </a:prstGeom>
          <a:solidFill>
            <a:srgbClr val="F09042"/>
          </a:solidFill>
          <a:ln/>
        </p:spPr>
      </p:sp>
      <p:sp>
        <p:nvSpPr>
          <p:cNvPr id="13" name="Text 11"/>
          <p:cNvSpPr/>
          <p:nvPr/>
        </p:nvSpPr>
        <p:spPr>
          <a:xfrm>
            <a:off x="8138160" y="5166360"/>
            <a:ext cx="3474720" cy="777240"/>
          </a:xfrm>
          <a:prstGeom prst="rect">
            <a:avLst/>
          </a:prstGeom>
          <a:noFill/>
          <a:ln/>
        </p:spPr>
        <p:txBody>
          <a:bodyPr wrap="square" rtlCol="0" anchor="ctr"/>
          <a:lstStyle/>
          <a:p>
            <a:pPr indent="0" marL="0">
              <a:lnSpc>
                <a:spcPct val="130000"/>
              </a:lnSpc>
              <a:buNone/>
            </a:pPr>
            <a:r>
              <a:rPr lang="en-US" sz="1100" i="1" dirty="0">
                <a:solidFill>
                  <a:srgbClr val="C9CFDC"/>
                </a:solidFill>
                <a:latin typeface="Calibri" pitchFamily="34" charset="0"/>
                <a:ea typeface="Calibri" pitchFamily="34" charset="-122"/>
                <a:cs typeface="Calibri" pitchFamily="34" charset="-120"/>
              </a:rPr>
              <a:t>Plots intégrés sur les concepts visuels : 2×2 diagnostique, ROC, Kaplan-Meier.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LA CARTE</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800" b="1" spc="-100" kern="0" dirty="0">
                <a:solidFill>
                  <a:srgbClr val="15233F"/>
                </a:solidFill>
                <a:latin typeface="Calibri" pitchFamily="34" charset="0"/>
                <a:ea typeface="Calibri" pitchFamily="34" charset="-122"/>
                <a:cs typeface="Calibri" pitchFamily="34" charset="-120"/>
              </a:rPr>
              <a:t>Trois familles, trois questions cliniques.</a:t>
            </a:r>
            <a:endParaRPr lang="en-US" sz="2800" dirty="0"/>
          </a:p>
        </p:txBody>
      </p:sp>
      <p:sp>
        <p:nvSpPr>
          <p:cNvPr id="6" name="Text 4"/>
          <p:cNvSpPr/>
          <p:nvPr/>
        </p:nvSpPr>
        <p:spPr>
          <a:xfrm>
            <a:off x="640080" y="1874520"/>
            <a:ext cx="10972800" cy="822960"/>
          </a:xfrm>
          <a:prstGeom prst="rect">
            <a:avLst/>
          </a:prstGeom>
          <a:noFill/>
          <a:ln/>
        </p:spPr>
        <p:txBody>
          <a:bodyPr wrap="square" rtlCol="0" anchor="t"/>
          <a:lstStyle/>
          <a:p>
            <a:pPr indent="0" marL="0">
              <a:lnSpc>
                <a:spcPct val="140000"/>
              </a:lnSpc>
              <a:buNone/>
            </a:pPr>
            <a:r>
              <a:rPr lang="en-US" sz="1300" dirty="0">
                <a:solidFill>
                  <a:srgbClr val="15233F"/>
                </a:solidFill>
                <a:latin typeface="Calibri" pitchFamily="34" charset="0"/>
                <a:ea typeface="Calibri" pitchFamily="34" charset="-122"/>
                <a:cs typeface="Calibri" pitchFamily="34" charset="-120"/>
              </a:rPr>
              <a:t>À chaque grande question clinique correspond une famille d'outils. Voici la cartographie qui te permet de choisir avant d'ouvrir R.</a:t>
            </a:r>
            <a:endParaRPr lang="en-US" sz="1300" dirty="0"/>
          </a:p>
        </p:txBody>
      </p:sp>
      <p:sp>
        <p:nvSpPr>
          <p:cNvPr id="7" name="Shape 5"/>
          <p:cNvSpPr/>
          <p:nvPr/>
        </p:nvSpPr>
        <p:spPr>
          <a:xfrm>
            <a:off x="640080" y="2926080"/>
            <a:ext cx="3621024" cy="640080"/>
          </a:xfrm>
          <a:prstGeom prst="rect">
            <a:avLst/>
          </a:prstGeom>
          <a:solidFill>
            <a:srgbClr val="F09042"/>
          </a:solidFill>
          <a:ln/>
        </p:spPr>
      </p:sp>
      <p:sp>
        <p:nvSpPr>
          <p:cNvPr id="8" name="Text 6"/>
          <p:cNvSpPr/>
          <p:nvPr/>
        </p:nvSpPr>
        <p:spPr>
          <a:xfrm>
            <a:off x="777240" y="2999232"/>
            <a:ext cx="3346704" cy="274320"/>
          </a:xfrm>
          <a:prstGeom prst="rect">
            <a:avLst/>
          </a:prstGeom>
          <a:noFill/>
          <a:ln/>
        </p:spPr>
        <p:txBody>
          <a:bodyPr wrap="square" rtlCol="0" anchor="ctr"/>
          <a:lstStyle/>
          <a:p>
            <a:pPr algn="ctr" indent="0" marL="0">
              <a:buNone/>
            </a:pPr>
            <a:r>
              <a:rPr lang="en-US" sz="1100" b="1" spc="200" kern="0" dirty="0">
                <a:solidFill>
                  <a:srgbClr val="0E1729"/>
                </a:solidFill>
                <a:latin typeface="Calibri" pitchFamily="34" charset="0"/>
                <a:ea typeface="Calibri" pitchFamily="34" charset="-122"/>
                <a:cs typeface="Calibri" pitchFamily="34" charset="-120"/>
              </a:rPr>
              <a:t>DIAGNOSTIC</a:t>
            </a:r>
            <a:endParaRPr lang="en-US" sz="1100" dirty="0"/>
          </a:p>
        </p:txBody>
      </p:sp>
      <p:sp>
        <p:nvSpPr>
          <p:cNvPr id="9" name="Text 7"/>
          <p:cNvSpPr/>
          <p:nvPr/>
        </p:nvSpPr>
        <p:spPr>
          <a:xfrm>
            <a:off x="777240" y="3273552"/>
            <a:ext cx="3346704" cy="274320"/>
          </a:xfrm>
          <a:prstGeom prst="rect">
            <a:avLst/>
          </a:prstGeom>
          <a:noFill/>
          <a:ln/>
        </p:spPr>
        <p:txBody>
          <a:bodyPr wrap="square" rtlCol="0" anchor="ctr"/>
          <a:lstStyle/>
          <a:p>
            <a:pPr algn="ctr" indent="0" marL="0">
              <a:buNone/>
            </a:pPr>
            <a:r>
              <a:rPr lang="en-US" sz="900" i="1" dirty="0">
                <a:solidFill>
                  <a:srgbClr val="0E1729"/>
                </a:solidFill>
                <a:latin typeface="Calibri" pitchFamily="34" charset="0"/>
                <a:ea typeface="Calibri" pitchFamily="34" charset="-122"/>
                <a:cs typeface="Calibri" pitchFamily="34" charset="-120"/>
              </a:rPr>
              <a:t>« Ce test détecte-t-il bien la maladie ? »</a:t>
            </a:r>
            <a:endParaRPr lang="en-US" sz="900" dirty="0"/>
          </a:p>
        </p:txBody>
      </p:sp>
      <p:sp>
        <p:nvSpPr>
          <p:cNvPr id="10" name="Shape 8"/>
          <p:cNvSpPr/>
          <p:nvPr/>
        </p:nvSpPr>
        <p:spPr>
          <a:xfrm>
            <a:off x="640080" y="3566160"/>
            <a:ext cx="3621024" cy="2651760"/>
          </a:xfrm>
          <a:prstGeom prst="rect">
            <a:avLst/>
          </a:prstGeom>
          <a:solidFill>
            <a:srgbClr val="FFFFFF"/>
          </a:solidFill>
          <a:ln w="9525">
            <a:solidFill>
              <a:srgbClr val="D6CFB8"/>
            </a:solidFill>
            <a:prstDash val="solid"/>
          </a:ln>
        </p:spPr>
      </p:sp>
      <p:sp>
        <p:nvSpPr>
          <p:cNvPr id="11" name="Text 9"/>
          <p:cNvSpPr/>
          <p:nvPr/>
        </p:nvSpPr>
        <p:spPr>
          <a:xfrm>
            <a:off x="777240" y="3703320"/>
            <a:ext cx="3346704"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Indicateurs de base</a:t>
            </a:r>
            <a:endParaRPr lang="en-US" sz="900" dirty="0"/>
          </a:p>
        </p:txBody>
      </p:sp>
      <p:sp>
        <p:nvSpPr>
          <p:cNvPr id="12" name="Text 10"/>
          <p:cNvSpPr/>
          <p:nvPr/>
        </p:nvSpPr>
        <p:spPr>
          <a:xfrm>
            <a:off x="777240" y="3931920"/>
            <a:ext cx="3346704" cy="502920"/>
          </a:xfrm>
          <a:prstGeom prst="rect">
            <a:avLst/>
          </a:prstGeom>
          <a:noFill/>
          <a:ln/>
        </p:spPr>
        <p:txBody>
          <a:bodyPr wrap="square" rtlCol="0" anchor="ctr"/>
          <a:lstStyle/>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Sensibilité (4)</a:t>
            </a:r>
            <a:endParaRPr lang="en-US" sz="1100" dirty="0"/>
          </a:p>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Spécificité (4)</a:t>
            </a:r>
            <a:endParaRPr lang="en-US" sz="1100" dirty="0"/>
          </a:p>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VPP / VPN (5)</a:t>
            </a:r>
            <a:endParaRPr lang="en-US" sz="1100" dirty="0"/>
          </a:p>
        </p:txBody>
      </p:sp>
      <p:sp>
        <p:nvSpPr>
          <p:cNvPr id="13" name="Text 11"/>
          <p:cNvSpPr/>
          <p:nvPr/>
        </p:nvSpPr>
        <p:spPr>
          <a:xfrm>
            <a:off x="777240" y="4462272"/>
            <a:ext cx="3346704"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Ratio de vraisemblance</a:t>
            </a:r>
            <a:endParaRPr lang="en-US" sz="900" dirty="0"/>
          </a:p>
        </p:txBody>
      </p:sp>
      <p:sp>
        <p:nvSpPr>
          <p:cNvPr id="14" name="Text 12"/>
          <p:cNvSpPr/>
          <p:nvPr/>
        </p:nvSpPr>
        <p:spPr>
          <a:xfrm>
            <a:off x="777240" y="4690872"/>
            <a:ext cx="3346704" cy="502920"/>
          </a:xfrm>
          <a:prstGeom prst="rect">
            <a:avLst/>
          </a:prstGeom>
          <a:noFill/>
          <a:ln/>
        </p:spPr>
        <p:txBody>
          <a:bodyPr wrap="square" rtlCol="0" anchor="ctr"/>
          <a:lstStyle/>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LR+ / LR− (6)</a:t>
            </a:r>
            <a:endParaRPr lang="en-US" sz="1100" dirty="0"/>
          </a:p>
        </p:txBody>
      </p:sp>
      <p:sp>
        <p:nvSpPr>
          <p:cNvPr id="15" name="Text 13"/>
          <p:cNvSpPr/>
          <p:nvPr/>
        </p:nvSpPr>
        <p:spPr>
          <a:xfrm>
            <a:off x="777240" y="5221224"/>
            <a:ext cx="3346704"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Évaluation globale</a:t>
            </a:r>
            <a:endParaRPr lang="en-US" sz="900" dirty="0"/>
          </a:p>
        </p:txBody>
      </p:sp>
      <p:sp>
        <p:nvSpPr>
          <p:cNvPr id="16" name="Text 14"/>
          <p:cNvSpPr/>
          <p:nvPr/>
        </p:nvSpPr>
        <p:spPr>
          <a:xfrm>
            <a:off x="777240" y="5449824"/>
            <a:ext cx="3346704" cy="502920"/>
          </a:xfrm>
          <a:prstGeom prst="rect">
            <a:avLst/>
          </a:prstGeom>
          <a:noFill/>
          <a:ln/>
        </p:spPr>
        <p:txBody>
          <a:bodyPr wrap="square" rtlCol="0" anchor="ctr"/>
          <a:lstStyle/>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Courbe ROC + AUC (7,8)</a:t>
            </a:r>
            <a:endParaRPr lang="en-US" sz="1100" dirty="0"/>
          </a:p>
        </p:txBody>
      </p:sp>
      <p:sp>
        <p:nvSpPr>
          <p:cNvPr id="17" name="Shape 15"/>
          <p:cNvSpPr/>
          <p:nvPr/>
        </p:nvSpPr>
        <p:spPr>
          <a:xfrm>
            <a:off x="4352544" y="2926080"/>
            <a:ext cx="3621024" cy="640080"/>
          </a:xfrm>
          <a:prstGeom prst="rect">
            <a:avLst/>
          </a:prstGeom>
          <a:solidFill>
            <a:srgbClr val="F09042"/>
          </a:solidFill>
          <a:ln/>
        </p:spPr>
      </p:sp>
      <p:sp>
        <p:nvSpPr>
          <p:cNvPr id="18" name="Text 16"/>
          <p:cNvSpPr/>
          <p:nvPr/>
        </p:nvSpPr>
        <p:spPr>
          <a:xfrm>
            <a:off x="4489704" y="2999232"/>
            <a:ext cx="3346704" cy="274320"/>
          </a:xfrm>
          <a:prstGeom prst="rect">
            <a:avLst/>
          </a:prstGeom>
          <a:noFill/>
          <a:ln/>
        </p:spPr>
        <p:txBody>
          <a:bodyPr wrap="square" rtlCol="0" anchor="ctr"/>
          <a:lstStyle/>
          <a:p>
            <a:pPr algn="ctr" indent="0" marL="0">
              <a:buNone/>
            </a:pPr>
            <a:r>
              <a:rPr lang="en-US" sz="1100" b="1" spc="200" kern="0" dirty="0">
                <a:solidFill>
                  <a:srgbClr val="0E1729"/>
                </a:solidFill>
                <a:latin typeface="Calibri" pitchFamily="34" charset="0"/>
                <a:ea typeface="Calibri" pitchFamily="34" charset="-122"/>
                <a:cs typeface="Calibri" pitchFamily="34" charset="-120"/>
              </a:rPr>
              <a:t>ACCORD</a:t>
            </a:r>
            <a:endParaRPr lang="en-US" sz="1100" dirty="0"/>
          </a:p>
        </p:txBody>
      </p:sp>
      <p:sp>
        <p:nvSpPr>
          <p:cNvPr id="19" name="Text 17"/>
          <p:cNvSpPr/>
          <p:nvPr/>
        </p:nvSpPr>
        <p:spPr>
          <a:xfrm>
            <a:off x="4489704" y="3273552"/>
            <a:ext cx="3346704" cy="274320"/>
          </a:xfrm>
          <a:prstGeom prst="rect">
            <a:avLst/>
          </a:prstGeom>
          <a:noFill/>
          <a:ln/>
        </p:spPr>
        <p:txBody>
          <a:bodyPr wrap="square" rtlCol="0" anchor="ctr"/>
          <a:lstStyle/>
          <a:p>
            <a:pPr algn="ctr" indent="0" marL="0">
              <a:buNone/>
            </a:pPr>
            <a:r>
              <a:rPr lang="en-US" sz="900" i="1" dirty="0">
                <a:solidFill>
                  <a:srgbClr val="0E1729"/>
                </a:solidFill>
                <a:latin typeface="Calibri" pitchFamily="34" charset="0"/>
                <a:ea typeface="Calibri" pitchFamily="34" charset="-122"/>
                <a:cs typeface="Calibri" pitchFamily="34" charset="-120"/>
              </a:rPr>
              <a:t>« Deux observateurs voient-ils la même chose ? »</a:t>
            </a:r>
            <a:endParaRPr lang="en-US" sz="900" dirty="0"/>
          </a:p>
        </p:txBody>
      </p:sp>
      <p:sp>
        <p:nvSpPr>
          <p:cNvPr id="20" name="Shape 18"/>
          <p:cNvSpPr/>
          <p:nvPr/>
        </p:nvSpPr>
        <p:spPr>
          <a:xfrm>
            <a:off x="4352544" y="3566160"/>
            <a:ext cx="3621024" cy="2651760"/>
          </a:xfrm>
          <a:prstGeom prst="rect">
            <a:avLst/>
          </a:prstGeom>
          <a:solidFill>
            <a:srgbClr val="FFFFFF"/>
          </a:solidFill>
          <a:ln w="9525">
            <a:solidFill>
              <a:srgbClr val="D6CFB8"/>
            </a:solidFill>
            <a:prstDash val="solid"/>
          </a:ln>
        </p:spPr>
      </p:sp>
      <p:sp>
        <p:nvSpPr>
          <p:cNvPr id="21" name="Text 19"/>
          <p:cNvSpPr/>
          <p:nvPr/>
        </p:nvSpPr>
        <p:spPr>
          <a:xfrm>
            <a:off x="4489704" y="3703320"/>
            <a:ext cx="3346704"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Qualitatif</a:t>
            </a:r>
            <a:endParaRPr lang="en-US" sz="900" dirty="0"/>
          </a:p>
        </p:txBody>
      </p:sp>
      <p:sp>
        <p:nvSpPr>
          <p:cNvPr id="22" name="Text 20"/>
          <p:cNvSpPr/>
          <p:nvPr/>
        </p:nvSpPr>
        <p:spPr>
          <a:xfrm>
            <a:off x="4489704" y="3931920"/>
            <a:ext cx="3346704" cy="502920"/>
          </a:xfrm>
          <a:prstGeom prst="rect">
            <a:avLst/>
          </a:prstGeom>
          <a:noFill/>
          <a:ln/>
        </p:spPr>
        <p:txBody>
          <a:bodyPr wrap="square" rtlCol="0" anchor="ctr"/>
          <a:lstStyle/>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Kappa de Cohen (9)</a:t>
            </a:r>
            <a:endParaRPr lang="en-US" sz="1100" dirty="0"/>
          </a:p>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Kappa pondéré</a:t>
            </a:r>
            <a:endParaRPr lang="en-US" sz="1100" dirty="0"/>
          </a:p>
        </p:txBody>
      </p:sp>
      <p:sp>
        <p:nvSpPr>
          <p:cNvPr id="23" name="Text 21"/>
          <p:cNvSpPr/>
          <p:nvPr/>
        </p:nvSpPr>
        <p:spPr>
          <a:xfrm>
            <a:off x="4489704" y="4462272"/>
            <a:ext cx="3346704"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Quantitatif</a:t>
            </a:r>
            <a:endParaRPr lang="en-US" sz="900" dirty="0"/>
          </a:p>
        </p:txBody>
      </p:sp>
      <p:sp>
        <p:nvSpPr>
          <p:cNvPr id="24" name="Text 22"/>
          <p:cNvSpPr/>
          <p:nvPr/>
        </p:nvSpPr>
        <p:spPr>
          <a:xfrm>
            <a:off x="4489704" y="4690872"/>
            <a:ext cx="3346704" cy="502920"/>
          </a:xfrm>
          <a:prstGeom prst="rect">
            <a:avLst/>
          </a:prstGeom>
          <a:noFill/>
          <a:ln/>
        </p:spPr>
        <p:txBody>
          <a:bodyPr wrap="square" rtlCol="0" anchor="ctr"/>
          <a:lstStyle/>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Bland-Altman (10)</a:t>
            </a:r>
            <a:endParaRPr lang="en-US" sz="1100" dirty="0"/>
          </a:p>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CCC de Lin</a:t>
            </a:r>
            <a:endParaRPr lang="en-US" sz="1100" dirty="0"/>
          </a:p>
        </p:txBody>
      </p:sp>
      <p:sp>
        <p:nvSpPr>
          <p:cNvPr id="25" name="Text 23"/>
          <p:cNvSpPr/>
          <p:nvPr/>
        </p:nvSpPr>
        <p:spPr>
          <a:xfrm>
            <a:off x="4489704" y="5221224"/>
            <a:ext cx="3346704"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Choix</a:t>
            </a:r>
            <a:endParaRPr lang="en-US" sz="900" dirty="0"/>
          </a:p>
        </p:txBody>
      </p:sp>
      <p:sp>
        <p:nvSpPr>
          <p:cNvPr id="26" name="Text 24"/>
          <p:cNvSpPr/>
          <p:nvPr/>
        </p:nvSpPr>
        <p:spPr>
          <a:xfrm>
            <a:off x="4489704" y="5449824"/>
            <a:ext cx="3346704" cy="502920"/>
          </a:xfrm>
          <a:prstGeom prst="rect">
            <a:avLst/>
          </a:prstGeom>
          <a:noFill/>
          <a:ln/>
        </p:spPr>
        <p:txBody>
          <a:bodyPr wrap="square" rtlCol="0" anchor="ctr"/>
          <a:lstStyle/>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Selon nature de</a:t>
            </a:r>
            <a:endParaRPr lang="en-US" sz="1100" dirty="0"/>
          </a:p>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la variable.</a:t>
            </a:r>
            <a:endParaRPr lang="en-US" sz="1100" dirty="0"/>
          </a:p>
        </p:txBody>
      </p:sp>
      <p:sp>
        <p:nvSpPr>
          <p:cNvPr id="27" name="Shape 25"/>
          <p:cNvSpPr/>
          <p:nvPr/>
        </p:nvSpPr>
        <p:spPr>
          <a:xfrm>
            <a:off x="8065008" y="2926080"/>
            <a:ext cx="3621024" cy="640080"/>
          </a:xfrm>
          <a:prstGeom prst="rect">
            <a:avLst/>
          </a:prstGeom>
          <a:solidFill>
            <a:srgbClr val="F09042"/>
          </a:solidFill>
          <a:ln/>
        </p:spPr>
      </p:sp>
      <p:sp>
        <p:nvSpPr>
          <p:cNvPr id="28" name="Text 26"/>
          <p:cNvSpPr/>
          <p:nvPr/>
        </p:nvSpPr>
        <p:spPr>
          <a:xfrm>
            <a:off x="8202168" y="2999232"/>
            <a:ext cx="3346704" cy="274320"/>
          </a:xfrm>
          <a:prstGeom prst="rect">
            <a:avLst/>
          </a:prstGeom>
          <a:noFill/>
          <a:ln/>
        </p:spPr>
        <p:txBody>
          <a:bodyPr wrap="square" rtlCol="0" anchor="ctr"/>
          <a:lstStyle/>
          <a:p>
            <a:pPr algn="ctr" indent="0" marL="0">
              <a:buNone/>
            </a:pPr>
            <a:r>
              <a:rPr lang="en-US" sz="1100" b="1" spc="200" kern="0" dirty="0">
                <a:solidFill>
                  <a:srgbClr val="0E1729"/>
                </a:solidFill>
                <a:latin typeface="Calibri" pitchFamily="34" charset="0"/>
                <a:ea typeface="Calibri" pitchFamily="34" charset="-122"/>
                <a:cs typeface="Calibri" pitchFamily="34" charset="-120"/>
              </a:rPr>
              <a:t>SURVIE</a:t>
            </a:r>
            <a:endParaRPr lang="en-US" sz="1100" dirty="0"/>
          </a:p>
        </p:txBody>
      </p:sp>
      <p:sp>
        <p:nvSpPr>
          <p:cNvPr id="29" name="Text 27"/>
          <p:cNvSpPr/>
          <p:nvPr/>
        </p:nvSpPr>
        <p:spPr>
          <a:xfrm>
            <a:off x="8202168" y="3273552"/>
            <a:ext cx="3346704" cy="274320"/>
          </a:xfrm>
          <a:prstGeom prst="rect">
            <a:avLst/>
          </a:prstGeom>
          <a:noFill/>
          <a:ln/>
        </p:spPr>
        <p:txBody>
          <a:bodyPr wrap="square" rtlCol="0" anchor="ctr"/>
          <a:lstStyle/>
          <a:p>
            <a:pPr algn="ctr" indent="0" marL="0">
              <a:buNone/>
            </a:pPr>
            <a:r>
              <a:rPr lang="en-US" sz="900" i="1" dirty="0">
                <a:solidFill>
                  <a:srgbClr val="0E1729"/>
                </a:solidFill>
                <a:latin typeface="Calibri" pitchFamily="34" charset="0"/>
                <a:ea typeface="Calibri" pitchFamily="34" charset="-122"/>
                <a:cs typeface="Calibri" pitchFamily="34" charset="-120"/>
              </a:rPr>
              <a:t>« Combien de temps avant l'évènement ? »</a:t>
            </a:r>
            <a:endParaRPr lang="en-US" sz="900" dirty="0"/>
          </a:p>
        </p:txBody>
      </p:sp>
      <p:sp>
        <p:nvSpPr>
          <p:cNvPr id="30" name="Shape 28"/>
          <p:cNvSpPr/>
          <p:nvPr/>
        </p:nvSpPr>
        <p:spPr>
          <a:xfrm>
            <a:off x="8065008" y="3566160"/>
            <a:ext cx="3621024" cy="2651760"/>
          </a:xfrm>
          <a:prstGeom prst="rect">
            <a:avLst/>
          </a:prstGeom>
          <a:solidFill>
            <a:srgbClr val="FFFFFF"/>
          </a:solidFill>
          <a:ln w="9525">
            <a:solidFill>
              <a:srgbClr val="D6CFB8"/>
            </a:solidFill>
            <a:prstDash val="solid"/>
          </a:ln>
        </p:spPr>
      </p:sp>
      <p:sp>
        <p:nvSpPr>
          <p:cNvPr id="31" name="Text 29"/>
          <p:cNvSpPr/>
          <p:nvPr/>
        </p:nvSpPr>
        <p:spPr>
          <a:xfrm>
            <a:off x="8202168" y="3703320"/>
            <a:ext cx="3346704"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Description</a:t>
            </a:r>
            <a:endParaRPr lang="en-US" sz="900" dirty="0"/>
          </a:p>
        </p:txBody>
      </p:sp>
      <p:sp>
        <p:nvSpPr>
          <p:cNvPr id="32" name="Text 30"/>
          <p:cNvSpPr/>
          <p:nvPr/>
        </p:nvSpPr>
        <p:spPr>
          <a:xfrm>
            <a:off x="8202168" y="3931920"/>
            <a:ext cx="3346704" cy="502920"/>
          </a:xfrm>
          <a:prstGeom prst="rect">
            <a:avLst/>
          </a:prstGeom>
          <a:noFill/>
          <a:ln/>
        </p:spPr>
        <p:txBody>
          <a:bodyPr wrap="square" rtlCol="0" anchor="ctr"/>
          <a:lstStyle/>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Kaplan-Meier (11)</a:t>
            </a:r>
            <a:endParaRPr lang="en-US" sz="1100" dirty="0"/>
          </a:p>
        </p:txBody>
      </p:sp>
      <p:sp>
        <p:nvSpPr>
          <p:cNvPr id="33" name="Text 31"/>
          <p:cNvSpPr/>
          <p:nvPr/>
        </p:nvSpPr>
        <p:spPr>
          <a:xfrm>
            <a:off x="8202168" y="4462272"/>
            <a:ext cx="3346704"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Comparaison 2 groupes</a:t>
            </a:r>
            <a:endParaRPr lang="en-US" sz="900" dirty="0"/>
          </a:p>
        </p:txBody>
      </p:sp>
      <p:sp>
        <p:nvSpPr>
          <p:cNvPr id="34" name="Text 32"/>
          <p:cNvSpPr/>
          <p:nvPr/>
        </p:nvSpPr>
        <p:spPr>
          <a:xfrm>
            <a:off x="8202168" y="4690872"/>
            <a:ext cx="3346704" cy="502920"/>
          </a:xfrm>
          <a:prstGeom prst="rect">
            <a:avLst/>
          </a:prstGeom>
          <a:noFill/>
          <a:ln/>
        </p:spPr>
        <p:txBody>
          <a:bodyPr wrap="square" rtlCol="0" anchor="ctr"/>
          <a:lstStyle/>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Log-rank test (12)</a:t>
            </a:r>
            <a:endParaRPr lang="en-US" sz="1100" dirty="0"/>
          </a:p>
        </p:txBody>
      </p:sp>
      <p:sp>
        <p:nvSpPr>
          <p:cNvPr id="35" name="Text 33"/>
          <p:cNvSpPr/>
          <p:nvPr/>
        </p:nvSpPr>
        <p:spPr>
          <a:xfrm>
            <a:off x="8202168" y="5221224"/>
            <a:ext cx="3346704"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Ajustement multivarié</a:t>
            </a:r>
            <a:endParaRPr lang="en-US" sz="900" dirty="0"/>
          </a:p>
        </p:txBody>
      </p:sp>
      <p:sp>
        <p:nvSpPr>
          <p:cNvPr id="36" name="Text 34"/>
          <p:cNvSpPr/>
          <p:nvPr/>
        </p:nvSpPr>
        <p:spPr>
          <a:xfrm>
            <a:off x="8202168" y="5449824"/>
            <a:ext cx="3346704" cy="502920"/>
          </a:xfrm>
          <a:prstGeom prst="rect">
            <a:avLst/>
          </a:prstGeom>
          <a:noFill/>
          <a:ln/>
        </p:spPr>
        <p:txBody>
          <a:bodyPr wrap="square" rtlCol="0" anchor="ctr"/>
          <a:lstStyle/>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Régression de Cox (13)</a:t>
            </a:r>
            <a:endParaRPr lang="en-US" sz="1100" dirty="0"/>
          </a:p>
          <a:p>
            <a:pPr indent="0" marL="0">
              <a:lnSpc>
                <a:spcPct val="125000"/>
              </a:lnSpc>
              <a:buNone/>
            </a:pPr>
            <a:r>
              <a:rPr lang="en-US" sz="1100" b="1" dirty="0">
                <a:solidFill>
                  <a:srgbClr val="15233F"/>
                </a:solidFill>
                <a:latin typeface="Consolas" pitchFamily="34" charset="0"/>
                <a:ea typeface="Consolas" pitchFamily="34" charset="-122"/>
                <a:cs typeface="Consolas" pitchFamily="34" charset="-120"/>
              </a:rPr>
              <a:t>HR + IC95%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DIAGNOSTIC · INDICATEURS DE BASE</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800" b="1" spc="-100" kern="0" dirty="0">
                <a:solidFill>
                  <a:srgbClr val="15233F"/>
                </a:solidFill>
                <a:latin typeface="Calibri" pitchFamily="34" charset="0"/>
                <a:ea typeface="Calibri" pitchFamily="34" charset="-122"/>
                <a:cs typeface="Calibri" pitchFamily="34" charset="-120"/>
              </a:rPr>
              <a:t>Tableau 2×2, sensibilité et spécificité.</a:t>
            </a:r>
            <a:endParaRPr lang="en-US" sz="2800" dirty="0"/>
          </a:p>
        </p:txBody>
      </p:sp>
      <p:sp>
        <p:nvSpPr>
          <p:cNvPr id="6" name="Text 4"/>
          <p:cNvSpPr/>
          <p:nvPr/>
        </p:nvSpPr>
        <p:spPr>
          <a:xfrm>
            <a:off x="640080" y="1828800"/>
            <a:ext cx="10972800" cy="109728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Le tableau 2×2 (test vs maladie) est le point de départ de toute évaluation d'un test diagnostique. Sensibilité = proportion de vrais positifs parmi les malades. Spécificité = proportion de vrais négatifs parmi les sains.</a:t>
            </a:r>
            <a:endParaRPr lang="en-US" sz="1400" dirty="0"/>
          </a:p>
        </p:txBody>
      </p:sp>
      <p:sp>
        <p:nvSpPr>
          <p:cNvPr id="7" name="Shape 5"/>
          <p:cNvSpPr/>
          <p:nvPr/>
        </p:nvSpPr>
        <p:spPr>
          <a:xfrm>
            <a:off x="640080" y="3108960"/>
            <a:ext cx="5029200" cy="3017520"/>
          </a:xfrm>
          <a:prstGeom prst="rect">
            <a:avLst/>
          </a:prstGeom>
          <a:solidFill>
            <a:srgbClr val="FFFFFF"/>
          </a:solidFill>
          <a:ln w="6350">
            <a:solidFill>
              <a:srgbClr val="D6CFB8"/>
            </a:solidFill>
            <a:prstDash val="solid"/>
          </a:ln>
        </p:spPr>
      </p:sp>
      <p:sp>
        <p:nvSpPr>
          <p:cNvPr id="8" name="Text 6"/>
          <p:cNvSpPr/>
          <p:nvPr/>
        </p:nvSpPr>
        <p:spPr>
          <a:xfrm>
            <a:off x="731520" y="3154680"/>
            <a:ext cx="4846320" cy="274320"/>
          </a:xfrm>
          <a:prstGeom prst="rect">
            <a:avLst/>
          </a:prstGeom>
          <a:noFill/>
          <a:ln/>
        </p:spPr>
        <p:txBody>
          <a:bodyPr wrap="square" rtlCol="0" anchor="ctr"/>
          <a:lstStyle/>
          <a:p>
            <a:pPr algn="ctr" indent="0" marL="0">
              <a:buNone/>
            </a:pPr>
            <a:r>
              <a:rPr lang="en-US" sz="1000" b="1" dirty="0">
                <a:solidFill>
                  <a:srgbClr val="15233F"/>
                </a:solidFill>
                <a:latin typeface="Calibri" pitchFamily="34" charset="0"/>
                <a:ea typeface="Calibri" pitchFamily="34" charset="-122"/>
                <a:cs typeface="Calibri" pitchFamily="34" charset="-120"/>
              </a:rPr>
              <a:t>Tableau 2×2 · test vs réalité</a:t>
            </a:r>
            <a:endParaRPr lang="en-US" sz="1000" dirty="0"/>
          </a:p>
        </p:txBody>
      </p:sp>
      <p:sp>
        <p:nvSpPr>
          <p:cNvPr id="9" name="Text 7"/>
          <p:cNvSpPr/>
          <p:nvPr/>
        </p:nvSpPr>
        <p:spPr>
          <a:xfrm>
            <a:off x="1005840" y="3611880"/>
            <a:ext cx="1508760" cy="792480"/>
          </a:xfrm>
          <a:prstGeom prst="rect">
            <a:avLst/>
          </a:prstGeom>
          <a:noFill/>
          <a:ln/>
        </p:spPr>
        <p:txBody>
          <a:bodyPr wrap="square" rtlCol="0" anchor="ctr"/>
          <a:lstStyle/>
          <a:p>
            <a:pPr algn="ctr" indent="0" marL="0">
              <a:buNone/>
            </a:pPr>
            <a:endParaRPr lang="en-US" sz="1100" dirty="0"/>
          </a:p>
        </p:txBody>
      </p:sp>
      <p:sp>
        <p:nvSpPr>
          <p:cNvPr id="10" name="Text 8"/>
          <p:cNvSpPr/>
          <p:nvPr/>
        </p:nvSpPr>
        <p:spPr>
          <a:xfrm>
            <a:off x="2514600" y="3611880"/>
            <a:ext cx="1508760" cy="792480"/>
          </a:xfrm>
          <a:prstGeom prst="rect">
            <a:avLst/>
          </a:prstGeom>
          <a:noFill/>
          <a:ln/>
        </p:spPr>
        <p:txBody>
          <a:bodyPr wrap="square" rtlCol="0" anchor="ctr"/>
          <a:lstStyle/>
          <a:p>
            <a:pPr algn="ctr" indent="0" marL="0">
              <a:buNone/>
            </a:pPr>
            <a:r>
              <a:rPr lang="en-US" sz="1000" b="1" dirty="0">
                <a:solidFill>
                  <a:srgbClr val="F09042"/>
                </a:solidFill>
                <a:latin typeface="Calibri" pitchFamily="34" charset="0"/>
                <a:ea typeface="Calibri" pitchFamily="34" charset="-122"/>
                <a:cs typeface="Calibri" pitchFamily="34" charset="-120"/>
              </a:rPr>
              <a:t>Malade +</a:t>
            </a:r>
            <a:endParaRPr lang="en-US" sz="1000" dirty="0"/>
          </a:p>
        </p:txBody>
      </p:sp>
      <p:sp>
        <p:nvSpPr>
          <p:cNvPr id="11" name="Text 9"/>
          <p:cNvSpPr/>
          <p:nvPr/>
        </p:nvSpPr>
        <p:spPr>
          <a:xfrm>
            <a:off x="4023360" y="3611880"/>
            <a:ext cx="1508760" cy="792480"/>
          </a:xfrm>
          <a:prstGeom prst="rect">
            <a:avLst/>
          </a:prstGeom>
          <a:noFill/>
          <a:ln/>
        </p:spPr>
        <p:txBody>
          <a:bodyPr wrap="square" rtlCol="0" anchor="ctr"/>
          <a:lstStyle/>
          <a:p>
            <a:pPr algn="ctr" indent="0" marL="0">
              <a:buNone/>
            </a:pPr>
            <a:r>
              <a:rPr lang="en-US" sz="1000" b="1" dirty="0">
                <a:solidFill>
                  <a:srgbClr val="F09042"/>
                </a:solidFill>
                <a:latin typeface="Calibri" pitchFamily="34" charset="0"/>
                <a:ea typeface="Calibri" pitchFamily="34" charset="-122"/>
                <a:cs typeface="Calibri" pitchFamily="34" charset="-120"/>
              </a:rPr>
              <a:t>Malade −</a:t>
            </a:r>
            <a:endParaRPr lang="en-US" sz="1000" dirty="0"/>
          </a:p>
        </p:txBody>
      </p:sp>
      <p:sp>
        <p:nvSpPr>
          <p:cNvPr id="12" name="Text 10"/>
          <p:cNvSpPr/>
          <p:nvPr/>
        </p:nvSpPr>
        <p:spPr>
          <a:xfrm>
            <a:off x="1005840" y="4404360"/>
            <a:ext cx="1508760" cy="792480"/>
          </a:xfrm>
          <a:prstGeom prst="rect">
            <a:avLst/>
          </a:prstGeom>
          <a:noFill/>
          <a:ln/>
        </p:spPr>
        <p:txBody>
          <a:bodyPr wrap="square" rtlCol="0" anchor="ctr"/>
          <a:lstStyle/>
          <a:p>
            <a:pPr algn="ctr" indent="0" marL="0">
              <a:buNone/>
            </a:pPr>
            <a:r>
              <a:rPr lang="en-US" sz="1000" b="1" dirty="0">
                <a:solidFill>
                  <a:srgbClr val="F09042"/>
                </a:solidFill>
                <a:latin typeface="Calibri" pitchFamily="34" charset="0"/>
                <a:ea typeface="Calibri" pitchFamily="34" charset="-122"/>
                <a:cs typeface="Calibri" pitchFamily="34" charset="-120"/>
              </a:rPr>
              <a:t>Test +</a:t>
            </a:r>
            <a:endParaRPr lang="en-US" sz="1000" dirty="0"/>
          </a:p>
        </p:txBody>
      </p:sp>
      <p:sp>
        <p:nvSpPr>
          <p:cNvPr id="13" name="Text 11"/>
          <p:cNvSpPr/>
          <p:nvPr/>
        </p:nvSpPr>
        <p:spPr>
          <a:xfrm>
            <a:off x="1005840" y="5196840"/>
            <a:ext cx="1508760" cy="792480"/>
          </a:xfrm>
          <a:prstGeom prst="rect">
            <a:avLst/>
          </a:prstGeom>
          <a:noFill/>
          <a:ln/>
        </p:spPr>
        <p:txBody>
          <a:bodyPr wrap="square" rtlCol="0" anchor="ctr"/>
          <a:lstStyle/>
          <a:p>
            <a:pPr algn="ctr" indent="0" marL="0">
              <a:buNone/>
            </a:pPr>
            <a:r>
              <a:rPr lang="en-US" sz="1000" b="1" dirty="0">
                <a:solidFill>
                  <a:srgbClr val="F09042"/>
                </a:solidFill>
                <a:latin typeface="Calibri" pitchFamily="34" charset="0"/>
                <a:ea typeface="Calibri" pitchFamily="34" charset="-122"/>
                <a:cs typeface="Calibri" pitchFamily="34" charset="-120"/>
              </a:rPr>
              <a:t>Test −</a:t>
            </a:r>
            <a:endParaRPr lang="en-US" sz="1000" dirty="0"/>
          </a:p>
        </p:txBody>
      </p:sp>
      <p:sp>
        <p:nvSpPr>
          <p:cNvPr id="14" name="Shape 12"/>
          <p:cNvSpPr/>
          <p:nvPr/>
        </p:nvSpPr>
        <p:spPr>
          <a:xfrm>
            <a:off x="2514600" y="4404360"/>
            <a:ext cx="1508760" cy="792480"/>
          </a:xfrm>
          <a:prstGeom prst="rect">
            <a:avLst/>
          </a:prstGeom>
          <a:solidFill>
            <a:srgbClr val="FFFFFF"/>
          </a:solidFill>
          <a:ln w="9525">
            <a:solidFill>
              <a:srgbClr val="D6CFB8"/>
            </a:solidFill>
            <a:prstDash val="solid"/>
          </a:ln>
        </p:spPr>
      </p:sp>
      <p:sp>
        <p:nvSpPr>
          <p:cNvPr id="15" name="Text 13"/>
          <p:cNvSpPr/>
          <p:nvPr/>
        </p:nvSpPr>
        <p:spPr>
          <a:xfrm>
            <a:off x="2514600" y="4404360"/>
            <a:ext cx="1508760" cy="792480"/>
          </a:xfrm>
          <a:prstGeom prst="rect">
            <a:avLst/>
          </a:prstGeom>
          <a:noFill/>
          <a:ln/>
        </p:spPr>
        <p:txBody>
          <a:bodyPr wrap="square" rtlCol="0" anchor="ctr"/>
          <a:lstStyle/>
          <a:p>
            <a:pPr algn="ctr" indent="0" marL="0">
              <a:buNone/>
            </a:pPr>
            <a:r>
              <a:rPr lang="en-US" sz="1300" b="1" dirty="0">
                <a:solidFill>
                  <a:srgbClr val="4CAF50"/>
                </a:solidFill>
                <a:latin typeface="Consolas" pitchFamily="34" charset="0"/>
                <a:ea typeface="Consolas" pitchFamily="34" charset="-122"/>
                <a:cs typeface="Consolas" pitchFamily="34" charset="-120"/>
              </a:rPr>
              <a:t>VP</a:t>
            </a:r>
            <a:endParaRPr lang="en-US" sz="1300" dirty="0"/>
          </a:p>
          <a:p>
            <a:pPr algn="ctr" indent="0" marL="0">
              <a:buNone/>
            </a:pPr>
            <a:r>
              <a:rPr lang="en-US" sz="1300" b="1" dirty="0">
                <a:solidFill>
                  <a:srgbClr val="4CAF50"/>
                </a:solidFill>
                <a:latin typeface="Consolas" pitchFamily="34" charset="0"/>
                <a:ea typeface="Consolas" pitchFamily="34" charset="-122"/>
                <a:cs typeface="Consolas" pitchFamily="34" charset="-120"/>
              </a:rPr>
              <a:t>85</a:t>
            </a:r>
            <a:endParaRPr lang="en-US" sz="1300" dirty="0"/>
          </a:p>
        </p:txBody>
      </p:sp>
      <p:sp>
        <p:nvSpPr>
          <p:cNvPr id="16" name="Shape 14"/>
          <p:cNvSpPr/>
          <p:nvPr/>
        </p:nvSpPr>
        <p:spPr>
          <a:xfrm>
            <a:off x="4023360" y="4404360"/>
            <a:ext cx="1508760" cy="792480"/>
          </a:xfrm>
          <a:prstGeom prst="rect">
            <a:avLst/>
          </a:prstGeom>
          <a:solidFill>
            <a:srgbClr val="FFFFFF"/>
          </a:solidFill>
          <a:ln w="9525">
            <a:solidFill>
              <a:srgbClr val="D6CFB8"/>
            </a:solidFill>
            <a:prstDash val="solid"/>
          </a:ln>
        </p:spPr>
      </p:sp>
      <p:sp>
        <p:nvSpPr>
          <p:cNvPr id="17" name="Text 15"/>
          <p:cNvSpPr/>
          <p:nvPr/>
        </p:nvSpPr>
        <p:spPr>
          <a:xfrm>
            <a:off x="4023360" y="4404360"/>
            <a:ext cx="1508760" cy="792480"/>
          </a:xfrm>
          <a:prstGeom prst="rect">
            <a:avLst/>
          </a:prstGeom>
          <a:noFill/>
          <a:ln/>
        </p:spPr>
        <p:txBody>
          <a:bodyPr wrap="square" rtlCol="0" anchor="ctr"/>
          <a:lstStyle/>
          <a:p>
            <a:pPr algn="ctr" indent="0" marL="0">
              <a:buNone/>
            </a:pPr>
            <a:r>
              <a:rPr lang="en-US" sz="1300" b="1" dirty="0">
                <a:solidFill>
                  <a:srgbClr val="E74C3C"/>
                </a:solidFill>
                <a:latin typeface="Consolas" pitchFamily="34" charset="0"/>
                <a:ea typeface="Consolas" pitchFamily="34" charset="-122"/>
                <a:cs typeface="Consolas" pitchFamily="34" charset="-120"/>
              </a:rPr>
              <a:t>FP</a:t>
            </a:r>
            <a:endParaRPr lang="en-US" sz="1300" dirty="0"/>
          </a:p>
          <a:p>
            <a:pPr algn="ctr" indent="0" marL="0">
              <a:buNone/>
            </a:pPr>
            <a:r>
              <a:rPr lang="en-US" sz="1300" b="1" dirty="0">
                <a:solidFill>
                  <a:srgbClr val="E74C3C"/>
                </a:solidFill>
                <a:latin typeface="Consolas" pitchFamily="34" charset="0"/>
                <a:ea typeface="Consolas" pitchFamily="34" charset="-122"/>
                <a:cs typeface="Consolas" pitchFamily="34" charset="-120"/>
              </a:rPr>
              <a:t>15</a:t>
            </a:r>
            <a:endParaRPr lang="en-US" sz="1300" dirty="0"/>
          </a:p>
        </p:txBody>
      </p:sp>
      <p:sp>
        <p:nvSpPr>
          <p:cNvPr id="18" name="Shape 16"/>
          <p:cNvSpPr/>
          <p:nvPr/>
        </p:nvSpPr>
        <p:spPr>
          <a:xfrm>
            <a:off x="2514600" y="5196840"/>
            <a:ext cx="1508760" cy="792480"/>
          </a:xfrm>
          <a:prstGeom prst="rect">
            <a:avLst/>
          </a:prstGeom>
          <a:solidFill>
            <a:srgbClr val="FFFFFF"/>
          </a:solidFill>
          <a:ln w="9525">
            <a:solidFill>
              <a:srgbClr val="D6CFB8"/>
            </a:solidFill>
            <a:prstDash val="solid"/>
          </a:ln>
        </p:spPr>
      </p:sp>
      <p:sp>
        <p:nvSpPr>
          <p:cNvPr id="19" name="Text 17"/>
          <p:cNvSpPr/>
          <p:nvPr/>
        </p:nvSpPr>
        <p:spPr>
          <a:xfrm>
            <a:off x="2514600" y="5196840"/>
            <a:ext cx="1508760" cy="792480"/>
          </a:xfrm>
          <a:prstGeom prst="rect">
            <a:avLst/>
          </a:prstGeom>
          <a:noFill/>
          <a:ln/>
        </p:spPr>
        <p:txBody>
          <a:bodyPr wrap="square" rtlCol="0" anchor="ctr"/>
          <a:lstStyle/>
          <a:p>
            <a:pPr algn="ctr" indent="0" marL="0">
              <a:buNone/>
            </a:pPr>
            <a:r>
              <a:rPr lang="en-US" sz="1300" b="1" dirty="0">
                <a:solidFill>
                  <a:srgbClr val="E74C3C"/>
                </a:solidFill>
                <a:latin typeface="Consolas" pitchFamily="34" charset="0"/>
                <a:ea typeface="Consolas" pitchFamily="34" charset="-122"/>
                <a:cs typeface="Consolas" pitchFamily="34" charset="-120"/>
              </a:rPr>
              <a:t>FN</a:t>
            </a:r>
            <a:endParaRPr lang="en-US" sz="1300" dirty="0"/>
          </a:p>
          <a:p>
            <a:pPr algn="ctr" indent="0" marL="0">
              <a:buNone/>
            </a:pPr>
            <a:r>
              <a:rPr lang="en-US" sz="1300" b="1" dirty="0">
                <a:solidFill>
                  <a:srgbClr val="E74C3C"/>
                </a:solidFill>
                <a:latin typeface="Consolas" pitchFamily="34" charset="0"/>
                <a:ea typeface="Consolas" pitchFamily="34" charset="-122"/>
                <a:cs typeface="Consolas" pitchFamily="34" charset="-120"/>
              </a:rPr>
              <a:t>12</a:t>
            </a:r>
            <a:endParaRPr lang="en-US" sz="1300" dirty="0"/>
          </a:p>
        </p:txBody>
      </p:sp>
      <p:sp>
        <p:nvSpPr>
          <p:cNvPr id="20" name="Shape 18"/>
          <p:cNvSpPr/>
          <p:nvPr/>
        </p:nvSpPr>
        <p:spPr>
          <a:xfrm>
            <a:off x="4023360" y="5196840"/>
            <a:ext cx="1508760" cy="792480"/>
          </a:xfrm>
          <a:prstGeom prst="rect">
            <a:avLst/>
          </a:prstGeom>
          <a:solidFill>
            <a:srgbClr val="FFFFFF"/>
          </a:solidFill>
          <a:ln w="9525">
            <a:solidFill>
              <a:srgbClr val="D6CFB8"/>
            </a:solidFill>
            <a:prstDash val="solid"/>
          </a:ln>
        </p:spPr>
      </p:sp>
      <p:sp>
        <p:nvSpPr>
          <p:cNvPr id="21" name="Text 19"/>
          <p:cNvSpPr/>
          <p:nvPr/>
        </p:nvSpPr>
        <p:spPr>
          <a:xfrm>
            <a:off x="4023360" y="5196840"/>
            <a:ext cx="1508760" cy="792480"/>
          </a:xfrm>
          <a:prstGeom prst="rect">
            <a:avLst/>
          </a:prstGeom>
          <a:noFill/>
          <a:ln/>
        </p:spPr>
        <p:txBody>
          <a:bodyPr wrap="square" rtlCol="0" anchor="ctr"/>
          <a:lstStyle/>
          <a:p>
            <a:pPr algn="ctr" indent="0" marL="0">
              <a:buNone/>
            </a:pPr>
            <a:r>
              <a:rPr lang="en-US" sz="1300" b="1" dirty="0">
                <a:solidFill>
                  <a:srgbClr val="4CAF50"/>
                </a:solidFill>
                <a:latin typeface="Consolas" pitchFamily="34" charset="0"/>
                <a:ea typeface="Consolas" pitchFamily="34" charset="-122"/>
                <a:cs typeface="Consolas" pitchFamily="34" charset="-120"/>
              </a:rPr>
              <a:t>VN</a:t>
            </a:r>
            <a:endParaRPr lang="en-US" sz="1300" dirty="0"/>
          </a:p>
          <a:p>
            <a:pPr algn="ctr" indent="0" marL="0">
              <a:buNone/>
            </a:pPr>
            <a:r>
              <a:rPr lang="en-US" sz="1300" b="1" dirty="0">
                <a:solidFill>
                  <a:srgbClr val="4CAF50"/>
                </a:solidFill>
                <a:latin typeface="Consolas" pitchFamily="34" charset="0"/>
                <a:ea typeface="Consolas" pitchFamily="34" charset="-122"/>
                <a:cs typeface="Consolas" pitchFamily="34" charset="-120"/>
              </a:rPr>
              <a:t>188</a:t>
            </a:r>
            <a:endParaRPr lang="en-US" sz="1300" dirty="0"/>
          </a:p>
        </p:txBody>
      </p:sp>
      <p:sp>
        <p:nvSpPr>
          <p:cNvPr id="22" name="Shape 20"/>
          <p:cNvSpPr/>
          <p:nvPr/>
        </p:nvSpPr>
        <p:spPr>
          <a:xfrm>
            <a:off x="5943600" y="3108960"/>
            <a:ext cx="5788152" cy="3017520"/>
          </a:xfrm>
          <a:prstGeom prst="roundRect">
            <a:avLst>
              <a:gd name="adj" fmla="val 3030"/>
            </a:avLst>
          </a:prstGeom>
          <a:solidFill>
            <a:srgbClr val="FFFFFF"/>
          </a:solidFill>
          <a:ln w="9525">
            <a:solidFill>
              <a:srgbClr val="D6CFB8"/>
            </a:solidFill>
            <a:prstDash val="solid"/>
          </a:ln>
        </p:spPr>
      </p:sp>
      <p:sp>
        <p:nvSpPr>
          <p:cNvPr id="23" name="Text 21"/>
          <p:cNvSpPr/>
          <p:nvPr/>
        </p:nvSpPr>
        <p:spPr>
          <a:xfrm>
            <a:off x="6126480" y="3246120"/>
            <a:ext cx="5394960" cy="274320"/>
          </a:xfrm>
          <a:prstGeom prst="rect">
            <a:avLst/>
          </a:prstGeom>
          <a:noFill/>
          <a:ln/>
        </p:spPr>
        <p:txBody>
          <a:bodyPr wrap="square" rtlCol="0" anchor="ctr"/>
          <a:lstStyle/>
          <a:p>
            <a:pPr indent="0" marL="0">
              <a:buNone/>
            </a:pPr>
            <a:r>
              <a:rPr lang="en-US" sz="1100" b="1" spc="300" kern="0" dirty="0">
                <a:solidFill>
                  <a:srgbClr val="F09042"/>
                </a:solidFill>
                <a:latin typeface="Calibri" pitchFamily="34" charset="0"/>
                <a:ea typeface="Calibri" pitchFamily="34" charset="-122"/>
                <a:cs typeface="Calibri" pitchFamily="34" charset="-120"/>
              </a:rPr>
              <a:t>CALCUL DES INDICATEURS</a:t>
            </a:r>
            <a:endParaRPr lang="en-US" sz="1100" dirty="0"/>
          </a:p>
        </p:txBody>
      </p:sp>
      <p:sp>
        <p:nvSpPr>
          <p:cNvPr id="24" name="Text 22"/>
          <p:cNvSpPr/>
          <p:nvPr/>
        </p:nvSpPr>
        <p:spPr>
          <a:xfrm>
            <a:off x="6126480" y="3566160"/>
            <a:ext cx="1463040" cy="502920"/>
          </a:xfrm>
          <a:prstGeom prst="rect">
            <a:avLst/>
          </a:prstGeom>
          <a:noFill/>
          <a:ln/>
        </p:spPr>
        <p:txBody>
          <a:bodyPr wrap="square" rtlCol="0" anchor="ctr"/>
          <a:lstStyle/>
          <a:p>
            <a:pPr indent="0" marL="0">
              <a:buNone/>
            </a:pPr>
            <a:r>
              <a:rPr lang="en-US" sz="1300" b="1" dirty="0">
                <a:solidFill>
                  <a:srgbClr val="15233F"/>
                </a:solidFill>
                <a:latin typeface="Calibri" pitchFamily="34" charset="0"/>
                <a:ea typeface="Calibri" pitchFamily="34" charset="-122"/>
                <a:cs typeface="Calibri" pitchFamily="34" charset="-120"/>
              </a:rPr>
              <a:t>Sensibilité</a:t>
            </a:r>
            <a:endParaRPr lang="en-US" sz="1300" dirty="0"/>
          </a:p>
        </p:txBody>
      </p:sp>
      <p:sp>
        <p:nvSpPr>
          <p:cNvPr id="25" name="Text 23"/>
          <p:cNvSpPr/>
          <p:nvPr/>
        </p:nvSpPr>
        <p:spPr>
          <a:xfrm>
            <a:off x="7680960" y="3566160"/>
            <a:ext cx="2651760" cy="502920"/>
          </a:xfrm>
          <a:prstGeom prst="rect">
            <a:avLst/>
          </a:prstGeom>
          <a:noFill/>
          <a:ln/>
        </p:spPr>
        <p:txBody>
          <a:bodyPr wrap="square" rtlCol="0" anchor="ctr"/>
          <a:lstStyle/>
          <a:p>
            <a:pPr indent="0" marL="0">
              <a:buNone/>
            </a:pPr>
            <a:r>
              <a:rPr lang="en-US" sz="1000" dirty="0">
                <a:solidFill>
                  <a:srgbClr val="6B7280"/>
                </a:solidFill>
                <a:latin typeface="Consolas" pitchFamily="34" charset="0"/>
                <a:ea typeface="Consolas" pitchFamily="34" charset="-122"/>
                <a:cs typeface="Consolas" pitchFamily="34" charset="-120"/>
              </a:rPr>
              <a:t>VP / (VP + FN) = 85 / 97</a:t>
            </a:r>
            <a:endParaRPr lang="en-US" sz="1000" dirty="0"/>
          </a:p>
        </p:txBody>
      </p:sp>
      <p:sp>
        <p:nvSpPr>
          <p:cNvPr id="26" name="Text 24"/>
          <p:cNvSpPr/>
          <p:nvPr/>
        </p:nvSpPr>
        <p:spPr>
          <a:xfrm>
            <a:off x="10424160" y="3566160"/>
            <a:ext cx="1280160" cy="502920"/>
          </a:xfrm>
          <a:prstGeom prst="rect">
            <a:avLst/>
          </a:prstGeom>
          <a:noFill/>
          <a:ln/>
        </p:spPr>
        <p:txBody>
          <a:bodyPr wrap="square" rtlCol="0" anchor="ctr"/>
          <a:lstStyle/>
          <a:p>
            <a:pPr algn="r" indent="0" marL="0">
              <a:buNone/>
            </a:pPr>
            <a:r>
              <a:rPr lang="en-US" sz="1400" b="1" dirty="0">
                <a:solidFill>
                  <a:srgbClr val="F09042"/>
                </a:solidFill>
                <a:latin typeface="Consolas" pitchFamily="34" charset="0"/>
                <a:ea typeface="Consolas" pitchFamily="34" charset="-122"/>
                <a:cs typeface="Consolas" pitchFamily="34" charset="-120"/>
              </a:rPr>
              <a:t>87,6 %</a:t>
            </a:r>
            <a:endParaRPr lang="en-US" sz="1400" dirty="0"/>
          </a:p>
        </p:txBody>
      </p:sp>
      <p:sp>
        <p:nvSpPr>
          <p:cNvPr id="27" name="Text 25"/>
          <p:cNvSpPr/>
          <p:nvPr/>
        </p:nvSpPr>
        <p:spPr>
          <a:xfrm>
            <a:off x="6126480" y="4133088"/>
            <a:ext cx="1463040" cy="502920"/>
          </a:xfrm>
          <a:prstGeom prst="rect">
            <a:avLst/>
          </a:prstGeom>
          <a:noFill/>
          <a:ln/>
        </p:spPr>
        <p:txBody>
          <a:bodyPr wrap="square" rtlCol="0" anchor="ctr"/>
          <a:lstStyle/>
          <a:p>
            <a:pPr indent="0" marL="0">
              <a:buNone/>
            </a:pPr>
            <a:r>
              <a:rPr lang="en-US" sz="1300" b="1" dirty="0">
                <a:solidFill>
                  <a:srgbClr val="15233F"/>
                </a:solidFill>
                <a:latin typeface="Calibri" pitchFamily="34" charset="0"/>
                <a:ea typeface="Calibri" pitchFamily="34" charset="-122"/>
                <a:cs typeface="Calibri" pitchFamily="34" charset="-120"/>
              </a:rPr>
              <a:t>Spécificité</a:t>
            </a:r>
            <a:endParaRPr lang="en-US" sz="1300" dirty="0"/>
          </a:p>
        </p:txBody>
      </p:sp>
      <p:sp>
        <p:nvSpPr>
          <p:cNvPr id="28" name="Text 26"/>
          <p:cNvSpPr/>
          <p:nvPr/>
        </p:nvSpPr>
        <p:spPr>
          <a:xfrm>
            <a:off x="7680960" y="4133088"/>
            <a:ext cx="2651760" cy="502920"/>
          </a:xfrm>
          <a:prstGeom prst="rect">
            <a:avLst/>
          </a:prstGeom>
          <a:noFill/>
          <a:ln/>
        </p:spPr>
        <p:txBody>
          <a:bodyPr wrap="square" rtlCol="0" anchor="ctr"/>
          <a:lstStyle/>
          <a:p>
            <a:pPr indent="0" marL="0">
              <a:buNone/>
            </a:pPr>
            <a:r>
              <a:rPr lang="en-US" sz="1000" dirty="0">
                <a:solidFill>
                  <a:srgbClr val="6B7280"/>
                </a:solidFill>
                <a:latin typeface="Consolas" pitchFamily="34" charset="0"/>
                <a:ea typeface="Consolas" pitchFamily="34" charset="-122"/>
                <a:cs typeface="Consolas" pitchFamily="34" charset="-120"/>
              </a:rPr>
              <a:t>VN / (VN + FP) = 188 / 203</a:t>
            </a:r>
            <a:endParaRPr lang="en-US" sz="1000" dirty="0"/>
          </a:p>
        </p:txBody>
      </p:sp>
      <p:sp>
        <p:nvSpPr>
          <p:cNvPr id="29" name="Text 27"/>
          <p:cNvSpPr/>
          <p:nvPr/>
        </p:nvSpPr>
        <p:spPr>
          <a:xfrm>
            <a:off x="10424160" y="4133088"/>
            <a:ext cx="1280160" cy="502920"/>
          </a:xfrm>
          <a:prstGeom prst="rect">
            <a:avLst/>
          </a:prstGeom>
          <a:noFill/>
          <a:ln/>
        </p:spPr>
        <p:txBody>
          <a:bodyPr wrap="square" rtlCol="0" anchor="ctr"/>
          <a:lstStyle/>
          <a:p>
            <a:pPr algn="r" indent="0" marL="0">
              <a:buNone/>
            </a:pPr>
            <a:r>
              <a:rPr lang="en-US" sz="1400" b="1" dirty="0">
                <a:solidFill>
                  <a:srgbClr val="F09042"/>
                </a:solidFill>
                <a:latin typeface="Consolas" pitchFamily="34" charset="0"/>
                <a:ea typeface="Consolas" pitchFamily="34" charset="-122"/>
                <a:cs typeface="Consolas" pitchFamily="34" charset="-120"/>
              </a:rPr>
              <a:t>92,6 %</a:t>
            </a:r>
            <a:endParaRPr lang="en-US" sz="1400" dirty="0"/>
          </a:p>
        </p:txBody>
      </p:sp>
      <p:sp>
        <p:nvSpPr>
          <p:cNvPr id="30" name="Text 28"/>
          <p:cNvSpPr/>
          <p:nvPr/>
        </p:nvSpPr>
        <p:spPr>
          <a:xfrm>
            <a:off x="6126480" y="4700016"/>
            <a:ext cx="1463040" cy="502920"/>
          </a:xfrm>
          <a:prstGeom prst="rect">
            <a:avLst/>
          </a:prstGeom>
          <a:noFill/>
          <a:ln/>
        </p:spPr>
        <p:txBody>
          <a:bodyPr wrap="square" rtlCol="0" anchor="ctr"/>
          <a:lstStyle/>
          <a:p>
            <a:pPr indent="0" marL="0">
              <a:buNone/>
            </a:pPr>
            <a:r>
              <a:rPr lang="en-US" sz="1300" b="1" dirty="0">
                <a:solidFill>
                  <a:srgbClr val="15233F"/>
                </a:solidFill>
                <a:latin typeface="Calibri" pitchFamily="34" charset="0"/>
                <a:ea typeface="Calibri" pitchFamily="34" charset="-122"/>
                <a:cs typeface="Calibri" pitchFamily="34" charset="-120"/>
              </a:rPr>
              <a:t>VPP</a:t>
            </a:r>
            <a:endParaRPr lang="en-US" sz="1300" dirty="0"/>
          </a:p>
        </p:txBody>
      </p:sp>
      <p:sp>
        <p:nvSpPr>
          <p:cNvPr id="31" name="Text 29"/>
          <p:cNvSpPr/>
          <p:nvPr/>
        </p:nvSpPr>
        <p:spPr>
          <a:xfrm>
            <a:off x="7680960" y="4700016"/>
            <a:ext cx="2651760" cy="502920"/>
          </a:xfrm>
          <a:prstGeom prst="rect">
            <a:avLst/>
          </a:prstGeom>
          <a:noFill/>
          <a:ln/>
        </p:spPr>
        <p:txBody>
          <a:bodyPr wrap="square" rtlCol="0" anchor="ctr"/>
          <a:lstStyle/>
          <a:p>
            <a:pPr indent="0" marL="0">
              <a:buNone/>
            </a:pPr>
            <a:r>
              <a:rPr lang="en-US" sz="1000" dirty="0">
                <a:solidFill>
                  <a:srgbClr val="6B7280"/>
                </a:solidFill>
                <a:latin typeface="Consolas" pitchFamily="34" charset="0"/>
                <a:ea typeface="Consolas" pitchFamily="34" charset="-122"/>
                <a:cs typeface="Consolas" pitchFamily="34" charset="-120"/>
              </a:rPr>
              <a:t>VP / (VP + FP) = 85 / 100</a:t>
            </a:r>
            <a:endParaRPr lang="en-US" sz="1000" dirty="0"/>
          </a:p>
        </p:txBody>
      </p:sp>
      <p:sp>
        <p:nvSpPr>
          <p:cNvPr id="32" name="Text 30"/>
          <p:cNvSpPr/>
          <p:nvPr/>
        </p:nvSpPr>
        <p:spPr>
          <a:xfrm>
            <a:off x="10424160" y="4700016"/>
            <a:ext cx="1280160" cy="502920"/>
          </a:xfrm>
          <a:prstGeom prst="rect">
            <a:avLst/>
          </a:prstGeom>
          <a:noFill/>
          <a:ln/>
        </p:spPr>
        <p:txBody>
          <a:bodyPr wrap="square" rtlCol="0" anchor="ctr"/>
          <a:lstStyle/>
          <a:p>
            <a:pPr algn="r" indent="0" marL="0">
              <a:buNone/>
            </a:pPr>
            <a:r>
              <a:rPr lang="en-US" sz="1400" b="1" dirty="0">
                <a:solidFill>
                  <a:srgbClr val="F09042"/>
                </a:solidFill>
                <a:latin typeface="Consolas" pitchFamily="34" charset="0"/>
                <a:ea typeface="Consolas" pitchFamily="34" charset="-122"/>
                <a:cs typeface="Consolas" pitchFamily="34" charset="-120"/>
              </a:rPr>
              <a:t>85,0 %</a:t>
            </a:r>
            <a:endParaRPr lang="en-US" sz="1400" dirty="0"/>
          </a:p>
        </p:txBody>
      </p:sp>
      <p:sp>
        <p:nvSpPr>
          <p:cNvPr id="33" name="Text 31"/>
          <p:cNvSpPr/>
          <p:nvPr/>
        </p:nvSpPr>
        <p:spPr>
          <a:xfrm>
            <a:off x="6126480" y="5266944"/>
            <a:ext cx="1463040" cy="502920"/>
          </a:xfrm>
          <a:prstGeom prst="rect">
            <a:avLst/>
          </a:prstGeom>
          <a:noFill/>
          <a:ln/>
        </p:spPr>
        <p:txBody>
          <a:bodyPr wrap="square" rtlCol="0" anchor="ctr"/>
          <a:lstStyle/>
          <a:p>
            <a:pPr indent="0" marL="0">
              <a:buNone/>
            </a:pPr>
            <a:r>
              <a:rPr lang="en-US" sz="1300" b="1" dirty="0">
                <a:solidFill>
                  <a:srgbClr val="15233F"/>
                </a:solidFill>
                <a:latin typeface="Calibri" pitchFamily="34" charset="0"/>
                <a:ea typeface="Calibri" pitchFamily="34" charset="-122"/>
                <a:cs typeface="Calibri" pitchFamily="34" charset="-120"/>
              </a:rPr>
              <a:t>VPN</a:t>
            </a:r>
            <a:endParaRPr lang="en-US" sz="1300" dirty="0"/>
          </a:p>
        </p:txBody>
      </p:sp>
      <p:sp>
        <p:nvSpPr>
          <p:cNvPr id="34" name="Text 32"/>
          <p:cNvSpPr/>
          <p:nvPr/>
        </p:nvSpPr>
        <p:spPr>
          <a:xfrm>
            <a:off x="7680960" y="5266944"/>
            <a:ext cx="2651760" cy="502920"/>
          </a:xfrm>
          <a:prstGeom prst="rect">
            <a:avLst/>
          </a:prstGeom>
          <a:noFill/>
          <a:ln/>
        </p:spPr>
        <p:txBody>
          <a:bodyPr wrap="square" rtlCol="0" anchor="ctr"/>
          <a:lstStyle/>
          <a:p>
            <a:pPr indent="0" marL="0">
              <a:buNone/>
            </a:pPr>
            <a:r>
              <a:rPr lang="en-US" sz="1000" dirty="0">
                <a:solidFill>
                  <a:srgbClr val="6B7280"/>
                </a:solidFill>
                <a:latin typeface="Consolas" pitchFamily="34" charset="0"/>
                <a:ea typeface="Consolas" pitchFamily="34" charset="-122"/>
                <a:cs typeface="Consolas" pitchFamily="34" charset="-120"/>
              </a:rPr>
              <a:t>VN / (VN + FN) = 188 / 200</a:t>
            </a:r>
            <a:endParaRPr lang="en-US" sz="1000" dirty="0"/>
          </a:p>
        </p:txBody>
      </p:sp>
      <p:sp>
        <p:nvSpPr>
          <p:cNvPr id="35" name="Text 33"/>
          <p:cNvSpPr/>
          <p:nvPr/>
        </p:nvSpPr>
        <p:spPr>
          <a:xfrm>
            <a:off x="10424160" y="5266944"/>
            <a:ext cx="1280160" cy="502920"/>
          </a:xfrm>
          <a:prstGeom prst="rect">
            <a:avLst/>
          </a:prstGeom>
          <a:noFill/>
          <a:ln/>
        </p:spPr>
        <p:txBody>
          <a:bodyPr wrap="square" rtlCol="0" anchor="ctr"/>
          <a:lstStyle/>
          <a:p>
            <a:pPr algn="r" indent="0" marL="0">
              <a:buNone/>
            </a:pPr>
            <a:r>
              <a:rPr lang="en-US" sz="1400" b="1" dirty="0">
                <a:solidFill>
                  <a:srgbClr val="F09042"/>
                </a:solidFill>
                <a:latin typeface="Consolas" pitchFamily="34" charset="0"/>
                <a:ea typeface="Consolas" pitchFamily="34" charset="-122"/>
                <a:cs typeface="Consolas" pitchFamily="34" charset="-120"/>
              </a:rPr>
              <a:t>94,0 %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DIAGNOSTIC · LE PIÈGE DE LA PRÉVALENCE</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600" b="1" spc="-100" kern="0" dirty="0">
                <a:solidFill>
                  <a:srgbClr val="15233F"/>
                </a:solidFill>
                <a:latin typeface="Calibri" pitchFamily="34" charset="0"/>
                <a:ea typeface="Calibri" pitchFamily="34" charset="-122"/>
                <a:cs typeface="Calibri" pitchFamily="34" charset="-120"/>
              </a:rPr>
              <a:t>La VPP varie avec la prévalence. La sensibilité, non.</a:t>
            </a:r>
            <a:endParaRPr lang="en-US" sz="2600" dirty="0"/>
          </a:p>
        </p:txBody>
      </p:sp>
      <p:sp>
        <p:nvSpPr>
          <p:cNvPr id="6" name="Text 4"/>
          <p:cNvSpPr/>
          <p:nvPr/>
        </p:nvSpPr>
        <p:spPr>
          <a:xfrm>
            <a:off x="640080" y="1874520"/>
            <a:ext cx="10972800" cy="146304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Sensibilité et spécificité sont des propriétés intrinsèques du test — elles ne dépendent pas de la population. VPP et VPN, elles, dépendent de la prévalence. Un test « excellent » sur une population à forte prévalence devient médiocre quand la maladie est rare.</a:t>
            </a:r>
            <a:endParaRPr lang="en-US" sz="1400" dirty="0"/>
          </a:p>
        </p:txBody>
      </p:sp>
      <p:sp>
        <p:nvSpPr>
          <p:cNvPr id="7" name="Shape 5"/>
          <p:cNvSpPr/>
          <p:nvPr/>
        </p:nvSpPr>
        <p:spPr>
          <a:xfrm>
            <a:off x="640080" y="3520440"/>
            <a:ext cx="3611880" cy="2377440"/>
          </a:xfrm>
          <a:prstGeom prst="roundRect">
            <a:avLst>
              <a:gd name="adj" fmla="val 3846"/>
            </a:avLst>
          </a:prstGeom>
          <a:solidFill>
            <a:srgbClr val="FFFFFF"/>
          </a:solidFill>
          <a:ln w="19050">
            <a:solidFill>
              <a:srgbClr val="E74C3C"/>
            </a:solidFill>
            <a:prstDash val="solid"/>
          </a:ln>
        </p:spPr>
      </p:sp>
      <p:sp>
        <p:nvSpPr>
          <p:cNvPr id="8" name="Text 6"/>
          <p:cNvSpPr/>
          <p:nvPr/>
        </p:nvSpPr>
        <p:spPr>
          <a:xfrm>
            <a:off x="822960" y="3657600"/>
            <a:ext cx="3246120" cy="320040"/>
          </a:xfrm>
          <a:prstGeom prst="rect">
            <a:avLst/>
          </a:prstGeom>
          <a:noFill/>
          <a:ln/>
        </p:spPr>
        <p:txBody>
          <a:bodyPr wrap="square" rtlCol="0" anchor="ctr"/>
          <a:lstStyle/>
          <a:p>
            <a:pPr indent="0" marL="0">
              <a:buNone/>
            </a:pPr>
            <a:r>
              <a:rPr lang="en-US" sz="1000" b="1" spc="200" kern="0" dirty="0">
                <a:solidFill>
                  <a:srgbClr val="E74C3C"/>
                </a:solidFill>
                <a:latin typeface="Calibri" pitchFamily="34" charset="0"/>
                <a:ea typeface="Calibri" pitchFamily="34" charset="-122"/>
                <a:cs typeface="Calibri" pitchFamily="34" charset="-120"/>
              </a:rPr>
              <a:t>POPULATION GÉNÉRALE</a:t>
            </a:r>
            <a:endParaRPr lang="en-US" sz="1000" dirty="0"/>
          </a:p>
        </p:txBody>
      </p:sp>
      <p:sp>
        <p:nvSpPr>
          <p:cNvPr id="9" name="Text 7"/>
          <p:cNvSpPr/>
          <p:nvPr/>
        </p:nvSpPr>
        <p:spPr>
          <a:xfrm>
            <a:off x="822960" y="4023360"/>
            <a:ext cx="3246120" cy="365760"/>
          </a:xfrm>
          <a:prstGeom prst="rect">
            <a:avLst/>
          </a:prstGeom>
          <a:noFill/>
          <a:ln/>
        </p:spPr>
        <p:txBody>
          <a:bodyPr wrap="square" rtlCol="0" anchor="ctr"/>
          <a:lstStyle/>
          <a:p>
            <a:pPr indent="0" marL="0">
              <a:buNone/>
            </a:pPr>
            <a:r>
              <a:rPr lang="en-US" sz="1500" b="1" dirty="0">
                <a:solidFill>
                  <a:srgbClr val="15233F"/>
                </a:solidFill>
                <a:latin typeface="Calibri" pitchFamily="34" charset="0"/>
                <a:ea typeface="Calibri" pitchFamily="34" charset="-122"/>
                <a:cs typeface="Calibri" pitchFamily="34" charset="-120"/>
              </a:rPr>
              <a:t>Prévalence 1 %</a:t>
            </a:r>
            <a:endParaRPr lang="en-US" sz="1500" dirty="0"/>
          </a:p>
        </p:txBody>
      </p:sp>
      <p:sp>
        <p:nvSpPr>
          <p:cNvPr id="10" name="Text 8"/>
          <p:cNvSpPr/>
          <p:nvPr/>
        </p:nvSpPr>
        <p:spPr>
          <a:xfrm>
            <a:off x="822960" y="4526280"/>
            <a:ext cx="3246120" cy="411480"/>
          </a:xfrm>
          <a:prstGeom prst="rect">
            <a:avLst/>
          </a:prstGeom>
          <a:noFill/>
          <a:ln/>
        </p:spPr>
        <p:txBody>
          <a:bodyPr wrap="square" rtlCol="0" anchor="ctr"/>
          <a:lstStyle/>
          <a:p>
            <a:pPr indent="0" marL="0">
              <a:buNone/>
            </a:pPr>
            <a:r>
              <a:rPr lang="en-US" sz="1600" b="1" dirty="0">
                <a:solidFill>
                  <a:srgbClr val="15233F"/>
                </a:solidFill>
                <a:latin typeface="Consolas" pitchFamily="34" charset="0"/>
                <a:ea typeface="Consolas" pitchFamily="34" charset="-122"/>
                <a:cs typeface="Consolas" pitchFamily="34" charset="-120"/>
              </a:rPr>
              <a:t>VPP : 8 %</a:t>
            </a:r>
            <a:endParaRPr lang="en-US" sz="1600" dirty="0"/>
          </a:p>
        </p:txBody>
      </p:sp>
      <p:sp>
        <p:nvSpPr>
          <p:cNvPr id="11" name="Text 9"/>
          <p:cNvSpPr/>
          <p:nvPr/>
        </p:nvSpPr>
        <p:spPr>
          <a:xfrm>
            <a:off x="822960" y="4983480"/>
            <a:ext cx="3246120" cy="411480"/>
          </a:xfrm>
          <a:prstGeom prst="rect">
            <a:avLst/>
          </a:prstGeom>
          <a:noFill/>
          <a:ln/>
        </p:spPr>
        <p:txBody>
          <a:bodyPr wrap="square" rtlCol="0" anchor="ctr"/>
          <a:lstStyle/>
          <a:p>
            <a:pPr indent="0" marL="0">
              <a:buNone/>
            </a:pPr>
            <a:r>
              <a:rPr lang="en-US" sz="1600" b="1" dirty="0">
                <a:solidFill>
                  <a:srgbClr val="15233F"/>
                </a:solidFill>
                <a:latin typeface="Consolas" pitchFamily="34" charset="0"/>
                <a:ea typeface="Consolas" pitchFamily="34" charset="-122"/>
                <a:cs typeface="Consolas" pitchFamily="34" charset="-120"/>
              </a:rPr>
              <a:t>VPN : 99,9 %</a:t>
            </a:r>
            <a:endParaRPr lang="en-US" sz="1600" dirty="0"/>
          </a:p>
        </p:txBody>
      </p:sp>
      <p:sp>
        <p:nvSpPr>
          <p:cNvPr id="12" name="Text 10"/>
          <p:cNvSpPr/>
          <p:nvPr/>
        </p:nvSpPr>
        <p:spPr>
          <a:xfrm>
            <a:off x="822960" y="5486400"/>
            <a:ext cx="3246120" cy="32004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Même test (Se 88 % / Sp 93 %), trois contextes.</a:t>
            </a:r>
            <a:endParaRPr lang="en-US" sz="900" dirty="0"/>
          </a:p>
        </p:txBody>
      </p:sp>
      <p:sp>
        <p:nvSpPr>
          <p:cNvPr id="13" name="Shape 11"/>
          <p:cNvSpPr/>
          <p:nvPr/>
        </p:nvSpPr>
        <p:spPr>
          <a:xfrm>
            <a:off x="4343400" y="3520440"/>
            <a:ext cx="3611880" cy="2377440"/>
          </a:xfrm>
          <a:prstGeom prst="roundRect">
            <a:avLst>
              <a:gd name="adj" fmla="val 3846"/>
            </a:avLst>
          </a:prstGeom>
          <a:solidFill>
            <a:srgbClr val="FFFFFF"/>
          </a:solidFill>
          <a:ln w="19050">
            <a:solidFill>
              <a:srgbClr val="F09042"/>
            </a:solidFill>
            <a:prstDash val="solid"/>
          </a:ln>
        </p:spPr>
      </p:sp>
      <p:sp>
        <p:nvSpPr>
          <p:cNvPr id="14" name="Text 12"/>
          <p:cNvSpPr/>
          <p:nvPr/>
        </p:nvSpPr>
        <p:spPr>
          <a:xfrm>
            <a:off x="4526280" y="3657600"/>
            <a:ext cx="3246120" cy="320040"/>
          </a:xfrm>
          <a:prstGeom prst="rect">
            <a:avLst/>
          </a:prstGeom>
          <a:noFill/>
          <a:ln/>
        </p:spPr>
        <p:txBody>
          <a:bodyPr wrap="square" rtlCol="0" anchor="ctr"/>
          <a:lstStyle/>
          <a:p>
            <a:pPr indent="0" marL="0">
              <a:buNone/>
            </a:pPr>
            <a:r>
              <a:rPr lang="en-US" sz="1000" b="1" spc="200" kern="0" dirty="0">
                <a:solidFill>
                  <a:srgbClr val="F09042"/>
                </a:solidFill>
                <a:latin typeface="Calibri" pitchFamily="34" charset="0"/>
                <a:ea typeface="Calibri" pitchFamily="34" charset="-122"/>
                <a:cs typeface="Calibri" pitchFamily="34" charset="-120"/>
              </a:rPr>
              <a:t>CONSULTATION SPÉCIALISÉE</a:t>
            </a:r>
            <a:endParaRPr lang="en-US" sz="1000" dirty="0"/>
          </a:p>
        </p:txBody>
      </p:sp>
      <p:sp>
        <p:nvSpPr>
          <p:cNvPr id="15" name="Text 13"/>
          <p:cNvSpPr/>
          <p:nvPr/>
        </p:nvSpPr>
        <p:spPr>
          <a:xfrm>
            <a:off x="4526280" y="4023360"/>
            <a:ext cx="3246120" cy="365760"/>
          </a:xfrm>
          <a:prstGeom prst="rect">
            <a:avLst/>
          </a:prstGeom>
          <a:noFill/>
          <a:ln/>
        </p:spPr>
        <p:txBody>
          <a:bodyPr wrap="square" rtlCol="0" anchor="ctr"/>
          <a:lstStyle/>
          <a:p>
            <a:pPr indent="0" marL="0">
              <a:buNone/>
            </a:pPr>
            <a:r>
              <a:rPr lang="en-US" sz="1500" b="1" dirty="0">
                <a:solidFill>
                  <a:srgbClr val="15233F"/>
                </a:solidFill>
                <a:latin typeface="Calibri" pitchFamily="34" charset="0"/>
                <a:ea typeface="Calibri" pitchFamily="34" charset="-122"/>
                <a:cs typeface="Calibri" pitchFamily="34" charset="-120"/>
              </a:rPr>
              <a:t>Prévalence 10 %</a:t>
            </a:r>
            <a:endParaRPr lang="en-US" sz="1500" dirty="0"/>
          </a:p>
        </p:txBody>
      </p:sp>
      <p:sp>
        <p:nvSpPr>
          <p:cNvPr id="16" name="Text 14"/>
          <p:cNvSpPr/>
          <p:nvPr/>
        </p:nvSpPr>
        <p:spPr>
          <a:xfrm>
            <a:off x="4526280" y="4526280"/>
            <a:ext cx="3246120" cy="411480"/>
          </a:xfrm>
          <a:prstGeom prst="rect">
            <a:avLst/>
          </a:prstGeom>
          <a:noFill/>
          <a:ln/>
        </p:spPr>
        <p:txBody>
          <a:bodyPr wrap="square" rtlCol="0" anchor="ctr"/>
          <a:lstStyle/>
          <a:p>
            <a:pPr indent="0" marL="0">
              <a:buNone/>
            </a:pPr>
            <a:r>
              <a:rPr lang="en-US" sz="1600" b="1" dirty="0">
                <a:solidFill>
                  <a:srgbClr val="15233F"/>
                </a:solidFill>
                <a:latin typeface="Consolas" pitchFamily="34" charset="0"/>
                <a:ea typeface="Consolas" pitchFamily="34" charset="-122"/>
                <a:cs typeface="Consolas" pitchFamily="34" charset="-120"/>
              </a:rPr>
              <a:t>VPP : 49 %</a:t>
            </a:r>
            <a:endParaRPr lang="en-US" sz="1600" dirty="0"/>
          </a:p>
        </p:txBody>
      </p:sp>
      <p:sp>
        <p:nvSpPr>
          <p:cNvPr id="17" name="Text 15"/>
          <p:cNvSpPr/>
          <p:nvPr/>
        </p:nvSpPr>
        <p:spPr>
          <a:xfrm>
            <a:off x="4526280" y="4983480"/>
            <a:ext cx="3246120" cy="411480"/>
          </a:xfrm>
          <a:prstGeom prst="rect">
            <a:avLst/>
          </a:prstGeom>
          <a:noFill/>
          <a:ln/>
        </p:spPr>
        <p:txBody>
          <a:bodyPr wrap="square" rtlCol="0" anchor="ctr"/>
          <a:lstStyle/>
          <a:p>
            <a:pPr indent="0" marL="0">
              <a:buNone/>
            </a:pPr>
            <a:r>
              <a:rPr lang="en-US" sz="1600" b="1" dirty="0">
                <a:solidFill>
                  <a:srgbClr val="15233F"/>
                </a:solidFill>
                <a:latin typeface="Consolas" pitchFamily="34" charset="0"/>
                <a:ea typeface="Consolas" pitchFamily="34" charset="-122"/>
                <a:cs typeface="Consolas" pitchFamily="34" charset="-120"/>
              </a:rPr>
              <a:t>VPN : 99,1 %</a:t>
            </a:r>
            <a:endParaRPr lang="en-US" sz="1600" dirty="0"/>
          </a:p>
        </p:txBody>
      </p:sp>
      <p:sp>
        <p:nvSpPr>
          <p:cNvPr id="18" name="Text 16"/>
          <p:cNvSpPr/>
          <p:nvPr/>
        </p:nvSpPr>
        <p:spPr>
          <a:xfrm>
            <a:off x="4526280" y="5486400"/>
            <a:ext cx="3246120" cy="32004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Même test (Se 88 % / Sp 93 %), trois contextes.</a:t>
            </a:r>
            <a:endParaRPr lang="en-US" sz="900" dirty="0"/>
          </a:p>
        </p:txBody>
      </p:sp>
      <p:sp>
        <p:nvSpPr>
          <p:cNvPr id="19" name="Shape 17"/>
          <p:cNvSpPr/>
          <p:nvPr/>
        </p:nvSpPr>
        <p:spPr>
          <a:xfrm>
            <a:off x="8046720" y="3520440"/>
            <a:ext cx="3611880" cy="2377440"/>
          </a:xfrm>
          <a:prstGeom prst="roundRect">
            <a:avLst>
              <a:gd name="adj" fmla="val 3846"/>
            </a:avLst>
          </a:prstGeom>
          <a:solidFill>
            <a:srgbClr val="FFFFFF"/>
          </a:solidFill>
          <a:ln w="19050">
            <a:solidFill>
              <a:srgbClr val="4CAF50"/>
            </a:solidFill>
            <a:prstDash val="solid"/>
          </a:ln>
        </p:spPr>
      </p:sp>
      <p:sp>
        <p:nvSpPr>
          <p:cNvPr id="20" name="Text 18"/>
          <p:cNvSpPr/>
          <p:nvPr/>
        </p:nvSpPr>
        <p:spPr>
          <a:xfrm>
            <a:off x="8229600" y="3657600"/>
            <a:ext cx="3246120" cy="320040"/>
          </a:xfrm>
          <a:prstGeom prst="rect">
            <a:avLst/>
          </a:prstGeom>
          <a:noFill/>
          <a:ln/>
        </p:spPr>
        <p:txBody>
          <a:bodyPr wrap="square" rtlCol="0" anchor="ctr"/>
          <a:lstStyle/>
          <a:p>
            <a:pPr indent="0" marL="0">
              <a:buNone/>
            </a:pPr>
            <a:r>
              <a:rPr lang="en-US" sz="1000" b="1" spc="200" kern="0" dirty="0">
                <a:solidFill>
                  <a:srgbClr val="4CAF50"/>
                </a:solidFill>
                <a:latin typeface="Calibri" pitchFamily="34" charset="0"/>
                <a:ea typeface="Calibri" pitchFamily="34" charset="-122"/>
                <a:cs typeface="Calibri" pitchFamily="34" charset="-120"/>
              </a:rPr>
              <a:t>COHORTE À RISQUE</a:t>
            </a:r>
            <a:endParaRPr lang="en-US" sz="1000" dirty="0"/>
          </a:p>
        </p:txBody>
      </p:sp>
      <p:sp>
        <p:nvSpPr>
          <p:cNvPr id="21" name="Text 19"/>
          <p:cNvSpPr/>
          <p:nvPr/>
        </p:nvSpPr>
        <p:spPr>
          <a:xfrm>
            <a:off x="8229600" y="4023360"/>
            <a:ext cx="3246120" cy="365760"/>
          </a:xfrm>
          <a:prstGeom prst="rect">
            <a:avLst/>
          </a:prstGeom>
          <a:noFill/>
          <a:ln/>
        </p:spPr>
        <p:txBody>
          <a:bodyPr wrap="square" rtlCol="0" anchor="ctr"/>
          <a:lstStyle/>
          <a:p>
            <a:pPr indent="0" marL="0">
              <a:buNone/>
            </a:pPr>
            <a:r>
              <a:rPr lang="en-US" sz="1500" b="1" dirty="0">
                <a:solidFill>
                  <a:srgbClr val="15233F"/>
                </a:solidFill>
                <a:latin typeface="Calibri" pitchFamily="34" charset="0"/>
                <a:ea typeface="Calibri" pitchFamily="34" charset="-122"/>
                <a:cs typeface="Calibri" pitchFamily="34" charset="-120"/>
              </a:rPr>
              <a:t>Prévalence 50 %</a:t>
            </a:r>
            <a:endParaRPr lang="en-US" sz="1500" dirty="0"/>
          </a:p>
        </p:txBody>
      </p:sp>
      <p:sp>
        <p:nvSpPr>
          <p:cNvPr id="22" name="Text 20"/>
          <p:cNvSpPr/>
          <p:nvPr/>
        </p:nvSpPr>
        <p:spPr>
          <a:xfrm>
            <a:off x="8229600" y="4526280"/>
            <a:ext cx="3246120" cy="411480"/>
          </a:xfrm>
          <a:prstGeom prst="rect">
            <a:avLst/>
          </a:prstGeom>
          <a:noFill/>
          <a:ln/>
        </p:spPr>
        <p:txBody>
          <a:bodyPr wrap="square" rtlCol="0" anchor="ctr"/>
          <a:lstStyle/>
          <a:p>
            <a:pPr indent="0" marL="0">
              <a:buNone/>
            </a:pPr>
            <a:r>
              <a:rPr lang="en-US" sz="1600" b="1" dirty="0">
                <a:solidFill>
                  <a:srgbClr val="15233F"/>
                </a:solidFill>
                <a:latin typeface="Consolas" pitchFamily="34" charset="0"/>
                <a:ea typeface="Consolas" pitchFamily="34" charset="-122"/>
                <a:cs typeface="Consolas" pitchFamily="34" charset="-120"/>
              </a:rPr>
              <a:t>VPP : 92 %</a:t>
            </a:r>
            <a:endParaRPr lang="en-US" sz="1600" dirty="0"/>
          </a:p>
        </p:txBody>
      </p:sp>
      <p:sp>
        <p:nvSpPr>
          <p:cNvPr id="23" name="Text 21"/>
          <p:cNvSpPr/>
          <p:nvPr/>
        </p:nvSpPr>
        <p:spPr>
          <a:xfrm>
            <a:off x="8229600" y="4983480"/>
            <a:ext cx="3246120" cy="411480"/>
          </a:xfrm>
          <a:prstGeom prst="rect">
            <a:avLst/>
          </a:prstGeom>
          <a:noFill/>
          <a:ln/>
        </p:spPr>
        <p:txBody>
          <a:bodyPr wrap="square" rtlCol="0" anchor="ctr"/>
          <a:lstStyle/>
          <a:p>
            <a:pPr indent="0" marL="0">
              <a:buNone/>
            </a:pPr>
            <a:r>
              <a:rPr lang="en-US" sz="1600" b="1" dirty="0">
                <a:solidFill>
                  <a:srgbClr val="15233F"/>
                </a:solidFill>
                <a:latin typeface="Consolas" pitchFamily="34" charset="0"/>
                <a:ea typeface="Consolas" pitchFamily="34" charset="-122"/>
                <a:cs typeface="Consolas" pitchFamily="34" charset="-120"/>
              </a:rPr>
              <a:t>VPN : 88 %</a:t>
            </a:r>
            <a:endParaRPr lang="en-US" sz="1600" dirty="0"/>
          </a:p>
        </p:txBody>
      </p:sp>
      <p:sp>
        <p:nvSpPr>
          <p:cNvPr id="24" name="Text 22"/>
          <p:cNvSpPr/>
          <p:nvPr/>
        </p:nvSpPr>
        <p:spPr>
          <a:xfrm>
            <a:off x="8229600" y="5486400"/>
            <a:ext cx="3246120" cy="32004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Même test (Se 88 % / Sp 93 %), trois contextes.</a:t>
            </a:r>
            <a:endParaRPr lang="en-US" sz="900" dirty="0"/>
          </a:p>
        </p:txBody>
      </p:sp>
      <p:sp>
        <p:nvSpPr>
          <p:cNvPr id="25" name="Text 23"/>
          <p:cNvSpPr/>
          <p:nvPr/>
        </p:nvSpPr>
        <p:spPr>
          <a:xfrm>
            <a:off x="640080" y="5989320"/>
            <a:ext cx="10972800" cy="36576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Ce que le jury va demander : « Votre VPP de 85 % est-elle généralisable à la population générale ? » Réponse : non, elle dépend de la prévalence du contexte d'étude.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DIAGNOSTIC · LR+ ET LR−</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200" b="1" spc="-100" kern="0" dirty="0">
                <a:solidFill>
                  <a:srgbClr val="15233F"/>
                </a:solidFill>
                <a:latin typeface="Calibri" pitchFamily="34" charset="0"/>
                <a:ea typeface="Calibri" pitchFamily="34" charset="-122"/>
                <a:cs typeface="Calibri" pitchFamily="34" charset="-120"/>
              </a:rPr>
              <a:t>Rapports de vraisemblance : convertir un test en probabilité post.</a:t>
            </a:r>
            <a:endParaRPr lang="en-US" sz="2200" dirty="0"/>
          </a:p>
        </p:txBody>
      </p:sp>
      <p:sp>
        <p:nvSpPr>
          <p:cNvPr id="6" name="Text 4"/>
          <p:cNvSpPr/>
          <p:nvPr/>
        </p:nvSpPr>
        <p:spPr>
          <a:xfrm>
            <a:off x="640080" y="1828800"/>
            <a:ext cx="10972800" cy="128016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LR+ et LR− mesurent de combien un résultat de test modifie la probabilité d'avoir la maladie. Contrairement à VPP/VPN, ils ne dépendent pas de la prévalence — c'est pour ça que les cliniciens les préfèrent.</a:t>
            </a:r>
            <a:endParaRPr lang="en-US" sz="1400" dirty="0"/>
          </a:p>
        </p:txBody>
      </p:sp>
      <p:sp>
        <p:nvSpPr>
          <p:cNvPr id="7" name="Shape 5"/>
          <p:cNvSpPr/>
          <p:nvPr/>
        </p:nvSpPr>
        <p:spPr>
          <a:xfrm>
            <a:off x="640080" y="3246120"/>
            <a:ext cx="5440680" cy="2743200"/>
          </a:xfrm>
          <a:prstGeom prst="roundRect">
            <a:avLst>
              <a:gd name="adj" fmla="val 3333"/>
            </a:avLst>
          </a:prstGeom>
          <a:solidFill>
            <a:srgbClr val="FFFFFF"/>
          </a:solidFill>
          <a:ln w="19050">
            <a:solidFill>
              <a:srgbClr val="F09042"/>
            </a:solidFill>
            <a:prstDash val="solid"/>
          </a:ln>
        </p:spPr>
      </p:sp>
      <p:sp>
        <p:nvSpPr>
          <p:cNvPr id="8" name="Text 6"/>
          <p:cNvSpPr/>
          <p:nvPr/>
        </p:nvSpPr>
        <p:spPr>
          <a:xfrm>
            <a:off x="822960" y="3383280"/>
            <a:ext cx="5029200" cy="320040"/>
          </a:xfrm>
          <a:prstGeom prst="rect">
            <a:avLst/>
          </a:prstGeom>
          <a:noFill/>
          <a:ln/>
        </p:spPr>
        <p:txBody>
          <a:bodyPr wrap="square" rtlCol="0" anchor="ctr"/>
          <a:lstStyle/>
          <a:p>
            <a:pPr indent="0" marL="0">
              <a:buNone/>
            </a:pPr>
            <a:r>
              <a:rPr lang="en-US" sz="1200" b="1" spc="300" kern="0" dirty="0">
                <a:solidFill>
                  <a:srgbClr val="F09042"/>
                </a:solidFill>
                <a:latin typeface="Calibri" pitchFamily="34" charset="0"/>
                <a:ea typeface="Calibri" pitchFamily="34" charset="-122"/>
                <a:cs typeface="Calibri" pitchFamily="34" charset="-120"/>
              </a:rPr>
              <a:t>LR+ · TEST POSITIF</a:t>
            </a:r>
            <a:endParaRPr lang="en-US" sz="1200" dirty="0"/>
          </a:p>
        </p:txBody>
      </p:sp>
      <p:sp>
        <p:nvSpPr>
          <p:cNvPr id="9" name="Text 7"/>
          <p:cNvSpPr/>
          <p:nvPr/>
        </p:nvSpPr>
        <p:spPr>
          <a:xfrm>
            <a:off x="822960" y="3749040"/>
            <a:ext cx="5029200" cy="457200"/>
          </a:xfrm>
          <a:prstGeom prst="rect">
            <a:avLst/>
          </a:prstGeom>
          <a:noFill/>
          <a:ln/>
        </p:spPr>
        <p:txBody>
          <a:bodyPr wrap="square" rtlCol="0" anchor="ctr"/>
          <a:lstStyle/>
          <a:p>
            <a:pPr indent="0" marL="0">
              <a:buNone/>
            </a:pPr>
            <a:r>
              <a:rPr lang="en-US" sz="1600" b="1" dirty="0">
                <a:solidFill>
                  <a:srgbClr val="15233F"/>
                </a:solidFill>
                <a:latin typeface="Consolas" pitchFamily="34" charset="0"/>
                <a:ea typeface="Consolas" pitchFamily="34" charset="-122"/>
                <a:cs typeface="Consolas" pitchFamily="34" charset="-120"/>
              </a:rPr>
              <a:t>LR+ = Se / (1 − Sp)</a:t>
            </a:r>
            <a:endParaRPr lang="en-US" sz="1600" dirty="0"/>
          </a:p>
        </p:txBody>
      </p:sp>
      <p:sp>
        <p:nvSpPr>
          <p:cNvPr id="10" name="Text 8"/>
          <p:cNvSpPr/>
          <p:nvPr/>
        </p:nvSpPr>
        <p:spPr>
          <a:xfrm>
            <a:off x="822960" y="4297680"/>
            <a:ext cx="5029200" cy="1188720"/>
          </a:xfrm>
          <a:prstGeom prst="rect">
            <a:avLst/>
          </a:prstGeom>
          <a:noFill/>
          <a:ln/>
        </p:spPr>
        <p:txBody>
          <a:bodyPr wrap="square" rtlCol="0" anchor="ctr"/>
          <a:lstStyle/>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LR+ &gt; 10 : preuve forte</a:t>
            </a:r>
            <a:endParaRPr lang="en-US" sz="1200" dirty="0"/>
          </a:p>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LR+ 5 — 10 : preuve modérée</a:t>
            </a:r>
            <a:endParaRPr lang="en-US" sz="1200" dirty="0"/>
          </a:p>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LR+ 2 — 5 : preuve faible</a:t>
            </a:r>
            <a:endParaRPr lang="en-US" sz="1200" dirty="0"/>
          </a:p>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LR+ &lt; 2 : peu utile</a:t>
            </a:r>
            <a:endParaRPr lang="en-US" sz="1200" dirty="0"/>
          </a:p>
        </p:txBody>
      </p:sp>
      <p:sp>
        <p:nvSpPr>
          <p:cNvPr id="11" name="Text 9"/>
          <p:cNvSpPr/>
          <p:nvPr/>
        </p:nvSpPr>
        <p:spPr>
          <a:xfrm>
            <a:off x="822960" y="5532120"/>
            <a:ext cx="5029200" cy="45720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Exemple : LR+ = 12 → un test positif rend la maladie 12 fois plus probable.</a:t>
            </a:r>
            <a:endParaRPr lang="en-US" sz="1100" dirty="0"/>
          </a:p>
        </p:txBody>
      </p:sp>
      <p:sp>
        <p:nvSpPr>
          <p:cNvPr id="12" name="Shape 10"/>
          <p:cNvSpPr/>
          <p:nvPr/>
        </p:nvSpPr>
        <p:spPr>
          <a:xfrm>
            <a:off x="6291072" y="3246120"/>
            <a:ext cx="5440680" cy="2743200"/>
          </a:xfrm>
          <a:prstGeom prst="roundRect">
            <a:avLst>
              <a:gd name="adj" fmla="val 3333"/>
            </a:avLst>
          </a:prstGeom>
          <a:solidFill>
            <a:srgbClr val="FFFFFF"/>
          </a:solidFill>
          <a:ln w="19050">
            <a:solidFill>
              <a:srgbClr val="F09042"/>
            </a:solidFill>
            <a:prstDash val="solid"/>
          </a:ln>
        </p:spPr>
      </p:sp>
      <p:sp>
        <p:nvSpPr>
          <p:cNvPr id="13" name="Text 11"/>
          <p:cNvSpPr/>
          <p:nvPr/>
        </p:nvSpPr>
        <p:spPr>
          <a:xfrm>
            <a:off x="6473952" y="3383280"/>
            <a:ext cx="5029200" cy="320040"/>
          </a:xfrm>
          <a:prstGeom prst="rect">
            <a:avLst/>
          </a:prstGeom>
          <a:noFill/>
          <a:ln/>
        </p:spPr>
        <p:txBody>
          <a:bodyPr wrap="square" rtlCol="0" anchor="ctr"/>
          <a:lstStyle/>
          <a:p>
            <a:pPr indent="0" marL="0">
              <a:buNone/>
            </a:pPr>
            <a:r>
              <a:rPr lang="en-US" sz="1200" b="1" spc="300" kern="0" dirty="0">
                <a:solidFill>
                  <a:srgbClr val="F09042"/>
                </a:solidFill>
                <a:latin typeface="Calibri" pitchFamily="34" charset="0"/>
                <a:ea typeface="Calibri" pitchFamily="34" charset="-122"/>
                <a:cs typeface="Calibri" pitchFamily="34" charset="-120"/>
              </a:rPr>
              <a:t>LR− · TEST NÉGATIF</a:t>
            </a:r>
            <a:endParaRPr lang="en-US" sz="1200" dirty="0"/>
          </a:p>
        </p:txBody>
      </p:sp>
      <p:sp>
        <p:nvSpPr>
          <p:cNvPr id="14" name="Text 12"/>
          <p:cNvSpPr/>
          <p:nvPr/>
        </p:nvSpPr>
        <p:spPr>
          <a:xfrm>
            <a:off x="6473952" y="3749040"/>
            <a:ext cx="5029200" cy="457200"/>
          </a:xfrm>
          <a:prstGeom prst="rect">
            <a:avLst/>
          </a:prstGeom>
          <a:noFill/>
          <a:ln/>
        </p:spPr>
        <p:txBody>
          <a:bodyPr wrap="square" rtlCol="0" anchor="ctr"/>
          <a:lstStyle/>
          <a:p>
            <a:pPr indent="0" marL="0">
              <a:buNone/>
            </a:pPr>
            <a:r>
              <a:rPr lang="en-US" sz="1600" b="1" dirty="0">
                <a:solidFill>
                  <a:srgbClr val="15233F"/>
                </a:solidFill>
                <a:latin typeface="Consolas" pitchFamily="34" charset="0"/>
                <a:ea typeface="Consolas" pitchFamily="34" charset="-122"/>
                <a:cs typeface="Consolas" pitchFamily="34" charset="-120"/>
              </a:rPr>
              <a:t>LR− = (1 − Se) / Sp</a:t>
            </a:r>
            <a:endParaRPr lang="en-US" sz="1600" dirty="0"/>
          </a:p>
        </p:txBody>
      </p:sp>
      <p:sp>
        <p:nvSpPr>
          <p:cNvPr id="15" name="Text 13"/>
          <p:cNvSpPr/>
          <p:nvPr/>
        </p:nvSpPr>
        <p:spPr>
          <a:xfrm>
            <a:off x="6473952" y="4297680"/>
            <a:ext cx="5029200" cy="1188720"/>
          </a:xfrm>
          <a:prstGeom prst="rect">
            <a:avLst/>
          </a:prstGeom>
          <a:noFill/>
          <a:ln/>
        </p:spPr>
        <p:txBody>
          <a:bodyPr wrap="square" rtlCol="0" anchor="ctr"/>
          <a:lstStyle/>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LR− &lt; 0,1 : preuve forte</a:t>
            </a:r>
            <a:endParaRPr lang="en-US" sz="1200" dirty="0"/>
          </a:p>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LR− 0,1 — 0,2 : preuve modérée</a:t>
            </a:r>
            <a:endParaRPr lang="en-US" sz="1200" dirty="0"/>
          </a:p>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LR− 0,2 — 0,5 : preuve faible</a:t>
            </a:r>
            <a:endParaRPr lang="en-US" sz="1200" dirty="0"/>
          </a:p>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LR− &gt; 0,5 : peu utile</a:t>
            </a:r>
            <a:endParaRPr lang="en-US" sz="1200" dirty="0"/>
          </a:p>
        </p:txBody>
      </p:sp>
      <p:sp>
        <p:nvSpPr>
          <p:cNvPr id="16" name="Text 14"/>
          <p:cNvSpPr/>
          <p:nvPr/>
        </p:nvSpPr>
        <p:spPr>
          <a:xfrm>
            <a:off x="6473952" y="5532120"/>
            <a:ext cx="5029200" cy="45720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Exemple : LR− = 0,1 → un test négatif rend la maladie 10 fois moins probable.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DIAGNOSTIC · ÉVALUATION GLOBALE</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800" b="1" spc="-100" kern="0" dirty="0">
                <a:solidFill>
                  <a:srgbClr val="15233F"/>
                </a:solidFill>
                <a:latin typeface="Calibri" pitchFamily="34" charset="0"/>
                <a:ea typeface="Calibri" pitchFamily="34" charset="-122"/>
                <a:cs typeface="Calibri" pitchFamily="34" charset="-120"/>
              </a:rPr>
              <a:t>Courbe ROC : Se et Sp à tous les seuils.</a:t>
            </a:r>
            <a:endParaRPr lang="en-US" sz="2800" dirty="0"/>
          </a:p>
        </p:txBody>
      </p:sp>
      <p:sp>
        <p:nvSpPr>
          <p:cNvPr id="6" name="Text 4"/>
          <p:cNvSpPr/>
          <p:nvPr/>
        </p:nvSpPr>
        <p:spPr>
          <a:xfrm>
            <a:off x="640080" y="1828800"/>
            <a:ext cx="10972800" cy="146304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Un test continu (taux de glycémie, score de risque) peut être dichotomisé à différents seuils. À chaque seuil correspond une sensibilité et une spécificité. La courbe ROC trace tous ces couples (1−Sp, Se) — plus la courbe se rapproche du coin haut-gauche, meilleur est le test.</a:t>
            </a:r>
            <a:endParaRPr lang="en-US" sz="1400" dirty="0"/>
          </a:p>
        </p:txBody>
      </p:sp>
      <p:sp>
        <p:nvSpPr>
          <p:cNvPr id="7" name="Shape 5"/>
          <p:cNvSpPr/>
          <p:nvPr/>
        </p:nvSpPr>
        <p:spPr>
          <a:xfrm>
            <a:off x="640080" y="3383280"/>
            <a:ext cx="3931920" cy="2743200"/>
          </a:xfrm>
          <a:prstGeom prst="roundRect">
            <a:avLst>
              <a:gd name="adj" fmla="val 1667"/>
            </a:avLst>
          </a:prstGeom>
          <a:solidFill>
            <a:srgbClr val="1A2541"/>
          </a:solidFill>
          <a:ln w="6350">
            <a:solidFill>
              <a:srgbClr val="F09042"/>
            </a:solidFill>
            <a:prstDash val="solid"/>
          </a:ln>
        </p:spPr>
      </p:sp>
      <p:sp>
        <p:nvSpPr>
          <p:cNvPr id="8" name="Shape 6"/>
          <p:cNvSpPr/>
          <p:nvPr/>
        </p:nvSpPr>
        <p:spPr>
          <a:xfrm>
            <a:off x="777240" y="3493008"/>
            <a:ext cx="365760" cy="256032"/>
          </a:xfrm>
          <a:prstGeom prst="roundRect">
            <a:avLst>
              <a:gd name="adj" fmla="val 14286"/>
            </a:avLst>
          </a:prstGeom>
          <a:solidFill>
            <a:srgbClr val="F09042"/>
          </a:solidFill>
          <a:ln/>
        </p:spPr>
      </p:sp>
      <p:sp>
        <p:nvSpPr>
          <p:cNvPr id="9" name="Text 7"/>
          <p:cNvSpPr/>
          <p:nvPr/>
        </p:nvSpPr>
        <p:spPr>
          <a:xfrm>
            <a:off x="777240" y="3493008"/>
            <a:ext cx="365760" cy="256032"/>
          </a:xfrm>
          <a:prstGeom prst="rect">
            <a:avLst/>
          </a:prstGeom>
          <a:noFill/>
          <a:ln/>
        </p:spPr>
        <p:txBody>
          <a:bodyPr wrap="square" rtlCol="0" anchor="ctr"/>
          <a:lstStyle/>
          <a:p>
            <a:pPr algn="ctr" indent="0" marL="0">
              <a:buNone/>
            </a:pPr>
            <a:r>
              <a:rPr lang="en-US" sz="1100" b="1" dirty="0">
                <a:solidFill>
                  <a:srgbClr val="0E1729"/>
                </a:solidFill>
                <a:latin typeface="Consolas" pitchFamily="34" charset="0"/>
                <a:ea typeface="Consolas" pitchFamily="34" charset="-122"/>
                <a:cs typeface="Consolas" pitchFamily="34" charset="-120"/>
              </a:rPr>
              <a:t>R</a:t>
            </a:r>
            <a:endParaRPr lang="en-US" sz="1100" dirty="0"/>
          </a:p>
        </p:txBody>
      </p:sp>
      <p:sp>
        <p:nvSpPr>
          <p:cNvPr id="10" name="Text 8"/>
          <p:cNvSpPr/>
          <p:nvPr/>
        </p:nvSpPr>
        <p:spPr>
          <a:xfrm>
            <a:off x="822960" y="3840480"/>
            <a:ext cx="3657600" cy="2194560"/>
          </a:xfrm>
          <a:prstGeom prst="rect">
            <a:avLst/>
          </a:prstGeom>
          <a:noFill/>
          <a:ln/>
        </p:spPr>
        <p:txBody>
          <a:bodyPr wrap="square" rtlCol="0" anchor="t"/>
          <a:lstStyle/>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Calculer la courbe ROC</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library(pROC)</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roc_obj &lt;- roc(</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donnees$maladie,</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donnees$score)</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plot(roc_obj,</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col = "darkorange",</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lwd = 2)</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auc(roc_obj)</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ci.auc(roc_obj)</a:t>
            </a:r>
            <a:endParaRPr lang="en-US" sz="1050" dirty="0"/>
          </a:p>
        </p:txBody>
      </p:sp>
      <p:sp>
        <p:nvSpPr>
          <p:cNvPr id="11" name="Shape 9"/>
          <p:cNvSpPr/>
          <p:nvPr/>
        </p:nvSpPr>
        <p:spPr>
          <a:xfrm>
            <a:off x="4709160" y="3383280"/>
            <a:ext cx="2560320" cy="2743200"/>
          </a:xfrm>
          <a:prstGeom prst="roundRect">
            <a:avLst>
              <a:gd name="adj" fmla="val 1786"/>
            </a:avLst>
          </a:prstGeom>
          <a:solidFill>
            <a:srgbClr val="1A2541"/>
          </a:solidFill>
          <a:ln w="6350">
            <a:solidFill>
              <a:srgbClr val="6B7280"/>
            </a:solidFill>
            <a:prstDash val="dash"/>
          </a:ln>
        </p:spPr>
      </p:sp>
      <p:sp>
        <p:nvSpPr>
          <p:cNvPr id="12" name="Text 10"/>
          <p:cNvSpPr/>
          <p:nvPr/>
        </p:nvSpPr>
        <p:spPr>
          <a:xfrm>
            <a:off x="4846320" y="3474720"/>
            <a:ext cx="914400" cy="228600"/>
          </a:xfrm>
          <a:prstGeom prst="rect">
            <a:avLst/>
          </a:prstGeom>
          <a:noFill/>
          <a:ln/>
        </p:spPr>
        <p:txBody>
          <a:bodyPr wrap="square" rtlCol="0" anchor="ctr"/>
          <a:lstStyle/>
          <a:p>
            <a:pPr indent="0" marL="0">
              <a:buNone/>
            </a:pPr>
            <a:r>
              <a:rPr lang="en-US" sz="900" b="1" spc="300" kern="0" dirty="0">
                <a:solidFill>
                  <a:srgbClr val="C9CFDC"/>
                </a:solidFill>
                <a:latin typeface="Calibri" pitchFamily="34" charset="0"/>
                <a:ea typeface="Calibri" pitchFamily="34" charset="-122"/>
                <a:cs typeface="Calibri" pitchFamily="34" charset="-120"/>
              </a:rPr>
              <a:t>SORTIE</a:t>
            </a:r>
            <a:endParaRPr lang="en-US" sz="900" dirty="0"/>
          </a:p>
        </p:txBody>
      </p:sp>
      <p:sp>
        <p:nvSpPr>
          <p:cNvPr id="13" name="Text 11"/>
          <p:cNvSpPr/>
          <p:nvPr/>
        </p:nvSpPr>
        <p:spPr>
          <a:xfrm>
            <a:off x="4892040" y="3749040"/>
            <a:ext cx="2286000" cy="2286000"/>
          </a:xfrm>
          <a:prstGeom prst="rect">
            <a:avLst/>
          </a:prstGeom>
          <a:noFill/>
          <a:ln/>
        </p:spPr>
        <p:txBody>
          <a:bodyPr wrap="square" rtlCol="0" anchor="t"/>
          <a:lstStyle/>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Area under curve</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AUC = 0.782</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IC95%</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[0.71, 0.85]</a:t>
            </a:r>
            <a:endParaRPr lang="en-US" sz="1050" dirty="0"/>
          </a:p>
          <a:p>
            <a:pPr indent="0" marL="0">
              <a:lnSpc>
                <a:spcPct val="130000"/>
              </a:lnSpc>
              <a:buNone/>
            </a:pP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 Discrimination</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  acceptable.</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 Test utilisable</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  en pratique.</a:t>
            </a:r>
            <a:endParaRPr lang="en-US" sz="1050" dirty="0"/>
          </a:p>
        </p:txBody>
      </p:sp>
      <p:sp>
        <p:nvSpPr>
          <p:cNvPr id="14" name="Shape 12"/>
          <p:cNvSpPr/>
          <p:nvPr/>
        </p:nvSpPr>
        <p:spPr>
          <a:xfrm>
            <a:off x="7406640" y="3383280"/>
            <a:ext cx="4325112" cy="2743200"/>
          </a:xfrm>
          <a:prstGeom prst="rect">
            <a:avLst/>
          </a:prstGeom>
          <a:solidFill>
            <a:srgbClr val="FFFFFF"/>
          </a:solidFill>
          <a:ln w="6350">
            <a:solidFill>
              <a:srgbClr val="D6CFB8"/>
            </a:solidFill>
            <a:prstDash val="solid"/>
          </a:ln>
        </p:spPr>
      </p:sp>
      <p:sp>
        <p:nvSpPr>
          <p:cNvPr id="15" name="Text 13"/>
          <p:cNvSpPr/>
          <p:nvPr/>
        </p:nvSpPr>
        <p:spPr>
          <a:xfrm>
            <a:off x="7498080" y="3419856"/>
            <a:ext cx="4142232" cy="228600"/>
          </a:xfrm>
          <a:prstGeom prst="rect">
            <a:avLst/>
          </a:prstGeom>
          <a:noFill/>
          <a:ln/>
        </p:spPr>
        <p:txBody>
          <a:bodyPr wrap="square" rtlCol="0" anchor="ctr"/>
          <a:lstStyle/>
          <a:p>
            <a:pPr algn="ctr" indent="0" marL="0">
              <a:buNone/>
            </a:pPr>
            <a:r>
              <a:rPr lang="en-US" sz="900" b="1" dirty="0">
                <a:solidFill>
                  <a:srgbClr val="15233F"/>
                </a:solidFill>
                <a:latin typeface="Calibri" pitchFamily="34" charset="0"/>
                <a:ea typeface="Calibri" pitchFamily="34" charset="-122"/>
                <a:cs typeface="Calibri" pitchFamily="34" charset="-120"/>
              </a:rPr>
              <a:t>ROC · score vs maladie</a:t>
            </a:r>
            <a:endParaRPr lang="en-US" sz="900" dirty="0"/>
          </a:p>
        </p:txBody>
      </p:sp>
      <p:sp>
        <p:nvSpPr>
          <p:cNvPr id="16" name="Shape 14"/>
          <p:cNvSpPr/>
          <p:nvPr/>
        </p:nvSpPr>
        <p:spPr>
          <a:xfrm>
            <a:off x="7818120" y="5760720"/>
            <a:ext cx="3776472" cy="0"/>
          </a:xfrm>
          <a:prstGeom prst="line">
            <a:avLst/>
          </a:prstGeom>
          <a:noFill/>
          <a:ln w="9525">
            <a:solidFill>
              <a:srgbClr val="0E1729"/>
            </a:solidFill>
            <a:prstDash val="solid"/>
          </a:ln>
        </p:spPr>
      </p:sp>
      <p:sp>
        <p:nvSpPr>
          <p:cNvPr id="17" name="Shape 15"/>
          <p:cNvSpPr/>
          <p:nvPr/>
        </p:nvSpPr>
        <p:spPr>
          <a:xfrm>
            <a:off x="7818120" y="3703320"/>
            <a:ext cx="0" cy="2057400"/>
          </a:xfrm>
          <a:prstGeom prst="line">
            <a:avLst/>
          </a:prstGeom>
          <a:noFill/>
          <a:ln w="9525">
            <a:solidFill>
              <a:srgbClr val="0E1729"/>
            </a:solidFill>
            <a:prstDash val="solid"/>
          </a:ln>
        </p:spPr>
      </p:sp>
      <p:sp>
        <p:nvSpPr>
          <p:cNvPr id="18" name="Text 16"/>
          <p:cNvSpPr/>
          <p:nvPr/>
        </p:nvSpPr>
        <p:spPr>
          <a:xfrm>
            <a:off x="7818120" y="5852160"/>
            <a:ext cx="3776472" cy="201168"/>
          </a:xfrm>
          <a:prstGeom prst="rect">
            <a:avLst/>
          </a:prstGeom>
          <a:noFill/>
          <a:ln/>
        </p:spPr>
        <p:txBody>
          <a:bodyPr wrap="square"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1 − Spécificité</a:t>
            </a:r>
            <a:endParaRPr lang="en-US" sz="800" dirty="0"/>
          </a:p>
        </p:txBody>
      </p:sp>
      <p:sp>
        <p:nvSpPr>
          <p:cNvPr id="19" name="Text 17"/>
          <p:cNvSpPr/>
          <p:nvPr/>
        </p:nvSpPr>
        <p:spPr>
          <a:xfrm rot="-5400000">
            <a:off x="7424928" y="3703320"/>
            <a:ext cx="365760" cy="205740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Sensibilité</a:t>
            </a:r>
            <a:endParaRPr lang="en-US" sz="800" dirty="0"/>
          </a:p>
        </p:txBody>
      </p:sp>
      <p:sp>
        <p:nvSpPr>
          <p:cNvPr id="20" name="Shape 18"/>
          <p:cNvSpPr/>
          <p:nvPr/>
        </p:nvSpPr>
        <p:spPr>
          <a:xfrm>
            <a:off x="7818120" y="5760720"/>
            <a:ext cx="3776472" cy="-2057400"/>
          </a:xfrm>
          <a:prstGeom prst="line">
            <a:avLst/>
          </a:prstGeom>
          <a:noFill/>
          <a:ln w="9525">
            <a:solidFill>
              <a:srgbClr val="6B7280"/>
            </a:solidFill>
            <a:prstDash val="dash"/>
          </a:ln>
        </p:spPr>
      </p:sp>
      <p:sp>
        <p:nvSpPr>
          <p:cNvPr id="21" name="Shape 19"/>
          <p:cNvSpPr/>
          <p:nvPr/>
        </p:nvSpPr>
        <p:spPr>
          <a:xfrm>
            <a:off x="7818120" y="5760720"/>
            <a:ext cx="151059" cy="-370332"/>
          </a:xfrm>
          <a:prstGeom prst="line">
            <a:avLst/>
          </a:prstGeom>
          <a:noFill/>
          <a:ln w="25400">
            <a:solidFill>
              <a:srgbClr val="F09042"/>
            </a:solidFill>
            <a:prstDash val="solid"/>
          </a:ln>
        </p:spPr>
      </p:sp>
      <p:sp>
        <p:nvSpPr>
          <p:cNvPr id="22" name="Shape 20"/>
          <p:cNvSpPr/>
          <p:nvPr/>
        </p:nvSpPr>
        <p:spPr>
          <a:xfrm>
            <a:off x="7969179" y="5390388"/>
            <a:ext cx="151059" cy="-288036"/>
          </a:xfrm>
          <a:prstGeom prst="line">
            <a:avLst/>
          </a:prstGeom>
          <a:noFill/>
          <a:ln w="25400">
            <a:solidFill>
              <a:srgbClr val="F09042"/>
            </a:solidFill>
            <a:prstDash val="solid"/>
          </a:ln>
        </p:spPr>
      </p:sp>
      <p:sp>
        <p:nvSpPr>
          <p:cNvPr id="23" name="Shape 21"/>
          <p:cNvSpPr/>
          <p:nvPr/>
        </p:nvSpPr>
        <p:spPr>
          <a:xfrm>
            <a:off x="8120238" y="5102352"/>
            <a:ext cx="151059" cy="-267462"/>
          </a:xfrm>
          <a:prstGeom prst="line">
            <a:avLst/>
          </a:prstGeom>
          <a:noFill/>
          <a:ln w="25400">
            <a:solidFill>
              <a:srgbClr val="F09042"/>
            </a:solidFill>
            <a:prstDash val="solid"/>
          </a:ln>
        </p:spPr>
      </p:sp>
      <p:sp>
        <p:nvSpPr>
          <p:cNvPr id="24" name="Shape 22"/>
          <p:cNvSpPr/>
          <p:nvPr/>
        </p:nvSpPr>
        <p:spPr>
          <a:xfrm>
            <a:off x="8271297" y="4834890"/>
            <a:ext cx="226588" cy="-267462"/>
          </a:xfrm>
          <a:prstGeom prst="line">
            <a:avLst/>
          </a:prstGeom>
          <a:noFill/>
          <a:ln w="25400">
            <a:solidFill>
              <a:srgbClr val="F09042"/>
            </a:solidFill>
            <a:prstDash val="solid"/>
          </a:ln>
        </p:spPr>
      </p:sp>
      <p:sp>
        <p:nvSpPr>
          <p:cNvPr id="25" name="Shape 23"/>
          <p:cNvSpPr/>
          <p:nvPr/>
        </p:nvSpPr>
        <p:spPr>
          <a:xfrm>
            <a:off x="8497885" y="4567428"/>
            <a:ext cx="264353" cy="-205740"/>
          </a:xfrm>
          <a:prstGeom prst="line">
            <a:avLst/>
          </a:prstGeom>
          <a:noFill/>
          <a:ln w="25400">
            <a:solidFill>
              <a:srgbClr val="F09042"/>
            </a:solidFill>
            <a:prstDash val="solid"/>
          </a:ln>
        </p:spPr>
      </p:sp>
      <p:sp>
        <p:nvSpPr>
          <p:cNvPr id="26" name="Shape 24"/>
          <p:cNvSpPr/>
          <p:nvPr/>
        </p:nvSpPr>
        <p:spPr>
          <a:xfrm>
            <a:off x="8762238" y="4361688"/>
            <a:ext cx="302118" cy="-164592"/>
          </a:xfrm>
          <a:prstGeom prst="line">
            <a:avLst/>
          </a:prstGeom>
          <a:noFill/>
          <a:ln w="25400">
            <a:solidFill>
              <a:srgbClr val="F09042"/>
            </a:solidFill>
            <a:prstDash val="solid"/>
          </a:ln>
        </p:spPr>
      </p:sp>
      <p:sp>
        <p:nvSpPr>
          <p:cNvPr id="27" name="Shape 25"/>
          <p:cNvSpPr/>
          <p:nvPr/>
        </p:nvSpPr>
        <p:spPr>
          <a:xfrm>
            <a:off x="9064356" y="4197096"/>
            <a:ext cx="339882" cy="-123444"/>
          </a:xfrm>
          <a:prstGeom prst="line">
            <a:avLst/>
          </a:prstGeom>
          <a:noFill/>
          <a:ln w="25400">
            <a:solidFill>
              <a:srgbClr val="F09042"/>
            </a:solidFill>
            <a:prstDash val="solid"/>
          </a:ln>
        </p:spPr>
      </p:sp>
      <p:sp>
        <p:nvSpPr>
          <p:cNvPr id="28" name="Shape 26"/>
          <p:cNvSpPr/>
          <p:nvPr/>
        </p:nvSpPr>
        <p:spPr>
          <a:xfrm>
            <a:off x="9404238" y="4073652"/>
            <a:ext cx="377647" cy="-102870"/>
          </a:xfrm>
          <a:prstGeom prst="line">
            <a:avLst/>
          </a:prstGeom>
          <a:noFill/>
          <a:ln w="25400">
            <a:solidFill>
              <a:srgbClr val="F09042"/>
            </a:solidFill>
            <a:prstDash val="solid"/>
          </a:ln>
        </p:spPr>
      </p:sp>
      <p:sp>
        <p:nvSpPr>
          <p:cNvPr id="29" name="Shape 27"/>
          <p:cNvSpPr/>
          <p:nvPr/>
        </p:nvSpPr>
        <p:spPr>
          <a:xfrm>
            <a:off x="9781885" y="3970782"/>
            <a:ext cx="377647" cy="-82296"/>
          </a:xfrm>
          <a:prstGeom prst="line">
            <a:avLst/>
          </a:prstGeom>
          <a:noFill/>
          <a:ln w="25400">
            <a:solidFill>
              <a:srgbClr val="F09042"/>
            </a:solidFill>
            <a:prstDash val="solid"/>
          </a:ln>
        </p:spPr>
      </p:sp>
      <p:sp>
        <p:nvSpPr>
          <p:cNvPr id="30" name="Shape 28"/>
          <p:cNvSpPr/>
          <p:nvPr/>
        </p:nvSpPr>
        <p:spPr>
          <a:xfrm>
            <a:off x="10159533" y="3888486"/>
            <a:ext cx="377647" cy="-61722"/>
          </a:xfrm>
          <a:prstGeom prst="line">
            <a:avLst/>
          </a:prstGeom>
          <a:noFill/>
          <a:ln w="25400">
            <a:solidFill>
              <a:srgbClr val="F09042"/>
            </a:solidFill>
            <a:prstDash val="solid"/>
          </a:ln>
        </p:spPr>
      </p:sp>
      <p:sp>
        <p:nvSpPr>
          <p:cNvPr id="31" name="Shape 29"/>
          <p:cNvSpPr/>
          <p:nvPr/>
        </p:nvSpPr>
        <p:spPr>
          <a:xfrm>
            <a:off x="10537180" y="3826764"/>
            <a:ext cx="377647" cy="-41148"/>
          </a:xfrm>
          <a:prstGeom prst="line">
            <a:avLst/>
          </a:prstGeom>
          <a:noFill/>
          <a:ln w="25400">
            <a:solidFill>
              <a:srgbClr val="F09042"/>
            </a:solidFill>
            <a:prstDash val="solid"/>
          </a:ln>
        </p:spPr>
      </p:sp>
      <p:sp>
        <p:nvSpPr>
          <p:cNvPr id="32" name="Shape 30"/>
          <p:cNvSpPr/>
          <p:nvPr/>
        </p:nvSpPr>
        <p:spPr>
          <a:xfrm>
            <a:off x="10914827" y="3785616"/>
            <a:ext cx="302118" cy="-41148"/>
          </a:xfrm>
          <a:prstGeom prst="line">
            <a:avLst/>
          </a:prstGeom>
          <a:noFill/>
          <a:ln w="25400">
            <a:solidFill>
              <a:srgbClr val="F09042"/>
            </a:solidFill>
            <a:prstDash val="solid"/>
          </a:ln>
        </p:spPr>
      </p:sp>
      <p:sp>
        <p:nvSpPr>
          <p:cNvPr id="33" name="Shape 31"/>
          <p:cNvSpPr/>
          <p:nvPr/>
        </p:nvSpPr>
        <p:spPr>
          <a:xfrm>
            <a:off x="11216945" y="3744468"/>
            <a:ext cx="377647" cy="-41148"/>
          </a:xfrm>
          <a:prstGeom prst="line">
            <a:avLst/>
          </a:prstGeom>
          <a:noFill/>
          <a:ln w="25400">
            <a:solidFill>
              <a:srgbClr val="F09042"/>
            </a:solidFill>
            <a:prstDash val="solid"/>
          </a:ln>
        </p:spPr>
      </p:sp>
      <p:sp>
        <p:nvSpPr>
          <p:cNvPr id="34" name="Text 32"/>
          <p:cNvSpPr/>
          <p:nvPr/>
        </p:nvSpPr>
        <p:spPr>
          <a:xfrm>
            <a:off x="9895180" y="4834890"/>
            <a:ext cx="1510589" cy="274320"/>
          </a:xfrm>
          <a:prstGeom prst="rect">
            <a:avLst/>
          </a:prstGeom>
          <a:noFill/>
          <a:ln/>
        </p:spPr>
        <p:txBody>
          <a:bodyPr wrap="square" rtlCol="0" anchor="ctr"/>
          <a:lstStyle/>
          <a:p>
            <a:pPr algn="ctr" indent="0" marL="0">
              <a:buNone/>
            </a:pPr>
            <a:r>
              <a:rPr lang="en-US" sz="1100" b="1" dirty="0">
                <a:solidFill>
                  <a:srgbClr val="F09042"/>
                </a:solidFill>
                <a:latin typeface="Calibri" pitchFamily="34" charset="0"/>
                <a:ea typeface="Calibri" pitchFamily="34" charset="-122"/>
                <a:cs typeface="Calibri" pitchFamily="34" charset="-120"/>
              </a:rPr>
              <a:t>AUC = 0.78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DIAGNOSTIC · CHOISIR LE SEUIL</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400" b="1" spc="-100" kern="0" dirty="0">
                <a:solidFill>
                  <a:srgbClr val="15233F"/>
                </a:solidFill>
                <a:latin typeface="Calibri" pitchFamily="34" charset="0"/>
                <a:ea typeface="Calibri" pitchFamily="34" charset="-122"/>
                <a:cs typeface="Calibri" pitchFamily="34" charset="-120"/>
              </a:rPr>
              <a:t>Où placer la barre ? Cela dépend du contexte clinique.</a:t>
            </a:r>
            <a:endParaRPr lang="en-US" sz="2400" dirty="0"/>
          </a:p>
        </p:txBody>
      </p:sp>
      <p:sp>
        <p:nvSpPr>
          <p:cNvPr id="6" name="Text 4"/>
          <p:cNvSpPr/>
          <p:nvPr/>
        </p:nvSpPr>
        <p:spPr>
          <a:xfrm>
            <a:off x="640080" y="1828800"/>
            <a:ext cx="10972800" cy="164592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Plus le seuil est bas, plus la sensibilité est haute (on ne rate pas de malade) mais plus la spécificité chute (on alerte trop de sains). À l'inverse, un seuil élevé maximise la spécificité au prix de faux négatifs. Le bon seuil dépend de la gravité de rater la maladie vs déclencher des examens inutiles.</a:t>
            </a:r>
            <a:endParaRPr lang="en-US" sz="1400" dirty="0"/>
          </a:p>
        </p:txBody>
      </p:sp>
      <p:sp>
        <p:nvSpPr>
          <p:cNvPr id="7" name="Shape 5"/>
          <p:cNvSpPr/>
          <p:nvPr/>
        </p:nvSpPr>
        <p:spPr>
          <a:xfrm>
            <a:off x="640080" y="3611880"/>
            <a:ext cx="3611880" cy="2560320"/>
          </a:xfrm>
          <a:prstGeom prst="roundRect">
            <a:avLst>
              <a:gd name="adj" fmla="val 3571"/>
            </a:avLst>
          </a:prstGeom>
          <a:solidFill>
            <a:srgbClr val="FFFFFF"/>
          </a:solidFill>
          <a:ln w="19050">
            <a:solidFill>
              <a:srgbClr val="4CAF50"/>
            </a:solidFill>
            <a:prstDash val="solid"/>
          </a:ln>
        </p:spPr>
      </p:sp>
      <p:sp>
        <p:nvSpPr>
          <p:cNvPr id="8" name="Text 6"/>
          <p:cNvSpPr/>
          <p:nvPr/>
        </p:nvSpPr>
        <p:spPr>
          <a:xfrm>
            <a:off x="822960" y="3749040"/>
            <a:ext cx="3246120" cy="320040"/>
          </a:xfrm>
          <a:prstGeom prst="rect">
            <a:avLst/>
          </a:prstGeom>
          <a:noFill/>
          <a:ln/>
        </p:spPr>
        <p:txBody>
          <a:bodyPr wrap="square" rtlCol="0" anchor="ctr"/>
          <a:lstStyle/>
          <a:p>
            <a:pPr indent="0" marL="0">
              <a:buNone/>
            </a:pPr>
            <a:r>
              <a:rPr lang="en-US" sz="1000" b="1" spc="200" kern="0" dirty="0">
                <a:solidFill>
                  <a:srgbClr val="4CAF50"/>
                </a:solidFill>
                <a:latin typeface="Calibri" pitchFamily="34" charset="0"/>
                <a:ea typeface="Calibri" pitchFamily="34" charset="-122"/>
                <a:cs typeface="Calibri" pitchFamily="34" charset="-120"/>
              </a:rPr>
              <a:t>SEUIL BAS · DÉPISTAGE</a:t>
            </a:r>
            <a:endParaRPr lang="en-US" sz="1000" dirty="0"/>
          </a:p>
        </p:txBody>
      </p:sp>
      <p:sp>
        <p:nvSpPr>
          <p:cNvPr id="9" name="Text 7"/>
          <p:cNvSpPr/>
          <p:nvPr/>
        </p:nvSpPr>
        <p:spPr>
          <a:xfrm>
            <a:off x="822960" y="4114800"/>
            <a:ext cx="3246120" cy="411480"/>
          </a:xfrm>
          <a:prstGeom prst="rect">
            <a:avLst/>
          </a:prstGeom>
          <a:noFill/>
          <a:ln/>
        </p:spPr>
        <p:txBody>
          <a:bodyPr wrap="square" rtlCol="0" anchor="ctr"/>
          <a:lstStyle/>
          <a:p>
            <a:pPr indent="0" marL="0">
              <a:buNone/>
            </a:pPr>
            <a:r>
              <a:rPr lang="en-US" sz="1600" b="1" dirty="0">
                <a:solidFill>
                  <a:srgbClr val="15233F"/>
                </a:solidFill>
                <a:latin typeface="Calibri" pitchFamily="34" charset="0"/>
                <a:ea typeface="Calibri" pitchFamily="34" charset="-122"/>
                <a:cs typeface="Calibri" pitchFamily="34" charset="-120"/>
              </a:rPr>
              <a:t>Maximiser Se</a:t>
            </a:r>
            <a:endParaRPr lang="en-US" sz="1600" dirty="0"/>
          </a:p>
        </p:txBody>
      </p:sp>
      <p:sp>
        <p:nvSpPr>
          <p:cNvPr id="10" name="Text 8"/>
          <p:cNvSpPr/>
          <p:nvPr/>
        </p:nvSpPr>
        <p:spPr>
          <a:xfrm>
            <a:off x="822960" y="4617720"/>
            <a:ext cx="3246120" cy="868680"/>
          </a:xfrm>
          <a:prstGeom prst="rect">
            <a:avLst/>
          </a:prstGeom>
          <a:noFill/>
          <a:ln/>
        </p:spPr>
        <p:txBody>
          <a:bodyPr wrap="square" rtlCol="0" anchor="ctr"/>
          <a:lstStyle/>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Maladie grave, traitable. On ne veut pas la rater.</a:t>
            </a:r>
            <a:endParaRPr lang="en-US" sz="1200" dirty="0"/>
          </a:p>
        </p:txBody>
      </p:sp>
      <p:sp>
        <p:nvSpPr>
          <p:cNvPr id="11" name="Shape 9"/>
          <p:cNvSpPr/>
          <p:nvPr/>
        </p:nvSpPr>
        <p:spPr>
          <a:xfrm>
            <a:off x="822960" y="5532120"/>
            <a:ext cx="3246120" cy="18288"/>
          </a:xfrm>
          <a:prstGeom prst="rect">
            <a:avLst/>
          </a:prstGeom>
          <a:solidFill>
            <a:srgbClr val="D6CFB8"/>
          </a:solidFill>
          <a:ln/>
        </p:spPr>
      </p:sp>
      <p:sp>
        <p:nvSpPr>
          <p:cNvPr id="12" name="Text 10"/>
          <p:cNvSpPr/>
          <p:nvPr/>
        </p:nvSpPr>
        <p:spPr>
          <a:xfrm>
            <a:off x="822960" y="5623560"/>
            <a:ext cx="3246120" cy="50292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Dépistage cancer</a:t>
            </a:r>
            <a:endParaRPr lang="en-US" sz="1100" dirty="0"/>
          </a:p>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VIH chez nourrissons</a:t>
            </a:r>
            <a:endParaRPr lang="en-US" sz="1100" dirty="0"/>
          </a:p>
        </p:txBody>
      </p:sp>
      <p:sp>
        <p:nvSpPr>
          <p:cNvPr id="13" name="Shape 11"/>
          <p:cNvSpPr/>
          <p:nvPr/>
        </p:nvSpPr>
        <p:spPr>
          <a:xfrm>
            <a:off x="4343400" y="3611880"/>
            <a:ext cx="3611880" cy="2560320"/>
          </a:xfrm>
          <a:prstGeom prst="roundRect">
            <a:avLst>
              <a:gd name="adj" fmla="val 3571"/>
            </a:avLst>
          </a:prstGeom>
          <a:solidFill>
            <a:srgbClr val="FFFFFF"/>
          </a:solidFill>
          <a:ln w="19050">
            <a:solidFill>
              <a:srgbClr val="F09042"/>
            </a:solidFill>
            <a:prstDash val="solid"/>
          </a:ln>
        </p:spPr>
      </p:sp>
      <p:sp>
        <p:nvSpPr>
          <p:cNvPr id="14" name="Text 12"/>
          <p:cNvSpPr/>
          <p:nvPr/>
        </p:nvSpPr>
        <p:spPr>
          <a:xfrm>
            <a:off x="4526280" y="3749040"/>
            <a:ext cx="3246120" cy="320040"/>
          </a:xfrm>
          <a:prstGeom prst="rect">
            <a:avLst/>
          </a:prstGeom>
          <a:noFill/>
          <a:ln/>
        </p:spPr>
        <p:txBody>
          <a:bodyPr wrap="square" rtlCol="0" anchor="ctr"/>
          <a:lstStyle/>
          <a:p>
            <a:pPr indent="0" marL="0">
              <a:buNone/>
            </a:pPr>
            <a:r>
              <a:rPr lang="en-US" sz="1000" b="1" spc="200" kern="0" dirty="0">
                <a:solidFill>
                  <a:srgbClr val="F09042"/>
                </a:solidFill>
                <a:latin typeface="Calibri" pitchFamily="34" charset="0"/>
                <a:ea typeface="Calibri" pitchFamily="34" charset="-122"/>
                <a:cs typeface="Calibri" pitchFamily="34" charset="-120"/>
              </a:rPr>
              <a:t>INDEX DE YOUDEN</a:t>
            </a:r>
            <a:endParaRPr lang="en-US" sz="1000" dirty="0"/>
          </a:p>
        </p:txBody>
      </p:sp>
      <p:sp>
        <p:nvSpPr>
          <p:cNvPr id="15" name="Text 13"/>
          <p:cNvSpPr/>
          <p:nvPr/>
        </p:nvSpPr>
        <p:spPr>
          <a:xfrm>
            <a:off x="4526280" y="4114800"/>
            <a:ext cx="3246120" cy="411480"/>
          </a:xfrm>
          <a:prstGeom prst="rect">
            <a:avLst/>
          </a:prstGeom>
          <a:noFill/>
          <a:ln/>
        </p:spPr>
        <p:txBody>
          <a:bodyPr wrap="square" rtlCol="0" anchor="ctr"/>
          <a:lstStyle/>
          <a:p>
            <a:pPr indent="0" marL="0">
              <a:buNone/>
            </a:pPr>
            <a:r>
              <a:rPr lang="en-US" sz="1600" b="1" dirty="0">
                <a:solidFill>
                  <a:srgbClr val="15233F"/>
                </a:solidFill>
                <a:latin typeface="Calibri" pitchFamily="34" charset="0"/>
                <a:ea typeface="Calibri" pitchFamily="34" charset="-122"/>
                <a:cs typeface="Calibri" pitchFamily="34" charset="-120"/>
              </a:rPr>
              <a:t>Équilibre Se + Sp</a:t>
            </a:r>
            <a:endParaRPr lang="en-US" sz="1600" dirty="0"/>
          </a:p>
        </p:txBody>
      </p:sp>
      <p:sp>
        <p:nvSpPr>
          <p:cNvPr id="16" name="Text 14"/>
          <p:cNvSpPr/>
          <p:nvPr/>
        </p:nvSpPr>
        <p:spPr>
          <a:xfrm>
            <a:off x="4526280" y="4617720"/>
            <a:ext cx="3246120" cy="868680"/>
          </a:xfrm>
          <a:prstGeom prst="rect">
            <a:avLst/>
          </a:prstGeom>
          <a:noFill/>
          <a:ln/>
        </p:spPr>
        <p:txBody>
          <a:bodyPr wrap="square" rtlCol="0" anchor="ctr"/>
          <a:lstStyle/>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Maximiser Se + Sp − 1. Compromis statistique sans préférence clinique.</a:t>
            </a:r>
            <a:endParaRPr lang="en-US" sz="1200" dirty="0"/>
          </a:p>
        </p:txBody>
      </p:sp>
      <p:sp>
        <p:nvSpPr>
          <p:cNvPr id="17" name="Shape 15"/>
          <p:cNvSpPr/>
          <p:nvPr/>
        </p:nvSpPr>
        <p:spPr>
          <a:xfrm>
            <a:off x="4526280" y="5532120"/>
            <a:ext cx="3246120" cy="18288"/>
          </a:xfrm>
          <a:prstGeom prst="rect">
            <a:avLst/>
          </a:prstGeom>
          <a:solidFill>
            <a:srgbClr val="D6CFB8"/>
          </a:solidFill>
          <a:ln/>
        </p:spPr>
      </p:sp>
      <p:sp>
        <p:nvSpPr>
          <p:cNvPr id="18" name="Text 16"/>
          <p:cNvSpPr/>
          <p:nvPr/>
        </p:nvSpPr>
        <p:spPr>
          <a:xfrm>
            <a:off x="4526280" y="5623560"/>
            <a:ext cx="3246120" cy="50292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Étude académique</a:t>
            </a:r>
            <a:endParaRPr lang="en-US" sz="1100" dirty="0"/>
          </a:p>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Évaluation initiale</a:t>
            </a:r>
            <a:endParaRPr lang="en-US" sz="1100" dirty="0"/>
          </a:p>
        </p:txBody>
      </p:sp>
      <p:sp>
        <p:nvSpPr>
          <p:cNvPr id="19" name="Shape 17"/>
          <p:cNvSpPr/>
          <p:nvPr/>
        </p:nvSpPr>
        <p:spPr>
          <a:xfrm>
            <a:off x="8046720" y="3611880"/>
            <a:ext cx="3611880" cy="2560320"/>
          </a:xfrm>
          <a:prstGeom prst="roundRect">
            <a:avLst>
              <a:gd name="adj" fmla="val 3571"/>
            </a:avLst>
          </a:prstGeom>
          <a:solidFill>
            <a:srgbClr val="FFFFFF"/>
          </a:solidFill>
          <a:ln w="19050">
            <a:solidFill>
              <a:srgbClr val="0E1729"/>
            </a:solidFill>
            <a:prstDash val="solid"/>
          </a:ln>
        </p:spPr>
      </p:sp>
      <p:sp>
        <p:nvSpPr>
          <p:cNvPr id="20" name="Text 18"/>
          <p:cNvSpPr/>
          <p:nvPr/>
        </p:nvSpPr>
        <p:spPr>
          <a:xfrm>
            <a:off x="8229600" y="3749040"/>
            <a:ext cx="3246120" cy="320040"/>
          </a:xfrm>
          <a:prstGeom prst="rect">
            <a:avLst/>
          </a:prstGeom>
          <a:noFill/>
          <a:ln/>
        </p:spPr>
        <p:txBody>
          <a:bodyPr wrap="square" rtlCol="0" anchor="ctr"/>
          <a:lstStyle/>
          <a:p>
            <a:pPr indent="0" marL="0">
              <a:buNone/>
            </a:pPr>
            <a:r>
              <a:rPr lang="en-US" sz="1000" b="1" spc="200" kern="0" dirty="0">
                <a:solidFill>
                  <a:srgbClr val="0E1729"/>
                </a:solidFill>
                <a:latin typeface="Calibri" pitchFamily="34" charset="0"/>
                <a:ea typeface="Calibri" pitchFamily="34" charset="-122"/>
                <a:cs typeface="Calibri" pitchFamily="34" charset="-120"/>
              </a:rPr>
              <a:t>SEUIL ÉLEVÉ · DIAGNOSTIC</a:t>
            </a:r>
            <a:endParaRPr lang="en-US" sz="1000" dirty="0"/>
          </a:p>
        </p:txBody>
      </p:sp>
      <p:sp>
        <p:nvSpPr>
          <p:cNvPr id="21" name="Text 19"/>
          <p:cNvSpPr/>
          <p:nvPr/>
        </p:nvSpPr>
        <p:spPr>
          <a:xfrm>
            <a:off x="8229600" y="4114800"/>
            <a:ext cx="3246120" cy="411480"/>
          </a:xfrm>
          <a:prstGeom prst="rect">
            <a:avLst/>
          </a:prstGeom>
          <a:noFill/>
          <a:ln/>
        </p:spPr>
        <p:txBody>
          <a:bodyPr wrap="square" rtlCol="0" anchor="ctr"/>
          <a:lstStyle/>
          <a:p>
            <a:pPr indent="0" marL="0">
              <a:buNone/>
            </a:pPr>
            <a:r>
              <a:rPr lang="en-US" sz="1600" b="1" dirty="0">
                <a:solidFill>
                  <a:srgbClr val="15233F"/>
                </a:solidFill>
                <a:latin typeface="Calibri" pitchFamily="34" charset="0"/>
                <a:ea typeface="Calibri" pitchFamily="34" charset="-122"/>
                <a:cs typeface="Calibri" pitchFamily="34" charset="-120"/>
              </a:rPr>
              <a:t>Maximiser Sp</a:t>
            </a:r>
            <a:endParaRPr lang="en-US" sz="1600" dirty="0"/>
          </a:p>
        </p:txBody>
      </p:sp>
      <p:sp>
        <p:nvSpPr>
          <p:cNvPr id="22" name="Text 20"/>
          <p:cNvSpPr/>
          <p:nvPr/>
        </p:nvSpPr>
        <p:spPr>
          <a:xfrm>
            <a:off x="8229600" y="4617720"/>
            <a:ext cx="3246120" cy="868680"/>
          </a:xfrm>
          <a:prstGeom prst="rect">
            <a:avLst/>
          </a:prstGeom>
          <a:noFill/>
          <a:ln/>
        </p:spPr>
        <p:txBody>
          <a:bodyPr wrap="square" rtlCol="0" anchor="ctr"/>
          <a:lstStyle/>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Confirmer une maladie. On veut peu de faux positifs.</a:t>
            </a:r>
            <a:endParaRPr lang="en-US" sz="1200" dirty="0"/>
          </a:p>
        </p:txBody>
      </p:sp>
      <p:sp>
        <p:nvSpPr>
          <p:cNvPr id="23" name="Shape 21"/>
          <p:cNvSpPr/>
          <p:nvPr/>
        </p:nvSpPr>
        <p:spPr>
          <a:xfrm>
            <a:off x="8229600" y="5532120"/>
            <a:ext cx="3246120" cy="18288"/>
          </a:xfrm>
          <a:prstGeom prst="rect">
            <a:avLst/>
          </a:prstGeom>
          <a:solidFill>
            <a:srgbClr val="D6CFB8"/>
          </a:solidFill>
          <a:ln/>
        </p:spPr>
      </p:sp>
      <p:sp>
        <p:nvSpPr>
          <p:cNvPr id="24" name="Text 22"/>
          <p:cNvSpPr/>
          <p:nvPr/>
        </p:nvSpPr>
        <p:spPr>
          <a:xfrm>
            <a:off x="8229600" y="5623560"/>
            <a:ext cx="3246120" cy="50292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Confirmation après</a:t>
            </a:r>
            <a:endParaRPr lang="en-US" sz="1100" dirty="0"/>
          </a:p>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dépistage positif</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ACCORD · CONCORDANCE QUALITATIVE</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800" b="1" spc="-100" kern="0" dirty="0">
                <a:solidFill>
                  <a:srgbClr val="15233F"/>
                </a:solidFill>
                <a:latin typeface="Calibri" pitchFamily="34" charset="0"/>
                <a:ea typeface="Calibri" pitchFamily="34" charset="-122"/>
                <a:cs typeface="Calibri" pitchFamily="34" charset="-120"/>
              </a:rPr>
              <a:t>Kappa de Cohen : l'accord au-delà du hasard.</a:t>
            </a:r>
            <a:endParaRPr lang="en-US" sz="2800" dirty="0"/>
          </a:p>
        </p:txBody>
      </p:sp>
      <p:sp>
        <p:nvSpPr>
          <p:cNvPr id="6" name="Text 4"/>
          <p:cNvSpPr/>
          <p:nvPr/>
        </p:nvSpPr>
        <p:spPr>
          <a:xfrm>
            <a:off x="640080" y="1828800"/>
            <a:ext cx="10972800" cy="137160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Deux observateurs notent indépendamment 100 radios « anormal / normal ». Combien d'accord ? On pourrait calculer un pourcentage brut, mais une partie de cet accord est due au hasard. Kappa corrige pour ce hasard et donne la concordance « réelle ».</a:t>
            </a:r>
            <a:endParaRPr lang="en-US" sz="1400" dirty="0"/>
          </a:p>
        </p:txBody>
      </p:sp>
      <p:sp>
        <p:nvSpPr>
          <p:cNvPr id="7" name="Shape 5"/>
          <p:cNvSpPr/>
          <p:nvPr/>
        </p:nvSpPr>
        <p:spPr>
          <a:xfrm>
            <a:off x="640080" y="3291840"/>
            <a:ext cx="5303520" cy="2834640"/>
          </a:xfrm>
          <a:prstGeom prst="roundRect">
            <a:avLst>
              <a:gd name="adj" fmla="val 1613"/>
            </a:avLst>
          </a:prstGeom>
          <a:solidFill>
            <a:srgbClr val="1A2541"/>
          </a:solidFill>
          <a:ln w="6350">
            <a:solidFill>
              <a:srgbClr val="F09042"/>
            </a:solidFill>
            <a:prstDash val="solid"/>
          </a:ln>
        </p:spPr>
      </p:sp>
      <p:sp>
        <p:nvSpPr>
          <p:cNvPr id="8" name="Shape 6"/>
          <p:cNvSpPr/>
          <p:nvPr/>
        </p:nvSpPr>
        <p:spPr>
          <a:xfrm>
            <a:off x="777240" y="3401568"/>
            <a:ext cx="365760" cy="256032"/>
          </a:xfrm>
          <a:prstGeom prst="roundRect">
            <a:avLst>
              <a:gd name="adj" fmla="val 14286"/>
            </a:avLst>
          </a:prstGeom>
          <a:solidFill>
            <a:srgbClr val="F09042"/>
          </a:solidFill>
          <a:ln/>
        </p:spPr>
      </p:sp>
      <p:sp>
        <p:nvSpPr>
          <p:cNvPr id="9" name="Text 7"/>
          <p:cNvSpPr/>
          <p:nvPr/>
        </p:nvSpPr>
        <p:spPr>
          <a:xfrm>
            <a:off x="777240" y="3401568"/>
            <a:ext cx="365760" cy="256032"/>
          </a:xfrm>
          <a:prstGeom prst="rect">
            <a:avLst/>
          </a:prstGeom>
          <a:noFill/>
          <a:ln/>
        </p:spPr>
        <p:txBody>
          <a:bodyPr wrap="square" rtlCol="0" anchor="ctr"/>
          <a:lstStyle/>
          <a:p>
            <a:pPr algn="ctr" indent="0" marL="0">
              <a:buNone/>
            </a:pPr>
            <a:r>
              <a:rPr lang="en-US" sz="1100" b="1" dirty="0">
                <a:solidFill>
                  <a:srgbClr val="0E1729"/>
                </a:solidFill>
                <a:latin typeface="Consolas" pitchFamily="34" charset="0"/>
                <a:ea typeface="Consolas" pitchFamily="34" charset="-122"/>
                <a:cs typeface="Consolas" pitchFamily="34" charset="-120"/>
              </a:rPr>
              <a:t>R</a:t>
            </a:r>
            <a:endParaRPr lang="en-US" sz="1100" dirty="0"/>
          </a:p>
        </p:txBody>
      </p:sp>
      <p:sp>
        <p:nvSpPr>
          <p:cNvPr id="10" name="Text 8"/>
          <p:cNvSpPr/>
          <p:nvPr/>
        </p:nvSpPr>
        <p:spPr>
          <a:xfrm>
            <a:off x="822960" y="3749040"/>
            <a:ext cx="5029200" cy="2286000"/>
          </a:xfrm>
          <a:prstGeom prst="rect">
            <a:avLst/>
          </a:prstGeom>
          <a:noFill/>
          <a:ln/>
        </p:spPr>
        <p:txBody>
          <a:bodyPr wrap="square" rtlCol="0" anchor="t"/>
          <a:lstStyle/>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Tableau croisé 2 observateurs</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tab &lt;- table(</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donnees$obs1,</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donnees$obs2)</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Kappa de Cohen</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library(irr)</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kappa2(donnees[, c("obs1",</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"obs2")])</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Kappa pondéré</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(variables ordinales)</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kappa2(..., weight = "squared")</a:t>
            </a:r>
            <a:endParaRPr lang="en-US" sz="1050" dirty="0"/>
          </a:p>
        </p:txBody>
      </p:sp>
      <p:sp>
        <p:nvSpPr>
          <p:cNvPr id="11" name="Shape 9"/>
          <p:cNvSpPr/>
          <p:nvPr/>
        </p:nvSpPr>
        <p:spPr>
          <a:xfrm>
            <a:off x="6080760" y="3291840"/>
            <a:ext cx="5650992" cy="2834640"/>
          </a:xfrm>
          <a:prstGeom prst="roundRect">
            <a:avLst>
              <a:gd name="adj" fmla="val 3226"/>
            </a:avLst>
          </a:prstGeom>
          <a:solidFill>
            <a:srgbClr val="FFFFFF"/>
          </a:solidFill>
          <a:ln w="9525">
            <a:solidFill>
              <a:srgbClr val="D6CFB8"/>
            </a:solidFill>
            <a:prstDash val="solid"/>
          </a:ln>
        </p:spPr>
      </p:sp>
      <p:sp>
        <p:nvSpPr>
          <p:cNvPr id="12" name="Text 10"/>
          <p:cNvSpPr/>
          <p:nvPr/>
        </p:nvSpPr>
        <p:spPr>
          <a:xfrm>
            <a:off x="6263640" y="3429000"/>
            <a:ext cx="5303520" cy="274320"/>
          </a:xfrm>
          <a:prstGeom prst="rect">
            <a:avLst/>
          </a:prstGeom>
          <a:noFill/>
          <a:ln/>
        </p:spPr>
        <p:txBody>
          <a:bodyPr wrap="square" rtlCol="0" anchor="ctr"/>
          <a:lstStyle/>
          <a:p>
            <a:pPr indent="0" marL="0">
              <a:buNone/>
            </a:pPr>
            <a:r>
              <a:rPr lang="en-US" sz="1000" b="1" spc="300" kern="0" dirty="0">
                <a:solidFill>
                  <a:srgbClr val="F09042"/>
                </a:solidFill>
                <a:latin typeface="Calibri" pitchFamily="34" charset="0"/>
                <a:ea typeface="Calibri" pitchFamily="34" charset="-122"/>
                <a:cs typeface="Calibri" pitchFamily="34" charset="-120"/>
              </a:rPr>
              <a:t>ÉCHELLE LANDIS &amp; KOCH (1977)</a:t>
            </a:r>
            <a:endParaRPr lang="en-US" sz="1000" dirty="0"/>
          </a:p>
        </p:txBody>
      </p:sp>
      <p:sp>
        <p:nvSpPr>
          <p:cNvPr id="13" name="Text 11"/>
          <p:cNvSpPr/>
          <p:nvPr/>
        </p:nvSpPr>
        <p:spPr>
          <a:xfrm>
            <a:off x="6263640" y="3794760"/>
            <a:ext cx="1554480" cy="320040"/>
          </a:xfrm>
          <a:prstGeom prst="rect">
            <a:avLst/>
          </a:prstGeom>
          <a:noFill/>
          <a:ln/>
        </p:spPr>
        <p:txBody>
          <a:bodyPr wrap="square" rtlCol="0" anchor="ctr"/>
          <a:lstStyle/>
          <a:p>
            <a:pPr indent="0" marL="0">
              <a:buNone/>
            </a:pPr>
            <a:r>
              <a:rPr lang="en-US" sz="1200" b="1" dirty="0">
                <a:solidFill>
                  <a:srgbClr val="E74C3C"/>
                </a:solidFill>
                <a:latin typeface="Consolas" pitchFamily="34" charset="0"/>
                <a:ea typeface="Consolas" pitchFamily="34" charset="-122"/>
                <a:cs typeface="Consolas" pitchFamily="34" charset="-120"/>
              </a:rPr>
              <a:t>&lt; 0,00</a:t>
            </a:r>
            <a:endParaRPr lang="en-US" sz="1200" dirty="0"/>
          </a:p>
        </p:txBody>
      </p:sp>
      <p:sp>
        <p:nvSpPr>
          <p:cNvPr id="14" name="Text 12"/>
          <p:cNvSpPr/>
          <p:nvPr/>
        </p:nvSpPr>
        <p:spPr>
          <a:xfrm>
            <a:off x="7863840" y="3794760"/>
            <a:ext cx="3749040" cy="320040"/>
          </a:xfrm>
          <a:prstGeom prst="rect">
            <a:avLst/>
          </a:prstGeom>
          <a:noFill/>
          <a:ln/>
        </p:spPr>
        <p:txBody>
          <a:bodyPr wrap="square" rtlCol="0" anchor="ctr"/>
          <a:lstStyle/>
          <a:p>
            <a:pPr indent="0" marL="0">
              <a:buNone/>
            </a:pPr>
            <a:r>
              <a:rPr lang="en-US" sz="1100" dirty="0">
                <a:solidFill>
                  <a:srgbClr val="15233F"/>
                </a:solidFill>
                <a:latin typeface="Calibri" pitchFamily="34" charset="0"/>
                <a:ea typeface="Calibri" pitchFamily="34" charset="-122"/>
                <a:cs typeface="Calibri" pitchFamily="34" charset="-120"/>
              </a:rPr>
              <a:t>Accord pire que hasard</a:t>
            </a:r>
            <a:endParaRPr lang="en-US" sz="1100" dirty="0"/>
          </a:p>
        </p:txBody>
      </p:sp>
      <p:sp>
        <p:nvSpPr>
          <p:cNvPr id="15" name="Text 13"/>
          <p:cNvSpPr/>
          <p:nvPr/>
        </p:nvSpPr>
        <p:spPr>
          <a:xfrm>
            <a:off x="6263640" y="4160520"/>
            <a:ext cx="1554480" cy="320040"/>
          </a:xfrm>
          <a:prstGeom prst="rect">
            <a:avLst/>
          </a:prstGeom>
          <a:noFill/>
          <a:ln/>
        </p:spPr>
        <p:txBody>
          <a:bodyPr wrap="square" rtlCol="0" anchor="ctr"/>
          <a:lstStyle/>
          <a:p>
            <a:pPr indent="0" marL="0">
              <a:buNone/>
            </a:pPr>
            <a:r>
              <a:rPr lang="en-US" sz="1200" b="1" dirty="0">
                <a:solidFill>
                  <a:srgbClr val="E74C3C"/>
                </a:solidFill>
                <a:latin typeface="Consolas" pitchFamily="34" charset="0"/>
                <a:ea typeface="Consolas" pitchFamily="34" charset="-122"/>
                <a:cs typeface="Consolas" pitchFamily="34" charset="-120"/>
              </a:rPr>
              <a:t>0,01 — 0,20</a:t>
            </a:r>
            <a:endParaRPr lang="en-US" sz="1200" dirty="0"/>
          </a:p>
        </p:txBody>
      </p:sp>
      <p:sp>
        <p:nvSpPr>
          <p:cNvPr id="16" name="Text 14"/>
          <p:cNvSpPr/>
          <p:nvPr/>
        </p:nvSpPr>
        <p:spPr>
          <a:xfrm>
            <a:off x="7863840" y="4160520"/>
            <a:ext cx="3749040" cy="320040"/>
          </a:xfrm>
          <a:prstGeom prst="rect">
            <a:avLst/>
          </a:prstGeom>
          <a:noFill/>
          <a:ln/>
        </p:spPr>
        <p:txBody>
          <a:bodyPr wrap="square" rtlCol="0" anchor="ctr"/>
          <a:lstStyle/>
          <a:p>
            <a:pPr indent="0" marL="0">
              <a:buNone/>
            </a:pPr>
            <a:r>
              <a:rPr lang="en-US" sz="1100" dirty="0">
                <a:solidFill>
                  <a:srgbClr val="15233F"/>
                </a:solidFill>
                <a:latin typeface="Calibri" pitchFamily="34" charset="0"/>
                <a:ea typeface="Calibri" pitchFamily="34" charset="-122"/>
                <a:cs typeface="Calibri" pitchFamily="34" charset="-120"/>
              </a:rPr>
              <a:t>Accord léger</a:t>
            </a:r>
            <a:endParaRPr lang="en-US" sz="1100" dirty="0"/>
          </a:p>
        </p:txBody>
      </p:sp>
      <p:sp>
        <p:nvSpPr>
          <p:cNvPr id="17" name="Text 15"/>
          <p:cNvSpPr/>
          <p:nvPr/>
        </p:nvSpPr>
        <p:spPr>
          <a:xfrm>
            <a:off x="6263640" y="4526280"/>
            <a:ext cx="1554480" cy="320040"/>
          </a:xfrm>
          <a:prstGeom prst="rect">
            <a:avLst/>
          </a:prstGeom>
          <a:noFill/>
          <a:ln/>
        </p:spPr>
        <p:txBody>
          <a:bodyPr wrap="square" rtlCol="0" anchor="ctr"/>
          <a:lstStyle/>
          <a:p>
            <a:pPr indent="0" marL="0">
              <a:buNone/>
            </a:pPr>
            <a:r>
              <a:rPr lang="en-US" sz="1200" b="1" dirty="0">
                <a:solidFill>
                  <a:srgbClr val="F09042"/>
                </a:solidFill>
                <a:latin typeface="Consolas" pitchFamily="34" charset="0"/>
                <a:ea typeface="Consolas" pitchFamily="34" charset="-122"/>
                <a:cs typeface="Consolas" pitchFamily="34" charset="-120"/>
              </a:rPr>
              <a:t>0,21 — 0,40</a:t>
            </a:r>
            <a:endParaRPr lang="en-US" sz="1200" dirty="0"/>
          </a:p>
        </p:txBody>
      </p:sp>
      <p:sp>
        <p:nvSpPr>
          <p:cNvPr id="18" name="Text 16"/>
          <p:cNvSpPr/>
          <p:nvPr/>
        </p:nvSpPr>
        <p:spPr>
          <a:xfrm>
            <a:off x="7863840" y="4526280"/>
            <a:ext cx="3749040" cy="320040"/>
          </a:xfrm>
          <a:prstGeom prst="rect">
            <a:avLst/>
          </a:prstGeom>
          <a:noFill/>
          <a:ln/>
        </p:spPr>
        <p:txBody>
          <a:bodyPr wrap="square" rtlCol="0" anchor="ctr"/>
          <a:lstStyle/>
          <a:p>
            <a:pPr indent="0" marL="0">
              <a:buNone/>
            </a:pPr>
            <a:r>
              <a:rPr lang="en-US" sz="1100" dirty="0">
                <a:solidFill>
                  <a:srgbClr val="15233F"/>
                </a:solidFill>
                <a:latin typeface="Calibri" pitchFamily="34" charset="0"/>
                <a:ea typeface="Calibri" pitchFamily="34" charset="-122"/>
                <a:cs typeface="Calibri" pitchFamily="34" charset="-120"/>
              </a:rPr>
              <a:t>Accord passable</a:t>
            </a:r>
            <a:endParaRPr lang="en-US" sz="1100" dirty="0"/>
          </a:p>
        </p:txBody>
      </p:sp>
      <p:sp>
        <p:nvSpPr>
          <p:cNvPr id="19" name="Text 17"/>
          <p:cNvSpPr/>
          <p:nvPr/>
        </p:nvSpPr>
        <p:spPr>
          <a:xfrm>
            <a:off x="6263640" y="4892040"/>
            <a:ext cx="1554480" cy="320040"/>
          </a:xfrm>
          <a:prstGeom prst="rect">
            <a:avLst/>
          </a:prstGeom>
          <a:noFill/>
          <a:ln/>
        </p:spPr>
        <p:txBody>
          <a:bodyPr wrap="square" rtlCol="0" anchor="ctr"/>
          <a:lstStyle/>
          <a:p>
            <a:pPr indent="0" marL="0">
              <a:buNone/>
            </a:pPr>
            <a:r>
              <a:rPr lang="en-US" sz="1200" b="1" dirty="0">
                <a:solidFill>
                  <a:srgbClr val="F09042"/>
                </a:solidFill>
                <a:latin typeface="Consolas" pitchFamily="34" charset="0"/>
                <a:ea typeface="Consolas" pitchFamily="34" charset="-122"/>
                <a:cs typeface="Consolas" pitchFamily="34" charset="-120"/>
              </a:rPr>
              <a:t>0,41 — 0,60</a:t>
            </a:r>
            <a:endParaRPr lang="en-US" sz="1200" dirty="0"/>
          </a:p>
        </p:txBody>
      </p:sp>
      <p:sp>
        <p:nvSpPr>
          <p:cNvPr id="20" name="Text 18"/>
          <p:cNvSpPr/>
          <p:nvPr/>
        </p:nvSpPr>
        <p:spPr>
          <a:xfrm>
            <a:off x="7863840" y="4892040"/>
            <a:ext cx="3749040" cy="320040"/>
          </a:xfrm>
          <a:prstGeom prst="rect">
            <a:avLst/>
          </a:prstGeom>
          <a:noFill/>
          <a:ln/>
        </p:spPr>
        <p:txBody>
          <a:bodyPr wrap="square" rtlCol="0" anchor="ctr"/>
          <a:lstStyle/>
          <a:p>
            <a:pPr indent="0" marL="0">
              <a:buNone/>
            </a:pPr>
            <a:r>
              <a:rPr lang="en-US" sz="1100" dirty="0">
                <a:solidFill>
                  <a:srgbClr val="15233F"/>
                </a:solidFill>
                <a:latin typeface="Calibri" pitchFamily="34" charset="0"/>
                <a:ea typeface="Calibri" pitchFamily="34" charset="-122"/>
                <a:cs typeface="Calibri" pitchFamily="34" charset="-120"/>
              </a:rPr>
              <a:t>Accord modéré</a:t>
            </a:r>
            <a:endParaRPr lang="en-US" sz="1100" dirty="0"/>
          </a:p>
        </p:txBody>
      </p:sp>
      <p:sp>
        <p:nvSpPr>
          <p:cNvPr id="21" name="Text 19"/>
          <p:cNvSpPr/>
          <p:nvPr/>
        </p:nvSpPr>
        <p:spPr>
          <a:xfrm>
            <a:off x="6263640" y="5257800"/>
            <a:ext cx="1554480" cy="320040"/>
          </a:xfrm>
          <a:prstGeom prst="rect">
            <a:avLst/>
          </a:prstGeom>
          <a:noFill/>
          <a:ln/>
        </p:spPr>
        <p:txBody>
          <a:bodyPr wrap="square" rtlCol="0" anchor="ctr"/>
          <a:lstStyle/>
          <a:p>
            <a:pPr indent="0" marL="0">
              <a:buNone/>
            </a:pPr>
            <a:r>
              <a:rPr lang="en-US" sz="1200" b="1" dirty="0">
                <a:solidFill>
                  <a:srgbClr val="4CAF50"/>
                </a:solidFill>
                <a:latin typeface="Consolas" pitchFamily="34" charset="0"/>
                <a:ea typeface="Consolas" pitchFamily="34" charset="-122"/>
                <a:cs typeface="Consolas" pitchFamily="34" charset="-120"/>
              </a:rPr>
              <a:t>0,61 — 0,80</a:t>
            </a:r>
            <a:endParaRPr lang="en-US" sz="1200" dirty="0"/>
          </a:p>
        </p:txBody>
      </p:sp>
      <p:sp>
        <p:nvSpPr>
          <p:cNvPr id="22" name="Text 20"/>
          <p:cNvSpPr/>
          <p:nvPr/>
        </p:nvSpPr>
        <p:spPr>
          <a:xfrm>
            <a:off x="7863840" y="5257800"/>
            <a:ext cx="3749040" cy="320040"/>
          </a:xfrm>
          <a:prstGeom prst="rect">
            <a:avLst/>
          </a:prstGeom>
          <a:noFill/>
          <a:ln/>
        </p:spPr>
        <p:txBody>
          <a:bodyPr wrap="square" rtlCol="0" anchor="ctr"/>
          <a:lstStyle/>
          <a:p>
            <a:pPr indent="0" marL="0">
              <a:buNone/>
            </a:pPr>
            <a:r>
              <a:rPr lang="en-US" sz="1100" dirty="0">
                <a:solidFill>
                  <a:srgbClr val="15233F"/>
                </a:solidFill>
                <a:latin typeface="Calibri" pitchFamily="34" charset="0"/>
                <a:ea typeface="Calibri" pitchFamily="34" charset="-122"/>
                <a:cs typeface="Calibri" pitchFamily="34" charset="-120"/>
              </a:rPr>
              <a:t>Accord substantiel</a:t>
            </a:r>
            <a:endParaRPr lang="en-US" sz="1100" dirty="0"/>
          </a:p>
        </p:txBody>
      </p:sp>
      <p:sp>
        <p:nvSpPr>
          <p:cNvPr id="23" name="Text 21"/>
          <p:cNvSpPr/>
          <p:nvPr/>
        </p:nvSpPr>
        <p:spPr>
          <a:xfrm>
            <a:off x="6263640" y="5623560"/>
            <a:ext cx="1554480" cy="320040"/>
          </a:xfrm>
          <a:prstGeom prst="rect">
            <a:avLst/>
          </a:prstGeom>
          <a:noFill/>
          <a:ln/>
        </p:spPr>
        <p:txBody>
          <a:bodyPr wrap="square" rtlCol="0" anchor="ctr"/>
          <a:lstStyle/>
          <a:p>
            <a:pPr indent="0" marL="0">
              <a:buNone/>
            </a:pPr>
            <a:r>
              <a:rPr lang="en-US" sz="1200" b="1" dirty="0">
                <a:solidFill>
                  <a:srgbClr val="4CAF50"/>
                </a:solidFill>
                <a:latin typeface="Consolas" pitchFamily="34" charset="0"/>
                <a:ea typeface="Consolas" pitchFamily="34" charset="-122"/>
                <a:cs typeface="Consolas" pitchFamily="34" charset="-120"/>
              </a:rPr>
              <a:t>0,81 — 1,00</a:t>
            </a:r>
            <a:endParaRPr lang="en-US" sz="1200" dirty="0"/>
          </a:p>
        </p:txBody>
      </p:sp>
      <p:sp>
        <p:nvSpPr>
          <p:cNvPr id="24" name="Text 22"/>
          <p:cNvSpPr/>
          <p:nvPr/>
        </p:nvSpPr>
        <p:spPr>
          <a:xfrm>
            <a:off x="7863840" y="5623560"/>
            <a:ext cx="3749040" cy="320040"/>
          </a:xfrm>
          <a:prstGeom prst="rect">
            <a:avLst/>
          </a:prstGeom>
          <a:noFill/>
          <a:ln/>
        </p:spPr>
        <p:txBody>
          <a:bodyPr wrap="square" rtlCol="0" anchor="ctr"/>
          <a:lstStyle/>
          <a:p>
            <a:pPr indent="0" marL="0">
              <a:buNone/>
            </a:pPr>
            <a:r>
              <a:rPr lang="en-US" sz="1100" dirty="0">
                <a:solidFill>
                  <a:srgbClr val="15233F"/>
                </a:solidFill>
                <a:latin typeface="Calibri" pitchFamily="34" charset="0"/>
                <a:ea typeface="Calibri" pitchFamily="34" charset="-122"/>
                <a:cs typeface="Calibri" pitchFamily="34" charset="-120"/>
              </a:rPr>
              <a:t>Accord quasi-parfait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ACCORD · CONCORDANCE QUANTITATIVE</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600" b="1" spc="-100" kern="0" dirty="0">
                <a:solidFill>
                  <a:srgbClr val="15233F"/>
                </a:solidFill>
                <a:latin typeface="Calibri" pitchFamily="34" charset="0"/>
                <a:ea typeface="Calibri" pitchFamily="34" charset="-122"/>
                <a:cs typeface="Calibri" pitchFamily="34" charset="-120"/>
              </a:rPr>
              <a:t>Bland-Altman : comparer deux méthodes de mesure.</a:t>
            </a:r>
            <a:endParaRPr lang="en-US" sz="2600" dirty="0"/>
          </a:p>
        </p:txBody>
      </p:sp>
      <p:sp>
        <p:nvSpPr>
          <p:cNvPr id="6" name="Text 4"/>
          <p:cNvSpPr/>
          <p:nvPr/>
        </p:nvSpPr>
        <p:spPr>
          <a:xfrm>
            <a:off x="640080" y="1828800"/>
            <a:ext cx="10972800" cy="155448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Pour deux méthodes mesurant la même grandeur (deux balances, deux tensiomètres, deux scores), la corrélation n'est PAS suffisante. Deux méthodes peuvent être très corrélées tout en donnant des valeurs systématiquement différentes. Bland-Altman regarde la moyenne et la différence — c'est la méthode de référence en métrologie clinique.</a:t>
            </a:r>
            <a:endParaRPr lang="en-US" sz="1400" dirty="0"/>
          </a:p>
        </p:txBody>
      </p:sp>
      <p:sp>
        <p:nvSpPr>
          <p:cNvPr id="7" name="Shape 5"/>
          <p:cNvSpPr/>
          <p:nvPr/>
        </p:nvSpPr>
        <p:spPr>
          <a:xfrm>
            <a:off x="640080" y="3520440"/>
            <a:ext cx="5440680" cy="2468880"/>
          </a:xfrm>
          <a:prstGeom prst="roundRect">
            <a:avLst>
              <a:gd name="adj" fmla="val 3704"/>
            </a:avLst>
          </a:prstGeom>
          <a:solidFill>
            <a:srgbClr val="FFFFFF"/>
          </a:solidFill>
          <a:ln w="19050">
            <a:solidFill>
              <a:srgbClr val="F09042"/>
            </a:solidFill>
            <a:prstDash val="solid"/>
          </a:ln>
        </p:spPr>
      </p:sp>
      <p:sp>
        <p:nvSpPr>
          <p:cNvPr id="8" name="Text 6"/>
          <p:cNvSpPr/>
          <p:nvPr/>
        </p:nvSpPr>
        <p:spPr>
          <a:xfrm>
            <a:off x="822960" y="3657600"/>
            <a:ext cx="5029200" cy="320040"/>
          </a:xfrm>
          <a:prstGeom prst="rect">
            <a:avLst/>
          </a:prstGeom>
          <a:noFill/>
          <a:ln/>
        </p:spPr>
        <p:txBody>
          <a:bodyPr wrap="square" rtlCol="0" anchor="ctr"/>
          <a:lstStyle/>
          <a:p>
            <a:pPr indent="0" marL="0">
              <a:buNone/>
            </a:pPr>
            <a:r>
              <a:rPr lang="en-US" sz="1200" b="1" spc="300" kern="0" dirty="0">
                <a:solidFill>
                  <a:srgbClr val="F09042"/>
                </a:solidFill>
                <a:latin typeface="Calibri" pitchFamily="34" charset="0"/>
                <a:ea typeface="Calibri" pitchFamily="34" charset="-122"/>
                <a:cs typeface="Calibri" pitchFamily="34" charset="-120"/>
              </a:rPr>
              <a:t>CE QUE ÇA MESURE</a:t>
            </a:r>
            <a:endParaRPr lang="en-US" sz="1200" dirty="0"/>
          </a:p>
        </p:txBody>
      </p:sp>
      <p:sp>
        <p:nvSpPr>
          <p:cNvPr id="9" name="Text 7"/>
          <p:cNvSpPr/>
          <p:nvPr/>
        </p:nvSpPr>
        <p:spPr>
          <a:xfrm>
            <a:off x="822960" y="4023360"/>
            <a:ext cx="5029200" cy="365760"/>
          </a:xfrm>
          <a:prstGeom prst="rect">
            <a:avLst/>
          </a:prstGeom>
          <a:noFill/>
          <a:ln/>
        </p:spPr>
        <p:txBody>
          <a:bodyPr wrap="square" rtlCol="0" anchor="ctr"/>
          <a:lstStyle/>
          <a:p>
            <a:pPr indent="0" marL="0">
              <a:buNone/>
            </a:pPr>
            <a:r>
              <a:rPr lang="en-US" sz="1400" b="1" dirty="0">
                <a:solidFill>
                  <a:srgbClr val="15233F"/>
                </a:solidFill>
                <a:latin typeface="Calibri" pitchFamily="34" charset="0"/>
                <a:ea typeface="Calibri" pitchFamily="34" charset="-122"/>
                <a:cs typeface="Calibri" pitchFamily="34" charset="-120"/>
              </a:rPr>
              <a:t>Biais moyen</a:t>
            </a:r>
            <a:endParaRPr lang="en-US" sz="1400" dirty="0"/>
          </a:p>
        </p:txBody>
      </p:sp>
      <p:sp>
        <p:nvSpPr>
          <p:cNvPr id="10" name="Text 8"/>
          <p:cNvSpPr/>
          <p:nvPr/>
        </p:nvSpPr>
        <p:spPr>
          <a:xfrm>
            <a:off x="822960" y="4434840"/>
            <a:ext cx="5029200" cy="73152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Moyenne des différences. Mesure le décalage systématique entre les deux méthodes.</a:t>
            </a:r>
            <a:endParaRPr lang="en-US" sz="1100" dirty="0"/>
          </a:p>
        </p:txBody>
      </p:sp>
      <p:sp>
        <p:nvSpPr>
          <p:cNvPr id="11" name="Text 9"/>
          <p:cNvSpPr/>
          <p:nvPr/>
        </p:nvSpPr>
        <p:spPr>
          <a:xfrm>
            <a:off x="822960" y="5166360"/>
            <a:ext cx="5029200" cy="365760"/>
          </a:xfrm>
          <a:prstGeom prst="rect">
            <a:avLst/>
          </a:prstGeom>
          <a:noFill/>
          <a:ln/>
        </p:spPr>
        <p:txBody>
          <a:bodyPr wrap="square" rtlCol="0" anchor="ctr"/>
          <a:lstStyle/>
          <a:p>
            <a:pPr indent="0" marL="0">
              <a:buNone/>
            </a:pPr>
            <a:r>
              <a:rPr lang="en-US" sz="1400" b="1" dirty="0">
                <a:solidFill>
                  <a:srgbClr val="15233F"/>
                </a:solidFill>
                <a:latin typeface="Calibri" pitchFamily="34" charset="0"/>
                <a:ea typeface="Calibri" pitchFamily="34" charset="-122"/>
                <a:cs typeface="Calibri" pitchFamily="34" charset="-120"/>
              </a:rPr>
              <a:t>Limites d'accord à 95 %</a:t>
            </a:r>
            <a:endParaRPr lang="en-US" sz="1400" dirty="0"/>
          </a:p>
        </p:txBody>
      </p:sp>
      <p:sp>
        <p:nvSpPr>
          <p:cNvPr id="12" name="Text 10"/>
          <p:cNvSpPr/>
          <p:nvPr/>
        </p:nvSpPr>
        <p:spPr>
          <a:xfrm>
            <a:off x="822960" y="5577840"/>
            <a:ext cx="5029200" cy="36576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Biais ± 1,96 × écart-type. Intervalle où 95 % des différences se trouvent.</a:t>
            </a:r>
            <a:endParaRPr lang="en-US" sz="1100" dirty="0"/>
          </a:p>
        </p:txBody>
      </p:sp>
      <p:sp>
        <p:nvSpPr>
          <p:cNvPr id="13" name="Shape 11"/>
          <p:cNvSpPr/>
          <p:nvPr/>
        </p:nvSpPr>
        <p:spPr>
          <a:xfrm>
            <a:off x="6291072" y="3520440"/>
            <a:ext cx="5440680" cy="2468880"/>
          </a:xfrm>
          <a:prstGeom prst="roundRect">
            <a:avLst>
              <a:gd name="adj" fmla="val 1852"/>
            </a:avLst>
          </a:prstGeom>
          <a:solidFill>
            <a:srgbClr val="1A2541"/>
          </a:solidFill>
          <a:ln w="6350">
            <a:solidFill>
              <a:srgbClr val="F09042"/>
            </a:solidFill>
            <a:prstDash val="solid"/>
          </a:ln>
        </p:spPr>
      </p:sp>
      <p:sp>
        <p:nvSpPr>
          <p:cNvPr id="14" name="Shape 12"/>
          <p:cNvSpPr/>
          <p:nvPr/>
        </p:nvSpPr>
        <p:spPr>
          <a:xfrm>
            <a:off x="6428232" y="3630168"/>
            <a:ext cx="365760" cy="256032"/>
          </a:xfrm>
          <a:prstGeom prst="roundRect">
            <a:avLst>
              <a:gd name="adj" fmla="val 14286"/>
            </a:avLst>
          </a:prstGeom>
          <a:solidFill>
            <a:srgbClr val="F09042"/>
          </a:solidFill>
          <a:ln/>
        </p:spPr>
      </p:sp>
      <p:sp>
        <p:nvSpPr>
          <p:cNvPr id="15" name="Text 13"/>
          <p:cNvSpPr/>
          <p:nvPr/>
        </p:nvSpPr>
        <p:spPr>
          <a:xfrm>
            <a:off x="6428232" y="3630168"/>
            <a:ext cx="365760" cy="256032"/>
          </a:xfrm>
          <a:prstGeom prst="rect">
            <a:avLst/>
          </a:prstGeom>
          <a:noFill/>
          <a:ln/>
        </p:spPr>
        <p:txBody>
          <a:bodyPr wrap="square" rtlCol="0" anchor="ctr"/>
          <a:lstStyle/>
          <a:p>
            <a:pPr algn="ctr" indent="0" marL="0">
              <a:buNone/>
            </a:pPr>
            <a:r>
              <a:rPr lang="en-US" sz="1100" b="1" dirty="0">
                <a:solidFill>
                  <a:srgbClr val="0E1729"/>
                </a:solidFill>
                <a:latin typeface="Consolas" pitchFamily="34" charset="0"/>
                <a:ea typeface="Consolas" pitchFamily="34" charset="-122"/>
                <a:cs typeface="Consolas" pitchFamily="34" charset="-120"/>
              </a:rPr>
              <a:t>R</a:t>
            </a:r>
            <a:endParaRPr lang="en-US" sz="1100" dirty="0"/>
          </a:p>
        </p:txBody>
      </p:sp>
      <p:sp>
        <p:nvSpPr>
          <p:cNvPr id="16" name="Text 14"/>
          <p:cNvSpPr/>
          <p:nvPr/>
        </p:nvSpPr>
        <p:spPr>
          <a:xfrm>
            <a:off x="6473952" y="3977640"/>
            <a:ext cx="5166360" cy="1920240"/>
          </a:xfrm>
          <a:prstGeom prst="rect">
            <a:avLst/>
          </a:prstGeom>
          <a:noFill/>
          <a:ln/>
        </p:spPr>
        <p:txBody>
          <a:bodyPr wrap="square" rtlCol="0" anchor="t"/>
          <a:lstStyle/>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Bland-Altman plot</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library(BlandAltmanLeh)</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bland.altman.plot(</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donnees$methode1,</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donnees$methode2,</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main = "Accord méthode 1 vs 2",</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conf.int = 0.95)</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Statistiques</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library(blandr)</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blandr.statistics(</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donnees$methode1,</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donnees$methode2)</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SURVIE · DÉCRIRE</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800" b="1" spc="-100" kern="0" dirty="0">
                <a:solidFill>
                  <a:srgbClr val="15233F"/>
                </a:solidFill>
                <a:latin typeface="Calibri" pitchFamily="34" charset="0"/>
                <a:ea typeface="Calibri" pitchFamily="34" charset="-122"/>
                <a:cs typeface="Calibri" pitchFamily="34" charset="-120"/>
              </a:rPr>
              <a:t>Kaplan-Meier : la courbe qui descend.</a:t>
            </a:r>
            <a:endParaRPr lang="en-US" sz="2800" dirty="0"/>
          </a:p>
        </p:txBody>
      </p:sp>
      <p:sp>
        <p:nvSpPr>
          <p:cNvPr id="6" name="Text 4"/>
          <p:cNvSpPr/>
          <p:nvPr/>
        </p:nvSpPr>
        <p:spPr>
          <a:xfrm>
            <a:off x="640080" y="1828800"/>
            <a:ext cx="10972800" cy="137160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En survie, le « temps jusqu'à l'évènement » (décès, rechute, sortie d'hôpital) est l'information centrale. Kaplan-Meier produit une courbe de survie en escalier : chaque marche descend à chaque évènement, en tenant compte des sujets censurés (perdus de vue, étude finie).</a:t>
            </a:r>
            <a:endParaRPr lang="en-US" sz="1400" dirty="0"/>
          </a:p>
        </p:txBody>
      </p:sp>
      <p:sp>
        <p:nvSpPr>
          <p:cNvPr id="7" name="Shape 5"/>
          <p:cNvSpPr/>
          <p:nvPr/>
        </p:nvSpPr>
        <p:spPr>
          <a:xfrm>
            <a:off x="640080" y="3246120"/>
            <a:ext cx="5486400" cy="2880360"/>
          </a:xfrm>
          <a:prstGeom prst="roundRect">
            <a:avLst>
              <a:gd name="adj" fmla="val 1587"/>
            </a:avLst>
          </a:prstGeom>
          <a:solidFill>
            <a:srgbClr val="1A2541"/>
          </a:solidFill>
          <a:ln w="6350">
            <a:solidFill>
              <a:srgbClr val="F09042"/>
            </a:solidFill>
            <a:prstDash val="solid"/>
          </a:ln>
        </p:spPr>
      </p:sp>
      <p:sp>
        <p:nvSpPr>
          <p:cNvPr id="8" name="Shape 6"/>
          <p:cNvSpPr/>
          <p:nvPr/>
        </p:nvSpPr>
        <p:spPr>
          <a:xfrm>
            <a:off x="777240" y="3355848"/>
            <a:ext cx="365760" cy="256032"/>
          </a:xfrm>
          <a:prstGeom prst="roundRect">
            <a:avLst>
              <a:gd name="adj" fmla="val 14286"/>
            </a:avLst>
          </a:prstGeom>
          <a:solidFill>
            <a:srgbClr val="F09042"/>
          </a:solidFill>
          <a:ln/>
        </p:spPr>
      </p:sp>
      <p:sp>
        <p:nvSpPr>
          <p:cNvPr id="9" name="Text 7"/>
          <p:cNvSpPr/>
          <p:nvPr/>
        </p:nvSpPr>
        <p:spPr>
          <a:xfrm>
            <a:off x="777240" y="3355848"/>
            <a:ext cx="365760" cy="256032"/>
          </a:xfrm>
          <a:prstGeom prst="rect">
            <a:avLst/>
          </a:prstGeom>
          <a:noFill/>
          <a:ln/>
        </p:spPr>
        <p:txBody>
          <a:bodyPr wrap="square" rtlCol="0" anchor="ctr"/>
          <a:lstStyle/>
          <a:p>
            <a:pPr algn="ctr" indent="0" marL="0">
              <a:buNone/>
            </a:pPr>
            <a:r>
              <a:rPr lang="en-US" sz="1100" b="1" dirty="0">
                <a:solidFill>
                  <a:srgbClr val="0E1729"/>
                </a:solidFill>
                <a:latin typeface="Consolas" pitchFamily="34" charset="0"/>
                <a:ea typeface="Consolas" pitchFamily="34" charset="-122"/>
                <a:cs typeface="Consolas" pitchFamily="34" charset="-120"/>
              </a:rPr>
              <a:t>R</a:t>
            </a:r>
            <a:endParaRPr lang="en-US" sz="1100" dirty="0"/>
          </a:p>
        </p:txBody>
      </p:sp>
      <p:sp>
        <p:nvSpPr>
          <p:cNvPr id="10" name="Text 8"/>
          <p:cNvSpPr/>
          <p:nvPr/>
        </p:nvSpPr>
        <p:spPr>
          <a:xfrm>
            <a:off x="822960" y="3703320"/>
            <a:ext cx="5212080" cy="2331720"/>
          </a:xfrm>
          <a:prstGeom prst="rect">
            <a:avLst/>
          </a:prstGeom>
          <a:noFill/>
          <a:ln/>
        </p:spPr>
        <p:txBody>
          <a:bodyPr wrap="square" rtlCol="0" anchor="t"/>
          <a:lstStyle/>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Estimation Kaplan-Meier</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library(survival)</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fit &lt;- survfit(</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Surv(temps, evenement) ~ 1,</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data = donnees)</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summary(fit)</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Tracer la courbe</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library(survminer)</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ggsurvplot(fit,</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data = donnees,</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conf.int = TRUE)</a:t>
            </a:r>
            <a:endParaRPr lang="en-US" sz="1050" dirty="0"/>
          </a:p>
        </p:txBody>
      </p:sp>
      <p:sp>
        <p:nvSpPr>
          <p:cNvPr id="11" name="Shape 9"/>
          <p:cNvSpPr/>
          <p:nvPr/>
        </p:nvSpPr>
        <p:spPr>
          <a:xfrm>
            <a:off x="6400800" y="3246120"/>
            <a:ext cx="5330952" cy="2880360"/>
          </a:xfrm>
          <a:prstGeom prst="rect">
            <a:avLst/>
          </a:prstGeom>
          <a:solidFill>
            <a:srgbClr val="FFFFFF"/>
          </a:solidFill>
          <a:ln w="6350">
            <a:solidFill>
              <a:srgbClr val="D6CFB8"/>
            </a:solidFill>
            <a:prstDash val="solid"/>
          </a:ln>
        </p:spPr>
      </p:sp>
      <p:sp>
        <p:nvSpPr>
          <p:cNvPr id="12" name="Text 10"/>
          <p:cNvSpPr/>
          <p:nvPr/>
        </p:nvSpPr>
        <p:spPr>
          <a:xfrm>
            <a:off x="6492240" y="3282696"/>
            <a:ext cx="5148072" cy="228600"/>
          </a:xfrm>
          <a:prstGeom prst="rect">
            <a:avLst/>
          </a:prstGeom>
          <a:noFill/>
          <a:ln/>
        </p:spPr>
        <p:txBody>
          <a:bodyPr wrap="square" rtlCol="0" anchor="ctr"/>
          <a:lstStyle/>
          <a:p>
            <a:pPr algn="ctr" indent="0" marL="0">
              <a:buNone/>
            </a:pPr>
            <a:r>
              <a:rPr lang="en-US" sz="900" b="1" dirty="0">
                <a:solidFill>
                  <a:srgbClr val="15233F"/>
                </a:solidFill>
                <a:latin typeface="Calibri" pitchFamily="34" charset="0"/>
                <a:ea typeface="Calibri" pitchFamily="34" charset="-122"/>
                <a:cs typeface="Calibri" pitchFamily="34" charset="-120"/>
              </a:rPr>
              <a:t>Survie globale · cohorte unique</a:t>
            </a:r>
            <a:endParaRPr lang="en-US" sz="900" dirty="0"/>
          </a:p>
        </p:txBody>
      </p:sp>
      <p:sp>
        <p:nvSpPr>
          <p:cNvPr id="13" name="Shape 11"/>
          <p:cNvSpPr/>
          <p:nvPr/>
        </p:nvSpPr>
        <p:spPr>
          <a:xfrm>
            <a:off x="6812280" y="5760720"/>
            <a:ext cx="4782312" cy="0"/>
          </a:xfrm>
          <a:prstGeom prst="line">
            <a:avLst/>
          </a:prstGeom>
          <a:noFill/>
          <a:ln w="9525">
            <a:solidFill>
              <a:srgbClr val="0E1729"/>
            </a:solidFill>
            <a:prstDash val="solid"/>
          </a:ln>
        </p:spPr>
      </p:sp>
      <p:sp>
        <p:nvSpPr>
          <p:cNvPr id="14" name="Shape 12"/>
          <p:cNvSpPr/>
          <p:nvPr/>
        </p:nvSpPr>
        <p:spPr>
          <a:xfrm>
            <a:off x="6812280" y="3566160"/>
            <a:ext cx="0" cy="2194560"/>
          </a:xfrm>
          <a:prstGeom prst="line">
            <a:avLst/>
          </a:prstGeom>
          <a:noFill/>
          <a:ln w="9525">
            <a:solidFill>
              <a:srgbClr val="0E1729"/>
            </a:solidFill>
            <a:prstDash val="solid"/>
          </a:ln>
        </p:spPr>
      </p:sp>
      <p:sp>
        <p:nvSpPr>
          <p:cNvPr id="15" name="Text 13"/>
          <p:cNvSpPr/>
          <p:nvPr/>
        </p:nvSpPr>
        <p:spPr>
          <a:xfrm>
            <a:off x="6812280" y="5852160"/>
            <a:ext cx="4782312" cy="201168"/>
          </a:xfrm>
          <a:prstGeom prst="rect">
            <a:avLst/>
          </a:prstGeom>
          <a:noFill/>
          <a:ln/>
        </p:spPr>
        <p:txBody>
          <a:bodyPr wrap="square"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Temps (mois)</a:t>
            </a:r>
            <a:endParaRPr lang="en-US" sz="800" dirty="0"/>
          </a:p>
        </p:txBody>
      </p:sp>
      <p:sp>
        <p:nvSpPr>
          <p:cNvPr id="16" name="Text 14"/>
          <p:cNvSpPr/>
          <p:nvPr/>
        </p:nvSpPr>
        <p:spPr>
          <a:xfrm rot="-5400000">
            <a:off x="6419088" y="3566160"/>
            <a:ext cx="365760" cy="219456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Survie (%)</a:t>
            </a:r>
            <a:endParaRPr lang="en-US" sz="800" dirty="0"/>
          </a:p>
        </p:txBody>
      </p:sp>
      <p:sp>
        <p:nvSpPr>
          <p:cNvPr id="17" name="Shape 15"/>
          <p:cNvSpPr/>
          <p:nvPr/>
        </p:nvSpPr>
        <p:spPr>
          <a:xfrm>
            <a:off x="6812280" y="3566160"/>
            <a:ext cx="239116" cy="0"/>
          </a:xfrm>
          <a:prstGeom prst="line">
            <a:avLst/>
          </a:prstGeom>
          <a:noFill/>
          <a:ln w="22225">
            <a:solidFill>
              <a:srgbClr val="F09042"/>
            </a:solidFill>
            <a:prstDash val="solid"/>
          </a:ln>
        </p:spPr>
      </p:sp>
      <p:sp>
        <p:nvSpPr>
          <p:cNvPr id="18" name="Shape 16"/>
          <p:cNvSpPr/>
          <p:nvPr/>
        </p:nvSpPr>
        <p:spPr>
          <a:xfrm>
            <a:off x="7051396" y="3566160"/>
            <a:ext cx="0" cy="0"/>
          </a:xfrm>
          <a:prstGeom prst="line">
            <a:avLst/>
          </a:prstGeom>
          <a:noFill/>
          <a:ln w="22225">
            <a:solidFill>
              <a:srgbClr val="F09042"/>
            </a:solidFill>
            <a:prstDash val="solid"/>
          </a:ln>
        </p:spPr>
      </p:sp>
      <p:sp>
        <p:nvSpPr>
          <p:cNvPr id="19" name="Shape 17"/>
          <p:cNvSpPr/>
          <p:nvPr/>
        </p:nvSpPr>
        <p:spPr>
          <a:xfrm>
            <a:off x="7051396" y="3566160"/>
            <a:ext cx="0" cy="65837"/>
          </a:xfrm>
          <a:prstGeom prst="line">
            <a:avLst/>
          </a:prstGeom>
          <a:noFill/>
          <a:ln w="22225">
            <a:solidFill>
              <a:srgbClr val="F09042"/>
            </a:solidFill>
            <a:prstDash val="solid"/>
          </a:ln>
        </p:spPr>
      </p:sp>
      <p:sp>
        <p:nvSpPr>
          <p:cNvPr id="20" name="Shape 18"/>
          <p:cNvSpPr/>
          <p:nvPr/>
        </p:nvSpPr>
        <p:spPr>
          <a:xfrm>
            <a:off x="7051396" y="3631997"/>
            <a:ext cx="382585" cy="0"/>
          </a:xfrm>
          <a:prstGeom prst="line">
            <a:avLst/>
          </a:prstGeom>
          <a:noFill/>
          <a:ln w="22225">
            <a:solidFill>
              <a:srgbClr val="F09042"/>
            </a:solidFill>
            <a:prstDash val="solid"/>
          </a:ln>
        </p:spPr>
      </p:sp>
      <p:sp>
        <p:nvSpPr>
          <p:cNvPr id="21" name="Shape 19"/>
          <p:cNvSpPr/>
          <p:nvPr/>
        </p:nvSpPr>
        <p:spPr>
          <a:xfrm>
            <a:off x="7433981" y="3631997"/>
            <a:ext cx="0" cy="0"/>
          </a:xfrm>
          <a:prstGeom prst="line">
            <a:avLst/>
          </a:prstGeom>
          <a:noFill/>
          <a:ln w="22225">
            <a:solidFill>
              <a:srgbClr val="F09042"/>
            </a:solidFill>
            <a:prstDash val="solid"/>
          </a:ln>
        </p:spPr>
      </p:sp>
      <p:sp>
        <p:nvSpPr>
          <p:cNvPr id="22" name="Shape 20"/>
          <p:cNvSpPr/>
          <p:nvPr/>
        </p:nvSpPr>
        <p:spPr>
          <a:xfrm>
            <a:off x="7433981" y="3631997"/>
            <a:ext cx="0" cy="87782"/>
          </a:xfrm>
          <a:prstGeom prst="line">
            <a:avLst/>
          </a:prstGeom>
          <a:noFill/>
          <a:ln w="22225">
            <a:solidFill>
              <a:srgbClr val="F09042"/>
            </a:solidFill>
            <a:prstDash val="solid"/>
          </a:ln>
        </p:spPr>
      </p:sp>
      <p:sp>
        <p:nvSpPr>
          <p:cNvPr id="23" name="Shape 21"/>
          <p:cNvSpPr/>
          <p:nvPr/>
        </p:nvSpPr>
        <p:spPr>
          <a:xfrm>
            <a:off x="7433981" y="3719779"/>
            <a:ext cx="430408" cy="0"/>
          </a:xfrm>
          <a:prstGeom prst="line">
            <a:avLst/>
          </a:prstGeom>
          <a:noFill/>
          <a:ln w="22225">
            <a:solidFill>
              <a:srgbClr val="F09042"/>
            </a:solidFill>
            <a:prstDash val="solid"/>
          </a:ln>
        </p:spPr>
      </p:sp>
      <p:sp>
        <p:nvSpPr>
          <p:cNvPr id="24" name="Shape 22"/>
          <p:cNvSpPr/>
          <p:nvPr/>
        </p:nvSpPr>
        <p:spPr>
          <a:xfrm>
            <a:off x="7864389" y="3719779"/>
            <a:ext cx="0" cy="0"/>
          </a:xfrm>
          <a:prstGeom prst="line">
            <a:avLst/>
          </a:prstGeom>
          <a:noFill/>
          <a:ln w="22225">
            <a:solidFill>
              <a:srgbClr val="F09042"/>
            </a:solidFill>
            <a:prstDash val="solid"/>
          </a:ln>
        </p:spPr>
      </p:sp>
      <p:sp>
        <p:nvSpPr>
          <p:cNvPr id="25" name="Shape 23"/>
          <p:cNvSpPr/>
          <p:nvPr/>
        </p:nvSpPr>
        <p:spPr>
          <a:xfrm>
            <a:off x="7864389" y="3719779"/>
            <a:ext cx="0" cy="109728"/>
          </a:xfrm>
          <a:prstGeom prst="line">
            <a:avLst/>
          </a:prstGeom>
          <a:noFill/>
          <a:ln w="22225">
            <a:solidFill>
              <a:srgbClr val="F09042"/>
            </a:solidFill>
            <a:prstDash val="solid"/>
          </a:ln>
        </p:spPr>
      </p:sp>
      <p:sp>
        <p:nvSpPr>
          <p:cNvPr id="26" name="Shape 24"/>
          <p:cNvSpPr/>
          <p:nvPr/>
        </p:nvSpPr>
        <p:spPr>
          <a:xfrm>
            <a:off x="7864389" y="3829507"/>
            <a:ext cx="478231" cy="0"/>
          </a:xfrm>
          <a:prstGeom prst="line">
            <a:avLst/>
          </a:prstGeom>
          <a:noFill/>
          <a:ln w="22225">
            <a:solidFill>
              <a:srgbClr val="F09042"/>
            </a:solidFill>
            <a:prstDash val="solid"/>
          </a:ln>
        </p:spPr>
      </p:sp>
      <p:sp>
        <p:nvSpPr>
          <p:cNvPr id="27" name="Shape 25"/>
          <p:cNvSpPr/>
          <p:nvPr/>
        </p:nvSpPr>
        <p:spPr>
          <a:xfrm>
            <a:off x="8342620" y="3829507"/>
            <a:ext cx="0" cy="0"/>
          </a:xfrm>
          <a:prstGeom prst="line">
            <a:avLst/>
          </a:prstGeom>
          <a:noFill/>
          <a:ln w="22225">
            <a:solidFill>
              <a:srgbClr val="F09042"/>
            </a:solidFill>
            <a:prstDash val="solid"/>
          </a:ln>
        </p:spPr>
      </p:sp>
      <p:sp>
        <p:nvSpPr>
          <p:cNvPr id="28" name="Shape 26"/>
          <p:cNvSpPr/>
          <p:nvPr/>
        </p:nvSpPr>
        <p:spPr>
          <a:xfrm>
            <a:off x="8342620" y="3829507"/>
            <a:ext cx="0" cy="131674"/>
          </a:xfrm>
          <a:prstGeom prst="line">
            <a:avLst/>
          </a:prstGeom>
          <a:noFill/>
          <a:ln w="22225">
            <a:solidFill>
              <a:srgbClr val="F09042"/>
            </a:solidFill>
            <a:prstDash val="solid"/>
          </a:ln>
        </p:spPr>
      </p:sp>
      <p:sp>
        <p:nvSpPr>
          <p:cNvPr id="29" name="Shape 27"/>
          <p:cNvSpPr/>
          <p:nvPr/>
        </p:nvSpPr>
        <p:spPr>
          <a:xfrm>
            <a:off x="8342620" y="3961181"/>
            <a:ext cx="478231" cy="0"/>
          </a:xfrm>
          <a:prstGeom prst="line">
            <a:avLst/>
          </a:prstGeom>
          <a:noFill/>
          <a:ln w="22225">
            <a:solidFill>
              <a:srgbClr val="F09042"/>
            </a:solidFill>
            <a:prstDash val="solid"/>
          </a:ln>
        </p:spPr>
      </p:sp>
      <p:sp>
        <p:nvSpPr>
          <p:cNvPr id="30" name="Shape 28"/>
          <p:cNvSpPr/>
          <p:nvPr/>
        </p:nvSpPr>
        <p:spPr>
          <a:xfrm>
            <a:off x="8820851" y="3961181"/>
            <a:ext cx="0" cy="0"/>
          </a:xfrm>
          <a:prstGeom prst="line">
            <a:avLst/>
          </a:prstGeom>
          <a:noFill/>
          <a:ln w="22225">
            <a:solidFill>
              <a:srgbClr val="F09042"/>
            </a:solidFill>
            <a:prstDash val="solid"/>
          </a:ln>
        </p:spPr>
      </p:sp>
      <p:sp>
        <p:nvSpPr>
          <p:cNvPr id="31" name="Shape 29"/>
          <p:cNvSpPr/>
          <p:nvPr/>
        </p:nvSpPr>
        <p:spPr>
          <a:xfrm>
            <a:off x="8820851" y="3961181"/>
            <a:ext cx="0" cy="131674"/>
          </a:xfrm>
          <a:prstGeom prst="line">
            <a:avLst/>
          </a:prstGeom>
          <a:noFill/>
          <a:ln w="22225">
            <a:solidFill>
              <a:srgbClr val="F09042"/>
            </a:solidFill>
            <a:prstDash val="solid"/>
          </a:ln>
        </p:spPr>
      </p:sp>
      <p:sp>
        <p:nvSpPr>
          <p:cNvPr id="32" name="Shape 30"/>
          <p:cNvSpPr/>
          <p:nvPr/>
        </p:nvSpPr>
        <p:spPr>
          <a:xfrm>
            <a:off x="8820851" y="4092854"/>
            <a:ext cx="621701" cy="0"/>
          </a:xfrm>
          <a:prstGeom prst="line">
            <a:avLst/>
          </a:prstGeom>
          <a:noFill/>
          <a:ln w="22225">
            <a:solidFill>
              <a:srgbClr val="F09042"/>
            </a:solidFill>
            <a:prstDash val="solid"/>
          </a:ln>
        </p:spPr>
      </p:sp>
      <p:sp>
        <p:nvSpPr>
          <p:cNvPr id="33" name="Shape 31"/>
          <p:cNvSpPr/>
          <p:nvPr/>
        </p:nvSpPr>
        <p:spPr>
          <a:xfrm>
            <a:off x="9442552" y="4092854"/>
            <a:ext cx="0" cy="0"/>
          </a:xfrm>
          <a:prstGeom prst="line">
            <a:avLst/>
          </a:prstGeom>
          <a:noFill/>
          <a:ln w="22225">
            <a:solidFill>
              <a:srgbClr val="F09042"/>
            </a:solidFill>
            <a:prstDash val="solid"/>
          </a:ln>
        </p:spPr>
      </p:sp>
      <p:sp>
        <p:nvSpPr>
          <p:cNvPr id="34" name="Shape 32"/>
          <p:cNvSpPr/>
          <p:nvPr/>
        </p:nvSpPr>
        <p:spPr>
          <a:xfrm>
            <a:off x="9442552" y="4092854"/>
            <a:ext cx="0" cy="153619"/>
          </a:xfrm>
          <a:prstGeom prst="line">
            <a:avLst/>
          </a:prstGeom>
          <a:noFill/>
          <a:ln w="22225">
            <a:solidFill>
              <a:srgbClr val="F09042"/>
            </a:solidFill>
            <a:prstDash val="solid"/>
          </a:ln>
        </p:spPr>
      </p:sp>
      <p:sp>
        <p:nvSpPr>
          <p:cNvPr id="35" name="Shape 33"/>
          <p:cNvSpPr/>
          <p:nvPr/>
        </p:nvSpPr>
        <p:spPr>
          <a:xfrm>
            <a:off x="9442552" y="4246474"/>
            <a:ext cx="621701" cy="0"/>
          </a:xfrm>
          <a:prstGeom prst="line">
            <a:avLst/>
          </a:prstGeom>
          <a:noFill/>
          <a:ln w="22225">
            <a:solidFill>
              <a:srgbClr val="F09042"/>
            </a:solidFill>
            <a:prstDash val="solid"/>
          </a:ln>
        </p:spPr>
      </p:sp>
      <p:sp>
        <p:nvSpPr>
          <p:cNvPr id="36" name="Shape 34"/>
          <p:cNvSpPr/>
          <p:nvPr/>
        </p:nvSpPr>
        <p:spPr>
          <a:xfrm>
            <a:off x="10064252" y="4246474"/>
            <a:ext cx="0" cy="0"/>
          </a:xfrm>
          <a:prstGeom prst="line">
            <a:avLst/>
          </a:prstGeom>
          <a:noFill/>
          <a:ln w="22225">
            <a:solidFill>
              <a:srgbClr val="F09042"/>
            </a:solidFill>
            <a:prstDash val="solid"/>
          </a:ln>
        </p:spPr>
      </p:sp>
      <p:sp>
        <p:nvSpPr>
          <p:cNvPr id="37" name="Shape 35"/>
          <p:cNvSpPr/>
          <p:nvPr/>
        </p:nvSpPr>
        <p:spPr>
          <a:xfrm>
            <a:off x="10064252" y="4246474"/>
            <a:ext cx="0" cy="153619"/>
          </a:xfrm>
          <a:prstGeom prst="line">
            <a:avLst/>
          </a:prstGeom>
          <a:noFill/>
          <a:ln w="22225">
            <a:solidFill>
              <a:srgbClr val="F09042"/>
            </a:solidFill>
            <a:prstDash val="solid"/>
          </a:ln>
        </p:spPr>
      </p:sp>
      <p:sp>
        <p:nvSpPr>
          <p:cNvPr id="38" name="Shape 36"/>
          <p:cNvSpPr/>
          <p:nvPr/>
        </p:nvSpPr>
        <p:spPr>
          <a:xfrm>
            <a:off x="10064252" y="4400093"/>
            <a:ext cx="669524" cy="0"/>
          </a:xfrm>
          <a:prstGeom prst="line">
            <a:avLst/>
          </a:prstGeom>
          <a:noFill/>
          <a:ln w="22225">
            <a:solidFill>
              <a:srgbClr val="F09042"/>
            </a:solidFill>
            <a:prstDash val="solid"/>
          </a:ln>
        </p:spPr>
      </p:sp>
      <p:sp>
        <p:nvSpPr>
          <p:cNvPr id="39" name="Shape 37"/>
          <p:cNvSpPr/>
          <p:nvPr/>
        </p:nvSpPr>
        <p:spPr>
          <a:xfrm>
            <a:off x="10733776" y="4400093"/>
            <a:ext cx="0" cy="0"/>
          </a:xfrm>
          <a:prstGeom prst="line">
            <a:avLst/>
          </a:prstGeom>
          <a:noFill/>
          <a:ln w="22225">
            <a:solidFill>
              <a:srgbClr val="F09042"/>
            </a:solidFill>
            <a:prstDash val="solid"/>
          </a:ln>
        </p:spPr>
      </p:sp>
      <p:sp>
        <p:nvSpPr>
          <p:cNvPr id="40" name="Shape 38"/>
          <p:cNvSpPr/>
          <p:nvPr/>
        </p:nvSpPr>
        <p:spPr>
          <a:xfrm>
            <a:off x="10733776" y="4400093"/>
            <a:ext cx="0" cy="153619"/>
          </a:xfrm>
          <a:prstGeom prst="line">
            <a:avLst/>
          </a:prstGeom>
          <a:noFill/>
          <a:ln w="22225">
            <a:solidFill>
              <a:srgbClr val="F09042"/>
            </a:solidFill>
            <a:prstDash val="solid"/>
          </a:ln>
        </p:spPr>
      </p:sp>
      <p:sp>
        <p:nvSpPr>
          <p:cNvPr id="41" name="Shape 39"/>
          <p:cNvSpPr/>
          <p:nvPr/>
        </p:nvSpPr>
        <p:spPr>
          <a:xfrm>
            <a:off x="10733776" y="4553712"/>
            <a:ext cx="621701" cy="0"/>
          </a:xfrm>
          <a:prstGeom prst="line">
            <a:avLst/>
          </a:prstGeom>
          <a:noFill/>
          <a:ln w="22225">
            <a:solidFill>
              <a:srgbClr val="F09042"/>
            </a:solidFill>
            <a:prstDash val="solid"/>
          </a:ln>
        </p:spPr>
      </p:sp>
      <p:sp>
        <p:nvSpPr>
          <p:cNvPr id="42" name="Text 40"/>
          <p:cNvSpPr/>
          <p:nvPr/>
        </p:nvSpPr>
        <p:spPr>
          <a:xfrm>
            <a:off x="6903720" y="3611880"/>
            <a:ext cx="2286000" cy="201168"/>
          </a:xfrm>
          <a:prstGeom prst="rect">
            <a:avLst/>
          </a:prstGeom>
          <a:noFill/>
          <a:ln/>
        </p:spPr>
        <p:txBody>
          <a:bodyPr wrap="square" rtlCol="0" anchor="ctr"/>
          <a:lstStyle/>
          <a:p>
            <a:pPr indent="0" marL="0">
              <a:buNone/>
            </a:pPr>
            <a:r>
              <a:rPr lang="en-US" sz="900" b="1" dirty="0">
                <a:solidFill>
                  <a:srgbClr val="F09042"/>
                </a:solidFill>
                <a:latin typeface="Calibri" pitchFamily="34" charset="0"/>
                <a:ea typeface="Calibri" pitchFamily="34" charset="-122"/>
                <a:cs typeface="Calibri" pitchFamily="34" charset="-120"/>
              </a:rPr>
              <a:t>Cohorte (n = 120)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SURVIE · COMPARER DEUX GROUPES</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600" b="1" spc="-100" kern="0" dirty="0">
                <a:solidFill>
                  <a:srgbClr val="15233F"/>
                </a:solidFill>
                <a:latin typeface="Calibri" pitchFamily="34" charset="0"/>
                <a:ea typeface="Calibri" pitchFamily="34" charset="-122"/>
                <a:cs typeface="Calibri" pitchFamily="34" charset="-120"/>
              </a:rPr>
              <a:t>Log-rank : « ces deux courbes diffèrent-elles ? »</a:t>
            </a:r>
            <a:endParaRPr lang="en-US" sz="2600" dirty="0"/>
          </a:p>
        </p:txBody>
      </p:sp>
      <p:sp>
        <p:nvSpPr>
          <p:cNvPr id="6" name="Text 4"/>
          <p:cNvSpPr/>
          <p:nvPr/>
        </p:nvSpPr>
        <p:spPr>
          <a:xfrm>
            <a:off x="640080" y="1828800"/>
            <a:ext cx="10972800" cy="128016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Quand tu compares la survie de deux groupes (traitement vs contrôle, stade I vs III), le log-rank teste l'hypothèse nulle « pas de différence à aucun temps ». Souvent visualisé avec deux courbes Kaplan-Meier superposées.</a:t>
            </a:r>
            <a:endParaRPr lang="en-US" sz="1400" dirty="0"/>
          </a:p>
        </p:txBody>
      </p:sp>
      <p:sp>
        <p:nvSpPr>
          <p:cNvPr id="7" name="Shape 5"/>
          <p:cNvSpPr/>
          <p:nvPr/>
        </p:nvSpPr>
        <p:spPr>
          <a:xfrm>
            <a:off x="640080" y="3154680"/>
            <a:ext cx="5486400" cy="2926080"/>
          </a:xfrm>
          <a:prstGeom prst="roundRect">
            <a:avLst>
              <a:gd name="adj" fmla="val 1563"/>
            </a:avLst>
          </a:prstGeom>
          <a:solidFill>
            <a:srgbClr val="1A2541"/>
          </a:solidFill>
          <a:ln w="6350">
            <a:solidFill>
              <a:srgbClr val="F09042"/>
            </a:solidFill>
            <a:prstDash val="solid"/>
          </a:ln>
        </p:spPr>
      </p:sp>
      <p:sp>
        <p:nvSpPr>
          <p:cNvPr id="8" name="Shape 6"/>
          <p:cNvSpPr/>
          <p:nvPr/>
        </p:nvSpPr>
        <p:spPr>
          <a:xfrm>
            <a:off x="777240" y="3264408"/>
            <a:ext cx="365760" cy="256032"/>
          </a:xfrm>
          <a:prstGeom prst="roundRect">
            <a:avLst>
              <a:gd name="adj" fmla="val 14286"/>
            </a:avLst>
          </a:prstGeom>
          <a:solidFill>
            <a:srgbClr val="F09042"/>
          </a:solidFill>
          <a:ln/>
        </p:spPr>
      </p:sp>
      <p:sp>
        <p:nvSpPr>
          <p:cNvPr id="9" name="Text 7"/>
          <p:cNvSpPr/>
          <p:nvPr/>
        </p:nvSpPr>
        <p:spPr>
          <a:xfrm>
            <a:off x="777240" y="3264408"/>
            <a:ext cx="365760" cy="256032"/>
          </a:xfrm>
          <a:prstGeom prst="rect">
            <a:avLst/>
          </a:prstGeom>
          <a:noFill/>
          <a:ln/>
        </p:spPr>
        <p:txBody>
          <a:bodyPr wrap="square" rtlCol="0" anchor="ctr"/>
          <a:lstStyle/>
          <a:p>
            <a:pPr algn="ctr" indent="0" marL="0">
              <a:buNone/>
            </a:pPr>
            <a:r>
              <a:rPr lang="en-US" sz="1100" b="1" dirty="0">
                <a:solidFill>
                  <a:srgbClr val="0E1729"/>
                </a:solidFill>
                <a:latin typeface="Consolas" pitchFamily="34" charset="0"/>
                <a:ea typeface="Consolas" pitchFamily="34" charset="-122"/>
                <a:cs typeface="Consolas" pitchFamily="34" charset="-120"/>
              </a:rPr>
              <a:t>R</a:t>
            </a:r>
            <a:endParaRPr lang="en-US" sz="1100" dirty="0"/>
          </a:p>
        </p:txBody>
      </p:sp>
      <p:sp>
        <p:nvSpPr>
          <p:cNvPr id="10" name="Text 8"/>
          <p:cNvSpPr/>
          <p:nvPr/>
        </p:nvSpPr>
        <p:spPr>
          <a:xfrm>
            <a:off x="822960" y="3611880"/>
            <a:ext cx="5212080" cy="2377440"/>
          </a:xfrm>
          <a:prstGeom prst="rect">
            <a:avLst/>
          </a:prstGeom>
          <a:noFill/>
          <a:ln/>
        </p:spPr>
        <p:txBody>
          <a:bodyPr wrap="square" rtlCol="0" anchor="t"/>
          <a:lstStyle/>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Comparaison 2 groupes</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library(survival)</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fit &lt;- survfit(</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Surv(temps, evt) ~ bras,</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data = donnees)</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Test log-rank</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survdiff(</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Surv(temps, evt) ~ bras,</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data = donnees)</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Visualisation</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library(survminer)</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ggsurvplot(fit, pval = TRUE)</a:t>
            </a:r>
            <a:endParaRPr lang="en-US" sz="1050" dirty="0"/>
          </a:p>
        </p:txBody>
      </p:sp>
      <p:sp>
        <p:nvSpPr>
          <p:cNvPr id="11" name="Shape 9"/>
          <p:cNvSpPr/>
          <p:nvPr/>
        </p:nvSpPr>
        <p:spPr>
          <a:xfrm>
            <a:off x="6400800" y="3154680"/>
            <a:ext cx="5330952" cy="2926080"/>
          </a:xfrm>
          <a:prstGeom prst="rect">
            <a:avLst/>
          </a:prstGeom>
          <a:solidFill>
            <a:srgbClr val="FFFFFF"/>
          </a:solidFill>
          <a:ln w="6350">
            <a:solidFill>
              <a:srgbClr val="D6CFB8"/>
            </a:solidFill>
            <a:prstDash val="solid"/>
          </a:ln>
        </p:spPr>
      </p:sp>
      <p:sp>
        <p:nvSpPr>
          <p:cNvPr id="12" name="Text 10"/>
          <p:cNvSpPr/>
          <p:nvPr/>
        </p:nvSpPr>
        <p:spPr>
          <a:xfrm>
            <a:off x="6492240" y="3191256"/>
            <a:ext cx="5148072" cy="228600"/>
          </a:xfrm>
          <a:prstGeom prst="rect">
            <a:avLst/>
          </a:prstGeom>
          <a:noFill/>
          <a:ln/>
        </p:spPr>
        <p:txBody>
          <a:bodyPr wrap="square" rtlCol="0" anchor="ctr"/>
          <a:lstStyle/>
          <a:p>
            <a:pPr algn="ctr" indent="0" marL="0">
              <a:buNone/>
            </a:pPr>
            <a:r>
              <a:rPr lang="en-US" sz="900" b="1" dirty="0">
                <a:solidFill>
                  <a:srgbClr val="15233F"/>
                </a:solidFill>
                <a:latin typeface="Calibri" pitchFamily="34" charset="0"/>
                <a:ea typeface="Calibri" pitchFamily="34" charset="-122"/>
                <a:cs typeface="Calibri" pitchFamily="34" charset="-120"/>
              </a:rPr>
              <a:t>Bras A vs bras B · log-rank p = 0.012</a:t>
            </a:r>
            <a:endParaRPr lang="en-US" sz="900" dirty="0"/>
          </a:p>
        </p:txBody>
      </p:sp>
      <p:sp>
        <p:nvSpPr>
          <p:cNvPr id="13" name="Shape 11"/>
          <p:cNvSpPr/>
          <p:nvPr/>
        </p:nvSpPr>
        <p:spPr>
          <a:xfrm>
            <a:off x="6812280" y="5715000"/>
            <a:ext cx="4782312" cy="0"/>
          </a:xfrm>
          <a:prstGeom prst="line">
            <a:avLst/>
          </a:prstGeom>
          <a:noFill/>
          <a:ln w="9525">
            <a:solidFill>
              <a:srgbClr val="0E1729"/>
            </a:solidFill>
            <a:prstDash val="solid"/>
          </a:ln>
        </p:spPr>
      </p:sp>
      <p:sp>
        <p:nvSpPr>
          <p:cNvPr id="14" name="Shape 12"/>
          <p:cNvSpPr/>
          <p:nvPr/>
        </p:nvSpPr>
        <p:spPr>
          <a:xfrm>
            <a:off x="6812280" y="3474720"/>
            <a:ext cx="0" cy="2240280"/>
          </a:xfrm>
          <a:prstGeom prst="line">
            <a:avLst/>
          </a:prstGeom>
          <a:noFill/>
          <a:ln w="9525">
            <a:solidFill>
              <a:srgbClr val="0E1729"/>
            </a:solidFill>
            <a:prstDash val="solid"/>
          </a:ln>
        </p:spPr>
      </p:sp>
      <p:sp>
        <p:nvSpPr>
          <p:cNvPr id="15" name="Text 13"/>
          <p:cNvSpPr/>
          <p:nvPr/>
        </p:nvSpPr>
        <p:spPr>
          <a:xfrm>
            <a:off x="6812280" y="5806440"/>
            <a:ext cx="4782312" cy="201168"/>
          </a:xfrm>
          <a:prstGeom prst="rect">
            <a:avLst/>
          </a:prstGeom>
          <a:noFill/>
          <a:ln/>
        </p:spPr>
        <p:txBody>
          <a:bodyPr wrap="square"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Temps (mois)</a:t>
            </a:r>
            <a:endParaRPr lang="en-US" sz="800" dirty="0"/>
          </a:p>
        </p:txBody>
      </p:sp>
      <p:sp>
        <p:nvSpPr>
          <p:cNvPr id="16" name="Text 14"/>
          <p:cNvSpPr/>
          <p:nvPr/>
        </p:nvSpPr>
        <p:spPr>
          <a:xfrm rot="-5400000">
            <a:off x="6419088" y="3474720"/>
            <a:ext cx="365760" cy="224028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Survie (%)</a:t>
            </a:r>
            <a:endParaRPr lang="en-US" sz="800" dirty="0"/>
          </a:p>
        </p:txBody>
      </p:sp>
      <p:sp>
        <p:nvSpPr>
          <p:cNvPr id="17" name="Shape 15"/>
          <p:cNvSpPr/>
          <p:nvPr/>
        </p:nvSpPr>
        <p:spPr>
          <a:xfrm>
            <a:off x="6812280" y="3474720"/>
            <a:ext cx="239116" cy="0"/>
          </a:xfrm>
          <a:prstGeom prst="line">
            <a:avLst/>
          </a:prstGeom>
          <a:noFill/>
          <a:ln w="22225">
            <a:solidFill>
              <a:srgbClr val="F09042"/>
            </a:solidFill>
            <a:prstDash val="solid"/>
          </a:ln>
        </p:spPr>
      </p:sp>
      <p:sp>
        <p:nvSpPr>
          <p:cNvPr id="18" name="Shape 16"/>
          <p:cNvSpPr/>
          <p:nvPr/>
        </p:nvSpPr>
        <p:spPr>
          <a:xfrm>
            <a:off x="7051396" y="3474720"/>
            <a:ext cx="0" cy="0"/>
          </a:xfrm>
          <a:prstGeom prst="line">
            <a:avLst/>
          </a:prstGeom>
          <a:noFill/>
          <a:ln w="22225">
            <a:solidFill>
              <a:srgbClr val="F09042"/>
            </a:solidFill>
            <a:prstDash val="solid"/>
          </a:ln>
        </p:spPr>
      </p:sp>
      <p:sp>
        <p:nvSpPr>
          <p:cNvPr id="19" name="Shape 17"/>
          <p:cNvSpPr/>
          <p:nvPr/>
        </p:nvSpPr>
        <p:spPr>
          <a:xfrm>
            <a:off x="7051396" y="3474720"/>
            <a:ext cx="0" cy="44806"/>
          </a:xfrm>
          <a:prstGeom prst="line">
            <a:avLst/>
          </a:prstGeom>
          <a:noFill/>
          <a:ln w="22225">
            <a:solidFill>
              <a:srgbClr val="F09042"/>
            </a:solidFill>
            <a:prstDash val="solid"/>
          </a:ln>
        </p:spPr>
      </p:sp>
      <p:sp>
        <p:nvSpPr>
          <p:cNvPr id="20" name="Shape 18"/>
          <p:cNvSpPr/>
          <p:nvPr/>
        </p:nvSpPr>
        <p:spPr>
          <a:xfrm>
            <a:off x="7051396" y="3519526"/>
            <a:ext cx="621701" cy="0"/>
          </a:xfrm>
          <a:prstGeom prst="line">
            <a:avLst/>
          </a:prstGeom>
          <a:noFill/>
          <a:ln w="22225">
            <a:solidFill>
              <a:srgbClr val="F09042"/>
            </a:solidFill>
            <a:prstDash val="solid"/>
          </a:ln>
        </p:spPr>
      </p:sp>
      <p:sp>
        <p:nvSpPr>
          <p:cNvPr id="21" name="Shape 19"/>
          <p:cNvSpPr/>
          <p:nvPr/>
        </p:nvSpPr>
        <p:spPr>
          <a:xfrm>
            <a:off x="7673096" y="3519526"/>
            <a:ext cx="0" cy="0"/>
          </a:xfrm>
          <a:prstGeom prst="line">
            <a:avLst/>
          </a:prstGeom>
          <a:noFill/>
          <a:ln w="22225">
            <a:solidFill>
              <a:srgbClr val="F09042"/>
            </a:solidFill>
            <a:prstDash val="solid"/>
          </a:ln>
        </p:spPr>
      </p:sp>
      <p:sp>
        <p:nvSpPr>
          <p:cNvPr id="22" name="Shape 20"/>
          <p:cNvSpPr/>
          <p:nvPr/>
        </p:nvSpPr>
        <p:spPr>
          <a:xfrm>
            <a:off x="7673096" y="3519526"/>
            <a:ext cx="0" cy="112014"/>
          </a:xfrm>
          <a:prstGeom prst="line">
            <a:avLst/>
          </a:prstGeom>
          <a:noFill/>
          <a:ln w="22225">
            <a:solidFill>
              <a:srgbClr val="F09042"/>
            </a:solidFill>
            <a:prstDash val="solid"/>
          </a:ln>
        </p:spPr>
      </p:sp>
      <p:sp>
        <p:nvSpPr>
          <p:cNvPr id="23" name="Shape 21"/>
          <p:cNvSpPr/>
          <p:nvPr/>
        </p:nvSpPr>
        <p:spPr>
          <a:xfrm>
            <a:off x="7673096" y="3631540"/>
            <a:ext cx="669524" cy="0"/>
          </a:xfrm>
          <a:prstGeom prst="line">
            <a:avLst/>
          </a:prstGeom>
          <a:noFill/>
          <a:ln w="22225">
            <a:solidFill>
              <a:srgbClr val="F09042"/>
            </a:solidFill>
            <a:prstDash val="solid"/>
          </a:ln>
        </p:spPr>
      </p:sp>
      <p:sp>
        <p:nvSpPr>
          <p:cNvPr id="24" name="Shape 22"/>
          <p:cNvSpPr/>
          <p:nvPr/>
        </p:nvSpPr>
        <p:spPr>
          <a:xfrm>
            <a:off x="8342620" y="3631540"/>
            <a:ext cx="0" cy="0"/>
          </a:xfrm>
          <a:prstGeom prst="line">
            <a:avLst/>
          </a:prstGeom>
          <a:noFill/>
          <a:ln w="22225">
            <a:solidFill>
              <a:srgbClr val="F09042"/>
            </a:solidFill>
            <a:prstDash val="solid"/>
          </a:ln>
        </p:spPr>
      </p:sp>
      <p:sp>
        <p:nvSpPr>
          <p:cNvPr id="25" name="Shape 23"/>
          <p:cNvSpPr/>
          <p:nvPr/>
        </p:nvSpPr>
        <p:spPr>
          <a:xfrm>
            <a:off x="8342620" y="3631540"/>
            <a:ext cx="0" cy="112014"/>
          </a:xfrm>
          <a:prstGeom prst="line">
            <a:avLst/>
          </a:prstGeom>
          <a:noFill/>
          <a:ln w="22225">
            <a:solidFill>
              <a:srgbClr val="F09042"/>
            </a:solidFill>
            <a:prstDash val="solid"/>
          </a:ln>
        </p:spPr>
      </p:sp>
      <p:sp>
        <p:nvSpPr>
          <p:cNvPr id="26" name="Shape 24"/>
          <p:cNvSpPr/>
          <p:nvPr/>
        </p:nvSpPr>
        <p:spPr>
          <a:xfrm>
            <a:off x="8342620" y="3743554"/>
            <a:ext cx="621701" cy="0"/>
          </a:xfrm>
          <a:prstGeom prst="line">
            <a:avLst/>
          </a:prstGeom>
          <a:noFill/>
          <a:ln w="22225">
            <a:solidFill>
              <a:srgbClr val="F09042"/>
            </a:solidFill>
            <a:prstDash val="solid"/>
          </a:ln>
        </p:spPr>
      </p:sp>
      <p:sp>
        <p:nvSpPr>
          <p:cNvPr id="27" name="Shape 25"/>
          <p:cNvSpPr/>
          <p:nvPr/>
        </p:nvSpPr>
        <p:spPr>
          <a:xfrm>
            <a:off x="8964320" y="3743554"/>
            <a:ext cx="0" cy="0"/>
          </a:xfrm>
          <a:prstGeom prst="line">
            <a:avLst/>
          </a:prstGeom>
          <a:noFill/>
          <a:ln w="22225">
            <a:solidFill>
              <a:srgbClr val="F09042"/>
            </a:solidFill>
            <a:prstDash val="solid"/>
          </a:ln>
        </p:spPr>
      </p:sp>
      <p:sp>
        <p:nvSpPr>
          <p:cNvPr id="28" name="Shape 26"/>
          <p:cNvSpPr/>
          <p:nvPr/>
        </p:nvSpPr>
        <p:spPr>
          <a:xfrm>
            <a:off x="8964320" y="3743554"/>
            <a:ext cx="0" cy="67208"/>
          </a:xfrm>
          <a:prstGeom prst="line">
            <a:avLst/>
          </a:prstGeom>
          <a:noFill/>
          <a:ln w="22225">
            <a:solidFill>
              <a:srgbClr val="F09042"/>
            </a:solidFill>
            <a:prstDash val="solid"/>
          </a:ln>
        </p:spPr>
      </p:sp>
      <p:sp>
        <p:nvSpPr>
          <p:cNvPr id="29" name="Shape 27"/>
          <p:cNvSpPr/>
          <p:nvPr/>
        </p:nvSpPr>
        <p:spPr>
          <a:xfrm>
            <a:off x="8964320" y="3810762"/>
            <a:ext cx="812993" cy="0"/>
          </a:xfrm>
          <a:prstGeom prst="line">
            <a:avLst/>
          </a:prstGeom>
          <a:noFill/>
          <a:ln w="22225">
            <a:solidFill>
              <a:srgbClr val="F09042"/>
            </a:solidFill>
            <a:prstDash val="solid"/>
          </a:ln>
        </p:spPr>
      </p:sp>
      <p:sp>
        <p:nvSpPr>
          <p:cNvPr id="30" name="Shape 28"/>
          <p:cNvSpPr/>
          <p:nvPr/>
        </p:nvSpPr>
        <p:spPr>
          <a:xfrm>
            <a:off x="9777313" y="3810762"/>
            <a:ext cx="0" cy="0"/>
          </a:xfrm>
          <a:prstGeom prst="line">
            <a:avLst/>
          </a:prstGeom>
          <a:noFill/>
          <a:ln w="22225">
            <a:solidFill>
              <a:srgbClr val="F09042"/>
            </a:solidFill>
            <a:prstDash val="solid"/>
          </a:ln>
        </p:spPr>
      </p:sp>
      <p:sp>
        <p:nvSpPr>
          <p:cNvPr id="31" name="Shape 29"/>
          <p:cNvSpPr/>
          <p:nvPr/>
        </p:nvSpPr>
        <p:spPr>
          <a:xfrm>
            <a:off x="9777313" y="3810762"/>
            <a:ext cx="0" cy="112014"/>
          </a:xfrm>
          <a:prstGeom prst="line">
            <a:avLst/>
          </a:prstGeom>
          <a:noFill/>
          <a:ln w="22225">
            <a:solidFill>
              <a:srgbClr val="F09042"/>
            </a:solidFill>
            <a:prstDash val="solid"/>
          </a:ln>
        </p:spPr>
      </p:sp>
      <p:sp>
        <p:nvSpPr>
          <p:cNvPr id="32" name="Shape 30"/>
          <p:cNvSpPr/>
          <p:nvPr/>
        </p:nvSpPr>
        <p:spPr>
          <a:xfrm>
            <a:off x="9777313" y="3922776"/>
            <a:ext cx="765170" cy="0"/>
          </a:xfrm>
          <a:prstGeom prst="line">
            <a:avLst/>
          </a:prstGeom>
          <a:noFill/>
          <a:ln w="22225">
            <a:solidFill>
              <a:srgbClr val="F09042"/>
            </a:solidFill>
            <a:prstDash val="solid"/>
          </a:ln>
        </p:spPr>
      </p:sp>
      <p:sp>
        <p:nvSpPr>
          <p:cNvPr id="33" name="Shape 31"/>
          <p:cNvSpPr/>
          <p:nvPr/>
        </p:nvSpPr>
        <p:spPr>
          <a:xfrm>
            <a:off x="10542483" y="3922776"/>
            <a:ext cx="0" cy="0"/>
          </a:xfrm>
          <a:prstGeom prst="line">
            <a:avLst/>
          </a:prstGeom>
          <a:noFill/>
          <a:ln w="22225">
            <a:solidFill>
              <a:srgbClr val="F09042"/>
            </a:solidFill>
            <a:prstDash val="solid"/>
          </a:ln>
        </p:spPr>
      </p:sp>
      <p:sp>
        <p:nvSpPr>
          <p:cNvPr id="34" name="Shape 32"/>
          <p:cNvSpPr/>
          <p:nvPr/>
        </p:nvSpPr>
        <p:spPr>
          <a:xfrm>
            <a:off x="10542483" y="3922776"/>
            <a:ext cx="0" cy="89611"/>
          </a:xfrm>
          <a:prstGeom prst="line">
            <a:avLst/>
          </a:prstGeom>
          <a:noFill/>
          <a:ln w="22225">
            <a:solidFill>
              <a:srgbClr val="F09042"/>
            </a:solidFill>
            <a:prstDash val="solid"/>
          </a:ln>
        </p:spPr>
      </p:sp>
      <p:sp>
        <p:nvSpPr>
          <p:cNvPr id="35" name="Shape 33"/>
          <p:cNvSpPr/>
          <p:nvPr/>
        </p:nvSpPr>
        <p:spPr>
          <a:xfrm>
            <a:off x="10542483" y="4012387"/>
            <a:ext cx="812993" cy="0"/>
          </a:xfrm>
          <a:prstGeom prst="line">
            <a:avLst/>
          </a:prstGeom>
          <a:noFill/>
          <a:ln w="22225">
            <a:solidFill>
              <a:srgbClr val="F09042"/>
            </a:solidFill>
            <a:prstDash val="solid"/>
          </a:ln>
        </p:spPr>
      </p:sp>
      <p:sp>
        <p:nvSpPr>
          <p:cNvPr id="36" name="Text 34"/>
          <p:cNvSpPr/>
          <p:nvPr/>
        </p:nvSpPr>
        <p:spPr>
          <a:xfrm>
            <a:off x="6903720" y="3520440"/>
            <a:ext cx="2286000" cy="201168"/>
          </a:xfrm>
          <a:prstGeom prst="rect">
            <a:avLst/>
          </a:prstGeom>
          <a:noFill/>
          <a:ln/>
        </p:spPr>
        <p:txBody>
          <a:bodyPr wrap="square" rtlCol="0" anchor="ctr"/>
          <a:lstStyle/>
          <a:p>
            <a:pPr indent="0" marL="0">
              <a:buNone/>
            </a:pPr>
            <a:r>
              <a:rPr lang="en-US" sz="900" b="1" dirty="0">
                <a:solidFill>
                  <a:srgbClr val="F09042"/>
                </a:solidFill>
                <a:latin typeface="Calibri" pitchFamily="34" charset="0"/>
                <a:ea typeface="Calibri" pitchFamily="34" charset="-122"/>
                <a:cs typeface="Calibri" pitchFamily="34" charset="-120"/>
              </a:rPr>
              <a:t>Bras A (n = 60)</a:t>
            </a:r>
            <a:endParaRPr lang="en-US" sz="900" dirty="0"/>
          </a:p>
        </p:txBody>
      </p:sp>
      <p:sp>
        <p:nvSpPr>
          <p:cNvPr id="37" name="Shape 35"/>
          <p:cNvSpPr/>
          <p:nvPr/>
        </p:nvSpPr>
        <p:spPr>
          <a:xfrm>
            <a:off x="6812280" y="3474720"/>
            <a:ext cx="191292" cy="0"/>
          </a:xfrm>
          <a:prstGeom prst="line">
            <a:avLst/>
          </a:prstGeom>
          <a:noFill/>
          <a:ln w="22225">
            <a:solidFill>
              <a:srgbClr val="0E1729"/>
            </a:solidFill>
            <a:prstDash val="solid"/>
          </a:ln>
        </p:spPr>
      </p:sp>
      <p:sp>
        <p:nvSpPr>
          <p:cNvPr id="38" name="Shape 36"/>
          <p:cNvSpPr/>
          <p:nvPr/>
        </p:nvSpPr>
        <p:spPr>
          <a:xfrm>
            <a:off x="7003572" y="3474720"/>
            <a:ext cx="0" cy="0"/>
          </a:xfrm>
          <a:prstGeom prst="line">
            <a:avLst/>
          </a:prstGeom>
          <a:noFill/>
          <a:ln w="22225">
            <a:solidFill>
              <a:srgbClr val="0E1729"/>
            </a:solidFill>
            <a:prstDash val="solid"/>
          </a:ln>
        </p:spPr>
      </p:sp>
      <p:sp>
        <p:nvSpPr>
          <p:cNvPr id="39" name="Shape 37"/>
          <p:cNvSpPr/>
          <p:nvPr/>
        </p:nvSpPr>
        <p:spPr>
          <a:xfrm>
            <a:off x="7003572" y="3474720"/>
            <a:ext cx="0" cy="89611"/>
          </a:xfrm>
          <a:prstGeom prst="line">
            <a:avLst/>
          </a:prstGeom>
          <a:noFill/>
          <a:ln w="22225">
            <a:solidFill>
              <a:srgbClr val="0E1729"/>
            </a:solidFill>
            <a:prstDash val="solid"/>
          </a:ln>
        </p:spPr>
      </p:sp>
      <p:sp>
        <p:nvSpPr>
          <p:cNvPr id="40" name="Shape 38"/>
          <p:cNvSpPr/>
          <p:nvPr/>
        </p:nvSpPr>
        <p:spPr>
          <a:xfrm>
            <a:off x="7003572" y="3564331"/>
            <a:ext cx="382585" cy="0"/>
          </a:xfrm>
          <a:prstGeom prst="line">
            <a:avLst/>
          </a:prstGeom>
          <a:noFill/>
          <a:ln w="22225">
            <a:solidFill>
              <a:srgbClr val="0E1729"/>
            </a:solidFill>
            <a:prstDash val="solid"/>
          </a:ln>
        </p:spPr>
      </p:sp>
      <p:sp>
        <p:nvSpPr>
          <p:cNvPr id="41" name="Shape 39"/>
          <p:cNvSpPr/>
          <p:nvPr/>
        </p:nvSpPr>
        <p:spPr>
          <a:xfrm>
            <a:off x="7386157" y="3564331"/>
            <a:ext cx="0" cy="0"/>
          </a:xfrm>
          <a:prstGeom prst="line">
            <a:avLst/>
          </a:prstGeom>
          <a:noFill/>
          <a:ln w="22225">
            <a:solidFill>
              <a:srgbClr val="0E1729"/>
            </a:solidFill>
            <a:prstDash val="solid"/>
          </a:ln>
        </p:spPr>
      </p:sp>
      <p:sp>
        <p:nvSpPr>
          <p:cNvPr id="42" name="Shape 40"/>
          <p:cNvSpPr/>
          <p:nvPr/>
        </p:nvSpPr>
        <p:spPr>
          <a:xfrm>
            <a:off x="7386157" y="3564331"/>
            <a:ext cx="0" cy="156820"/>
          </a:xfrm>
          <a:prstGeom prst="line">
            <a:avLst/>
          </a:prstGeom>
          <a:noFill/>
          <a:ln w="22225">
            <a:solidFill>
              <a:srgbClr val="0E1729"/>
            </a:solidFill>
            <a:prstDash val="solid"/>
          </a:ln>
        </p:spPr>
      </p:sp>
      <p:sp>
        <p:nvSpPr>
          <p:cNvPr id="43" name="Shape 41"/>
          <p:cNvSpPr/>
          <p:nvPr/>
        </p:nvSpPr>
        <p:spPr>
          <a:xfrm>
            <a:off x="7386157" y="3721151"/>
            <a:ext cx="478231" cy="0"/>
          </a:xfrm>
          <a:prstGeom prst="line">
            <a:avLst/>
          </a:prstGeom>
          <a:noFill/>
          <a:ln w="22225">
            <a:solidFill>
              <a:srgbClr val="0E1729"/>
            </a:solidFill>
            <a:prstDash val="solid"/>
          </a:ln>
        </p:spPr>
      </p:sp>
      <p:sp>
        <p:nvSpPr>
          <p:cNvPr id="44" name="Shape 42"/>
          <p:cNvSpPr/>
          <p:nvPr/>
        </p:nvSpPr>
        <p:spPr>
          <a:xfrm>
            <a:off x="7864389" y="3721151"/>
            <a:ext cx="0" cy="0"/>
          </a:xfrm>
          <a:prstGeom prst="line">
            <a:avLst/>
          </a:prstGeom>
          <a:noFill/>
          <a:ln w="22225">
            <a:solidFill>
              <a:srgbClr val="0E1729"/>
            </a:solidFill>
            <a:prstDash val="solid"/>
          </a:ln>
        </p:spPr>
      </p:sp>
      <p:sp>
        <p:nvSpPr>
          <p:cNvPr id="45" name="Shape 43"/>
          <p:cNvSpPr/>
          <p:nvPr/>
        </p:nvSpPr>
        <p:spPr>
          <a:xfrm>
            <a:off x="7864389" y="3721151"/>
            <a:ext cx="0" cy="201625"/>
          </a:xfrm>
          <a:prstGeom prst="line">
            <a:avLst/>
          </a:prstGeom>
          <a:noFill/>
          <a:ln w="22225">
            <a:solidFill>
              <a:srgbClr val="0E1729"/>
            </a:solidFill>
            <a:prstDash val="solid"/>
          </a:ln>
        </p:spPr>
      </p:sp>
      <p:sp>
        <p:nvSpPr>
          <p:cNvPr id="46" name="Shape 44"/>
          <p:cNvSpPr/>
          <p:nvPr/>
        </p:nvSpPr>
        <p:spPr>
          <a:xfrm>
            <a:off x="7864389" y="3922776"/>
            <a:ext cx="621701" cy="0"/>
          </a:xfrm>
          <a:prstGeom prst="line">
            <a:avLst/>
          </a:prstGeom>
          <a:noFill/>
          <a:ln w="22225">
            <a:solidFill>
              <a:srgbClr val="0E1729"/>
            </a:solidFill>
            <a:prstDash val="solid"/>
          </a:ln>
        </p:spPr>
      </p:sp>
      <p:sp>
        <p:nvSpPr>
          <p:cNvPr id="47" name="Shape 45"/>
          <p:cNvSpPr/>
          <p:nvPr/>
        </p:nvSpPr>
        <p:spPr>
          <a:xfrm>
            <a:off x="8486089" y="3922776"/>
            <a:ext cx="0" cy="0"/>
          </a:xfrm>
          <a:prstGeom prst="line">
            <a:avLst/>
          </a:prstGeom>
          <a:noFill/>
          <a:ln w="22225">
            <a:solidFill>
              <a:srgbClr val="0E1729"/>
            </a:solidFill>
            <a:prstDash val="solid"/>
          </a:ln>
        </p:spPr>
      </p:sp>
      <p:sp>
        <p:nvSpPr>
          <p:cNvPr id="48" name="Shape 46"/>
          <p:cNvSpPr/>
          <p:nvPr/>
        </p:nvSpPr>
        <p:spPr>
          <a:xfrm>
            <a:off x="8486089" y="3922776"/>
            <a:ext cx="0" cy="224028"/>
          </a:xfrm>
          <a:prstGeom prst="line">
            <a:avLst/>
          </a:prstGeom>
          <a:noFill/>
          <a:ln w="22225">
            <a:solidFill>
              <a:srgbClr val="0E1729"/>
            </a:solidFill>
            <a:prstDash val="solid"/>
          </a:ln>
        </p:spPr>
      </p:sp>
      <p:sp>
        <p:nvSpPr>
          <p:cNvPr id="49" name="Shape 47"/>
          <p:cNvSpPr/>
          <p:nvPr/>
        </p:nvSpPr>
        <p:spPr>
          <a:xfrm>
            <a:off x="8486089" y="4146804"/>
            <a:ext cx="717347" cy="0"/>
          </a:xfrm>
          <a:prstGeom prst="line">
            <a:avLst/>
          </a:prstGeom>
          <a:noFill/>
          <a:ln w="22225">
            <a:solidFill>
              <a:srgbClr val="0E1729"/>
            </a:solidFill>
            <a:prstDash val="solid"/>
          </a:ln>
        </p:spPr>
      </p:sp>
      <p:sp>
        <p:nvSpPr>
          <p:cNvPr id="50" name="Shape 48"/>
          <p:cNvSpPr/>
          <p:nvPr/>
        </p:nvSpPr>
        <p:spPr>
          <a:xfrm>
            <a:off x="9203436" y="4146804"/>
            <a:ext cx="0" cy="0"/>
          </a:xfrm>
          <a:prstGeom prst="line">
            <a:avLst/>
          </a:prstGeom>
          <a:noFill/>
          <a:ln w="22225">
            <a:solidFill>
              <a:srgbClr val="0E1729"/>
            </a:solidFill>
            <a:prstDash val="solid"/>
          </a:ln>
        </p:spPr>
      </p:sp>
      <p:sp>
        <p:nvSpPr>
          <p:cNvPr id="51" name="Shape 49"/>
          <p:cNvSpPr/>
          <p:nvPr/>
        </p:nvSpPr>
        <p:spPr>
          <a:xfrm>
            <a:off x="9203436" y="4146804"/>
            <a:ext cx="0" cy="224028"/>
          </a:xfrm>
          <a:prstGeom prst="line">
            <a:avLst/>
          </a:prstGeom>
          <a:noFill/>
          <a:ln w="22225">
            <a:solidFill>
              <a:srgbClr val="0E1729"/>
            </a:solidFill>
            <a:prstDash val="solid"/>
          </a:ln>
        </p:spPr>
      </p:sp>
      <p:sp>
        <p:nvSpPr>
          <p:cNvPr id="52" name="Shape 50"/>
          <p:cNvSpPr/>
          <p:nvPr/>
        </p:nvSpPr>
        <p:spPr>
          <a:xfrm>
            <a:off x="9203436" y="4370832"/>
            <a:ext cx="860816" cy="0"/>
          </a:xfrm>
          <a:prstGeom prst="line">
            <a:avLst/>
          </a:prstGeom>
          <a:noFill/>
          <a:ln w="22225">
            <a:solidFill>
              <a:srgbClr val="0E1729"/>
            </a:solidFill>
            <a:prstDash val="solid"/>
          </a:ln>
        </p:spPr>
      </p:sp>
      <p:sp>
        <p:nvSpPr>
          <p:cNvPr id="53" name="Shape 51"/>
          <p:cNvSpPr/>
          <p:nvPr/>
        </p:nvSpPr>
        <p:spPr>
          <a:xfrm>
            <a:off x="10064252" y="4370832"/>
            <a:ext cx="0" cy="0"/>
          </a:xfrm>
          <a:prstGeom prst="line">
            <a:avLst/>
          </a:prstGeom>
          <a:noFill/>
          <a:ln w="22225">
            <a:solidFill>
              <a:srgbClr val="0E1729"/>
            </a:solidFill>
            <a:prstDash val="solid"/>
          </a:ln>
        </p:spPr>
      </p:sp>
      <p:sp>
        <p:nvSpPr>
          <p:cNvPr id="54" name="Shape 52"/>
          <p:cNvSpPr/>
          <p:nvPr/>
        </p:nvSpPr>
        <p:spPr>
          <a:xfrm>
            <a:off x="10064252" y="4370832"/>
            <a:ext cx="0" cy="179222"/>
          </a:xfrm>
          <a:prstGeom prst="line">
            <a:avLst/>
          </a:prstGeom>
          <a:noFill/>
          <a:ln w="22225">
            <a:solidFill>
              <a:srgbClr val="0E1729"/>
            </a:solidFill>
            <a:prstDash val="solid"/>
          </a:ln>
        </p:spPr>
      </p:sp>
      <p:sp>
        <p:nvSpPr>
          <p:cNvPr id="55" name="Shape 53"/>
          <p:cNvSpPr/>
          <p:nvPr/>
        </p:nvSpPr>
        <p:spPr>
          <a:xfrm>
            <a:off x="10064252" y="4550054"/>
            <a:ext cx="812993" cy="0"/>
          </a:xfrm>
          <a:prstGeom prst="line">
            <a:avLst/>
          </a:prstGeom>
          <a:noFill/>
          <a:ln w="22225">
            <a:solidFill>
              <a:srgbClr val="0E1729"/>
            </a:solidFill>
            <a:prstDash val="solid"/>
          </a:ln>
        </p:spPr>
      </p:sp>
      <p:sp>
        <p:nvSpPr>
          <p:cNvPr id="56" name="Shape 54"/>
          <p:cNvSpPr/>
          <p:nvPr/>
        </p:nvSpPr>
        <p:spPr>
          <a:xfrm>
            <a:off x="10877245" y="4550054"/>
            <a:ext cx="0" cy="0"/>
          </a:xfrm>
          <a:prstGeom prst="line">
            <a:avLst/>
          </a:prstGeom>
          <a:noFill/>
          <a:ln w="22225">
            <a:solidFill>
              <a:srgbClr val="0E1729"/>
            </a:solidFill>
            <a:prstDash val="solid"/>
          </a:ln>
        </p:spPr>
      </p:sp>
      <p:sp>
        <p:nvSpPr>
          <p:cNvPr id="57" name="Shape 55"/>
          <p:cNvSpPr/>
          <p:nvPr/>
        </p:nvSpPr>
        <p:spPr>
          <a:xfrm>
            <a:off x="10877245" y="4550054"/>
            <a:ext cx="0" cy="156820"/>
          </a:xfrm>
          <a:prstGeom prst="line">
            <a:avLst/>
          </a:prstGeom>
          <a:noFill/>
          <a:ln w="22225">
            <a:solidFill>
              <a:srgbClr val="0E1729"/>
            </a:solidFill>
            <a:prstDash val="solid"/>
          </a:ln>
        </p:spPr>
      </p:sp>
      <p:sp>
        <p:nvSpPr>
          <p:cNvPr id="58" name="Text 56"/>
          <p:cNvSpPr/>
          <p:nvPr/>
        </p:nvSpPr>
        <p:spPr>
          <a:xfrm>
            <a:off x="6903720" y="3749040"/>
            <a:ext cx="2286000" cy="201168"/>
          </a:xfrm>
          <a:prstGeom prst="rect">
            <a:avLst/>
          </a:prstGeom>
          <a:noFill/>
          <a:ln/>
        </p:spPr>
        <p:txBody>
          <a:bodyPr wrap="square" rtlCol="0" anchor="ctr"/>
          <a:lstStyle/>
          <a:p>
            <a:pPr indent="0" marL="0">
              <a:buNone/>
            </a:pPr>
            <a:r>
              <a:rPr lang="en-US" sz="900" b="1" dirty="0">
                <a:solidFill>
                  <a:srgbClr val="0E1729"/>
                </a:solidFill>
                <a:latin typeface="Calibri" pitchFamily="34" charset="0"/>
                <a:ea typeface="Calibri" pitchFamily="34" charset="-122"/>
                <a:cs typeface="Calibri" pitchFamily="34" charset="-120"/>
              </a:rPr>
              <a:t>Bras B (n = 60)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SURVIE · AJUSTEMENT MULTIVARIÉ</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800" b="1" spc="-100" kern="0" dirty="0">
                <a:solidFill>
                  <a:srgbClr val="15233F"/>
                </a:solidFill>
                <a:latin typeface="Calibri" pitchFamily="34" charset="0"/>
                <a:ea typeface="Calibri" pitchFamily="34" charset="-122"/>
                <a:cs typeface="Calibri" pitchFamily="34" charset="-120"/>
              </a:rPr>
              <a:t>Régression de Cox : le HR ajusté.</a:t>
            </a:r>
            <a:endParaRPr lang="en-US" sz="2800" dirty="0"/>
          </a:p>
        </p:txBody>
      </p:sp>
      <p:sp>
        <p:nvSpPr>
          <p:cNvPr id="6" name="Text 4"/>
          <p:cNvSpPr/>
          <p:nvPr/>
        </p:nvSpPr>
        <p:spPr>
          <a:xfrm>
            <a:off x="640080" y="1828800"/>
            <a:ext cx="10972800" cy="146304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Cox est à la survie ce que la régression logistique est aux issues binaires : un modèle multivarié qui contrôle les facteurs de confusion. Le résultat est le Hazard Ratio (HR) — interprétable comme un OR ajusté, mais sur le risque d'évènement par unité de temps.</a:t>
            </a:r>
            <a:endParaRPr lang="en-US" sz="1400" dirty="0"/>
          </a:p>
        </p:txBody>
      </p:sp>
      <p:sp>
        <p:nvSpPr>
          <p:cNvPr id="7" name="Shape 5"/>
          <p:cNvSpPr/>
          <p:nvPr/>
        </p:nvSpPr>
        <p:spPr>
          <a:xfrm>
            <a:off x="640080" y="3383280"/>
            <a:ext cx="5486400" cy="2743200"/>
          </a:xfrm>
          <a:prstGeom prst="roundRect">
            <a:avLst>
              <a:gd name="adj" fmla="val 1667"/>
            </a:avLst>
          </a:prstGeom>
          <a:solidFill>
            <a:srgbClr val="1A2541"/>
          </a:solidFill>
          <a:ln w="6350">
            <a:solidFill>
              <a:srgbClr val="F09042"/>
            </a:solidFill>
            <a:prstDash val="solid"/>
          </a:ln>
        </p:spPr>
      </p:sp>
      <p:sp>
        <p:nvSpPr>
          <p:cNvPr id="8" name="Shape 6"/>
          <p:cNvSpPr/>
          <p:nvPr/>
        </p:nvSpPr>
        <p:spPr>
          <a:xfrm>
            <a:off x="777240" y="3493008"/>
            <a:ext cx="365760" cy="256032"/>
          </a:xfrm>
          <a:prstGeom prst="roundRect">
            <a:avLst>
              <a:gd name="adj" fmla="val 14286"/>
            </a:avLst>
          </a:prstGeom>
          <a:solidFill>
            <a:srgbClr val="F09042"/>
          </a:solidFill>
          <a:ln/>
        </p:spPr>
      </p:sp>
      <p:sp>
        <p:nvSpPr>
          <p:cNvPr id="9" name="Text 7"/>
          <p:cNvSpPr/>
          <p:nvPr/>
        </p:nvSpPr>
        <p:spPr>
          <a:xfrm>
            <a:off x="777240" y="3493008"/>
            <a:ext cx="365760" cy="256032"/>
          </a:xfrm>
          <a:prstGeom prst="rect">
            <a:avLst/>
          </a:prstGeom>
          <a:noFill/>
          <a:ln/>
        </p:spPr>
        <p:txBody>
          <a:bodyPr wrap="square" rtlCol="0" anchor="ctr"/>
          <a:lstStyle/>
          <a:p>
            <a:pPr algn="ctr" indent="0" marL="0">
              <a:buNone/>
            </a:pPr>
            <a:r>
              <a:rPr lang="en-US" sz="1100" b="1" dirty="0">
                <a:solidFill>
                  <a:srgbClr val="0E1729"/>
                </a:solidFill>
                <a:latin typeface="Consolas" pitchFamily="34" charset="0"/>
                <a:ea typeface="Consolas" pitchFamily="34" charset="-122"/>
                <a:cs typeface="Consolas" pitchFamily="34" charset="-120"/>
              </a:rPr>
              <a:t>R</a:t>
            </a:r>
            <a:endParaRPr lang="en-US" sz="1100" dirty="0"/>
          </a:p>
        </p:txBody>
      </p:sp>
      <p:sp>
        <p:nvSpPr>
          <p:cNvPr id="10" name="Text 8"/>
          <p:cNvSpPr/>
          <p:nvPr/>
        </p:nvSpPr>
        <p:spPr>
          <a:xfrm>
            <a:off x="822960" y="3840480"/>
            <a:ext cx="5212080" cy="2194560"/>
          </a:xfrm>
          <a:prstGeom prst="rect">
            <a:avLst/>
          </a:prstGeom>
          <a:noFill/>
          <a:ln/>
        </p:spPr>
        <p:txBody>
          <a:bodyPr wrap="square" rtlCol="0" anchor="t"/>
          <a:lstStyle/>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Modèle de Cox</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library(survival)</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fit &lt;- coxph(</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Surv(temps, evt) ~ bras + age + sexe + stade,</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data = donnees)</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summary(fit)</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Vérif hypothèse de proportionnalité</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cox.zph(fit)</a:t>
            </a:r>
            <a:endParaRPr lang="en-US" sz="1050" dirty="0"/>
          </a:p>
          <a:p>
            <a:pPr indent="0" marL="0">
              <a:lnSpc>
                <a:spcPct val="140000"/>
              </a:lnSpc>
              <a:buNone/>
            </a:pP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Tableau HR ajustés</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library(broom)</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tidy(fit, exponentiate = TRUE,</a:t>
            </a:r>
            <a:endParaRPr lang="en-US" sz="1050" dirty="0"/>
          </a:p>
          <a:p>
            <a:pPr indent="0" marL="0">
              <a:lnSpc>
                <a:spcPct val="140000"/>
              </a:lnSpc>
              <a:buNone/>
            </a:pPr>
            <a:r>
              <a:rPr lang="en-US" sz="1050" dirty="0">
                <a:solidFill>
                  <a:srgbClr val="E8EAED"/>
                </a:solidFill>
                <a:latin typeface="Consolas" pitchFamily="34" charset="0"/>
                <a:ea typeface="Consolas" pitchFamily="34" charset="-122"/>
                <a:cs typeface="Consolas" pitchFamily="34" charset="-120"/>
              </a:rPr>
              <a:t>     conf.int = TRUE)</a:t>
            </a:r>
            <a:endParaRPr lang="en-US" sz="1050" dirty="0"/>
          </a:p>
        </p:txBody>
      </p:sp>
      <p:sp>
        <p:nvSpPr>
          <p:cNvPr id="11" name="Shape 9"/>
          <p:cNvSpPr/>
          <p:nvPr/>
        </p:nvSpPr>
        <p:spPr>
          <a:xfrm>
            <a:off x="6400800" y="3383280"/>
            <a:ext cx="5330952" cy="2743200"/>
          </a:xfrm>
          <a:prstGeom prst="roundRect">
            <a:avLst>
              <a:gd name="adj" fmla="val 1667"/>
            </a:avLst>
          </a:prstGeom>
          <a:solidFill>
            <a:srgbClr val="1A2541"/>
          </a:solidFill>
          <a:ln w="6350">
            <a:solidFill>
              <a:srgbClr val="6B7280"/>
            </a:solidFill>
            <a:prstDash val="dash"/>
          </a:ln>
        </p:spPr>
      </p:sp>
      <p:sp>
        <p:nvSpPr>
          <p:cNvPr id="12" name="Text 10"/>
          <p:cNvSpPr/>
          <p:nvPr/>
        </p:nvSpPr>
        <p:spPr>
          <a:xfrm>
            <a:off x="6537960" y="3474720"/>
            <a:ext cx="914400" cy="228600"/>
          </a:xfrm>
          <a:prstGeom prst="rect">
            <a:avLst/>
          </a:prstGeom>
          <a:noFill/>
          <a:ln/>
        </p:spPr>
        <p:txBody>
          <a:bodyPr wrap="square" rtlCol="0" anchor="ctr"/>
          <a:lstStyle/>
          <a:p>
            <a:pPr indent="0" marL="0">
              <a:buNone/>
            </a:pPr>
            <a:r>
              <a:rPr lang="en-US" sz="900" b="1" spc="300" kern="0" dirty="0">
                <a:solidFill>
                  <a:srgbClr val="C9CFDC"/>
                </a:solidFill>
                <a:latin typeface="Calibri" pitchFamily="34" charset="0"/>
                <a:ea typeface="Calibri" pitchFamily="34" charset="-122"/>
                <a:cs typeface="Calibri" pitchFamily="34" charset="-120"/>
              </a:rPr>
              <a:t>SORTIE</a:t>
            </a:r>
            <a:endParaRPr lang="en-US" sz="900" dirty="0"/>
          </a:p>
        </p:txBody>
      </p:sp>
      <p:sp>
        <p:nvSpPr>
          <p:cNvPr id="13" name="Text 11"/>
          <p:cNvSpPr/>
          <p:nvPr/>
        </p:nvSpPr>
        <p:spPr>
          <a:xfrm>
            <a:off x="6583680" y="3749040"/>
            <a:ext cx="5056632" cy="2286000"/>
          </a:xfrm>
          <a:prstGeom prst="rect">
            <a:avLst/>
          </a:prstGeom>
          <a:noFill/>
          <a:ln/>
        </p:spPr>
        <p:txBody>
          <a:bodyPr wrap="square" rtlCol="0" anchor="t"/>
          <a:lstStyle/>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term      HR     conf.low conf.high p.value</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brasB    0.61   0.42     0.89      0.011</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age      1.04   1.02     1.06      0.0003</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sexeF    0.81   0.55     1.20      0.30</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stadeIII 2.85   1.86     4.37      &lt;0.001</a:t>
            </a:r>
            <a:endParaRPr lang="en-US" sz="1050" dirty="0"/>
          </a:p>
          <a:p>
            <a:pPr indent="0" marL="0">
              <a:lnSpc>
                <a:spcPct val="130000"/>
              </a:lnSpc>
              <a:buNone/>
            </a:pP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 HR bras B = 0.61</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  [0.42, 0.89]</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 Bras B réduit le risque</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  de 39 % vs bras A,</a:t>
            </a:r>
            <a:endParaRPr lang="en-US" sz="1050" dirty="0"/>
          </a:p>
          <a:p>
            <a:pPr indent="0" marL="0">
              <a:lnSpc>
                <a:spcPct val="130000"/>
              </a:lnSpc>
              <a:buNone/>
            </a:pPr>
            <a:r>
              <a:rPr lang="en-US" sz="1050" dirty="0">
                <a:solidFill>
                  <a:srgbClr val="FFFFFF"/>
                </a:solidFill>
                <a:latin typeface="Consolas" pitchFamily="34" charset="0"/>
                <a:ea typeface="Consolas" pitchFamily="34" charset="-122"/>
                <a:cs typeface="Consolas" pitchFamily="34" charset="-120"/>
              </a:rPr>
              <a:t>  ajusté sur âge / sexe / stade.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CINQ PIÈGES SPÉCIFIQUES AU BIOMÉDICAL</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600" b="1" spc="-100" kern="0" dirty="0">
                <a:solidFill>
                  <a:srgbClr val="15233F"/>
                </a:solidFill>
                <a:latin typeface="Calibri" pitchFamily="34" charset="0"/>
                <a:ea typeface="Calibri" pitchFamily="34" charset="-122"/>
                <a:cs typeface="Calibri" pitchFamily="34" charset="-120"/>
              </a:rPr>
              <a:t>Ce qui fait perdre des points en thèse de médecine.</a:t>
            </a:r>
            <a:endParaRPr lang="en-US" sz="2600" dirty="0"/>
          </a:p>
        </p:txBody>
      </p:sp>
      <p:sp>
        <p:nvSpPr>
          <p:cNvPr id="6" name="Shape 4"/>
          <p:cNvSpPr/>
          <p:nvPr/>
        </p:nvSpPr>
        <p:spPr>
          <a:xfrm>
            <a:off x="640080" y="1920240"/>
            <a:ext cx="11091672" cy="822960"/>
          </a:xfrm>
          <a:prstGeom prst="roundRect">
            <a:avLst>
              <a:gd name="adj" fmla="val 6667"/>
            </a:avLst>
          </a:prstGeom>
          <a:solidFill>
            <a:srgbClr val="FFFFFF"/>
          </a:solidFill>
          <a:ln w="9525">
            <a:solidFill>
              <a:srgbClr val="D6CFB8"/>
            </a:solidFill>
            <a:prstDash val="solid"/>
          </a:ln>
        </p:spPr>
      </p:sp>
      <p:sp>
        <p:nvSpPr>
          <p:cNvPr id="7" name="Shape 5"/>
          <p:cNvSpPr/>
          <p:nvPr/>
        </p:nvSpPr>
        <p:spPr>
          <a:xfrm>
            <a:off x="640080" y="1920240"/>
            <a:ext cx="73152" cy="822960"/>
          </a:xfrm>
          <a:prstGeom prst="rect">
            <a:avLst/>
          </a:prstGeom>
          <a:solidFill>
            <a:srgbClr val="E74C3C"/>
          </a:solidFill>
          <a:ln/>
        </p:spPr>
      </p:sp>
      <p:sp>
        <p:nvSpPr>
          <p:cNvPr id="8" name="Text 6"/>
          <p:cNvSpPr/>
          <p:nvPr/>
        </p:nvSpPr>
        <p:spPr>
          <a:xfrm>
            <a:off x="822960" y="2057400"/>
            <a:ext cx="640080" cy="548640"/>
          </a:xfrm>
          <a:prstGeom prst="rect">
            <a:avLst/>
          </a:prstGeom>
          <a:noFill/>
          <a:ln/>
        </p:spPr>
        <p:txBody>
          <a:bodyPr wrap="square" rtlCol="0" anchor="ctr"/>
          <a:lstStyle/>
          <a:p>
            <a:pPr indent="0" marL="0">
              <a:buNone/>
            </a:pPr>
            <a:r>
              <a:rPr lang="en-US" sz="2200" b="1" dirty="0">
                <a:solidFill>
                  <a:srgbClr val="E74C3C"/>
                </a:solidFill>
                <a:latin typeface="Consolas" pitchFamily="34" charset="0"/>
                <a:ea typeface="Consolas" pitchFamily="34" charset="-122"/>
                <a:cs typeface="Consolas" pitchFamily="34" charset="-120"/>
              </a:rPr>
              <a:t>01</a:t>
            </a:r>
            <a:endParaRPr lang="en-US" sz="2200" dirty="0"/>
          </a:p>
        </p:txBody>
      </p:sp>
      <p:sp>
        <p:nvSpPr>
          <p:cNvPr id="9" name="Text 7"/>
          <p:cNvSpPr/>
          <p:nvPr/>
        </p:nvSpPr>
        <p:spPr>
          <a:xfrm>
            <a:off x="1600200" y="2029968"/>
            <a:ext cx="9966960" cy="329184"/>
          </a:xfrm>
          <a:prstGeom prst="rect">
            <a:avLst/>
          </a:prstGeom>
          <a:noFill/>
          <a:ln/>
        </p:spPr>
        <p:txBody>
          <a:bodyPr wrap="square" rtlCol="0" anchor="ctr"/>
          <a:lstStyle/>
          <a:p>
            <a:pPr indent="0" marL="0">
              <a:buNone/>
            </a:pPr>
            <a:r>
              <a:rPr lang="en-US" sz="1400" b="1" dirty="0">
                <a:solidFill>
                  <a:srgbClr val="15233F"/>
                </a:solidFill>
                <a:latin typeface="Calibri" pitchFamily="34" charset="0"/>
                <a:ea typeface="Calibri" pitchFamily="34" charset="-122"/>
                <a:cs typeface="Calibri" pitchFamily="34" charset="-120"/>
              </a:rPr>
              <a:t>Confondre VPP avec sensibilité</a:t>
            </a:r>
            <a:endParaRPr lang="en-US" sz="1400" dirty="0"/>
          </a:p>
        </p:txBody>
      </p:sp>
      <p:sp>
        <p:nvSpPr>
          <p:cNvPr id="10" name="Text 8"/>
          <p:cNvSpPr/>
          <p:nvPr/>
        </p:nvSpPr>
        <p:spPr>
          <a:xfrm>
            <a:off x="1600200" y="2359152"/>
            <a:ext cx="9966960" cy="36576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La sensibilité est intrinsèque au test, la VPP dépend de la prévalence. À spécifier dans la discussion.</a:t>
            </a:r>
            <a:endParaRPr lang="en-US" sz="1100" dirty="0"/>
          </a:p>
        </p:txBody>
      </p:sp>
      <p:sp>
        <p:nvSpPr>
          <p:cNvPr id="11" name="Shape 9"/>
          <p:cNvSpPr/>
          <p:nvPr/>
        </p:nvSpPr>
        <p:spPr>
          <a:xfrm>
            <a:off x="640080" y="2788920"/>
            <a:ext cx="11091672" cy="822960"/>
          </a:xfrm>
          <a:prstGeom prst="roundRect">
            <a:avLst>
              <a:gd name="adj" fmla="val 6667"/>
            </a:avLst>
          </a:prstGeom>
          <a:solidFill>
            <a:srgbClr val="FFFFFF"/>
          </a:solidFill>
          <a:ln w="9525">
            <a:solidFill>
              <a:srgbClr val="D6CFB8"/>
            </a:solidFill>
            <a:prstDash val="solid"/>
          </a:ln>
        </p:spPr>
      </p:sp>
      <p:sp>
        <p:nvSpPr>
          <p:cNvPr id="12" name="Shape 10"/>
          <p:cNvSpPr/>
          <p:nvPr/>
        </p:nvSpPr>
        <p:spPr>
          <a:xfrm>
            <a:off x="640080" y="2788920"/>
            <a:ext cx="73152" cy="822960"/>
          </a:xfrm>
          <a:prstGeom prst="rect">
            <a:avLst/>
          </a:prstGeom>
          <a:solidFill>
            <a:srgbClr val="E74C3C"/>
          </a:solidFill>
          <a:ln/>
        </p:spPr>
      </p:sp>
      <p:sp>
        <p:nvSpPr>
          <p:cNvPr id="13" name="Text 11"/>
          <p:cNvSpPr/>
          <p:nvPr/>
        </p:nvSpPr>
        <p:spPr>
          <a:xfrm>
            <a:off x="822960" y="2926080"/>
            <a:ext cx="640080" cy="548640"/>
          </a:xfrm>
          <a:prstGeom prst="rect">
            <a:avLst/>
          </a:prstGeom>
          <a:noFill/>
          <a:ln/>
        </p:spPr>
        <p:txBody>
          <a:bodyPr wrap="square" rtlCol="0" anchor="ctr"/>
          <a:lstStyle/>
          <a:p>
            <a:pPr indent="0" marL="0">
              <a:buNone/>
            </a:pPr>
            <a:r>
              <a:rPr lang="en-US" sz="2200" b="1" dirty="0">
                <a:solidFill>
                  <a:srgbClr val="E74C3C"/>
                </a:solidFill>
                <a:latin typeface="Consolas" pitchFamily="34" charset="0"/>
                <a:ea typeface="Consolas" pitchFamily="34" charset="-122"/>
                <a:cs typeface="Consolas" pitchFamily="34" charset="-120"/>
              </a:rPr>
              <a:t>02</a:t>
            </a:r>
            <a:endParaRPr lang="en-US" sz="2200" dirty="0"/>
          </a:p>
        </p:txBody>
      </p:sp>
      <p:sp>
        <p:nvSpPr>
          <p:cNvPr id="14" name="Text 12"/>
          <p:cNvSpPr/>
          <p:nvPr/>
        </p:nvSpPr>
        <p:spPr>
          <a:xfrm>
            <a:off x="1600200" y="2898648"/>
            <a:ext cx="9966960" cy="329184"/>
          </a:xfrm>
          <a:prstGeom prst="rect">
            <a:avLst/>
          </a:prstGeom>
          <a:noFill/>
          <a:ln/>
        </p:spPr>
        <p:txBody>
          <a:bodyPr wrap="square" rtlCol="0" anchor="ctr"/>
          <a:lstStyle/>
          <a:p>
            <a:pPr indent="0" marL="0">
              <a:buNone/>
            </a:pPr>
            <a:r>
              <a:rPr lang="en-US" sz="1400" b="1" dirty="0">
                <a:solidFill>
                  <a:srgbClr val="15233F"/>
                </a:solidFill>
                <a:latin typeface="Calibri" pitchFamily="34" charset="0"/>
                <a:ea typeface="Calibri" pitchFamily="34" charset="-122"/>
                <a:cs typeface="Calibri" pitchFamily="34" charset="-120"/>
              </a:rPr>
              <a:t>Comparer deux méthodes par corrélation seule</a:t>
            </a:r>
            <a:endParaRPr lang="en-US" sz="1400" dirty="0"/>
          </a:p>
        </p:txBody>
      </p:sp>
      <p:sp>
        <p:nvSpPr>
          <p:cNvPr id="15" name="Text 13"/>
          <p:cNvSpPr/>
          <p:nvPr/>
        </p:nvSpPr>
        <p:spPr>
          <a:xfrm>
            <a:off x="1600200" y="3227832"/>
            <a:ext cx="9966960" cy="36576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Deux méthodes peuvent corréler à r = 0,98 sans être interchangeables. Toujours Bland-Altman en plus.</a:t>
            </a:r>
            <a:endParaRPr lang="en-US" sz="1100" dirty="0"/>
          </a:p>
        </p:txBody>
      </p:sp>
      <p:sp>
        <p:nvSpPr>
          <p:cNvPr id="16" name="Shape 14"/>
          <p:cNvSpPr/>
          <p:nvPr/>
        </p:nvSpPr>
        <p:spPr>
          <a:xfrm>
            <a:off x="640080" y="3657600"/>
            <a:ext cx="11091672" cy="822960"/>
          </a:xfrm>
          <a:prstGeom prst="roundRect">
            <a:avLst>
              <a:gd name="adj" fmla="val 6667"/>
            </a:avLst>
          </a:prstGeom>
          <a:solidFill>
            <a:srgbClr val="FFFFFF"/>
          </a:solidFill>
          <a:ln w="9525">
            <a:solidFill>
              <a:srgbClr val="D6CFB8"/>
            </a:solidFill>
            <a:prstDash val="solid"/>
          </a:ln>
        </p:spPr>
      </p:sp>
      <p:sp>
        <p:nvSpPr>
          <p:cNvPr id="17" name="Shape 15"/>
          <p:cNvSpPr/>
          <p:nvPr/>
        </p:nvSpPr>
        <p:spPr>
          <a:xfrm>
            <a:off x="640080" y="3657600"/>
            <a:ext cx="73152" cy="822960"/>
          </a:xfrm>
          <a:prstGeom prst="rect">
            <a:avLst/>
          </a:prstGeom>
          <a:solidFill>
            <a:srgbClr val="E74C3C"/>
          </a:solidFill>
          <a:ln/>
        </p:spPr>
      </p:sp>
      <p:sp>
        <p:nvSpPr>
          <p:cNvPr id="18" name="Text 16"/>
          <p:cNvSpPr/>
          <p:nvPr/>
        </p:nvSpPr>
        <p:spPr>
          <a:xfrm>
            <a:off x="822960" y="3794760"/>
            <a:ext cx="640080" cy="548640"/>
          </a:xfrm>
          <a:prstGeom prst="rect">
            <a:avLst/>
          </a:prstGeom>
          <a:noFill/>
          <a:ln/>
        </p:spPr>
        <p:txBody>
          <a:bodyPr wrap="square" rtlCol="0" anchor="ctr"/>
          <a:lstStyle/>
          <a:p>
            <a:pPr indent="0" marL="0">
              <a:buNone/>
            </a:pPr>
            <a:r>
              <a:rPr lang="en-US" sz="2200" b="1" dirty="0">
                <a:solidFill>
                  <a:srgbClr val="E74C3C"/>
                </a:solidFill>
                <a:latin typeface="Consolas" pitchFamily="34" charset="0"/>
                <a:ea typeface="Consolas" pitchFamily="34" charset="-122"/>
                <a:cs typeface="Consolas" pitchFamily="34" charset="-120"/>
              </a:rPr>
              <a:t>03</a:t>
            </a:r>
            <a:endParaRPr lang="en-US" sz="2200" dirty="0"/>
          </a:p>
        </p:txBody>
      </p:sp>
      <p:sp>
        <p:nvSpPr>
          <p:cNvPr id="19" name="Text 17"/>
          <p:cNvSpPr/>
          <p:nvPr/>
        </p:nvSpPr>
        <p:spPr>
          <a:xfrm>
            <a:off x="1600200" y="3767328"/>
            <a:ext cx="9966960" cy="329184"/>
          </a:xfrm>
          <a:prstGeom prst="rect">
            <a:avLst/>
          </a:prstGeom>
          <a:noFill/>
          <a:ln/>
        </p:spPr>
        <p:txBody>
          <a:bodyPr wrap="square" rtlCol="0" anchor="ctr"/>
          <a:lstStyle/>
          <a:p>
            <a:pPr indent="0" marL="0">
              <a:buNone/>
            </a:pPr>
            <a:r>
              <a:rPr lang="en-US" sz="1400" b="1" dirty="0">
                <a:solidFill>
                  <a:srgbClr val="15233F"/>
                </a:solidFill>
                <a:latin typeface="Calibri" pitchFamily="34" charset="0"/>
                <a:ea typeface="Calibri" pitchFamily="34" charset="-122"/>
                <a:cs typeface="Calibri" pitchFamily="34" charset="-120"/>
              </a:rPr>
              <a:t>Oublier les censurés en analyse de survie</a:t>
            </a:r>
            <a:endParaRPr lang="en-US" sz="1400" dirty="0"/>
          </a:p>
        </p:txBody>
      </p:sp>
      <p:sp>
        <p:nvSpPr>
          <p:cNvPr id="20" name="Text 18"/>
          <p:cNvSpPr/>
          <p:nvPr/>
        </p:nvSpPr>
        <p:spPr>
          <a:xfrm>
            <a:off x="1600200" y="4096512"/>
            <a:ext cx="9966960" cy="36576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Suppression des perdus de vue = biais majeur. Kaplan-Meier les gère, Cox aussi. À utiliser tels quels.</a:t>
            </a:r>
            <a:endParaRPr lang="en-US" sz="1100" dirty="0"/>
          </a:p>
        </p:txBody>
      </p:sp>
      <p:sp>
        <p:nvSpPr>
          <p:cNvPr id="21" name="Shape 19"/>
          <p:cNvSpPr/>
          <p:nvPr/>
        </p:nvSpPr>
        <p:spPr>
          <a:xfrm>
            <a:off x="640080" y="4526280"/>
            <a:ext cx="11091672" cy="822960"/>
          </a:xfrm>
          <a:prstGeom prst="roundRect">
            <a:avLst>
              <a:gd name="adj" fmla="val 6667"/>
            </a:avLst>
          </a:prstGeom>
          <a:solidFill>
            <a:srgbClr val="FFFFFF"/>
          </a:solidFill>
          <a:ln w="9525">
            <a:solidFill>
              <a:srgbClr val="D6CFB8"/>
            </a:solidFill>
            <a:prstDash val="solid"/>
          </a:ln>
        </p:spPr>
      </p:sp>
      <p:sp>
        <p:nvSpPr>
          <p:cNvPr id="22" name="Shape 20"/>
          <p:cNvSpPr/>
          <p:nvPr/>
        </p:nvSpPr>
        <p:spPr>
          <a:xfrm>
            <a:off x="640080" y="4526280"/>
            <a:ext cx="73152" cy="822960"/>
          </a:xfrm>
          <a:prstGeom prst="rect">
            <a:avLst/>
          </a:prstGeom>
          <a:solidFill>
            <a:srgbClr val="E74C3C"/>
          </a:solidFill>
          <a:ln/>
        </p:spPr>
      </p:sp>
      <p:sp>
        <p:nvSpPr>
          <p:cNvPr id="23" name="Text 21"/>
          <p:cNvSpPr/>
          <p:nvPr/>
        </p:nvSpPr>
        <p:spPr>
          <a:xfrm>
            <a:off x="822960" y="4663440"/>
            <a:ext cx="640080" cy="548640"/>
          </a:xfrm>
          <a:prstGeom prst="rect">
            <a:avLst/>
          </a:prstGeom>
          <a:noFill/>
          <a:ln/>
        </p:spPr>
        <p:txBody>
          <a:bodyPr wrap="square" rtlCol="0" anchor="ctr"/>
          <a:lstStyle/>
          <a:p>
            <a:pPr indent="0" marL="0">
              <a:buNone/>
            </a:pPr>
            <a:r>
              <a:rPr lang="en-US" sz="2200" b="1" dirty="0">
                <a:solidFill>
                  <a:srgbClr val="E74C3C"/>
                </a:solidFill>
                <a:latin typeface="Consolas" pitchFamily="34" charset="0"/>
                <a:ea typeface="Consolas" pitchFamily="34" charset="-122"/>
                <a:cs typeface="Consolas" pitchFamily="34" charset="-120"/>
              </a:rPr>
              <a:t>04</a:t>
            </a:r>
            <a:endParaRPr lang="en-US" sz="2200" dirty="0"/>
          </a:p>
        </p:txBody>
      </p:sp>
      <p:sp>
        <p:nvSpPr>
          <p:cNvPr id="24" name="Text 22"/>
          <p:cNvSpPr/>
          <p:nvPr/>
        </p:nvSpPr>
        <p:spPr>
          <a:xfrm>
            <a:off x="1600200" y="4636008"/>
            <a:ext cx="9966960" cy="329184"/>
          </a:xfrm>
          <a:prstGeom prst="rect">
            <a:avLst/>
          </a:prstGeom>
          <a:noFill/>
          <a:ln/>
        </p:spPr>
        <p:txBody>
          <a:bodyPr wrap="square" rtlCol="0" anchor="ctr"/>
          <a:lstStyle/>
          <a:p>
            <a:pPr indent="0" marL="0">
              <a:buNone/>
            </a:pPr>
            <a:r>
              <a:rPr lang="en-US" sz="1400" b="1" dirty="0">
                <a:solidFill>
                  <a:srgbClr val="15233F"/>
                </a:solidFill>
                <a:latin typeface="Calibri" pitchFamily="34" charset="0"/>
                <a:ea typeface="Calibri" pitchFamily="34" charset="-122"/>
                <a:cs typeface="Calibri" pitchFamily="34" charset="-120"/>
              </a:rPr>
              <a:t>Cox sans vérifier la proportionnalité</a:t>
            </a:r>
            <a:endParaRPr lang="en-US" sz="1400" dirty="0"/>
          </a:p>
        </p:txBody>
      </p:sp>
      <p:sp>
        <p:nvSpPr>
          <p:cNvPr id="25" name="Text 23"/>
          <p:cNvSpPr/>
          <p:nvPr/>
        </p:nvSpPr>
        <p:spPr>
          <a:xfrm>
            <a:off x="1600200" y="4965192"/>
            <a:ext cx="9966960" cy="36576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L'hypothèse fondamentale de Cox : le HR est constant dans le temps. cox.zph() la teste. Sans ça, modèle invalide.</a:t>
            </a:r>
            <a:endParaRPr lang="en-US" sz="1100" dirty="0"/>
          </a:p>
        </p:txBody>
      </p:sp>
      <p:sp>
        <p:nvSpPr>
          <p:cNvPr id="26" name="Shape 24"/>
          <p:cNvSpPr/>
          <p:nvPr/>
        </p:nvSpPr>
        <p:spPr>
          <a:xfrm>
            <a:off x="640080" y="5394960"/>
            <a:ext cx="11091672" cy="822960"/>
          </a:xfrm>
          <a:prstGeom prst="roundRect">
            <a:avLst>
              <a:gd name="adj" fmla="val 6667"/>
            </a:avLst>
          </a:prstGeom>
          <a:solidFill>
            <a:srgbClr val="FFFFFF"/>
          </a:solidFill>
          <a:ln w="9525">
            <a:solidFill>
              <a:srgbClr val="D6CFB8"/>
            </a:solidFill>
            <a:prstDash val="solid"/>
          </a:ln>
        </p:spPr>
      </p:sp>
      <p:sp>
        <p:nvSpPr>
          <p:cNvPr id="27" name="Shape 25"/>
          <p:cNvSpPr/>
          <p:nvPr/>
        </p:nvSpPr>
        <p:spPr>
          <a:xfrm>
            <a:off x="640080" y="5394960"/>
            <a:ext cx="73152" cy="822960"/>
          </a:xfrm>
          <a:prstGeom prst="rect">
            <a:avLst/>
          </a:prstGeom>
          <a:solidFill>
            <a:srgbClr val="E74C3C"/>
          </a:solidFill>
          <a:ln/>
        </p:spPr>
      </p:sp>
      <p:sp>
        <p:nvSpPr>
          <p:cNvPr id="28" name="Text 26"/>
          <p:cNvSpPr/>
          <p:nvPr/>
        </p:nvSpPr>
        <p:spPr>
          <a:xfrm>
            <a:off x="822960" y="5532120"/>
            <a:ext cx="640080" cy="548640"/>
          </a:xfrm>
          <a:prstGeom prst="rect">
            <a:avLst/>
          </a:prstGeom>
          <a:noFill/>
          <a:ln/>
        </p:spPr>
        <p:txBody>
          <a:bodyPr wrap="square" rtlCol="0" anchor="ctr"/>
          <a:lstStyle/>
          <a:p>
            <a:pPr indent="0" marL="0">
              <a:buNone/>
            </a:pPr>
            <a:r>
              <a:rPr lang="en-US" sz="2200" b="1" dirty="0">
                <a:solidFill>
                  <a:srgbClr val="E74C3C"/>
                </a:solidFill>
                <a:latin typeface="Consolas" pitchFamily="34" charset="0"/>
                <a:ea typeface="Consolas" pitchFamily="34" charset="-122"/>
                <a:cs typeface="Consolas" pitchFamily="34" charset="-120"/>
              </a:rPr>
              <a:t>05</a:t>
            </a:r>
            <a:endParaRPr lang="en-US" sz="2200" dirty="0"/>
          </a:p>
        </p:txBody>
      </p:sp>
      <p:sp>
        <p:nvSpPr>
          <p:cNvPr id="29" name="Text 27"/>
          <p:cNvSpPr/>
          <p:nvPr/>
        </p:nvSpPr>
        <p:spPr>
          <a:xfrm>
            <a:off x="1600200" y="5504688"/>
            <a:ext cx="9966960" cy="329184"/>
          </a:xfrm>
          <a:prstGeom prst="rect">
            <a:avLst/>
          </a:prstGeom>
          <a:noFill/>
          <a:ln/>
        </p:spPr>
        <p:txBody>
          <a:bodyPr wrap="square" rtlCol="0" anchor="ctr"/>
          <a:lstStyle/>
          <a:p>
            <a:pPr indent="0" marL="0">
              <a:buNone/>
            </a:pPr>
            <a:r>
              <a:rPr lang="en-US" sz="1400" b="1" dirty="0">
                <a:solidFill>
                  <a:srgbClr val="15233F"/>
                </a:solidFill>
                <a:latin typeface="Calibri" pitchFamily="34" charset="0"/>
                <a:ea typeface="Calibri" pitchFamily="34" charset="-122"/>
                <a:cs typeface="Calibri" pitchFamily="34" charset="-120"/>
              </a:rPr>
              <a:t>Rapporter AUC sans IC95% ni contexte</a:t>
            </a:r>
            <a:endParaRPr lang="en-US" sz="1400" dirty="0"/>
          </a:p>
        </p:txBody>
      </p:sp>
      <p:sp>
        <p:nvSpPr>
          <p:cNvPr id="30" name="Text 28"/>
          <p:cNvSpPr/>
          <p:nvPr/>
        </p:nvSpPr>
        <p:spPr>
          <a:xfrm>
            <a:off x="1600200" y="5833872"/>
            <a:ext cx="9966960" cy="36576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AUC = 0,72 dans une étude pilote ≠ AUC = 0,72 sur une cohorte de validation. L'IC95% et le design comptent.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729"/>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4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 / 15</a:t>
            </a:r>
            <a:endParaRPr lang="en-US" sz="900" dirty="0"/>
          </a:p>
        </p:txBody>
      </p:sp>
      <p:sp>
        <p:nvSpPr>
          <p:cNvPr id="4" name="Shape 2"/>
          <p:cNvSpPr/>
          <p:nvPr/>
        </p:nvSpPr>
        <p:spPr>
          <a:xfrm>
            <a:off x="7315200" y="2743200"/>
            <a:ext cx="6400800" cy="6400800"/>
          </a:xfrm>
          <a:prstGeom prst="ellipse">
            <a:avLst/>
          </a:prstGeom>
          <a:solidFill>
            <a:srgbClr val="F09042">
              <a:alpha val="12000"/>
            </a:srgbClr>
          </a:solidFill>
          <a:ln/>
        </p:spPr>
      </p:sp>
      <p:pic>
        <p:nvPicPr>
          <p:cNvPr id="5" name="Image 0" descr="E:\Projets\heaven-elijah-site\public\logo-picto.png">    </p:cNvPr>
          <p:cNvPicPr>
            <a:picLocks noChangeAspect="1"/>
          </p:cNvPicPr>
          <p:nvPr/>
        </p:nvPicPr>
        <p:blipFill>
          <a:blip r:embed="rId1">
            <a:alphaModFix amt="75000"/>
          </a:blip>
          <a:stretch>
            <a:fillRect/>
          </a:stretch>
        </p:blipFill>
        <p:spPr>
          <a:xfrm>
            <a:off x="10424160" y="274320"/>
            <a:ext cx="1371600" cy="1371600"/>
          </a:xfrm>
          <a:prstGeom prst="rect">
            <a:avLst/>
          </a:prstGeom>
        </p:spPr>
      </p:pic>
      <p:sp>
        <p:nvSpPr>
          <p:cNvPr id="6" name="Text 3"/>
          <p:cNvSpPr/>
          <p:nvPr/>
        </p:nvSpPr>
        <p:spPr>
          <a:xfrm>
            <a:off x="640080" y="640080"/>
            <a:ext cx="5486400" cy="365760"/>
          </a:xfrm>
          <a:prstGeom prst="rect">
            <a:avLst/>
          </a:prstGeom>
          <a:noFill/>
          <a:ln/>
        </p:spPr>
        <p:txBody>
          <a:bodyPr wrap="square" rtlCol="0" anchor="ctr"/>
          <a:lstStyle/>
          <a:p>
            <a:pPr indent="0" marL="0">
              <a:buNone/>
            </a:pPr>
            <a:r>
              <a:rPr lang="en-US" sz="1300" b="1" spc="500" kern="0" dirty="0">
                <a:solidFill>
                  <a:srgbClr val="F09042"/>
                </a:solidFill>
                <a:latin typeface="Calibri" pitchFamily="34" charset="0"/>
                <a:ea typeface="Calibri" pitchFamily="34" charset="-122"/>
                <a:cs typeface="Calibri" pitchFamily="34" charset="-120"/>
              </a:rPr>
              <a:t>— FIN DE LA SÉRIE</a:t>
            </a:r>
            <a:endParaRPr lang="en-US" sz="1300" dirty="0"/>
          </a:p>
        </p:txBody>
      </p:sp>
      <p:sp>
        <p:nvSpPr>
          <p:cNvPr id="7" name="Text 4"/>
          <p:cNvSpPr/>
          <p:nvPr/>
        </p:nvSpPr>
        <p:spPr>
          <a:xfrm>
            <a:off x="640080" y="1280160"/>
            <a:ext cx="10972800" cy="2468880"/>
          </a:xfrm>
          <a:prstGeom prst="rect">
            <a:avLst/>
          </a:prstGeom>
          <a:noFill/>
          <a:ln/>
        </p:spPr>
        <p:txBody>
          <a:bodyPr wrap="square" rtlCol="0" anchor="ctr"/>
          <a:lstStyle/>
          <a:p>
            <a:pPr indent="0" marL="0">
              <a:lnSpc>
                <a:spcPct val="105000"/>
              </a:lnSpc>
              <a:buNone/>
            </a:pPr>
            <a:r>
              <a:rPr lang="en-US" sz="3800" b="1" spc="-100" kern="0" dirty="0">
                <a:solidFill>
                  <a:srgbClr val="FFFFFF"/>
                </a:solidFill>
                <a:latin typeface="Calibri" pitchFamily="34" charset="0"/>
                <a:ea typeface="Calibri" pitchFamily="34" charset="-122"/>
                <a:cs typeface="Calibri" pitchFamily="34" charset="-120"/>
              </a:rPr>
              <a:t>Tu maîtrises les quatre</a:t>
            </a:r>
            <a:endParaRPr lang="en-US" sz="3800" dirty="0"/>
          </a:p>
          <a:p>
            <a:pPr indent="0" marL="0">
              <a:lnSpc>
                <a:spcPct val="105000"/>
              </a:lnSpc>
              <a:buNone/>
            </a:pPr>
            <a:r>
              <a:rPr lang="en-US" sz="3800" b="1" spc="-100" kern="0" dirty="0">
                <a:solidFill>
                  <a:srgbClr val="FFFFFF"/>
                </a:solidFill>
                <a:latin typeface="Calibri" pitchFamily="34" charset="0"/>
                <a:ea typeface="Calibri" pitchFamily="34" charset="-122"/>
                <a:cs typeface="Calibri" pitchFamily="34" charset="-120"/>
              </a:rPr>
              <a:t>modules. Place à ta thèse.</a:t>
            </a:r>
            <a:endParaRPr lang="en-US" sz="3800" dirty="0"/>
          </a:p>
        </p:txBody>
      </p:sp>
      <p:sp>
        <p:nvSpPr>
          <p:cNvPr id="8" name="Text 5"/>
          <p:cNvSpPr/>
          <p:nvPr/>
        </p:nvSpPr>
        <p:spPr>
          <a:xfrm>
            <a:off x="640080" y="3657600"/>
            <a:ext cx="10972800" cy="1463040"/>
          </a:xfrm>
          <a:prstGeom prst="rect">
            <a:avLst/>
          </a:prstGeom>
          <a:noFill/>
          <a:ln/>
        </p:spPr>
        <p:txBody>
          <a:bodyPr wrap="square" rtlCol="0" anchor="ctr"/>
          <a:lstStyle/>
          <a:p>
            <a:pPr indent="0" marL="0">
              <a:lnSpc>
                <a:spcPct val="140000"/>
              </a:lnSpc>
              <a:buNone/>
            </a:pPr>
            <a:r>
              <a:rPr lang="en-US" sz="1400" i="1" dirty="0">
                <a:solidFill>
                  <a:srgbClr val="C9CFDC"/>
                </a:solidFill>
                <a:latin typeface="Calibri" pitchFamily="34" charset="0"/>
                <a:ea typeface="Calibri" pitchFamily="34" charset="-122"/>
                <a:cs typeface="Calibri" pitchFamily="34" charset="-120"/>
              </a:rPr>
              <a:t>M1 fondations · M2 comparaisons · M3 associations · M4 outils biomédicaux. Avec ce curriculum, tu défends ta méthodologie sans trembler. Si tu veux qu'on regarde ton projet réel avant la soutenance — un diagnostic gratuit de 15 minutes, sans engagement.</a:t>
            </a:r>
            <a:endParaRPr lang="en-US" sz="1400" dirty="0"/>
          </a:p>
        </p:txBody>
      </p:sp>
      <p:sp>
        <p:nvSpPr>
          <p:cNvPr id="9" name="Shape 6"/>
          <p:cNvSpPr/>
          <p:nvPr/>
        </p:nvSpPr>
        <p:spPr>
          <a:xfrm>
            <a:off x="640080" y="5257800"/>
            <a:ext cx="5303520" cy="914400"/>
          </a:xfrm>
          <a:prstGeom prst="roundRect">
            <a:avLst>
              <a:gd name="adj" fmla="val 10000"/>
            </a:avLst>
          </a:prstGeom>
          <a:solidFill>
            <a:srgbClr val="25D366"/>
          </a:solidFill>
          <a:ln/>
        </p:spPr>
      </p:sp>
      <p:sp>
        <p:nvSpPr>
          <p:cNvPr id="10" name="Text 7"/>
          <p:cNvSpPr/>
          <p:nvPr/>
        </p:nvSpPr>
        <p:spPr>
          <a:xfrm>
            <a:off x="822960" y="5303520"/>
            <a:ext cx="4937760" cy="365760"/>
          </a:xfrm>
          <a:prstGeom prst="rect">
            <a:avLst/>
          </a:prstGeom>
          <a:noFill/>
          <a:ln/>
        </p:spPr>
        <p:txBody>
          <a:bodyPr wrap="square"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WhatsApp direct</a:t>
            </a:r>
            <a:endParaRPr lang="en-US" sz="1200" dirty="0"/>
          </a:p>
        </p:txBody>
      </p:sp>
      <p:sp>
        <p:nvSpPr>
          <p:cNvPr id="11" name="Text 8"/>
          <p:cNvSpPr/>
          <p:nvPr/>
        </p:nvSpPr>
        <p:spPr>
          <a:xfrm>
            <a:off x="822960" y="5650992"/>
            <a:ext cx="4937760" cy="502920"/>
          </a:xfrm>
          <a:prstGeom prst="rect">
            <a:avLst/>
          </a:prstGeom>
          <a:noFill/>
          <a:ln/>
        </p:spPr>
        <p:txBody>
          <a:bodyPr wrap="square"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+221 76 387 34 28</a:t>
            </a:r>
            <a:endParaRPr lang="en-US" sz="2000" dirty="0"/>
          </a:p>
        </p:txBody>
      </p:sp>
      <p:sp>
        <p:nvSpPr>
          <p:cNvPr id="12" name="Shape 9"/>
          <p:cNvSpPr/>
          <p:nvPr/>
        </p:nvSpPr>
        <p:spPr>
          <a:xfrm>
            <a:off x="6309360" y="5257800"/>
            <a:ext cx="5422392" cy="914400"/>
          </a:xfrm>
          <a:prstGeom prst="roundRect">
            <a:avLst>
              <a:gd name="adj" fmla="val 10000"/>
            </a:avLst>
          </a:prstGeom>
          <a:solidFill>
            <a:srgbClr val="F09042"/>
          </a:solidFill>
          <a:ln/>
        </p:spPr>
      </p:sp>
      <p:sp>
        <p:nvSpPr>
          <p:cNvPr id="13" name="Text 10"/>
          <p:cNvSpPr/>
          <p:nvPr/>
        </p:nvSpPr>
        <p:spPr>
          <a:xfrm>
            <a:off x="6492240" y="5303520"/>
            <a:ext cx="5029200" cy="365760"/>
          </a:xfrm>
          <a:prstGeom prst="rect">
            <a:avLst/>
          </a:prstGeom>
          <a:noFill/>
          <a:ln/>
        </p:spPr>
        <p:txBody>
          <a:bodyPr wrap="square" rtlCol="0" anchor="ctr"/>
          <a:lstStyle/>
          <a:p>
            <a:pPr indent="0" marL="0">
              <a:buNone/>
            </a:pPr>
            <a:r>
              <a:rPr lang="en-US" sz="1200" b="1" spc="200" kern="0" dirty="0">
                <a:solidFill>
                  <a:srgbClr val="0E1729"/>
                </a:solidFill>
                <a:latin typeface="Calibri" pitchFamily="34" charset="0"/>
                <a:ea typeface="Calibri" pitchFamily="34" charset="-122"/>
                <a:cs typeface="Calibri" pitchFamily="34" charset="-120"/>
              </a:rPr>
              <a:t>Site web HES</a:t>
            </a:r>
            <a:endParaRPr lang="en-US" sz="1200" dirty="0"/>
          </a:p>
        </p:txBody>
      </p:sp>
      <p:sp>
        <p:nvSpPr>
          <p:cNvPr id="14" name="Text 11"/>
          <p:cNvSpPr/>
          <p:nvPr/>
        </p:nvSpPr>
        <p:spPr>
          <a:xfrm>
            <a:off x="6492240" y="5650992"/>
            <a:ext cx="5029200" cy="502920"/>
          </a:xfrm>
          <a:prstGeom prst="rect">
            <a:avLst/>
          </a:prstGeom>
          <a:noFill/>
          <a:ln/>
        </p:spPr>
        <p:txBody>
          <a:bodyPr wrap="square" rtlCol="0" anchor="ctr"/>
          <a:lstStyle/>
          <a:p>
            <a:pPr indent="0" marL="0">
              <a:buNone/>
            </a:pPr>
            <a:r>
              <a:rPr lang="en-US" sz="1800" b="1" dirty="0">
                <a:solidFill>
                  <a:srgbClr val="0E1729"/>
                </a:solidFill>
                <a:latin typeface="Consolas" pitchFamily="34" charset="0"/>
                <a:ea typeface="Consolas" pitchFamily="34" charset="-122"/>
                <a:cs typeface="Consolas" pitchFamily="34" charset="-120"/>
              </a:rPr>
              <a:t>heavenelijahservice.org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Heaven Elijah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Outils biomédicaux — Module 4</dc:title>
  <dc:subject>Formation HES — Biostatistique</dc:subject>
  <dc:creator>Heaven Elijah Service</dc:creator>
  <cp:lastModifiedBy>Heaven Elijah Service</cp:lastModifiedBy>
  <cp:revision>1</cp:revision>
  <dcterms:created xsi:type="dcterms:W3CDTF">2026-05-14T19:11:37Z</dcterms:created>
  <dcterms:modified xsi:type="dcterms:W3CDTF">2026-05-14T19:11:37Z</dcterms:modified>
</cp:coreProperties>
</file>