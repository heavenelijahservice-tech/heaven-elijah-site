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828800"/>
            <a:ext cx="4572000" cy="45720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3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10515600" y="530352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FORMATION HES · BIOSTAT · MODULE 4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173736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</a:t>
            </a:r>
            <a:endParaRPr lang="en-US" sz="6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biomédicaux.</a:t>
            </a:r>
            <a:endParaRPr lang="en-US" sz="6200" dirty="0"/>
          </a:p>
        </p:txBody>
      </p:sp>
      <p:sp>
        <p:nvSpPr>
          <p:cNvPr id="6" name="Shape 3"/>
          <p:cNvSpPr/>
          <p:nvPr/>
        </p:nvSpPr>
        <p:spPr>
          <a:xfrm>
            <a:off x="640080" y="4617720"/>
            <a:ext cx="1371600" cy="54864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4800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Diagnostic, ROC, survie : les méthodes qui font la médecine.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5943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slides · ~50 min · Doctorants et chercheurs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0" y="5943600"/>
            <a:ext cx="6245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POURQUOI CE MODULE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outils des publications médicales.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Sensibilité, spécificité, ROC, Kaplan-Meier, Cox — ces termes apparaissent dans presque toutes les thèses en médecine et en santé publique. Ce sont les outils adaptés aux questions cliniques typiques.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4747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familles, trois questions cliniques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794760"/>
            <a:ext cx="351434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931920"/>
            <a:ext cx="3331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434840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test détecte-t-il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 la maladie ?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00144" y="4366260"/>
            <a:ext cx="182880" cy="457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9872" y="4293108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309872" y="4366260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28744" y="3794760"/>
            <a:ext cx="351434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184" y="3931920"/>
            <a:ext cx="3331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20184" y="4434840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observateurs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voient-ils pareil ?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988808" y="4366260"/>
            <a:ext cx="182880" cy="457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98536" y="4293108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8098536" y="4366260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17408" y="3794760"/>
            <a:ext cx="3514344" cy="1143000"/>
          </a:xfrm>
          <a:prstGeom prst="roundRect">
            <a:avLst>
              <a:gd name="adj" fmla="val 6400"/>
            </a:avLst>
          </a:prstGeom>
          <a:solidFill>
            <a:srgbClr val="F09042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08848" y="3931920"/>
            <a:ext cx="3331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08848" y="4434840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de temps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l'événement ?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0080" y="5212080"/>
            <a:ext cx="54864" cy="100584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52578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 maîtrises ces outils, tu lis sans peine une publication clinique. Si tu sais aussi les défendre, tu soutiens une thèse de doctorat en médecine.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 CARTE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familles, trois jeux d'outils.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chaque grande question clinique correspond une famille d'outils. Voici la cartographie qui te permet de choisir avant d'ouvrir 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Ce test détecte-t-il bien ? »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3621024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3931920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Se, Sp, VPP, VPN (4-5)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4462272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de vraisemblance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4690872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LR+ / LR− (6)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5221224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globale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" y="5449824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Courbe ROC + AUC (7-8)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52544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8" name="Text 16"/>
          <p:cNvSpPr/>
          <p:nvPr/>
        </p:nvSpPr>
        <p:spPr>
          <a:xfrm>
            <a:off x="4489704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9704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Deux observateurs concordent ? »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352544" y="3566160"/>
            <a:ext cx="3621024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9704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Qualitatif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89704" y="3931920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Kappa de Cohen (9)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89704" y="4462272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489704" y="4690872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Bland-Altman (10)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489704" y="5221224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489704" y="5449824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Selon nature de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 variable.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065008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8" name="Text 26"/>
          <p:cNvSpPr/>
          <p:nvPr/>
        </p:nvSpPr>
        <p:spPr>
          <a:xfrm>
            <a:off x="8202168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02168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Combien de temps avant l'événement ? »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065008" y="3566160"/>
            <a:ext cx="3621024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02168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02168" y="3931920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Kaplan-Meier (11)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02168" y="4462272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2 groupes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02168" y="4690872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Log-rank test (12)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02168" y="5221224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Ajustement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02168" y="5449824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Régression Cox (13)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DIAGNOSTIC · INDICATEURS DE BASE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2×2 : Se, Sp, VPP, VPN.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tableau 2×2 est le point de départ de toute évaluation diagnostique. Sensibilité = VP/(VP+FN). Spécificité = VN/(VN+FP). VPP et VPN dépendent en plus de la prévalence.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457200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1546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2×2 · résultats du test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3611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62200" y="3611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Malade 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718560" y="3611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Malade −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4373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05840" y="5135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−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362200" y="4373880"/>
            <a:ext cx="135636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62200" y="4373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18560" y="4373880"/>
            <a:ext cx="135636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18560" y="4373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362200" y="5135880"/>
            <a:ext cx="135636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62200" y="5135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718560" y="5135880"/>
            <a:ext cx="135636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18560" y="5135880"/>
            <a:ext cx="135636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188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349240" y="3108960"/>
            <a:ext cx="31546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40680" y="3145536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de 300 patients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547528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" name="Shape 23"/>
          <p:cNvSpPr/>
          <p:nvPr/>
        </p:nvSpPr>
        <p:spPr>
          <a:xfrm>
            <a:off x="5739552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" name="Shape 24"/>
          <p:cNvSpPr/>
          <p:nvPr/>
        </p:nvSpPr>
        <p:spPr>
          <a:xfrm>
            <a:off x="5931576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" name="Shape 25"/>
          <p:cNvSpPr/>
          <p:nvPr/>
        </p:nvSpPr>
        <p:spPr>
          <a:xfrm>
            <a:off x="6123600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8" name="Shape 26"/>
          <p:cNvSpPr/>
          <p:nvPr/>
        </p:nvSpPr>
        <p:spPr>
          <a:xfrm>
            <a:off x="6315624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9" name="Shape 27"/>
          <p:cNvSpPr/>
          <p:nvPr/>
        </p:nvSpPr>
        <p:spPr>
          <a:xfrm>
            <a:off x="6507648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0" name="Shape 28"/>
          <p:cNvSpPr/>
          <p:nvPr/>
        </p:nvSpPr>
        <p:spPr>
          <a:xfrm>
            <a:off x="6699672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1" name="Shape 29"/>
          <p:cNvSpPr/>
          <p:nvPr/>
        </p:nvSpPr>
        <p:spPr>
          <a:xfrm>
            <a:off x="6891696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2" name="Shape 30"/>
          <p:cNvSpPr/>
          <p:nvPr/>
        </p:nvSpPr>
        <p:spPr>
          <a:xfrm>
            <a:off x="7083720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3" name="Shape 31"/>
          <p:cNvSpPr/>
          <p:nvPr/>
        </p:nvSpPr>
        <p:spPr>
          <a:xfrm>
            <a:off x="7275744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4" name="Shape 32"/>
          <p:cNvSpPr/>
          <p:nvPr/>
        </p:nvSpPr>
        <p:spPr>
          <a:xfrm>
            <a:off x="7467768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5" name="Shape 33"/>
          <p:cNvSpPr/>
          <p:nvPr/>
        </p:nvSpPr>
        <p:spPr>
          <a:xfrm>
            <a:off x="7659792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6" name="Shape 34"/>
          <p:cNvSpPr/>
          <p:nvPr/>
        </p:nvSpPr>
        <p:spPr>
          <a:xfrm>
            <a:off x="7851816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7" name="Shape 35"/>
          <p:cNvSpPr/>
          <p:nvPr/>
        </p:nvSpPr>
        <p:spPr>
          <a:xfrm>
            <a:off x="8043840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8" name="Shape 36"/>
          <p:cNvSpPr/>
          <p:nvPr/>
        </p:nvSpPr>
        <p:spPr>
          <a:xfrm>
            <a:off x="8235864" y="341651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9" name="Shape 37"/>
          <p:cNvSpPr/>
          <p:nvPr/>
        </p:nvSpPr>
        <p:spPr>
          <a:xfrm>
            <a:off x="5547528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0" name="Shape 38"/>
          <p:cNvSpPr/>
          <p:nvPr/>
        </p:nvSpPr>
        <p:spPr>
          <a:xfrm>
            <a:off x="5739552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1" name="Shape 39"/>
          <p:cNvSpPr/>
          <p:nvPr/>
        </p:nvSpPr>
        <p:spPr>
          <a:xfrm>
            <a:off x="5931576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2" name="Shape 40"/>
          <p:cNvSpPr/>
          <p:nvPr/>
        </p:nvSpPr>
        <p:spPr>
          <a:xfrm>
            <a:off x="6123600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3" name="Shape 41"/>
          <p:cNvSpPr/>
          <p:nvPr/>
        </p:nvSpPr>
        <p:spPr>
          <a:xfrm>
            <a:off x="6315624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4" name="Shape 42"/>
          <p:cNvSpPr/>
          <p:nvPr/>
        </p:nvSpPr>
        <p:spPr>
          <a:xfrm>
            <a:off x="6507648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5" name="Shape 43"/>
          <p:cNvSpPr/>
          <p:nvPr/>
        </p:nvSpPr>
        <p:spPr>
          <a:xfrm>
            <a:off x="6699672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6" name="Shape 44"/>
          <p:cNvSpPr/>
          <p:nvPr/>
        </p:nvSpPr>
        <p:spPr>
          <a:xfrm>
            <a:off x="6891696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7" name="Shape 45"/>
          <p:cNvSpPr/>
          <p:nvPr/>
        </p:nvSpPr>
        <p:spPr>
          <a:xfrm>
            <a:off x="7083720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8" name="Shape 46"/>
          <p:cNvSpPr/>
          <p:nvPr/>
        </p:nvSpPr>
        <p:spPr>
          <a:xfrm>
            <a:off x="7275744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49" name="Shape 47"/>
          <p:cNvSpPr/>
          <p:nvPr/>
        </p:nvSpPr>
        <p:spPr>
          <a:xfrm>
            <a:off x="7467768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0" name="Shape 48"/>
          <p:cNvSpPr/>
          <p:nvPr/>
        </p:nvSpPr>
        <p:spPr>
          <a:xfrm>
            <a:off x="7659792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1" name="Shape 49"/>
          <p:cNvSpPr/>
          <p:nvPr/>
        </p:nvSpPr>
        <p:spPr>
          <a:xfrm>
            <a:off x="7851816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2" name="Shape 50"/>
          <p:cNvSpPr/>
          <p:nvPr/>
        </p:nvSpPr>
        <p:spPr>
          <a:xfrm>
            <a:off x="8043840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3" name="Shape 51"/>
          <p:cNvSpPr/>
          <p:nvPr/>
        </p:nvSpPr>
        <p:spPr>
          <a:xfrm>
            <a:off x="8235864" y="351618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4" name="Shape 52"/>
          <p:cNvSpPr/>
          <p:nvPr/>
        </p:nvSpPr>
        <p:spPr>
          <a:xfrm>
            <a:off x="5547528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5" name="Shape 53"/>
          <p:cNvSpPr/>
          <p:nvPr/>
        </p:nvSpPr>
        <p:spPr>
          <a:xfrm>
            <a:off x="5739552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6" name="Shape 54"/>
          <p:cNvSpPr/>
          <p:nvPr/>
        </p:nvSpPr>
        <p:spPr>
          <a:xfrm>
            <a:off x="5931576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7" name="Shape 55"/>
          <p:cNvSpPr/>
          <p:nvPr/>
        </p:nvSpPr>
        <p:spPr>
          <a:xfrm>
            <a:off x="6123600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8" name="Shape 56"/>
          <p:cNvSpPr/>
          <p:nvPr/>
        </p:nvSpPr>
        <p:spPr>
          <a:xfrm>
            <a:off x="6315624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9" name="Shape 57"/>
          <p:cNvSpPr/>
          <p:nvPr/>
        </p:nvSpPr>
        <p:spPr>
          <a:xfrm>
            <a:off x="6507648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0" name="Shape 58"/>
          <p:cNvSpPr/>
          <p:nvPr/>
        </p:nvSpPr>
        <p:spPr>
          <a:xfrm>
            <a:off x="6699672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1" name="Shape 59"/>
          <p:cNvSpPr/>
          <p:nvPr/>
        </p:nvSpPr>
        <p:spPr>
          <a:xfrm>
            <a:off x="6891696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2" name="Shape 60"/>
          <p:cNvSpPr/>
          <p:nvPr/>
        </p:nvSpPr>
        <p:spPr>
          <a:xfrm>
            <a:off x="7083720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3" name="Shape 61"/>
          <p:cNvSpPr/>
          <p:nvPr/>
        </p:nvSpPr>
        <p:spPr>
          <a:xfrm>
            <a:off x="7275744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4" name="Shape 62"/>
          <p:cNvSpPr/>
          <p:nvPr/>
        </p:nvSpPr>
        <p:spPr>
          <a:xfrm>
            <a:off x="7467768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5" name="Shape 63"/>
          <p:cNvSpPr/>
          <p:nvPr/>
        </p:nvSpPr>
        <p:spPr>
          <a:xfrm>
            <a:off x="7659792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6" name="Shape 64"/>
          <p:cNvSpPr/>
          <p:nvPr/>
        </p:nvSpPr>
        <p:spPr>
          <a:xfrm>
            <a:off x="7851816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7" name="Shape 65"/>
          <p:cNvSpPr/>
          <p:nvPr/>
        </p:nvSpPr>
        <p:spPr>
          <a:xfrm>
            <a:off x="8043840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8" name="Shape 66"/>
          <p:cNvSpPr/>
          <p:nvPr/>
        </p:nvSpPr>
        <p:spPr>
          <a:xfrm>
            <a:off x="8235864" y="3615858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69" name="Shape 67"/>
          <p:cNvSpPr/>
          <p:nvPr/>
        </p:nvSpPr>
        <p:spPr>
          <a:xfrm>
            <a:off x="5547528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0" name="Shape 68"/>
          <p:cNvSpPr/>
          <p:nvPr/>
        </p:nvSpPr>
        <p:spPr>
          <a:xfrm>
            <a:off x="5739552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1" name="Shape 69"/>
          <p:cNvSpPr/>
          <p:nvPr/>
        </p:nvSpPr>
        <p:spPr>
          <a:xfrm>
            <a:off x="5931576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2" name="Shape 70"/>
          <p:cNvSpPr/>
          <p:nvPr/>
        </p:nvSpPr>
        <p:spPr>
          <a:xfrm>
            <a:off x="6123600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3" name="Shape 71"/>
          <p:cNvSpPr/>
          <p:nvPr/>
        </p:nvSpPr>
        <p:spPr>
          <a:xfrm>
            <a:off x="6315624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4" name="Shape 72"/>
          <p:cNvSpPr/>
          <p:nvPr/>
        </p:nvSpPr>
        <p:spPr>
          <a:xfrm>
            <a:off x="6507648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5" name="Shape 73"/>
          <p:cNvSpPr/>
          <p:nvPr/>
        </p:nvSpPr>
        <p:spPr>
          <a:xfrm>
            <a:off x="6699672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6" name="Shape 74"/>
          <p:cNvSpPr/>
          <p:nvPr/>
        </p:nvSpPr>
        <p:spPr>
          <a:xfrm>
            <a:off x="6891696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7" name="Shape 75"/>
          <p:cNvSpPr/>
          <p:nvPr/>
        </p:nvSpPr>
        <p:spPr>
          <a:xfrm>
            <a:off x="7083720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8" name="Shape 76"/>
          <p:cNvSpPr/>
          <p:nvPr/>
        </p:nvSpPr>
        <p:spPr>
          <a:xfrm>
            <a:off x="7275744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9" name="Shape 77"/>
          <p:cNvSpPr/>
          <p:nvPr/>
        </p:nvSpPr>
        <p:spPr>
          <a:xfrm>
            <a:off x="7467768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0" name="Shape 78"/>
          <p:cNvSpPr/>
          <p:nvPr/>
        </p:nvSpPr>
        <p:spPr>
          <a:xfrm>
            <a:off x="7659792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1" name="Shape 79"/>
          <p:cNvSpPr/>
          <p:nvPr/>
        </p:nvSpPr>
        <p:spPr>
          <a:xfrm>
            <a:off x="7851816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2" name="Shape 80"/>
          <p:cNvSpPr/>
          <p:nvPr/>
        </p:nvSpPr>
        <p:spPr>
          <a:xfrm>
            <a:off x="8043840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3" name="Shape 81"/>
          <p:cNvSpPr/>
          <p:nvPr/>
        </p:nvSpPr>
        <p:spPr>
          <a:xfrm>
            <a:off x="8235864" y="371552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4" name="Shape 82"/>
          <p:cNvSpPr/>
          <p:nvPr/>
        </p:nvSpPr>
        <p:spPr>
          <a:xfrm>
            <a:off x="5547528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5" name="Shape 83"/>
          <p:cNvSpPr/>
          <p:nvPr/>
        </p:nvSpPr>
        <p:spPr>
          <a:xfrm>
            <a:off x="5739552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6" name="Shape 84"/>
          <p:cNvSpPr/>
          <p:nvPr/>
        </p:nvSpPr>
        <p:spPr>
          <a:xfrm>
            <a:off x="5931576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7" name="Shape 85"/>
          <p:cNvSpPr/>
          <p:nvPr/>
        </p:nvSpPr>
        <p:spPr>
          <a:xfrm>
            <a:off x="6123600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8" name="Shape 86"/>
          <p:cNvSpPr/>
          <p:nvPr/>
        </p:nvSpPr>
        <p:spPr>
          <a:xfrm>
            <a:off x="6315624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89" name="Shape 87"/>
          <p:cNvSpPr/>
          <p:nvPr/>
        </p:nvSpPr>
        <p:spPr>
          <a:xfrm>
            <a:off x="6507648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0" name="Shape 88"/>
          <p:cNvSpPr/>
          <p:nvPr/>
        </p:nvSpPr>
        <p:spPr>
          <a:xfrm>
            <a:off x="6699672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1" name="Shape 89"/>
          <p:cNvSpPr/>
          <p:nvPr/>
        </p:nvSpPr>
        <p:spPr>
          <a:xfrm>
            <a:off x="6891696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2" name="Shape 90"/>
          <p:cNvSpPr/>
          <p:nvPr/>
        </p:nvSpPr>
        <p:spPr>
          <a:xfrm>
            <a:off x="7083720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3" name="Shape 91"/>
          <p:cNvSpPr/>
          <p:nvPr/>
        </p:nvSpPr>
        <p:spPr>
          <a:xfrm>
            <a:off x="7275744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4" name="Shape 92"/>
          <p:cNvSpPr/>
          <p:nvPr/>
        </p:nvSpPr>
        <p:spPr>
          <a:xfrm>
            <a:off x="7467768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5" name="Shape 93"/>
          <p:cNvSpPr/>
          <p:nvPr/>
        </p:nvSpPr>
        <p:spPr>
          <a:xfrm>
            <a:off x="7659792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6" name="Shape 94"/>
          <p:cNvSpPr/>
          <p:nvPr/>
        </p:nvSpPr>
        <p:spPr>
          <a:xfrm>
            <a:off x="7851816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7" name="Shape 95"/>
          <p:cNvSpPr/>
          <p:nvPr/>
        </p:nvSpPr>
        <p:spPr>
          <a:xfrm>
            <a:off x="8043840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8" name="Shape 96"/>
          <p:cNvSpPr/>
          <p:nvPr/>
        </p:nvSpPr>
        <p:spPr>
          <a:xfrm>
            <a:off x="8235864" y="3815197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9" name="Shape 97"/>
          <p:cNvSpPr/>
          <p:nvPr/>
        </p:nvSpPr>
        <p:spPr>
          <a:xfrm>
            <a:off x="5547528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739552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931576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23600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315624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507648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9672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891696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083720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275744" y="3914866"/>
            <a:ext cx="69769" cy="69769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467768" y="391486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659792" y="391486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851816" y="391486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043840" y="391486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235864" y="391486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547528" y="401453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739552" y="401453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931576" y="401453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123600" y="401453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315624" y="401453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507648" y="401453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699672" y="4014536"/>
            <a:ext cx="69769" cy="69769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891696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083720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75744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467768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659792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851816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043840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235864" y="401453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547528" y="411420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39552" y="411420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931576" y="411420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123600" y="411420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315624" y="411420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507648" y="411420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699672" y="4114206"/>
            <a:ext cx="69769" cy="69769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891696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83720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275744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467768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659792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851816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2" name="Shape 140"/>
          <p:cNvSpPr/>
          <p:nvPr/>
        </p:nvSpPr>
        <p:spPr>
          <a:xfrm>
            <a:off x="8043840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3" name="Shape 141"/>
          <p:cNvSpPr/>
          <p:nvPr/>
        </p:nvSpPr>
        <p:spPr>
          <a:xfrm>
            <a:off x="8235864" y="4114206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547528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739552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931576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123600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315624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507648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699672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91696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2" name="Shape 150"/>
          <p:cNvSpPr/>
          <p:nvPr/>
        </p:nvSpPr>
        <p:spPr>
          <a:xfrm>
            <a:off x="7083720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3" name="Shape 151"/>
          <p:cNvSpPr/>
          <p:nvPr/>
        </p:nvSpPr>
        <p:spPr>
          <a:xfrm>
            <a:off x="7275744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4" name="Shape 152"/>
          <p:cNvSpPr/>
          <p:nvPr/>
        </p:nvSpPr>
        <p:spPr>
          <a:xfrm>
            <a:off x="7467768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5" name="Shape 153"/>
          <p:cNvSpPr/>
          <p:nvPr/>
        </p:nvSpPr>
        <p:spPr>
          <a:xfrm>
            <a:off x="7659792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851816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7" name="Shape 155"/>
          <p:cNvSpPr/>
          <p:nvPr/>
        </p:nvSpPr>
        <p:spPr>
          <a:xfrm>
            <a:off x="8043840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8" name="Shape 156"/>
          <p:cNvSpPr/>
          <p:nvPr/>
        </p:nvSpPr>
        <p:spPr>
          <a:xfrm>
            <a:off x="8235864" y="421387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547528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39552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931576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23600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315624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507648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699672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891696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083720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275744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467768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659792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851816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2" name="Shape 170"/>
          <p:cNvSpPr/>
          <p:nvPr/>
        </p:nvSpPr>
        <p:spPr>
          <a:xfrm>
            <a:off x="8043840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3" name="Shape 171"/>
          <p:cNvSpPr/>
          <p:nvPr/>
        </p:nvSpPr>
        <p:spPr>
          <a:xfrm>
            <a:off x="8235864" y="4313545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547528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739552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931576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123600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315624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507648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699672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91696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2" name="Shape 180"/>
          <p:cNvSpPr/>
          <p:nvPr/>
        </p:nvSpPr>
        <p:spPr>
          <a:xfrm>
            <a:off x="7083720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3" name="Shape 181"/>
          <p:cNvSpPr/>
          <p:nvPr/>
        </p:nvSpPr>
        <p:spPr>
          <a:xfrm>
            <a:off x="7275744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467768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659792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851816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7" name="Shape 185"/>
          <p:cNvSpPr/>
          <p:nvPr/>
        </p:nvSpPr>
        <p:spPr>
          <a:xfrm>
            <a:off x="8043840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8" name="Shape 186"/>
          <p:cNvSpPr/>
          <p:nvPr/>
        </p:nvSpPr>
        <p:spPr>
          <a:xfrm>
            <a:off x="8235864" y="441321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547528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39552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931576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123600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315624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507648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699672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891696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083720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275744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467768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59792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851816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2" name="Shape 200"/>
          <p:cNvSpPr/>
          <p:nvPr/>
        </p:nvSpPr>
        <p:spPr>
          <a:xfrm>
            <a:off x="8043840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3" name="Shape 201"/>
          <p:cNvSpPr/>
          <p:nvPr/>
        </p:nvSpPr>
        <p:spPr>
          <a:xfrm>
            <a:off x="8235864" y="451288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4" name="Shape 202"/>
          <p:cNvSpPr/>
          <p:nvPr/>
        </p:nvSpPr>
        <p:spPr>
          <a:xfrm>
            <a:off x="5547528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5" name="Shape 203"/>
          <p:cNvSpPr/>
          <p:nvPr/>
        </p:nvSpPr>
        <p:spPr>
          <a:xfrm>
            <a:off x="5739552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6" name="Shape 204"/>
          <p:cNvSpPr/>
          <p:nvPr/>
        </p:nvSpPr>
        <p:spPr>
          <a:xfrm>
            <a:off x="5931576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123600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315624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507648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699672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891696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2" name="Shape 210"/>
          <p:cNvSpPr/>
          <p:nvPr/>
        </p:nvSpPr>
        <p:spPr>
          <a:xfrm>
            <a:off x="7083720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275744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4" name="Shape 212"/>
          <p:cNvSpPr/>
          <p:nvPr/>
        </p:nvSpPr>
        <p:spPr>
          <a:xfrm>
            <a:off x="7467768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5" name="Shape 213"/>
          <p:cNvSpPr/>
          <p:nvPr/>
        </p:nvSpPr>
        <p:spPr>
          <a:xfrm>
            <a:off x="7659792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6" name="Shape 214"/>
          <p:cNvSpPr/>
          <p:nvPr/>
        </p:nvSpPr>
        <p:spPr>
          <a:xfrm>
            <a:off x="7851816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7" name="Shape 215"/>
          <p:cNvSpPr/>
          <p:nvPr/>
        </p:nvSpPr>
        <p:spPr>
          <a:xfrm>
            <a:off x="8043840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8" name="Shape 216"/>
          <p:cNvSpPr/>
          <p:nvPr/>
        </p:nvSpPr>
        <p:spPr>
          <a:xfrm>
            <a:off x="8235864" y="4612554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9" name="Shape 217"/>
          <p:cNvSpPr/>
          <p:nvPr/>
        </p:nvSpPr>
        <p:spPr>
          <a:xfrm>
            <a:off x="5547528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0" name="Shape 218"/>
          <p:cNvSpPr/>
          <p:nvPr/>
        </p:nvSpPr>
        <p:spPr>
          <a:xfrm>
            <a:off x="5739552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931576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123600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315624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4" name="Shape 222"/>
          <p:cNvSpPr/>
          <p:nvPr/>
        </p:nvSpPr>
        <p:spPr>
          <a:xfrm>
            <a:off x="6507648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5" name="Shape 223"/>
          <p:cNvSpPr/>
          <p:nvPr/>
        </p:nvSpPr>
        <p:spPr>
          <a:xfrm>
            <a:off x="6699672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6" name="Shape 224"/>
          <p:cNvSpPr/>
          <p:nvPr/>
        </p:nvSpPr>
        <p:spPr>
          <a:xfrm>
            <a:off x="6891696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083720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8" name="Shape 226"/>
          <p:cNvSpPr/>
          <p:nvPr/>
        </p:nvSpPr>
        <p:spPr>
          <a:xfrm>
            <a:off x="7275744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467768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0" name="Shape 228"/>
          <p:cNvSpPr/>
          <p:nvPr/>
        </p:nvSpPr>
        <p:spPr>
          <a:xfrm>
            <a:off x="7659792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851816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2" name="Shape 230"/>
          <p:cNvSpPr/>
          <p:nvPr/>
        </p:nvSpPr>
        <p:spPr>
          <a:xfrm>
            <a:off x="8043840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3" name="Shape 231"/>
          <p:cNvSpPr/>
          <p:nvPr/>
        </p:nvSpPr>
        <p:spPr>
          <a:xfrm>
            <a:off x="8235864" y="471222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4" name="Shape 232"/>
          <p:cNvSpPr/>
          <p:nvPr/>
        </p:nvSpPr>
        <p:spPr>
          <a:xfrm>
            <a:off x="5547528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5" name="Shape 233"/>
          <p:cNvSpPr/>
          <p:nvPr/>
        </p:nvSpPr>
        <p:spPr>
          <a:xfrm>
            <a:off x="5739552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6" name="Shape 234"/>
          <p:cNvSpPr/>
          <p:nvPr/>
        </p:nvSpPr>
        <p:spPr>
          <a:xfrm>
            <a:off x="5931576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7" name="Shape 235"/>
          <p:cNvSpPr/>
          <p:nvPr/>
        </p:nvSpPr>
        <p:spPr>
          <a:xfrm>
            <a:off x="6123600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8" name="Shape 236"/>
          <p:cNvSpPr/>
          <p:nvPr/>
        </p:nvSpPr>
        <p:spPr>
          <a:xfrm>
            <a:off x="6315624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9" name="Shape 237"/>
          <p:cNvSpPr/>
          <p:nvPr/>
        </p:nvSpPr>
        <p:spPr>
          <a:xfrm>
            <a:off x="6507648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0" name="Shape 238"/>
          <p:cNvSpPr/>
          <p:nvPr/>
        </p:nvSpPr>
        <p:spPr>
          <a:xfrm>
            <a:off x="6699672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891696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083720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3" name="Shape 241"/>
          <p:cNvSpPr/>
          <p:nvPr/>
        </p:nvSpPr>
        <p:spPr>
          <a:xfrm>
            <a:off x="7275744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467768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659792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6" name="Shape 244"/>
          <p:cNvSpPr/>
          <p:nvPr/>
        </p:nvSpPr>
        <p:spPr>
          <a:xfrm>
            <a:off x="7851816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043840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235864" y="4811893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547528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739552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931576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2" name="Shape 250"/>
          <p:cNvSpPr/>
          <p:nvPr/>
        </p:nvSpPr>
        <p:spPr>
          <a:xfrm>
            <a:off x="6123600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3" name="Shape 251"/>
          <p:cNvSpPr/>
          <p:nvPr/>
        </p:nvSpPr>
        <p:spPr>
          <a:xfrm>
            <a:off x="6315624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507648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5" name="Shape 253"/>
          <p:cNvSpPr/>
          <p:nvPr/>
        </p:nvSpPr>
        <p:spPr>
          <a:xfrm>
            <a:off x="6699672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6" name="Shape 254"/>
          <p:cNvSpPr/>
          <p:nvPr/>
        </p:nvSpPr>
        <p:spPr>
          <a:xfrm>
            <a:off x="6891696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7" name="Shape 255"/>
          <p:cNvSpPr/>
          <p:nvPr/>
        </p:nvSpPr>
        <p:spPr>
          <a:xfrm>
            <a:off x="7083720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8" name="Shape 256"/>
          <p:cNvSpPr/>
          <p:nvPr/>
        </p:nvSpPr>
        <p:spPr>
          <a:xfrm>
            <a:off x="7275744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9" name="Shape 257"/>
          <p:cNvSpPr/>
          <p:nvPr/>
        </p:nvSpPr>
        <p:spPr>
          <a:xfrm>
            <a:off x="7467768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0" name="Shape 258"/>
          <p:cNvSpPr/>
          <p:nvPr/>
        </p:nvSpPr>
        <p:spPr>
          <a:xfrm>
            <a:off x="7659792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851816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2" name="Shape 260"/>
          <p:cNvSpPr/>
          <p:nvPr/>
        </p:nvSpPr>
        <p:spPr>
          <a:xfrm>
            <a:off x="8043840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3" name="Shape 261"/>
          <p:cNvSpPr/>
          <p:nvPr/>
        </p:nvSpPr>
        <p:spPr>
          <a:xfrm>
            <a:off x="8235864" y="491156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547528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5" name="Shape 263"/>
          <p:cNvSpPr/>
          <p:nvPr/>
        </p:nvSpPr>
        <p:spPr>
          <a:xfrm>
            <a:off x="5739552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6" name="Shape 264"/>
          <p:cNvSpPr/>
          <p:nvPr/>
        </p:nvSpPr>
        <p:spPr>
          <a:xfrm>
            <a:off x="5931576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3600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315624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507648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699672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891696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2" name="Shape 270"/>
          <p:cNvSpPr/>
          <p:nvPr/>
        </p:nvSpPr>
        <p:spPr>
          <a:xfrm>
            <a:off x="7083720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3" name="Shape 271"/>
          <p:cNvSpPr/>
          <p:nvPr/>
        </p:nvSpPr>
        <p:spPr>
          <a:xfrm>
            <a:off x="7275744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4" name="Shape 272"/>
          <p:cNvSpPr/>
          <p:nvPr/>
        </p:nvSpPr>
        <p:spPr>
          <a:xfrm>
            <a:off x="7467768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5" name="Shape 273"/>
          <p:cNvSpPr/>
          <p:nvPr/>
        </p:nvSpPr>
        <p:spPr>
          <a:xfrm>
            <a:off x="7659792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6" name="Shape 274"/>
          <p:cNvSpPr/>
          <p:nvPr/>
        </p:nvSpPr>
        <p:spPr>
          <a:xfrm>
            <a:off x="7851816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7" name="Shape 275"/>
          <p:cNvSpPr/>
          <p:nvPr/>
        </p:nvSpPr>
        <p:spPr>
          <a:xfrm>
            <a:off x="8043840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8" name="Shape 276"/>
          <p:cNvSpPr/>
          <p:nvPr/>
        </p:nvSpPr>
        <p:spPr>
          <a:xfrm>
            <a:off x="8235864" y="501123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9" name="Shape 277"/>
          <p:cNvSpPr/>
          <p:nvPr/>
        </p:nvSpPr>
        <p:spPr>
          <a:xfrm>
            <a:off x="5547528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0" name="Shape 278"/>
          <p:cNvSpPr/>
          <p:nvPr/>
        </p:nvSpPr>
        <p:spPr>
          <a:xfrm>
            <a:off x="5739552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1" name="Shape 279"/>
          <p:cNvSpPr/>
          <p:nvPr/>
        </p:nvSpPr>
        <p:spPr>
          <a:xfrm>
            <a:off x="5931576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123600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315624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507648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699672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6" name="Shape 284"/>
          <p:cNvSpPr/>
          <p:nvPr/>
        </p:nvSpPr>
        <p:spPr>
          <a:xfrm>
            <a:off x="6891696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83720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275744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467768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659792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851816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2" name="Shape 290"/>
          <p:cNvSpPr/>
          <p:nvPr/>
        </p:nvSpPr>
        <p:spPr>
          <a:xfrm>
            <a:off x="8043840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3" name="Shape 291"/>
          <p:cNvSpPr/>
          <p:nvPr/>
        </p:nvSpPr>
        <p:spPr>
          <a:xfrm>
            <a:off x="8235864" y="5110902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4" name="Shape 292"/>
          <p:cNvSpPr/>
          <p:nvPr/>
        </p:nvSpPr>
        <p:spPr>
          <a:xfrm>
            <a:off x="5547528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5" name="Shape 293"/>
          <p:cNvSpPr/>
          <p:nvPr/>
        </p:nvSpPr>
        <p:spPr>
          <a:xfrm>
            <a:off x="5739552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6" name="Shape 294"/>
          <p:cNvSpPr/>
          <p:nvPr/>
        </p:nvSpPr>
        <p:spPr>
          <a:xfrm>
            <a:off x="5931576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7" name="Shape 295"/>
          <p:cNvSpPr/>
          <p:nvPr/>
        </p:nvSpPr>
        <p:spPr>
          <a:xfrm>
            <a:off x="6123600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8" name="Shape 296"/>
          <p:cNvSpPr/>
          <p:nvPr/>
        </p:nvSpPr>
        <p:spPr>
          <a:xfrm>
            <a:off x="6315624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9" name="Shape 297"/>
          <p:cNvSpPr/>
          <p:nvPr/>
        </p:nvSpPr>
        <p:spPr>
          <a:xfrm>
            <a:off x="6507648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0" name="Shape 298"/>
          <p:cNvSpPr/>
          <p:nvPr/>
        </p:nvSpPr>
        <p:spPr>
          <a:xfrm>
            <a:off x="6699672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1" name="Shape 299"/>
          <p:cNvSpPr/>
          <p:nvPr/>
        </p:nvSpPr>
        <p:spPr>
          <a:xfrm>
            <a:off x="6891696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083720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275744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467768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659792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6" name="Shape 304"/>
          <p:cNvSpPr/>
          <p:nvPr/>
        </p:nvSpPr>
        <p:spPr>
          <a:xfrm>
            <a:off x="7851816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43840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235864" y="521057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9" name="Shape 307"/>
          <p:cNvSpPr/>
          <p:nvPr/>
        </p:nvSpPr>
        <p:spPr>
          <a:xfrm>
            <a:off x="5547528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0" name="Shape 308"/>
          <p:cNvSpPr/>
          <p:nvPr/>
        </p:nvSpPr>
        <p:spPr>
          <a:xfrm>
            <a:off x="5739552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931576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2" name="Shape 310"/>
          <p:cNvSpPr/>
          <p:nvPr/>
        </p:nvSpPr>
        <p:spPr>
          <a:xfrm>
            <a:off x="6123600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3" name="Shape 311"/>
          <p:cNvSpPr/>
          <p:nvPr/>
        </p:nvSpPr>
        <p:spPr>
          <a:xfrm>
            <a:off x="6315624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4" name="Shape 312"/>
          <p:cNvSpPr/>
          <p:nvPr/>
        </p:nvSpPr>
        <p:spPr>
          <a:xfrm>
            <a:off x="6507648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5" name="Shape 313"/>
          <p:cNvSpPr/>
          <p:nvPr/>
        </p:nvSpPr>
        <p:spPr>
          <a:xfrm>
            <a:off x="6699672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6" name="Shape 314"/>
          <p:cNvSpPr/>
          <p:nvPr/>
        </p:nvSpPr>
        <p:spPr>
          <a:xfrm>
            <a:off x="6891696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7" name="Shape 315"/>
          <p:cNvSpPr/>
          <p:nvPr/>
        </p:nvSpPr>
        <p:spPr>
          <a:xfrm>
            <a:off x="7083720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8" name="Shape 316"/>
          <p:cNvSpPr/>
          <p:nvPr/>
        </p:nvSpPr>
        <p:spPr>
          <a:xfrm>
            <a:off x="7275744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9" name="Shape 317"/>
          <p:cNvSpPr/>
          <p:nvPr/>
        </p:nvSpPr>
        <p:spPr>
          <a:xfrm>
            <a:off x="7467768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0" name="Shape 318"/>
          <p:cNvSpPr/>
          <p:nvPr/>
        </p:nvSpPr>
        <p:spPr>
          <a:xfrm>
            <a:off x="7659792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1" name="Shape 319"/>
          <p:cNvSpPr/>
          <p:nvPr/>
        </p:nvSpPr>
        <p:spPr>
          <a:xfrm>
            <a:off x="7851816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2" name="Shape 320"/>
          <p:cNvSpPr/>
          <p:nvPr/>
        </p:nvSpPr>
        <p:spPr>
          <a:xfrm>
            <a:off x="8043840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3" name="Shape 321"/>
          <p:cNvSpPr/>
          <p:nvPr/>
        </p:nvSpPr>
        <p:spPr>
          <a:xfrm>
            <a:off x="8235864" y="5310241"/>
            <a:ext cx="69769" cy="69769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4" name="Shape 322"/>
          <p:cNvSpPr/>
          <p:nvPr/>
        </p:nvSpPr>
        <p:spPr>
          <a:xfrm>
            <a:off x="5440680" y="5559552"/>
            <a:ext cx="164592" cy="164592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25" name="Text 323"/>
          <p:cNvSpPr/>
          <p:nvPr/>
        </p:nvSpPr>
        <p:spPr>
          <a:xfrm>
            <a:off x="5641848" y="5504688"/>
            <a:ext cx="4686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(85)</a:t>
            </a:r>
            <a:endParaRPr lang="en-US" sz="900" dirty="0"/>
          </a:p>
        </p:txBody>
      </p:sp>
      <p:sp>
        <p:nvSpPr>
          <p:cNvPr id="326" name="Shape 324"/>
          <p:cNvSpPr/>
          <p:nvPr/>
        </p:nvSpPr>
        <p:spPr>
          <a:xfrm>
            <a:off x="6183630" y="5559552"/>
            <a:ext cx="164592" cy="164592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327" name="Text 325"/>
          <p:cNvSpPr/>
          <p:nvPr/>
        </p:nvSpPr>
        <p:spPr>
          <a:xfrm>
            <a:off x="6384798" y="5504688"/>
            <a:ext cx="4686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(12)</a:t>
            </a:r>
            <a:endParaRPr lang="en-US" sz="900" dirty="0"/>
          </a:p>
        </p:txBody>
      </p:sp>
      <p:sp>
        <p:nvSpPr>
          <p:cNvPr id="328" name="Shape 326"/>
          <p:cNvSpPr/>
          <p:nvPr/>
        </p:nvSpPr>
        <p:spPr>
          <a:xfrm>
            <a:off x="6926580" y="5559552"/>
            <a:ext cx="164592" cy="164592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329" name="Text 327"/>
          <p:cNvSpPr/>
          <p:nvPr/>
        </p:nvSpPr>
        <p:spPr>
          <a:xfrm>
            <a:off x="7127748" y="5504688"/>
            <a:ext cx="4686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(15)</a:t>
            </a:r>
            <a:endParaRPr lang="en-US" sz="900" dirty="0"/>
          </a:p>
        </p:txBody>
      </p:sp>
      <p:sp>
        <p:nvSpPr>
          <p:cNvPr id="330" name="Shape 328"/>
          <p:cNvSpPr/>
          <p:nvPr/>
        </p:nvSpPr>
        <p:spPr>
          <a:xfrm>
            <a:off x="7669530" y="5559552"/>
            <a:ext cx="164592" cy="164592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31" name="Text 329"/>
          <p:cNvSpPr/>
          <p:nvPr/>
        </p:nvSpPr>
        <p:spPr>
          <a:xfrm>
            <a:off x="7870698" y="5504688"/>
            <a:ext cx="4686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 (188)</a:t>
            </a:r>
            <a:endParaRPr lang="en-US" sz="900" dirty="0"/>
          </a:p>
        </p:txBody>
      </p:sp>
      <p:sp>
        <p:nvSpPr>
          <p:cNvPr id="332" name="Shape 330"/>
          <p:cNvSpPr/>
          <p:nvPr/>
        </p:nvSpPr>
        <p:spPr>
          <a:xfrm>
            <a:off x="8641080" y="3108960"/>
            <a:ext cx="309067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8778240" y="32461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778240" y="3566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</a:t>
            </a:r>
            <a:endParaRPr lang="en-US" sz="1300" dirty="0"/>
          </a:p>
        </p:txBody>
      </p:sp>
      <p:sp>
        <p:nvSpPr>
          <p:cNvPr id="335" name="Text 333"/>
          <p:cNvSpPr/>
          <p:nvPr/>
        </p:nvSpPr>
        <p:spPr>
          <a:xfrm>
            <a:off x="9464040" y="35661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85/97</a:t>
            </a:r>
            <a:endParaRPr lang="en-US" sz="1000" dirty="0"/>
          </a:p>
        </p:txBody>
      </p:sp>
      <p:sp>
        <p:nvSpPr>
          <p:cNvPr id="336" name="Text 334"/>
          <p:cNvSpPr/>
          <p:nvPr/>
        </p:nvSpPr>
        <p:spPr>
          <a:xfrm>
            <a:off x="10561320" y="35661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87.6 %</a:t>
            </a:r>
            <a:endParaRPr lang="en-US" sz="1300" dirty="0"/>
          </a:p>
        </p:txBody>
      </p:sp>
      <p:sp>
        <p:nvSpPr>
          <p:cNvPr id="337" name="Text 335"/>
          <p:cNvSpPr/>
          <p:nvPr/>
        </p:nvSpPr>
        <p:spPr>
          <a:xfrm>
            <a:off x="8778240" y="41605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</a:t>
            </a:r>
            <a:endParaRPr lang="en-US" sz="1300" dirty="0"/>
          </a:p>
        </p:txBody>
      </p:sp>
      <p:sp>
        <p:nvSpPr>
          <p:cNvPr id="338" name="Text 336"/>
          <p:cNvSpPr/>
          <p:nvPr/>
        </p:nvSpPr>
        <p:spPr>
          <a:xfrm>
            <a:off x="946404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188/203</a:t>
            </a:r>
            <a:endParaRPr lang="en-US" sz="1000" dirty="0"/>
          </a:p>
        </p:txBody>
      </p:sp>
      <p:sp>
        <p:nvSpPr>
          <p:cNvPr id="339" name="Text 337"/>
          <p:cNvSpPr/>
          <p:nvPr/>
        </p:nvSpPr>
        <p:spPr>
          <a:xfrm>
            <a:off x="10561320" y="4160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92.6 %</a:t>
            </a:r>
            <a:endParaRPr lang="en-US" sz="1300" dirty="0"/>
          </a:p>
        </p:txBody>
      </p:sp>
      <p:sp>
        <p:nvSpPr>
          <p:cNvPr id="340" name="Text 338"/>
          <p:cNvSpPr/>
          <p:nvPr/>
        </p:nvSpPr>
        <p:spPr>
          <a:xfrm>
            <a:off x="8778240" y="47548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</a:t>
            </a:r>
            <a:endParaRPr lang="en-US" sz="1300" dirty="0"/>
          </a:p>
        </p:txBody>
      </p:sp>
      <p:sp>
        <p:nvSpPr>
          <p:cNvPr id="341" name="Text 339"/>
          <p:cNvSpPr/>
          <p:nvPr/>
        </p:nvSpPr>
        <p:spPr>
          <a:xfrm>
            <a:off x="9464040" y="47548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85/100</a:t>
            </a:r>
            <a:endParaRPr lang="en-US" sz="1000" dirty="0"/>
          </a:p>
        </p:txBody>
      </p:sp>
      <p:sp>
        <p:nvSpPr>
          <p:cNvPr id="342" name="Text 340"/>
          <p:cNvSpPr/>
          <p:nvPr/>
        </p:nvSpPr>
        <p:spPr>
          <a:xfrm>
            <a:off x="10561320" y="47548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85.0 %</a:t>
            </a:r>
            <a:endParaRPr lang="en-US" sz="1300" dirty="0"/>
          </a:p>
        </p:txBody>
      </p:sp>
      <p:sp>
        <p:nvSpPr>
          <p:cNvPr id="343" name="Text 341"/>
          <p:cNvSpPr/>
          <p:nvPr/>
        </p:nvSpPr>
        <p:spPr>
          <a:xfrm>
            <a:off x="8778240" y="53492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</a:t>
            </a:r>
            <a:endParaRPr lang="en-US" sz="1300" dirty="0"/>
          </a:p>
        </p:txBody>
      </p:sp>
      <p:sp>
        <p:nvSpPr>
          <p:cNvPr id="344" name="Text 342"/>
          <p:cNvSpPr/>
          <p:nvPr/>
        </p:nvSpPr>
        <p:spPr>
          <a:xfrm>
            <a:off x="9464040" y="53492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188/200</a:t>
            </a:r>
            <a:endParaRPr lang="en-US" sz="1000" dirty="0"/>
          </a:p>
        </p:txBody>
      </p:sp>
      <p:sp>
        <p:nvSpPr>
          <p:cNvPr id="345" name="Text 343"/>
          <p:cNvSpPr/>
          <p:nvPr/>
        </p:nvSpPr>
        <p:spPr>
          <a:xfrm>
            <a:off x="10561320" y="53492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94.0 %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DIAGNOSTIC · LE PIÈGE DE LA PRÉVALENCE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varie avec la prévalence. Sensibilité, non.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Sensibilité et spécificité sont intrinsèques au test. VPP et VPN dépendent de la prévalence. Un test « excellent » devient médiocre quand la maladie est rare. Voici le même test (Se 88 %, Sp 93 %) dans trois contextes.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36118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557016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GÉNÉRALE · prév 1 %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9952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0" name="Shape 8"/>
          <p:cNvSpPr/>
          <p:nvPr/>
        </p:nvSpPr>
        <p:spPr>
          <a:xfrm>
            <a:off x="1233708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1" name="Shape 9"/>
          <p:cNvSpPr/>
          <p:nvPr/>
        </p:nvSpPr>
        <p:spPr>
          <a:xfrm>
            <a:off x="1567464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2" name="Shape 10"/>
          <p:cNvSpPr/>
          <p:nvPr/>
        </p:nvSpPr>
        <p:spPr>
          <a:xfrm>
            <a:off x="1901220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34976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4" name="Shape 12"/>
          <p:cNvSpPr/>
          <p:nvPr/>
        </p:nvSpPr>
        <p:spPr>
          <a:xfrm>
            <a:off x="2568732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5" name="Shape 13"/>
          <p:cNvSpPr/>
          <p:nvPr/>
        </p:nvSpPr>
        <p:spPr>
          <a:xfrm>
            <a:off x="2902488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6" name="Shape 14"/>
          <p:cNvSpPr/>
          <p:nvPr/>
        </p:nvSpPr>
        <p:spPr>
          <a:xfrm>
            <a:off x="3236244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7" name="Shape 15"/>
          <p:cNvSpPr/>
          <p:nvPr/>
        </p:nvSpPr>
        <p:spPr>
          <a:xfrm>
            <a:off x="3570000" y="383197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" name="Shape 16"/>
          <p:cNvSpPr/>
          <p:nvPr/>
        </p:nvSpPr>
        <p:spPr>
          <a:xfrm>
            <a:off x="3903756" y="383197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" name="Shape 17"/>
          <p:cNvSpPr/>
          <p:nvPr/>
        </p:nvSpPr>
        <p:spPr>
          <a:xfrm>
            <a:off x="899952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" name="Shape 18"/>
          <p:cNvSpPr/>
          <p:nvPr/>
        </p:nvSpPr>
        <p:spPr>
          <a:xfrm>
            <a:off x="1233708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" name="Shape 19"/>
          <p:cNvSpPr/>
          <p:nvPr/>
        </p:nvSpPr>
        <p:spPr>
          <a:xfrm>
            <a:off x="1567464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" name="Shape 20"/>
          <p:cNvSpPr/>
          <p:nvPr/>
        </p:nvSpPr>
        <p:spPr>
          <a:xfrm>
            <a:off x="1901220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3" name="Shape 21"/>
          <p:cNvSpPr/>
          <p:nvPr/>
        </p:nvSpPr>
        <p:spPr>
          <a:xfrm>
            <a:off x="2234976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4" name="Shape 22"/>
          <p:cNvSpPr/>
          <p:nvPr/>
        </p:nvSpPr>
        <p:spPr>
          <a:xfrm>
            <a:off x="2568732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5" name="Shape 23"/>
          <p:cNvSpPr/>
          <p:nvPr/>
        </p:nvSpPr>
        <p:spPr>
          <a:xfrm>
            <a:off x="2902488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6" name="Shape 24"/>
          <p:cNvSpPr/>
          <p:nvPr/>
        </p:nvSpPr>
        <p:spPr>
          <a:xfrm>
            <a:off x="3236244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7" name="Shape 25"/>
          <p:cNvSpPr/>
          <p:nvPr/>
        </p:nvSpPr>
        <p:spPr>
          <a:xfrm>
            <a:off x="3570000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" name="Shape 26"/>
          <p:cNvSpPr/>
          <p:nvPr/>
        </p:nvSpPr>
        <p:spPr>
          <a:xfrm>
            <a:off x="3903756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" name="Shape 27"/>
          <p:cNvSpPr/>
          <p:nvPr/>
        </p:nvSpPr>
        <p:spPr>
          <a:xfrm>
            <a:off x="899952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" name="Shape 28"/>
          <p:cNvSpPr/>
          <p:nvPr/>
        </p:nvSpPr>
        <p:spPr>
          <a:xfrm>
            <a:off x="1233708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" name="Shape 29"/>
          <p:cNvSpPr/>
          <p:nvPr/>
        </p:nvSpPr>
        <p:spPr>
          <a:xfrm>
            <a:off x="1567464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" name="Shape 30"/>
          <p:cNvSpPr/>
          <p:nvPr/>
        </p:nvSpPr>
        <p:spPr>
          <a:xfrm>
            <a:off x="1901220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3" name="Shape 31"/>
          <p:cNvSpPr/>
          <p:nvPr/>
        </p:nvSpPr>
        <p:spPr>
          <a:xfrm>
            <a:off x="2234976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4" name="Shape 32"/>
          <p:cNvSpPr/>
          <p:nvPr/>
        </p:nvSpPr>
        <p:spPr>
          <a:xfrm>
            <a:off x="2568732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5" name="Shape 33"/>
          <p:cNvSpPr/>
          <p:nvPr/>
        </p:nvSpPr>
        <p:spPr>
          <a:xfrm>
            <a:off x="2902488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6" name="Shape 34"/>
          <p:cNvSpPr/>
          <p:nvPr/>
        </p:nvSpPr>
        <p:spPr>
          <a:xfrm>
            <a:off x="3236244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7" name="Shape 35"/>
          <p:cNvSpPr/>
          <p:nvPr/>
        </p:nvSpPr>
        <p:spPr>
          <a:xfrm>
            <a:off x="3570000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8" name="Shape 36"/>
          <p:cNvSpPr/>
          <p:nvPr/>
        </p:nvSpPr>
        <p:spPr>
          <a:xfrm>
            <a:off x="3903756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9" name="Shape 37"/>
          <p:cNvSpPr/>
          <p:nvPr/>
        </p:nvSpPr>
        <p:spPr>
          <a:xfrm>
            <a:off x="899952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0" name="Shape 38"/>
          <p:cNvSpPr/>
          <p:nvPr/>
        </p:nvSpPr>
        <p:spPr>
          <a:xfrm>
            <a:off x="1233708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1" name="Shape 39"/>
          <p:cNvSpPr/>
          <p:nvPr/>
        </p:nvSpPr>
        <p:spPr>
          <a:xfrm>
            <a:off x="1567464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2" name="Shape 40"/>
          <p:cNvSpPr/>
          <p:nvPr/>
        </p:nvSpPr>
        <p:spPr>
          <a:xfrm>
            <a:off x="1901220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3" name="Shape 41"/>
          <p:cNvSpPr/>
          <p:nvPr/>
        </p:nvSpPr>
        <p:spPr>
          <a:xfrm>
            <a:off x="2234976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4" name="Shape 42"/>
          <p:cNvSpPr/>
          <p:nvPr/>
        </p:nvSpPr>
        <p:spPr>
          <a:xfrm>
            <a:off x="2568732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5" name="Shape 43"/>
          <p:cNvSpPr/>
          <p:nvPr/>
        </p:nvSpPr>
        <p:spPr>
          <a:xfrm>
            <a:off x="2902488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6" name="Shape 44"/>
          <p:cNvSpPr/>
          <p:nvPr/>
        </p:nvSpPr>
        <p:spPr>
          <a:xfrm>
            <a:off x="3236244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7" name="Shape 45"/>
          <p:cNvSpPr/>
          <p:nvPr/>
        </p:nvSpPr>
        <p:spPr>
          <a:xfrm>
            <a:off x="3570000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8" name="Shape 46"/>
          <p:cNvSpPr/>
          <p:nvPr/>
        </p:nvSpPr>
        <p:spPr>
          <a:xfrm>
            <a:off x="3903756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49" name="Shape 47"/>
          <p:cNvSpPr/>
          <p:nvPr/>
        </p:nvSpPr>
        <p:spPr>
          <a:xfrm>
            <a:off x="899952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0" name="Shape 48"/>
          <p:cNvSpPr/>
          <p:nvPr/>
        </p:nvSpPr>
        <p:spPr>
          <a:xfrm>
            <a:off x="1233708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1" name="Shape 49"/>
          <p:cNvSpPr/>
          <p:nvPr/>
        </p:nvSpPr>
        <p:spPr>
          <a:xfrm>
            <a:off x="1567464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2" name="Shape 50"/>
          <p:cNvSpPr/>
          <p:nvPr/>
        </p:nvSpPr>
        <p:spPr>
          <a:xfrm>
            <a:off x="1901220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3" name="Shape 51"/>
          <p:cNvSpPr/>
          <p:nvPr/>
        </p:nvSpPr>
        <p:spPr>
          <a:xfrm>
            <a:off x="2234976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4" name="Shape 52"/>
          <p:cNvSpPr/>
          <p:nvPr/>
        </p:nvSpPr>
        <p:spPr>
          <a:xfrm>
            <a:off x="2568732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5" name="Shape 53"/>
          <p:cNvSpPr/>
          <p:nvPr/>
        </p:nvSpPr>
        <p:spPr>
          <a:xfrm>
            <a:off x="2902488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6" name="Shape 54"/>
          <p:cNvSpPr/>
          <p:nvPr/>
        </p:nvSpPr>
        <p:spPr>
          <a:xfrm>
            <a:off x="3236244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7" name="Shape 55"/>
          <p:cNvSpPr/>
          <p:nvPr/>
        </p:nvSpPr>
        <p:spPr>
          <a:xfrm>
            <a:off x="3570000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8" name="Shape 56"/>
          <p:cNvSpPr/>
          <p:nvPr/>
        </p:nvSpPr>
        <p:spPr>
          <a:xfrm>
            <a:off x="3903756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59" name="Shape 57"/>
          <p:cNvSpPr/>
          <p:nvPr/>
        </p:nvSpPr>
        <p:spPr>
          <a:xfrm>
            <a:off x="899952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0" name="Shape 58"/>
          <p:cNvSpPr/>
          <p:nvPr/>
        </p:nvSpPr>
        <p:spPr>
          <a:xfrm>
            <a:off x="1233708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1" name="Shape 59"/>
          <p:cNvSpPr/>
          <p:nvPr/>
        </p:nvSpPr>
        <p:spPr>
          <a:xfrm>
            <a:off x="1567464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2" name="Shape 60"/>
          <p:cNvSpPr/>
          <p:nvPr/>
        </p:nvSpPr>
        <p:spPr>
          <a:xfrm>
            <a:off x="1901220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3" name="Shape 61"/>
          <p:cNvSpPr/>
          <p:nvPr/>
        </p:nvSpPr>
        <p:spPr>
          <a:xfrm>
            <a:off x="2234976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4" name="Shape 62"/>
          <p:cNvSpPr/>
          <p:nvPr/>
        </p:nvSpPr>
        <p:spPr>
          <a:xfrm>
            <a:off x="2568732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5" name="Shape 63"/>
          <p:cNvSpPr/>
          <p:nvPr/>
        </p:nvSpPr>
        <p:spPr>
          <a:xfrm>
            <a:off x="2902488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6" name="Shape 64"/>
          <p:cNvSpPr/>
          <p:nvPr/>
        </p:nvSpPr>
        <p:spPr>
          <a:xfrm>
            <a:off x="3236244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7" name="Shape 65"/>
          <p:cNvSpPr/>
          <p:nvPr/>
        </p:nvSpPr>
        <p:spPr>
          <a:xfrm>
            <a:off x="3570000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8" name="Shape 66"/>
          <p:cNvSpPr/>
          <p:nvPr/>
        </p:nvSpPr>
        <p:spPr>
          <a:xfrm>
            <a:off x="3903756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69" name="Shape 67"/>
          <p:cNvSpPr/>
          <p:nvPr/>
        </p:nvSpPr>
        <p:spPr>
          <a:xfrm>
            <a:off x="899952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0" name="Shape 68"/>
          <p:cNvSpPr/>
          <p:nvPr/>
        </p:nvSpPr>
        <p:spPr>
          <a:xfrm>
            <a:off x="1233708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1" name="Shape 69"/>
          <p:cNvSpPr/>
          <p:nvPr/>
        </p:nvSpPr>
        <p:spPr>
          <a:xfrm>
            <a:off x="1567464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2" name="Shape 70"/>
          <p:cNvSpPr/>
          <p:nvPr/>
        </p:nvSpPr>
        <p:spPr>
          <a:xfrm>
            <a:off x="1901220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3" name="Shape 71"/>
          <p:cNvSpPr/>
          <p:nvPr/>
        </p:nvSpPr>
        <p:spPr>
          <a:xfrm>
            <a:off x="2234976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4" name="Shape 72"/>
          <p:cNvSpPr/>
          <p:nvPr/>
        </p:nvSpPr>
        <p:spPr>
          <a:xfrm>
            <a:off x="2568732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5" name="Shape 73"/>
          <p:cNvSpPr/>
          <p:nvPr/>
        </p:nvSpPr>
        <p:spPr>
          <a:xfrm>
            <a:off x="2902488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6" name="Shape 74"/>
          <p:cNvSpPr/>
          <p:nvPr/>
        </p:nvSpPr>
        <p:spPr>
          <a:xfrm>
            <a:off x="3236244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7" name="Shape 75"/>
          <p:cNvSpPr/>
          <p:nvPr/>
        </p:nvSpPr>
        <p:spPr>
          <a:xfrm>
            <a:off x="3570000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8" name="Shape 76"/>
          <p:cNvSpPr/>
          <p:nvPr/>
        </p:nvSpPr>
        <p:spPr>
          <a:xfrm>
            <a:off x="3903756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79" name="Shape 77"/>
          <p:cNvSpPr/>
          <p:nvPr/>
        </p:nvSpPr>
        <p:spPr>
          <a:xfrm>
            <a:off x="899952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0" name="Shape 78"/>
          <p:cNvSpPr/>
          <p:nvPr/>
        </p:nvSpPr>
        <p:spPr>
          <a:xfrm>
            <a:off x="1233708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1" name="Shape 79"/>
          <p:cNvSpPr/>
          <p:nvPr/>
        </p:nvSpPr>
        <p:spPr>
          <a:xfrm>
            <a:off x="1567464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2" name="Shape 80"/>
          <p:cNvSpPr/>
          <p:nvPr/>
        </p:nvSpPr>
        <p:spPr>
          <a:xfrm>
            <a:off x="1901220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3" name="Shape 81"/>
          <p:cNvSpPr/>
          <p:nvPr/>
        </p:nvSpPr>
        <p:spPr>
          <a:xfrm>
            <a:off x="2234976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4" name="Shape 82"/>
          <p:cNvSpPr/>
          <p:nvPr/>
        </p:nvSpPr>
        <p:spPr>
          <a:xfrm>
            <a:off x="2568732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5" name="Shape 83"/>
          <p:cNvSpPr/>
          <p:nvPr/>
        </p:nvSpPr>
        <p:spPr>
          <a:xfrm>
            <a:off x="2902488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6" name="Shape 84"/>
          <p:cNvSpPr/>
          <p:nvPr/>
        </p:nvSpPr>
        <p:spPr>
          <a:xfrm>
            <a:off x="3236244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7" name="Shape 85"/>
          <p:cNvSpPr/>
          <p:nvPr/>
        </p:nvSpPr>
        <p:spPr>
          <a:xfrm>
            <a:off x="3570000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8" name="Shape 86"/>
          <p:cNvSpPr/>
          <p:nvPr/>
        </p:nvSpPr>
        <p:spPr>
          <a:xfrm>
            <a:off x="3903756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89" name="Shape 87"/>
          <p:cNvSpPr/>
          <p:nvPr/>
        </p:nvSpPr>
        <p:spPr>
          <a:xfrm>
            <a:off x="899952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0" name="Shape 88"/>
          <p:cNvSpPr/>
          <p:nvPr/>
        </p:nvSpPr>
        <p:spPr>
          <a:xfrm>
            <a:off x="1233708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1" name="Shape 89"/>
          <p:cNvSpPr/>
          <p:nvPr/>
        </p:nvSpPr>
        <p:spPr>
          <a:xfrm>
            <a:off x="1567464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2" name="Shape 90"/>
          <p:cNvSpPr/>
          <p:nvPr/>
        </p:nvSpPr>
        <p:spPr>
          <a:xfrm>
            <a:off x="1901220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3" name="Shape 91"/>
          <p:cNvSpPr/>
          <p:nvPr/>
        </p:nvSpPr>
        <p:spPr>
          <a:xfrm>
            <a:off x="2234976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4" name="Shape 92"/>
          <p:cNvSpPr/>
          <p:nvPr/>
        </p:nvSpPr>
        <p:spPr>
          <a:xfrm>
            <a:off x="2568732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5" name="Shape 93"/>
          <p:cNvSpPr/>
          <p:nvPr/>
        </p:nvSpPr>
        <p:spPr>
          <a:xfrm>
            <a:off x="2902488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6" name="Shape 94"/>
          <p:cNvSpPr/>
          <p:nvPr/>
        </p:nvSpPr>
        <p:spPr>
          <a:xfrm>
            <a:off x="3236244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7" name="Shape 95"/>
          <p:cNvSpPr/>
          <p:nvPr/>
        </p:nvSpPr>
        <p:spPr>
          <a:xfrm>
            <a:off x="3570000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8" name="Shape 96"/>
          <p:cNvSpPr/>
          <p:nvPr/>
        </p:nvSpPr>
        <p:spPr>
          <a:xfrm>
            <a:off x="3903756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99" name="Shape 97"/>
          <p:cNvSpPr/>
          <p:nvPr/>
        </p:nvSpPr>
        <p:spPr>
          <a:xfrm>
            <a:off x="899952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0" name="Shape 98"/>
          <p:cNvSpPr/>
          <p:nvPr/>
        </p:nvSpPr>
        <p:spPr>
          <a:xfrm>
            <a:off x="1233708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1" name="Shape 99"/>
          <p:cNvSpPr/>
          <p:nvPr/>
        </p:nvSpPr>
        <p:spPr>
          <a:xfrm>
            <a:off x="1567464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901220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234976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568732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902488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236244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570000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903756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31520" y="5239512"/>
            <a:ext cx="164592" cy="164592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10" name="Text 108"/>
          <p:cNvSpPr/>
          <p:nvPr/>
        </p:nvSpPr>
        <p:spPr>
          <a:xfrm>
            <a:off x="93268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(1)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1588770" y="5239512"/>
            <a:ext cx="164592" cy="164592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12" name="Text 110"/>
          <p:cNvSpPr/>
          <p:nvPr/>
        </p:nvSpPr>
        <p:spPr>
          <a:xfrm>
            <a:off x="178993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(7)</a:t>
            </a:r>
            <a:endParaRPr lang="en-US" sz="900" dirty="0"/>
          </a:p>
        </p:txBody>
      </p:sp>
      <p:sp>
        <p:nvSpPr>
          <p:cNvPr id="113" name="Shape 111"/>
          <p:cNvSpPr/>
          <p:nvPr/>
        </p:nvSpPr>
        <p:spPr>
          <a:xfrm>
            <a:off x="2446020" y="5239512"/>
            <a:ext cx="164592" cy="164592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4" name="Text 112"/>
          <p:cNvSpPr/>
          <p:nvPr/>
        </p:nvSpPr>
        <p:spPr>
          <a:xfrm>
            <a:off x="264718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(0)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3303270" y="5239512"/>
            <a:ext cx="164592" cy="164592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16" name="Text 114"/>
          <p:cNvSpPr/>
          <p:nvPr/>
        </p:nvSpPr>
        <p:spPr>
          <a:xfrm>
            <a:off x="350443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 (92)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640080" y="5806440"/>
            <a:ext cx="3611880" cy="365760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118" name="Text 116"/>
          <p:cNvSpPr/>
          <p:nvPr/>
        </p:nvSpPr>
        <p:spPr>
          <a:xfrm>
            <a:off x="640080" y="580644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VPP = 8 %</a:t>
            </a:r>
            <a:endParaRPr lang="en-US" sz="1400" dirty="0"/>
          </a:p>
        </p:txBody>
      </p:sp>
      <p:sp>
        <p:nvSpPr>
          <p:cNvPr id="119" name="Shape 117"/>
          <p:cNvSpPr/>
          <p:nvPr/>
        </p:nvSpPr>
        <p:spPr>
          <a:xfrm>
            <a:off x="4343400" y="3520440"/>
            <a:ext cx="36118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4434840" y="3557016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· prév 10 %</a:t>
            </a:r>
            <a:endParaRPr lang="en-US" sz="900" dirty="0"/>
          </a:p>
        </p:txBody>
      </p:sp>
      <p:sp>
        <p:nvSpPr>
          <p:cNvPr id="121" name="Shape 119"/>
          <p:cNvSpPr/>
          <p:nvPr/>
        </p:nvSpPr>
        <p:spPr>
          <a:xfrm>
            <a:off x="4603272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937028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270784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604540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938296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72052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605808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939564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273320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607076" y="3831976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603272" y="3958163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937028" y="3958163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270784" y="3958163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604540" y="3958163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38296" y="3958163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272052" y="3958163"/>
            <a:ext cx="88331" cy="88331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605808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939564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273320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607076" y="3958163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603272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37028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270784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604540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938296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272052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605808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939564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273320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607076" y="4084350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603272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2" name="Shape 150"/>
          <p:cNvSpPr/>
          <p:nvPr/>
        </p:nvSpPr>
        <p:spPr>
          <a:xfrm>
            <a:off x="4937028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270784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604540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938296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272052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605808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939564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273320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607076" y="4210538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603272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2" name="Shape 160"/>
          <p:cNvSpPr/>
          <p:nvPr/>
        </p:nvSpPr>
        <p:spPr>
          <a:xfrm>
            <a:off x="4937028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270784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604540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938296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72052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605808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939564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273320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607076" y="4336725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1" name="Shape 169"/>
          <p:cNvSpPr/>
          <p:nvPr/>
        </p:nvSpPr>
        <p:spPr>
          <a:xfrm>
            <a:off x="4603272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2" name="Shape 170"/>
          <p:cNvSpPr/>
          <p:nvPr/>
        </p:nvSpPr>
        <p:spPr>
          <a:xfrm>
            <a:off x="4937028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270784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604540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38296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272052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5808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939564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79" name="Shape 177"/>
          <p:cNvSpPr/>
          <p:nvPr/>
        </p:nvSpPr>
        <p:spPr>
          <a:xfrm>
            <a:off x="7273320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0" name="Shape 178"/>
          <p:cNvSpPr/>
          <p:nvPr/>
        </p:nvSpPr>
        <p:spPr>
          <a:xfrm>
            <a:off x="7607076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1" name="Shape 179"/>
          <p:cNvSpPr/>
          <p:nvPr/>
        </p:nvSpPr>
        <p:spPr>
          <a:xfrm>
            <a:off x="4603272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2" name="Shape 180"/>
          <p:cNvSpPr/>
          <p:nvPr/>
        </p:nvSpPr>
        <p:spPr>
          <a:xfrm>
            <a:off x="4937028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270784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604540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938296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272052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605808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939564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73320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607076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1" name="Shape 189"/>
          <p:cNvSpPr/>
          <p:nvPr/>
        </p:nvSpPr>
        <p:spPr>
          <a:xfrm>
            <a:off x="4603272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2" name="Shape 190"/>
          <p:cNvSpPr/>
          <p:nvPr/>
        </p:nvSpPr>
        <p:spPr>
          <a:xfrm>
            <a:off x="4937028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270784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604540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938296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272052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05808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939564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273320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07076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1" name="Shape 199"/>
          <p:cNvSpPr/>
          <p:nvPr/>
        </p:nvSpPr>
        <p:spPr>
          <a:xfrm>
            <a:off x="4603272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2" name="Shape 200"/>
          <p:cNvSpPr/>
          <p:nvPr/>
        </p:nvSpPr>
        <p:spPr>
          <a:xfrm>
            <a:off x="4937028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3" name="Shape 201"/>
          <p:cNvSpPr/>
          <p:nvPr/>
        </p:nvSpPr>
        <p:spPr>
          <a:xfrm>
            <a:off x="5270784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4" name="Shape 202"/>
          <p:cNvSpPr/>
          <p:nvPr/>
        </p:nvSpPr>
        <p:spPr>
          <a:xfrm>
            <a:off x="5604540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5" name="Shape 203"/>
          <p:cNvSpPr/>
          <p:nvPr/>
        </p:nvSpPr>
        <p:spPr>
          <a:xfrm>
            <a:off x="5938296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272052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605808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939564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09" name="Shape 207"/>
          <p:cNvSpPr/>
          <p:nvPr/>
        </p:nvSpPr>
        <p:spPr>
          <a:xfrm>
            <a:off x="7273320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0" name="Shape 208"/>
          <p:cNvSpPr/>
          <p:nvPr/>
        </p:nvSpPr>
        <p:spPr>
          <a:xfrm>
            <a:off x="7607076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1" name="Shape 209"/>
          <p:cNvSpPr/>
          <p:nvPr/>
        </p:nvSpPr>
        <p:spPr>
          <a:xfrm>
            <a:off x="4603272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2" name="Shape 210"/>
          <p:cNvSpPr/>
          <p:nvPr/>
        </p:nvSpPr>
        <p:spPr>
          <a:xfrm>
            <a:off x="4937028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3" name="Shape 211"/>
          <p:cNvSpPr/>
          <p:nvPr/>
        </p:nvSpPr>
        <p:spPr>
          <a:xfrm>
            <a:off x="5270784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4" name="Shape 212"/>
          <p:cNvSpPr/>
          <p:nvPr/>
        </p:nvSpPr>
        <p:spPr>
          <a:xfrm>
            <a:off x="5604540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5" name="Shape 213"/>
          <p:cNvSpPr/>
          <p:nvPr/>
        </p:nvSpPr>
        <p:spPr>
          <a:xfrm>
            <a:off x="5938296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272052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605808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939564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19" name="Shape 217"/>
          <p:cNvSpPr/>
          <p:nvPr/>
        </p:nvSpPr>
        <p:spPr>
          <a:xfrm>
            <a:off x="7273320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0" name="Shape 218"/>
          <p:cNvSpPr/>
          <p:nvPr/>
        </p:nvSpPr>
        <p:spPr>
          <a:xfrm>
            <a:off x="7607076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1" name="Shape 219"/>
          <p:cNvSpPr/>
          <p:nvPr/>
        </p:nvSpPr>
        <p:spPr>
          <a:xfrm>
            <a:off x="4434840" y="5239512"/>
            <a:ext cx="164592" cy="164592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22" name="Text 220"/>
          <p:cNvSpPr/>
          <p:nvPr/>
        </p:nvSpPr>
        <p:spPr>
          <a:xfrm>
            <a:off x="463600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(9)</a:t>
            </a:r>
            <a:endParaRPr lang="en-US" sz="900" dirty="0"/>
          </a:p>
        </p:txBody>
      </p:sp>
      <p:sp>
        <p:nvSpPr>
          <p:cNvPr id="223" name="Shape 221"/>
          <p:cNvSpPr/>
          <p:nvPr/>
        </p:nvSpPr>
        <p:spPr>
          <a:xfrm>
            <a:off x="5292090" y="5239512"/>
            <a:ext cx="164592" cy="164592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224" name="Text 222"/>
          <p:cNvSpPr/>
          <p:nvPr/>
        </p:nvSpPr>
        <p:spPr>
          <a:xfrm>
            <a:off x="549325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(6)</a:t>
            </a:r>
            <a:endParaRPr lang="en-US" sz="900" dirty="0"/>
          </a:p>
        </p:txBody>
      </p:sp>
      <p:sp>
        <p:nvSpPr>
          <p:cNvPr id="225" name="Shape 223"/>
          <p:cNvSpPr/>
          <p:nvPr/>
        </p:nvSpPr>
        <p:spPr>
          <a:xfrm>
            <a:off x="6149340" y="5239512"/>
            <a:ext cx="164592" cy="164592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26" name="Text 224"/>
          <p:cNvSpPr/>
          <p:nvPr/>
        </p:nvSpPr>
        <p:spPr>
          <a:xfrm>
            <a:off x="635050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(1)</a:t>
            </a:r>
            <a:endParaRPr lang="en-US" sz="900" dirty="0"/>
          </a:p>
        </p:txBody>
      </p:sp>
      <p:sp>
        <p:nvSpPr>
          <p:cNvPr id="227" name="Shape 225"/>
          <p:cNvSpPr/>
          <p:nvPr/>
        </p:nvSpPr>
        <p:spPr>
          <a:xfrm>
            <a:off x="7006590" y="5239512"/>
            <a:ext cx="164592" cy="164592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28" name="Text 226"/>
          <p:cNvSpPr/>
          <p:nvPr/>
        </p:nvSpPr>
        <p:spPr>
          <a:xfrm>
            <a:off x="720775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 (84)</a:t>
            </a:r>
            <a:endParaRPr lang="en-US" sz="900" dirty="0"/>
          </a:p>
        </p:txBody>
      </p:sp>
      <p:sp>
        <p:nvSpPr>
          <p:cNvPr id="229" name="Shape 227"/>
          <p:cNvSpPr/>
          <p:nvPr/>
        </p:nvSpPr>
        <p:spPr>
          <a:xfrm>
            <a:off x="4343400" y="5806440"/>
            <a:ext cx="3611880" cy="365760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230" name="Text 228"/>
          <p:cNvSpPr/>
          <p:nvPr/>
        </p:nvSpPr>
        <p:spPr>
          <a:xfrm>
            <a:off x="4343400" y="580644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VPP = 49 %</a:t>
            </a:r>
            <a:endParaRPr lang="en-US" sz="1400" dirty="0"/>
          </a:p>
        </p:txBody>
      </p:sp>
      <p:sp>
        <p:nvSpPr>
          <p:cNvPr id="231" name="Shape 229"/>
          <p:cNvSpPr/>
          <p:nvPr/>
        </p:nvSpPr>
        <p:spPr>
          <a:xfrm>
            <a:off x="8046720" y="3520440"/>
            <a:ext cx="36118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8138160" y="3557016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COHORTE À RISQUE · prév 50 %</a:t>
            </a:r>
            <a:endParaRPr lang="en-US" sz="900" dirty="0"/>
          </a:p>
        </p:txBody>
      </p:sp>
      <p:sp>
        <p:nvSpPr>
          <p:cNvPr id="233" name="Shape 231"/>
          <p:cNvSpPr/>
          <p:nvPr/>
        </p:nvSpPr>
        <p:spPr>
          <a:xfrm>
            <a:off x="8306592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8640348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8974104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9307860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9641616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9975372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10309128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10642884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10976640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11310396" y="3831976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8306592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8640348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974104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9307860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9641616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9975372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10309128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10642884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10976640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11310396" y="3958163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8306592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8640348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8974104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9307860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9641616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9975372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10309128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10642884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10976640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11310396" y="4084350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8306592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8640348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8974104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9307860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9641616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9975372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10309128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10642884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10976640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1310396" y="4210538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8306592" y="4336725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8640348" y="4336725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8974104" y="4336725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9307860" y="4336725"/>
            <a:ext cx="88331" cy="88331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9641616" y="4336725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278" name="Shape 276"/>
          <p:cNvSpPr/>
          <p:nvPr/>
        </p:nvSpPr>
        <p:spPr>
          <a:xfrm>
            <a:off x="9975372" y="4336725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279" name="Shape 277"/>
          <p:cNvSpPr/>
          <p:nvPr/>
        </p:nvSpPr>
        <p:spPr>
          <a:xfrm>
            <a:off x="10309128" y="4336725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280" name="Shape 278"/>
          <p:cNvSpPr/>
          <p:nvPr/>
        </p:nvSpPr>
        <p:spPr>
          <a:xfrm>
            <a:off x="10642884" y="4336725"/>
            <a:ext cx="88331" cy="88331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281" name="Shape 279"/>
          <p:cNvSpPr/>
          <p:nvPr/>
        </p:nvSpPr>
        <p:spPr>
          <a:xfrm>
            <a:off x="10976640" y="4336725"/>
            <a:ext cx="88331" cy="88331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1310396" y="4336725"/>
            <a:ext cx="88331" cy="88331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83" name="Shape 281"/>
          <p:cNvSpPr/>
          <p:nvPr/>
        </p:nvSpPr>
        <p:spPr>
          <a:xfrm>
            <a:off x="8306592" y="4462912"/>
            <a:ext cx="88331" cy="88331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84" name="Shape 282"/>
          <p:cNvSpPr/>
          <p:nvPr/>
        </p:nvSpPr>
        <p:spPr>
          <a:xfrm>
            <a:off x="8640348" y="4462912"/>
            <a:ext cx="88331" cy="88331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85" name="Shape 283"/>
          <p:cNvSpPr/>
          <p:nvPr/>
        </p:nvSpPr>
        <p:spPr>
          <a:xfrm>
            <a:off x="8974104" y="4462912"/>
            <a:ext cx="88331" cy="88331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86" name="Shape 284"/>
          <p:cNvSpPr/>
          <p:nvPr/>
        </p:nvSpPr>
        <p:spPr>
          <a:xfrm>
            <a:off x="9307860" y="4462912"/>
            <a:ext cx="88331" cy="88331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87" name="Shape 285"/>
          <p:cNvSpPr/>
          <p:nvPr/>
        </p:nvSpPr>
        <p:spPr>
          <a:xfrm>
            <a:off x="9641616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8" name="Shape 286"/>
          <p:cNvSpPr/>
          <p:nvPr/>
        </p:nvSpPr>
        <p:spPr>
          <a:xfrm>
            <a:off x="9975372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89" name="Shape 287"/>
          <p:cNvSpPr/>
          <p:nvPr/>
        </p:nvSpPr>
        <p:spPr>
          <a:xfrm>
            <a:off x="10309128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0" name="Shape 288"/>
          <p:cNvSpPr/>
          <p:nvPr/>
        </p:nvSpPr>
        <p:spPr>
          <a:xfrm>
            <a:off x="10642884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1" name="Shape 289"/>
          <p:cNvSpPr/>
          <p:nvPr/>
        </p:nvSpPr>
        <p:spPr>
          <a:xfrm>
            <a:off x="10976640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2" name="Shape 290"/>
          <p:cNvSpPr/>
          <p:nvPr/>
        </p:nvSpPr>
        <p:spPr>
          <a:xfrm>
            <a:off x="11310396" y="4462912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3" name="Shape 291"/>
          <p:cNvSpPr/>
          <p:nvPr/>
        </p:nvSpPr>
        <p:spPr>
          <a:xfrm>
            <a:off x="8306592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4" name="Shape 292"/>
          <p:cNvSpPr/>
          <p:nvPr/>
        </p:nvSpPr>
        <p:spPr>
          <a:xfrm>
            <a:off x="8640348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5" name="Shape 293"/>
          <p:cNvSpPr/>
          <p:nvPr/>
        </p:nvSpPr>
        <p:spPr>
          <a:xfrm>
            <a:off x="8974104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6" name="Shape 294"/>
          <p:cNvSpPr/>
          <p:nvPr/>
        </p:nvSpPr>
        <p:spPr>
          <a:xfrm>
            <a:off x="9307860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7" name="Shape 295"/>
          <p:cNvSpPr/>
          <p:nvPr/>
        </p:nvSpPr>
        <p:spPr>
          <a:xfrm>
            <a:off x="9641616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8" name="Shape 296"/>
          <p:cNvSpPr/>
          <p:nvPr/>
        </p:nvSpPr>
        <p:spPr>
          <a:xfrm>
            <a:off x="9975372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299" name="Shape 297"/>
          <p:cNvSpPr/>
          <p:nvPr/>
        </p:nvSpPr>
        <p:spPr>
          <a:xfrm>
            <a:off x="10309128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0" name="Shape 298"/>
          <p:cNvSpPr/>
          <p:nvPr/>
        </p:nvSpPr>
        <p:spPr>
          <a:xfrm>
            <a:off x="10642884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1" name="Shape 299"/>
          <p:cNvSpPr/>
          <p:nvPr/>
        </p:nvSpPr>
        <p:spPr>
          <a:xfrm>
            <a:off x="10976640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2" name="Shape 300"/>
          <p:cNvSpPr/>
          <p:nvPr/>
        </p:nvSpPr>
        <p:spPr>
          <a:xfrm>
            <a:off x="11310396" y="4589099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3" name="Shape 301"/>
          <p:cNvSpPr/>
          <p:nvPr/>
        </p:nvSpPr>
        <p:spPr>
          <a:xfrm>
            <a:off x="8306592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4" name="Shape 302"/>
          <p:cNvSpPr/>
          <p:nvPr/>
        </p:nvSpPr>
        <p:spPr>
          <a:xfrm>
            <a:off x="8640348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5" name="Shape 303"/>
          <p:cNvSpPr/>
          <p:nvPr/>
        </p:nvSpPr>
        <p:spPr>
          <a:xfrm>
            <a:off x="8974104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6" name="Shape 304"/>
          <p:cNvSpPr/>
          <p:nvPr/>
        </p:nvSpPr>
        <p:spPr>
          <a:xfrm>
            <a:off x="9307860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7" name="Shape 305"/>
          <p:cNvSpPr/>
          <p:nvPr/>
        </p:nvSpPr>
        <p:spPr>
          <a:xfrm>
            <a:off x="9641616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8" name="Shape 306"/>
          <p:cNvSpPr/>
          <p:nvPr/>
        </p:nvSpPr>
        <p:spPr>
          <a:xfrm>
            <a:off x="9975372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09" name="Shape 307"/>
          <p:cNvSpPr/>
          <p:nvPr/>
        </p:nvSpPr>
        <p:spPr>
          <a:xfrm>
            <a:off x="10309128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0" name="Shape 308"/>
          <p:cNvSpPr/>
          <p:nvPr/>
        </p:nvSpPr>
        <p:spPr>
          <a:xfrm>
            <a:off x="10642884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1" name="Shape 309"/>
          <p:cNvSpPr/>
          <p:nvPr/>
        </p:nvSpPr>
        <p:spPr>
          <a:xfrm>
            <a:off x="10976640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2" name="Shape 310"/>
          <p:cNvSpPr/>
          <p:nvPr/>
        </p:nvSpPr>
        <p:spPr>
          <a:xfrm>
            <a:off x="11310396" y="4715286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3" name="Shape 311"/>
          <p:cNvSpPr/>
          <p:nvPr/>
        </p:nvSpPr>
        <p:spPr>
          <a:xfrm>
            <a:off x="8306592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4" name="Shape 312"/>
          <p:cNvSpPr/>
          <p:nvPr/>
        </p:nvSpPr>
        <p:spPr>
          <a:xfrm>
            <a:off x="8640348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5" name="Shape 313"/>
          <p:cNvSpPr/>
          <p:nvPr/>
        </p:nvSpPr>
        <p:spPr>
          <a:xfrm>
            <a:off x="8974104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6" name="Shape 314"/>
          <p:cNvSpPr/>
          <p:nvPr/>
        </p:nvSpPr>
        <p:spPr>
          <a:xfrm>
            <a:off x="9307860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7" name="Shape 315"/>
          <p:cNvSpPr/>
          <p:nvPr/>
        </p:nvSpPr>
        <p:spPr>
          <a:xfrm>
            <a:off x="9641616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8" name="Shape 316"/>
          <p:cNvSpPr/>
          <p:nvPr/>
        </p:nvSpPr>
        <p:spPr>
          <a:xfrm>
            <a:off x="9975372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19" name="Shape 317"/>
          <p:cNvSpPr/>
          <p:nvPr/>
        </p:nvSpPr>
        <p:spPr>
          <a:xfrm>
            <a:off x="10309128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642884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1" name="Shape 319"/>
          <p:cNvSpPr/>
          <p:nvPr/>
        </p:nvSpPr>
        <p:spPr>
          <a:xfrm>
            <a:off x="10976640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2" name="Shape 320"/>
          <p:cNvSpPr/>
          <p:nvPr/>
        </p:nvSpPr>
        <p:spPr>
          <a:xfrm>
            <a:off x="11310396" y="4841474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3" name="Shape 321"/>
          <p:cNvSpPr/>
          <p:nvPr/>
        </p:nvSpPr>
        <p:spPr>
          <a:xfrm>
            <a:off x="8306592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4" name="Shape 322"/>
          <p:cNvSpPr/>
          <p:nvPr/>
        </p:nvSpPr>
        <p:spPr>
          <a:xfrm>
            <a:off x="8640348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5" name="Shape 323"/>
          <p:cNvSpPr/>
          <p:nvPr/>
        </p:nvSpPr>
        <p:spPr>
          <a:xfrm>
            <a:off x="8974104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6" name="Shape 324"/>
          <p:cNvSpPr/>
          <p:nvPr/>
        </p:nvSpPr>
        <p:spPr>
          <a:xfrm>
            <a:off x="9307860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7" name="Shape 325"/>
          <p:cNvSpPr/>
          <p:nvPr/>
        </p:nvSpPr>
        <p:spPr>
          <a:xfrm>
            <a:off x="9641616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8" name="Shape 326"/>
          <p:cNvSpPr/>
          <p:nvPr/>
        </p:nvSpPr>
        <p:spPr>
          <a:xfrm>
            <a:off x="9975372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29" name="Shape 327"/>
          <p:cNvSpPr/>
          <p:nvPr/>
        </p:nvSpPr>
        <p:spPr>
          <a:xfrm>
            <a:off x="10309128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30" name="Shape 328"/>
          <p:cNvSpPr/>
          <p:nvPr/>
        </p:nvSpPr>
        <p:spPr>
          <a:xfrm>
            <a:off x="10642884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31" name="Shape 329"/>
          <p:cNvSpPr/>
          <p:nvPr/>
        </p:nvSpPr>
        <p:spPr>
          <a:xfrm>
            <a:off x="10976640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32" name="Shape 330"/>
          <p:cNvSpPr/>
          <p:nvPr/>
        </p:nvSpPr>
        <p:spPr>
          <a:xfrm>
            <a:off x="11310396" y="4967661"/>
            <a:ext cx="88331" cy="88331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33" name="Shape 331"/>
          <p:cNvSpPr/>
          <p:nvPr/>
        </p:nvSpPr>
        <p:spPr>
          <a:xfrm>
            <a:off x="8138160" y="5239512"/>
            <a:ext cx="164592" cy="164592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334" name="Text 332"/>
          <p:cNvSpPr/>
          <p:nvPr/>
        </p:nvSpPr>
        <p:spPr>
          <a:xfrm>
            <a:off x="833932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(44)</a:t>
            </a:r>
            <a:endParaRPr lang="en-US" sz="900" dirty="0"/>
          </a:p>
        </p:txBody>
      </p:sp>
      <p:sp>
        <p:nvSpPr>
          <p:cNvPr id="335" name="Shape 333"/>
          <p:cNvSpPr/>
          <p:nvPr/>
        </p:nvSpPr>
        <p:spPr>
          <a:xfrm>
            <a:off x="8995410" y="5239512"/>
            <a:ext cx="164592" cy="164592"/>
          </a:xfrm>
          <a:prstGeom prst="ellipse">
            <a:avLst/>
          </a:prstGeom>
          <a:solidFill>
            <a:srgbClr val="F09042"/>
          </a:solidFill>
          <a:ln/>
        </p:spPr>
      </p:sp>
      <p:sp>
        <p:nvSpPr>
          <p:cNvPr id="336" name="Text 334"/>
          <p:cNvSpPr/>
          <p:nvPr/>
        </p:nvSpPr>
        <p:spPr>
          <a:xfrm>
            <a:off x="919657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(4)</a:t>
            </a:r>
            <a:endParaRPr lang="en-US" sz="900" dirty="0"/>
          </a:p>
        </p:txBody>
      </p:sp>
      <p:sp>
        <p:nvSpPr>
          <p:cNvPr id="337" name="Shape 335"/>
          <p:cNvSpPr/>
          <p:nvPr/>
        </p:nvSpPr>
        <p:spPr>
          <a:xfrm>
            <a:off x="9852660" y="5239512"/>
            <a:ext cx="164592" cy="164592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338" name="Text 336"/>
          <p:cNvSpPr/>
          <p:nvPr/>
        </p:nvSpPr>
        <p:spPr>
          <a:xfrm>
            <a:off x="1005382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(6)</a:t>
            </a:r>
            <a:endParaRPr lang="en-US" sz="900" dirty="0"/>
          </a:p>
        </p:txBody>
      </p:sp>
      <p:sp>
        <p:nvSpPr>
          <p:cNvPr id="339" name="Shape 337"/>
          <p:cNvSpPr/>
          <p:nvPr/>
        </p:nvSpPr>
        <p:spPr>
          <a:xfrm>
            <a:off x="10709910" y="5239512"/>
            <a:ext cx="164592" cy="164592"/>
          </a:xfrm>
          <a:prstGeom prst="ellipse">
            <a:avLst/>
          </a:prstGeom>
          <a:solidFill>
            <a:srgbClr val="C9CFDC"/>
          </a:solidFill>
          <a:ln/>
        </p:spPr>
      </p:sp>
      <p:sp>
        <p:nvSpPr>
          <p:cNvPr id="340" name="Text 338"/>
          <p:cNvSpPr/>
          <p:nvPr/>
        </p:nvSpPr>
        <p:spPr>
          <a:xfrm>
            <a:off x="10911078" y="5184648"/>
            <a:ext cx="58293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 (46)</a:t>
            </a:r>
            <a:endParaRPr lang="en-US" sz="900" dirty="0"/>
          </a:p>
        </p:txBody>
      </p:sp>
      <p:sp>
        <p:nvSpPr>
          <p:cNvPr id="341" name="Shape 339"/>
          <p:cNvSpPr/>
          <p:nvPr/>
        </p:nvSpPr>
        <p:spPr>
          <a:xfrm>
            <a:off x="8046720" y="5806440"/>
            <a:ext cx="3611880" cy="365760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342" name="Text 340"/>
          <p:cNvSpPr/>
          <p:nvPr/>
        </p:nvSpPr>
        <p:spPr>
          <a:xfrm>
            <a:off x="8046720" y="580644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VPP = 92 %</a:t>
            </a:r>
            <a:endParaRPr lang="en-US" sz="1400" dirty="0"/>
          </a:p>
        </p:txBody>
      </p:sp>
      <p:sp>
        <p:nvSpPr>
          <p:cNvPr id="343" name="Text 341"/>
          <p:cNvSpPr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test, 3 contextes : la VPP varie de 8 % à 92 %. Toujours préciser la prévalence du contexte d'étude dans la discussion.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DIAGNOSTIC · LR+ ET LR−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de vraisemblance : indépendants de la prévalence.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LR+ et LR− mesurent de combien un résultat de test modifie la probabilité d'avoir la maladie. Contrairement à VPP/VPN, ils ne dépendent pas de la prévalence — c'est pour ça que les cliniciens les préfèrent.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406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090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3832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LR+ · TEST POSITIF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49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LR+ = Se / (1 − Sp)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429768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LR+ &gt; 10 : preuve forte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LR+ 5 — 10 : preuve modérée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LR+ 2 — 5 : preuve faible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LR+ &lt; 2 : peu utile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5532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: LR+ = 12 → test positif rend la maladie 12 fois plus probable.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91072" y="3246120"/>
            <a:ext cx="54406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090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33832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LR− · TEST NÉGATIF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73952" y="3749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LR− = (1 − Se) / Sp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73952" y="429768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LR− &lt; 0,1 : preuve forte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LR− 0,1 — 0,2 : preuve modérée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LR− 0,2 — 0,5 : preuve faible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LR− &gt; 0,5 : peu utile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73952" y="5532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: LR− = 0,1 → test négatif rend la maladie 10 fois moins probable.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DIAGNOSTIC · ÉVALUATION GLOBALE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 ROC : Se et Sp à tous les seuils.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test continu peut être dichotomisé à différents seuils. À chaque seuil correspond une Se et une Sp. La courbe ROC trace tous les couples (1−Sp, Se) — plus la courbe se rapproche du coin haut-gauche, meilleur est le test.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3931920" cy="2743200"/>
          </a:xfrm>
          <a:prstGeom prst="roundRect">
            <a:avLst>
              <a:gd name="adj" fmla="val 1667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4930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4930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840480"/>
            <a:ext cx="3657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Calculer la courbe ROC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library(pROC)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roc_obj &lt;- roc(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donnees$maladie,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donnees$score)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plot(roc_obj,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col = "darkorange",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lwd = 2)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auc(roc_obj)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ci.auc(roc_obj)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3383280"/>
            <a:ext cx="2560320" cy="274320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4747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74904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 = 0.782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[0.71, 0.85]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Discrimination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acceptable.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Test utilisable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 pratique.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3383280"/>
            <a:ext cx="4325112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34198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· score vs maladie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760720"/>
            <a:ext cx="3776472" cy="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703320"/>
            <a:ext cx="0" cy="205740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85216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Spécificité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703320"/>
            <a:ext cx="365760" cy="2057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Sensibilité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 flipV="1">
            <a:off x="7818120" y="3703320"/>
            <a:ext cx="3776472" cy="2057400"/>
          </a:xfrm>
          <a:prstGeom prst="line">
            <a:avLst/>
          </a:prstGeom>
          <a:noFill/>
          <a:ln w="9525">
            <a:solidFill>
              <a:srgbClr val="6B7280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V="1">
            <a:off x="7818120" y="5390388"/>
            <a:ext cx="151059" cy="37033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969179" y="5102352"/>
            <a:ext cx="151059" cy="288036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120238" y="4834890"/>
            <a:ext cx="151059" cy="26746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8271297" y="4567428"/>
            <a:ext cx="226588" cy="26746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8497885" y="4361688"/>
            <a:ext cx="264353" cy="205740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8762238" y="4197096"/>
            <a:ext cx="302118" cy="16459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9064356" y="4073652"/>
            <a:ext cx="339882" cy="123444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9404238" y="3970782"/>
            <a:ext cx="377647" cy="102870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9781885" y="3888486"/>
            <a:ext cx="377647" cy="82296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0159533" y="3826764"/>
            <a:ext cx="377647" cy="6172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0537180" y="3785616"/>
            <a:ext cx="377647" cy="4114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10914827" y="3744468"/>
            <a:ext cx="302118" cy="4114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1216945" y="3703320"/>
            <a:ext cx="377647" cy="4114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95180" y="4834890"/>
            <a:ext cx="15105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0.78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DIAGNOSTIC · CHOISIR LE SEUIL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placer la barre ? Cela dépend du contexte clinique.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le seuil est bas, plus Se monte (on ne rate pas) mais plus Sp chute (on alerte trop). À l'inverse, un seuil élevé maximise Sp au prix de faux négatifs. Le bon seuil dépend de la gravité de rater la maladie vs alerter pour rien.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61188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74904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BAS · DÉPISTAGE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411480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Maximiser Se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461772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Maladie grave, traitable. On ne veut pas la rater.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5532120"/>
            <a:ext cx="3246120" cy="18288"/>
          </a:xfrm>
          <a:prstGeom prst="rect">
            <a:avLst/>
          </a:prstGeom>
          <a:solidFill>
            <a:srgbClr val="D6CFB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Dépistage cancer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VIH chez nourrissons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43400" y="3611880"/>
            <a:ext cx="361188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F090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374904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DE YOUDEN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26280" y="411480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Équilibre Se + Sp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26280" y="461772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Maximiser Se + Sp − 1. Compromis sans préférence clinique.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26280" y="5532120"/>
            <a:ext cx="3246120" cy="18288"/>
          </a:xfrm>
          <a:prstGeom prst="rect">
            <a:avLst/>
          </a:prstGeom>
          <a:solidFill>
            <a:srgbClr val="D6CFB8"/>
          </a:solidFill>
          <a:ln/>
        </p:spPr>
      </p:sp>
      <p:sp>
        <p:nvSpPr>
          <p:cNvPr id="18" name="Text 16"/>
          <p:cNvSpPr/>
          <p:nvPr/>
        </p:nvSpPr>
        <p:spPr>
          <a:xfrm>
            <a:off x="4526280" y="562356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académique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initiale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0" y="3611880"/>
            <a:ext cx="361188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172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374904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ÉLEVÉ · DIAGNOSTIC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229600" y="411480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Maximiser Sp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229600" y="461772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une maladie. On veut peu de faux positifs.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0" y="5532120"/>
            <a:ext cx="3246120" cy="18288"/>
          </a:xfrm>
          <a:prstGeom prst="rect">
            <a:avLst/>
          </a:prstGeom>
          <a:solidFill>
            <a:srgbClr val="D6CFB8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0" y="562356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après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dépistage positif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ACCORD · CONCORDANCE QUALITATIVE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Kappa de Cohen : l'accord au-delà du hasard.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observateurs notent indépendamment 100 radios « anormal / normal ». Combien d'accord ? Une partie est due au hasard. Kappa corrige pour ce hasard et donne la concordance réelle.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5303520" cy="2834640"/>
          </a:xfrm>
          <a:prstGeom prst="roundRect">
            <a:avLst>
              <a:gd name="adj" fmla="val 161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40156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40156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49040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Tableau croisé 2 observateurs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&lt;- table(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donnees$obs1,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donnees$obs2)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Kappa de Cohen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library(irr)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kappa2(donnees[, c("obs1",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"obs2")])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Kappa pondéré (ordinal)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kappa2(..., weight = "squared")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80760" y="3291840"/>
            <a:ext cx="5650992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34290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ÉCHELLE LANDIS &amp; KOCH (1977)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63640" y="3794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0,00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863840" y="37947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pire que hasard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63640" y="416052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0,01 — 0,20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863840" y="41605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léger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63640" y="45262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0,21 — 0,40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863840" y="4526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passable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63640" y="48920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0,41 — 0,60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863840" y="48920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modéré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63640" y="525780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0,61 — 0,80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863840" y="52578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substantiel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63640" y="56235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0,81 — 1,00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63840" y="56235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quasi-parfait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ACCORD · CONCORDANCE QUANTITATIVE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Bland-Altman : comparer deux méthodes de mesure.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deux méthodes mesurant la même grandeur, la corrélation n'est PAS suffisante. Deux méthodes peuvent être très corrélées tout en donnant des valeurs systématiquement différentes. Bland-Altman regarde la moyenne et la différence des paires.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474720"/>
            <a:ext cx="544068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F090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6118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MESURE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9776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Biais moyen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38912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 des différences entre méthodes. Mesure le décalage systématique.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5074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d'accord à 95 %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548640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Biais ± 1,96 × écart-type. Intervalle où 95 % des différences se trouvent.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91072" y="3474720"/>
            <a:ext cx="5440680" cy="256032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28232" y="35844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15" name="Text 13"/>
          <p:cNvSpPr/>
          <p:nvPr/>
        </p:nvSpPr>
        <p:spPr>
          <a:xfrm>
            <a:off x="6428232" y="35844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73952" y="3931920"/>
            <a:ext cx="5166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Bland-Altman plot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library(BlandAltmanLeh)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bland.altman.plot(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donnees$methode1,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donnees$methode2,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main = "Accord m1 vs m2",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conf.int = 0.95)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Statistiques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library(blandr)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blandr.statistics(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donnees$methode1,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donnees$methode2)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SURVIE · DÉCRIRE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Kaplan-Meier : la courbe qui descend.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survie, le « temps jusqu'à l'événement » est l'information centrale. Kaplan-Meier produit une courbe en escalier : chaque marche descend à chaque événement, en tenant compte des sujets censurés.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880360"/>
          </a:xfrm>
          <a:prstGeom prst="roundRect">
            <a:avLst>
              <a:gd name="adj" fmla="val 1587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Estimation Kaplan-Meier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library(survival)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fit &lt;- survfit(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Surv(temps, evenement) ~ 1,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summary(fit)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Tracer la courbe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library(survminer)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ggsurvplot(fit,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conf.int = TRUE)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282696"/>
            <a:ext cx="51480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Survie globale · cohorte unique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812280" y="5760720"/>
            <a:ext cx="4782312" cy="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12280" y="3566160"/>
            <a:ext cx="0" cy="219456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12280" y="5852160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(mois)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 rot="-5400000">
            <a:off x="6419088" y="3566160"/>
            <a:ext cx="3657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Survie (%)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812280" y="3566160"/>
            <a:ext cx="239116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51396" y="3566160"/>
            <a:ext cx="4572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51396" y="3566160"/>
            <a:ext cx="4572" cy="65837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51396" y="3631997"/>
            <a:ext cx="382585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33981" y="3631997"/>
            <a:ext cx="4572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33981" y="3631997"/>
            <a:ext cx="4572" cy="8778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3981" y="3719779"/>
            <a:ext cx="430408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4389" y="3719779"/>
            <a:ext cx="4572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4389" y="3719779"/>
            <a:ext cx="4572" cy="109728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4389" y="3829507"/>
            <a:ext cx="478231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42620" y="3829507"/>
            <a:ext cx="4572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42620" y="3829507"/>
            <a:ext cx="4572" cy="13167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42620" y="3961181"/>
            <a:ext cx="478231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820851" y="3961181"/>
            <a:ext cx="4572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820851" y="3961181"/>
            <a:ext cx="4572" cy="13167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20851" y="4092854"/>
            <a:ext cx="621701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442552" y="4092854"/>
            <a:ext cx="4572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42552" y="4092854"/>
            <a:ext cx="4572" cy="153619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42552" y="4246474"/>
            <a:ext cx="621701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64252" y="4246474"/>
            <a:ext cx="4572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064252" y="4246474"/>
            <a:ext cx="4572" cy="153619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064252" y="4400093"/>
            <a:ext cx="669524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733776" y="4400093"/>
            <a:ext cx="4572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733776" y="4400093"/>
            <a:ext cx="4572" cy="153619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733776" y="4553712"/>
            <a:ext cx="621701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03720" y="361188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Cohorte (n = 120)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SURVIE · COMPARER DEUX GROUPES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Log-rank : « ces deux courbes diffèrent-elles ? »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tu compares la survie de deux groupes (traitement vs contrôle, stade I vs III), le log-rank teste l'hypothèse nulle « pas de différence à aucun temps ». Souvent visualisé avec deux courbes Kaplan-Meier superposées.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154680"/>
            <a:ext cx="548640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2644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2644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611880"/>
            <a:ext cx="5212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Comparaison 2 groupes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library(survival)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fit &lt;- survfit(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Surv(temps, evt) ~ bras,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 log-rank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survdiff(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Surv(temps, evt) ~ bras,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Visualisation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library(survminer)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ggsurvplot(fit, pval = TRUE)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154680"/>
            <a:ext cx="533095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191256"/>
            <a:ext cx="51480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 A vs bras B · log-rank p = 0.012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812280" y="5715000"/>
            <a:ext cx="4782312" cy="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12280" y="3474720"/>
            <a:ext cx="0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12280" y="5806440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(mois)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 rot="-5400000">
            <a:off x="6419088" y="34747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Survie (%)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812280" y="3474720"/>
            <a:ext cx="239116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51396" y="3474720"/>
            <a:ext cx="4572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51396" y="3474720"/>
            <a:ext cx="4572" cy="44806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51396" y="3519526"/>
            <a:ext cx="621701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73096" y="3519526"/>
            <a:ext cx="4572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73096" y="3519526"/>
            <a:ext cx="4572" cy="11201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73096" y="3631540"/>
            <a:ext cx="669524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42620" y="3631540"/>
            <a:ext cx="4572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42620" y="3631540"/>
            <a:ext cx="4572" cy="11201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42620" y="3743554"/>
            <a:ext cx="621701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964320" y="3743554"/>
            <a:ext cx="4572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964320" y="3743554"/>
            <a:ext cx="4572" cy="67208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4320" y="3810762"/>
            <a:ext cx="812993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777313" y="3810762"/>
            <a:ext cx="4572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77313" y="3810762"/>
            <a:ext cx="4572" cy="112014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777313" y="3922776"/>
            <a:ext cx="765170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542483" y="3922776"/>
            <a:ext cx="4572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542483" y="3922776"/>
            <a:ext cx="4572" cy="89611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542483" y="4012387"/>
            <a:ext cx="812993" cy="4572"/>
          </a:xfrm>
          <a:prstGeom prst="line">
            <a:avLst/>
          </a:prstGeom>
          <a:noFill/>
          <a:ln w="22225">
            <a:solidFill>
              <a:srgbClr val="F0904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03720" y="352044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 A (n = 60)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812280" y="3474720"/>
            <a:ext cx="191292" cy="4572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03572" y="3474720"/>
            <a:ext cx="4572" cy="4572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03572" y="3474720"/>
            <a:ext cx="4572" cy="89611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003572" y="3564331"/>
            <a:ext cx="382585" cy="4572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386157" y="3564331"/>
            <a:ext cx="4572" cy="4572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386157" y="3564331"/>
            <a:ext cx="4572" cy="156820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386157" y="3721151"/>
            <a:ext cx="478231" cy="4572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864389" y="3721151"/>
            <a:ext cx="4572" cy="4572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64389" y="3721151"/>
            <a:ext cx="4572" cy="201625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864389" y="3922776"/>
            <a:ext cx="621701" cy="4572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86089" y="3922776"/>
            <a:ext cx="4572" cy="4572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486089" y="3922776"/>
            <a:ext cx="4572" cy="224028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86089" y="4146804"/>
            <a:ext cx="717347" cy="4572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203436" y="4146804"/>
            <a:ext cx="4572" cy="4572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203436" y="4146804"/>
            <a:ext cx="4572" cy="224028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203436" y="4370832"/>
            <a:ext cx="860816" cy="4572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064252" y="4370832"/>
            <a:ext cx="4572" cy="4572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064252" y="4370832"/>
            <a:ext cx="4572" cy="179222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064252" y="4550054"/>
            <a:ext cx="812993" cy="4572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877245" y="4550054"/>
            <a:ext cx="4572" cy="4572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77245" y="4550054"/>
            <a:ext cx="4572" cy="156820"/>
          </a:xfrm>
          <a:prstGeom prst="line">
            <a:avLst/>
          </a:prstGeom>
          <a:noFill/>
          <a:ln w="22225">
            <a:solidFill>
              <a:srgbClr val="0E172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03720" y="374904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 B (n = 60)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SURVIE · AJUSTEMENT MULTIVARIÉ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 de Cox : le HR ajusté.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Cox est à la survie ce que la logistique est aux issues binaires : un modèle multivarié qui contrôle les facteurs de confusion. Le résultat est le Hazard Ratio — interprétable comme un OR ajusté, mais sur le risque d'événement par unité de temps.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154680"/>
            <a:ext cx="48463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2644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2644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611880"/>
            <a:ext cx="45720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Modèle de Cox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library(survival)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fit &lt;- coxph(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Surv(temps, evt) ~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bras + age + sexe + stade,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summary(fit)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Vérif proportionnalité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cox.zph(fit)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0" y="3154680"/>
            <a:ext cx="606247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0" y="3200400"/>
            <a:ext cx="5879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ajustés · IC95%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122824" y="3474720"/>
            <a:ext cx="4572" cy="2240280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760720" y="359016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 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587996" y="3754755"/>
            <a:ext cx="433395" cy="457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87996" y="3699891"/>
            <a:ext cx="4572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21391" y="3699891"/>
            <a:ext cx="4572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99190" y="3690747"/>
            <a:ext cx="128016" cy="128016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0" y="415023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141266" y="4314825"/>
            <a:ext cx="36885" cy="4572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41266" y="4259961"/>
            <a:ext cx="4572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78151" y="4259961"/>
            <a:ext cx="4572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95700" y="4250817"/>
            <a:ext cx="128016" cy="128016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0" y="471030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sexe F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707871" y="4874895"/>
            <a:ext cx="599376" cy="4572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07871" y="4820031"/>
            <a:ext cx="4572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07247" y="4820031"/>
            <a:ext cx="4572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83613" y="4810887"/>
            <a:ext cx="128016" cy="128016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29" name="Text 27"/>
          <p:cNvSpPr/>
          <p:nvPr/>
        </p:nvSpPr>
        <p:spPr>
          <a:xfrm>
            <a:off x="5760720" y="527037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stade III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915844" y="5434965"/>
            <a:ext cx="2314512" cy="457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15844" y="5380101"/>
            <a:ext cx="4572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1230356" y="5380101"/>
            <a:ext cx="4572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764731" y="5370957"/>
            <a:ext cx="128016" cy="128016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34" name="Shape 32"/>
          <p:cNvSpPr/>
          <p:nvPr/>
        </p:nvSpPr>
        <p:spPr>
          <a:xfrm>
            <a:off x="7223760" y="5760720"/>
            <a:ext cx="4370832" cy="4572"/>
          </a:xfrm>
          <a:prstGeom prst="line">
            <a:avLst/>
          </a:prstGeom>
          <a:noFill/>
          <a:ln w="6350">
            <a:solidFill>
              <a:srgbClr val="0E172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39944" y="580644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223760" y="5943600"/>
            <a:ext cx="4370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Ratio ajusté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 B réduit le risque d'événement de 39 % vs bras A, ajusté sur âge / sexe / stade. cox.zph() doit montrer p &gt; 0.05 (hypothèse de proportionnalité respectée).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CINQ PIÈGES SPÉCIFIQUES AU BIOMÉDICAL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fait perdre des points en thèse de médecine.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92024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574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00200" y="202996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Confondre VPP avec sensibilité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235915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sensibilité est intrinsèque au test, la VPP dépend de la prévalence. À spécifier dans la discussion.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78892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8892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26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289864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deux méthodes par corrélation seule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00200" y="322783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méthodes peuvent corréler à r = 0,98 sans être interchangeables. Toujours Bland-Altman en plus.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65760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794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00200" y="376732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Oublier les censurés en analyse de survie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00200" y="40965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des perdus de vue = biais majeur. Kaplan-Meier les gère, Cox aussi. À utiliser tels quels.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2628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52628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6634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600200" y="463600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Cox sans vérifier la proportionnalité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600200" y="496519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L'hypothèse fondamentale de Cox : le HR est constant dans le temps. cox.zph() la teste. Sans ça, modèle invalide.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39496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539496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532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600200" y="550468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Rapporter AUC sans IC95% ni contexte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600200" y="583387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0,72 dans une étude pilote ≠ AUC = 0,72 sur une cohorte de validation. L'IC95% et le design comptent.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4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0"/>
            <a:ext cx="6400800" cy="64008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5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424160" y="27432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40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FIN DE LA SÉRIE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280160"/>
            <a:ext cx="10972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maîtrises les quatre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modules. Place à ta thèse.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640080" y="36576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fondations · M2 comparaisons · M3 associations · M4 outils biomédicaux. Avec ce curriculum, tu défends ta méthodologie sans trembler. Si tu veux qu'on regarde ton projet réel avant la soutenance — un diagnostic gratuit de 15 minutes, sans engagement.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5257800"/>
            <a:ext cx="5303520" cy="914400"/>
          </a:xfrm>
          <a:prstGeom prst="roundRect">
            <a:avLst>
              <a:gd name="adj" fmla="val 10000"/>
            </a:avLst>
          </a:prstGeom>
          <a:solidFill>
            <a:srgbClr val="25D366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5303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direct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565099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+221 76 387 34 28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309360" y="5257800"/>
            <a:ext cx="5422392" cy="914400"/>
          </a:xfrm>
          <a:prstGeom prst="roundRect">
            <a:avLst>
              <a:gd name="adj" fmla="val 10000"/>
            </a:avLst>
          </a:prstGeom>
          <a:solidFill>
            <a:srgbClr val="F09042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5303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web HES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92240" y="56509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Heaven Elijah Service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Outils biomédicaux — Module 4</dc:title>
  <dc:subject>Formation HES — Biostatistique</dc:subject>
  <dc:creator>Heaven Elijah Service</dc:creator>
  <cp:lastModifiedBy>Heaven Elijah Service</cp:lastModifiedBy>
  <cp:revision>1</cp:revision>
  <dcterms:created xsi:type="dcterms:W3CDTF">2026-05-14T20:13:33Z</dcterms:created>
  <dcterms:modified xsi:type="dcterms:W3CDTF">2026-05-14T20:13:33Z</dcterms:modified>
</cp:coreProperties>
</file>