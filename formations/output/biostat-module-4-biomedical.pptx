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biomédicaux.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Diagnostic, ROC, survie : les méthodes qui font la médecine.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Doctorants et chercheurs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outils des publications médicales.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Sensibilité, spécificité, ROC, Kaplan-Meier, Cox — ces termes apparaissent dans presque toutes les thèses en médecine et en santé publique. Ce sont les outils adaptés aux questions cliniques typiques.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questions cliniques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test détecte-t-il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la maladie 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9872" y="4439412"/>
            <a:ext cx="73152" cy="-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voient-ils pareil ?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98536" y="4439412"/>
            <a:ext cx="73152" cy="-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l'événement ?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maîtrises ces outils, tu lis sans peine une publication clinique. Si tu sais aussi les défendre, tu soutiens une thèse de doctorat en médecine.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jeux d'outils.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grande question clinique correspond une famille d'outils. Voici la cartographie qui te permet de choisir avant d'ouvrir 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Ce test détecte-t-il bien ? »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Se, Sp, VPP, VPN (4-5)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vraisemblance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/ LR−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globale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Courbe ROC + AUC (7-8)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Deux observateurs concordent ? »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 de Cohen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Bland-Altman (10)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Selon nature de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variable.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Combien de temps avant l'événement ? »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Kaplan-Meier (11)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2 groupes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Log-rank test (12)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Cox (13)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INDICATEURS DE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: Se, Sp, VPP, VPN.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2×2 est le point de départ de toute évaluation diagnostique. Sensibilité = VP/(VP+FN). Spécificité = VN/(VN+FP). VPP et VPN dépendent en plus de la prévalence.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45720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· résultats du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6220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1856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3108960"/>
            <a:ext cx="3154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3145536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de 300 patients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752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" name="Shape 23"/>
          <p:cNvSpPr/>
          <p:nvPr/>
        </p:nvSpPr>
        <p:spPr>
          <a:xfrm>
            <a:off x="573955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" name="Shape 24"/>
          <p:cNvSpPr/>
          <p:nvPr/>
        </p:nvSpPr>
        <p:spPr>
          <a:xfrm>
            <a:off x="593157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2360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8" name="Shape 26"/>
          <p:cNvSpPr/>
          <p:nvPr/>
        </p:nvSpPr>
        <p:spPr>
          <a:xfrm>
            <a:off x="631562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0764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0" name="Shape 28"/>
          <p:cNvSpPr/>
          <p:nvPr/>
        </p:nvSpPr>
        <p:spPr>
          <a:xfrm>
            <a:off x="669967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1" name="Shape 29"/>
          <p:cNvSpPr/>
          <p:nvPr/>
        </p:nvSpPr>
        <p:spPr>
          <a:xfrm>
            <a:off x="689169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" name="Shape 30"/>
          <p:cNvSpPr/>
          <p:nvPr/>
        </p:nvSpPr>
        <p:spPr>
          <a:xfrm>
            <a:off x="708372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727574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4" name="Shape 32"/>
          <p:cNvSpPr/>
          <p:nvPr/>
        </p:nvSpPr>
        <p:spPr>
          <a:xfrm>
            <a:off x="746776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5" name="Shape 33"/>
          <p:cNvSpPr/>
          <p:nvPr/>
        </p:nvSpPr>
        <p:spPr>
          <a:xfrm>
            <a:off x="765979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6" name="Shape 34"/>
          <p:cNvSpPr/>
          <p:nvPr/>
        </p:nvSpPr>
        <p:spPr>
          <a:xfrm>
            <a:off x="785181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7" name="Shape 35"/>
          <p:cNvSpPr/>
          <p:nvPr/>
        </p:nvSpPr>
        <p:spPr>
          <a:xfrm>
            <a:off x="804384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8" name="Shape 36"/>
          <p:cNvSpPr/>
          <p:nvPr/>
        </p:nvSpPr>
        <p:spPr>
          <a:xfrm>
            <a:off x="823586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9" name="Shape 37"/>
          <p:cNvSpPr/>
          <p:nvPr/>
        </p:nvSpPr>
        <p:spPr>
          <a:xfrm>
            <a:off x="554752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0" name="Shape 38"/>
          <p:cNvSpPr/>
          <p:nvPr/>
        </p:nvSpPr>
        <p:spPr>
          <a:xfrm>
            <a:off x="573955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1" name="Shape 39"/>
          <p:cNvSpPr/>
          <p:nvPr/>
        </p:nvSpPr>
        <p:spPr>
          <a:xfrm>
            <a:off x="593157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2" name="Shape 40"/>
          <p:cNvSpPr/>
          <p:nvPr/>
        </p:nvSpPr>
        <p:spPr>
          <a:xfrm>
            <a:off x="612360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3" name="Shape 41"/>
          <p:cNvSpPr/>
          <p:nvPr/>
        </p:nvSpPr>
        <p:spPr>
          <a:xfrm>
            <a:off x="631562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4" name="Shape 42"/>
          <p:cNvSpPr/>
          <p:nvPr/>
        </p:nvSpPr>
        <p:spPr>
          <a:xfrm>
            <a:off x="650764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5" name="Shape 43"/>
          <p:cNvSpPr/>
          <p:nvPr/>
        </p:nvSpPr>
        <p:spPr>
          <a:xfrm>
            <a:off x="669967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6" name="Shape 44"/>
          <p:cNvSpPr/>
          <p:nvPr/>
        </p:nvSpPr>
        <p:spPr>
          <a:xfrm>
            <a:off x="689169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7" name="Shape 45"/>
          <p:cNvSpPr/>
          <p:nvPr/>
        </p:nvSpPr>
        <p:spPr>
          <a:xfrm>
            <a:off x="708372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8" name="Shape 46"/>
          <p:cNvSpPr/>
          <p:nvPr/>
        </p:nvSpPr>
        <p:spPr>
          <a:xfrm>
            <a:off x="727574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9" name="Shape 47"/>
          <p:cNvSpPr/>
          <p:nvPr/>
        </p:nvSpPr>
        <p:spPr>
          <a:xfrm>
            <a:off x="746776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0" name="Shape 48"/>
          <p:cNvSpPr/>
          <p:nvPr/>
        </p:nvSpPr>
        <p:spPr>
          <a:xfrm>
            <a:off x="765979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1" name="Shape 49"/>
          <p:cNvSpPr/>
          <p:nvPr/>
        </p:nvSpPr>
        <p:spPr>
          <a:xfrm>
            <a:off x="785181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2" name="Shape 50"/>
          <p:cNvSpPr/>
          <p:nvPr/>
        </p:nvSpPr>
        <p:spPr>
          <a:xfrm>
            <a:off x="804384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3" name="Shape 51"/>
          <p:cNvSpPr/>
          <p:nvPr/>
        </p:nvSpPr>
        <p:spPr>
          <a:xfrm>
            <a:off x="823586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4" name="Shape 52"/>
          <p:cNvSpPr/>
          <p:nvPr/>
        </p:nvSpPr>
        <p:spPr>
          <a:xfrm>
            <a:off x="554752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5" name="Shape 53"/>
          <p:cNvSpPr/>
          <p:nvPr/>
        </p:nvSpPr>
        <p:spPr>
          <a:xfrm>
            <a:off x="573955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6" name="Shape 54"/>
          <p:cNvSpPr/>
          <p:nvPr/>
        </p:nvSpPr>
        <p:spPr>
          <a:xfrm>
            <a:off x="593157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7" name="Shape 55"/>
          <p:cNvSpPr/>
          <p:nvPr/>
        </p:nvSpPr>
        <p:spPr>
          <a:xfrm>
            <a:off x="612360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8" name="Shape 56"/>
          <p:cNvSpPr/>
          <p:nvPr/>
        </p:nvSpPr>
        <p:spPr>
          <a:xfrm>
            <a:off x="631562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9" name="Shape 57"/>
          <p:cNvSpPr/>
          <p:nvPr/>
        </p:nvSpPr>
        <p:spPr>
          <a:xfrm>
            <a:off x="650764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0" name="Shape 58"/>
          <p:cNvSpPr/>
          <p:nvPr/>
        </p:nvSpPr>
        <p:spPr>
          <a:xfrm>
            <a:off x="669967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1" name="Shape 59"/>
          <p:cNvSpPr/>
          <p:nvPr/>
        </p:nvSpPr>
        <p:spPr>
          <a:xfrm>
            <a:off x="689169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2" name="Shape 60"/>
          <p:cNvSpPr/>
          <p:nvPr/>
        </p:nvSpPr>
        <p:spPr>
          <a:xfrm>
            <a:off x="708372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574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4" name="Shape 62"/>
          <p:cNvSpPr/>
          <p:nvPr/>
        </p:nvSpPr>
        <p:spPr>
          <a:xfrm>
            <a:off x="746776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5" name="Shape 63"/>
          <p:cNvSpPr/>
          <p:nvPr/>
        </p:nvSpPr>
        <p:spPr>
          <a:xfrm>
            <a:off x="765979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6" name="Shape 64"/>
          <p:cNvSpPr/>
          <p:nvPr/>
        </p:nvSpPr>
        <p:spPr>
          <a:xfrm>
            <a:off x="785181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7" name="Shape 65"/>
          <p:cNvSpPr/>
          <p:nvPr/>
        </p:nvSpPr>
        <p:spPr>
          <a:xfrm>
            <a:off x="804384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8" name="Shape 66"/>
          <p:cNvSpPr/>
          <p:nvPr/>
        </p:nvSpPr>
        <p:spPr>
          <a:xfrm>
            <a:off x="823586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9" name="Shape 67"/>
          <p:cNvSpPr/>
          <p:nvPr/>
        </p:nvSpPr>
        <p:spPr>
          <a:xfrm>
            <a:off x="554752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0" name="Shape 68"/>
          <p:cNvSpPr/>
          <p:nvPr/>
        </p:nvSpPr>
        <p:spPr>
          <a:xfrm>
            <a:off x="573955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1" name="Shape 69"/>
          <p:cNvSpPr/>
          <p:nvPr/>
        </p:nvSpPr>
        <p:spPr>
          <a:xfrm>
            <a:off x="593157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2" name="Shape 70"/>
          <p:cNvSpPr/>
          <p:nvPr/>
        </p:nvSpPr>
        <p:spPr>
          <a:xfrm>
            <a:off x="612360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62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4" name="Shape 72"/>
          <p:cNvSpPr/>
          <p:nvPr/>
        </p:nvSpPr>
        <p:spPr>
          <a:xfrm>
            <a:off x="650764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5" name="Shape 73"/>
          <p:cNvSpPr/>
          <p:nvPr/>
        </p:nvSpPr>
        <p:spPr>
          <a:xfrm>
            <a:off x="669967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6" name="Shape 74"/>
          <p:cNvSpPr/>
          <p:nvPr/>
        </p:nvSpPr>
        <p:spPr>
          <a:xfrm>
            <a:off x="689169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7" name="Shape 75"/>
          <p:cNvSpPr/>
          <p:nvPr/>
        </p:nvSpPr>
        <p:spPr>
          <a:xfrm>
            <a:off x="708372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8" name="Shape 76"/>
          <p:cNvSpPr/>
          <p:nvPr/>
        </p:nvSpPr>
        <p:spPr>
          <a:xfrm>
            <a:off x="727574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9" name="Shape 77"/>
          <p:cNvSpPr/>
          <p:nvPr/>
        </p:nvSpPr>
        <p:spPr>
          <a:xfrm>
            <a:off x="746776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0" name="Shape 78"/>
          <p:cNvSpPr/>
          <p:nvPr/>
        </p:nvSpPr>
        <p:spPr>
          <a:xfrm>
            <a:off x="765979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1" name="Shape 79"/>
          <p:cNvSpPr/>
          <p:nvPr/>
        </p:nvSpPr>
        <p:spPr>
          <a:xfrm>
            <a:off x="785181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2" name="Shape 80"/>
          <p:cNvSpPr/>
          <p:nvPr/>
        </p:nvSpPr>
        <p:spPr>
          <a:xfrm>
            <a:off x="804384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3" name="Shape 81"/>
          <p:cNvSpPr/>
          <p:nvPr/>
        </p:nvSpPr>
        <p:spPr>
          <a:xfrm>
            <a:off x="823586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4" name="Shape 82"/>
          <p:cNvSpPr/>
          <p:nvPr/>
        </p:nvSpPr>
        <p:spPr>
          <a:xfrm>
            <a:off x="554752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5" name="Shape 83"/>
          <p:cNvSpPr/>
          <p:nvPr/>
        </p:nvSpPr>
        <p:spPr>
          <a:xfrm>
            <a:off x="573955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6" name="Shape 84"/>
          <p:cNvSpPr/>
          <p:nvPr/>
        </p:nvSpPr>
        <p:spPr>
          <a:xfrm>
            <a:off x="593157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7" name="Shape 85"/>
          <p:cNvSpPr/>
          <p:nvPr/>
        </p:nvSpPr>
        <p:spPr>
          <a:xfrm>
            <a:off x="612360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8" name="Shape 86"/>
          <p:cNvSpPr/>
          <p:nvPr/>
        </p:nvSpPr>
        <p:spPr>
          <a:xfrm>
            <a:off x="631562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9" name="Shape 87"/>
          <p:cNvSpPr/>
          <p:nvPr/>
        </p:nvSpPr>
        <p:spPr>
          <a:xfrm>
            <a:off x="650764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0" name="Shape 88"/>
          <p:cNvSpPr/>
          <p:nvPr/>
        </p:nvSpPr>
        <p:spPr>
          <a:xfrm>
            <a:off x="669967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1" name="Shape 89"/>
          <p:cNvSpPr/>
          <p:nvPr/>
        </p:nvSpPr>
        <p:spPr>
          <a:xfrm>
            <a:off x="689169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2" name="Shape 90"/>
          <p:cNvSpPr/>
          <p:nvPr/>
        </p:nvSpPr>
        <p:spPr>
          <a:xfrm>
            <a:off x="708372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3" name="Shape 91"/>
          <p:cNvSpPr/>
          <p:nvPr/>
        </p:nvSpPr>
        <p:spPr>
          <a:xfrm>
            <a:off x="727574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4" name="Shape 92"/>
          <p:cNvSpPr/>
          <p:nvPr/>
        </p:nvSpPr>
        <p:spPr>
          <a:xfrm>
            <a:off x="746776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5" name="Shape 93"/>
          <p:cNvSpPr/>
          <p:nvPr/>
        </p:nvSpPr>
        <p:spPr>
          <a:xfrm>
            <a:off x="765979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6" name="Shape 94"/>
          <p:cNvSpPr/>
          <p:nvPr/>
        </p:nvSpPr>
        <p:spPr>
          <a:xfrm>
            <a:off x="785181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7" name="Shape 95"/>
          <p:cNvSpPr/>
          <p:nvPr/>
        </p:nvSpPr>
        <p:spPr>
          <a:xfrm>
            <a:off x="804384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8" name="Shape 96"/>
          <p:cNvSpPr/>
          <p:nvPr/>
        </p:nvSpPr>
        <p:spPr>
          <a:xfrm>
            <a:off x="823586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9" name="Shape 97"/>
          <p:cNvSpPr/>
          <p:nvPr/>
        </p:nvSpPr>
        <p:spPr>
          <a:xfrm>
            <a:off x="554752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73955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93157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2360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31562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0764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967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89169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08372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27574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467768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659792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851816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043840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235864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4752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3955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931576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123600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315624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0764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69967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89169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08372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7574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467768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659792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85181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4384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23586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54752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3955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931576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123600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315624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50764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69967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89169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8372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27574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467768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59792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85181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04384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23586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54752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73955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3157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12360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31562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0764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69967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9169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08372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727574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746776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765979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85181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04384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823586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54752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3955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93157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2360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31562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0764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9967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9169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08372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27574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46776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5979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85181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04384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23586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54752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3955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93157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2360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31562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50764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69967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9169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08372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727574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776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65979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85181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804384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23586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54752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3955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93157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12360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1562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50764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69967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89169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08372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27574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46776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5979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85181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04384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23586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54752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73955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3157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12360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31562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0764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9967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9169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708372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27574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46776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65979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85181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804384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823586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54752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73955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93157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2360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31562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50764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9967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89169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08372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27574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46776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65979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85181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04384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23586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54752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5" name="Shape 233"/>
          <p:cNvSpPr/>
          <p:nvPr/>
        </p:nvSpPr>
        <p:spPr>
          <a:xfrm>
            <a:off x="573955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6" name="Shape 234"/>
          <p:cNvSpPr/>
          <p:nvPr/>
        </p:nvSpPr>
        <p:spPr>
          <a:xfrm>
            <a:off x="593157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2360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31562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50764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69967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89169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08372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27574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46776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65979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785181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4384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23586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54752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73955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93157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12360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1562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50764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69967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89169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708372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727574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746776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65979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85181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04384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23586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54752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573955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593157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360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31562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0764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9967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89169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708372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727574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4" name="Shape 272"/>
          <p:cNvSpPr/>
          <p:nvPr/>
        </p:nvSpPr>
        <p:spPr>
          <a:xfrm>
            <a:off x="746776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5" name="Shape 273"/>
          <p:cNvSpPr/>
          <p:nvPr/>
        </p:nvSpPr>
        <p:spPr>
          <a:xfrm>
            <a:off x="765979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6" name="Shape 274"/>
          <p:cNvSpPr/>
          <p:nvPr/>
        </p:nvSpPr>
        <p:spPr>
          <a:xfrm>
            <a:off x="785181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7" name="Shape 275"/>
          <p:cNvSpPr/>
          <p:nvPr/>
        </p:nvSpPr>
        <p:spPr>
          <a:xfrm>
            <a:off x="804384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823586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554752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573955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93157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12360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31562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50764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9967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89169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8372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27574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46776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65979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85181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804384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23586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54752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73955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93157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12360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31562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50764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69967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89169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08372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27574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46776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65979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85181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4384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23586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54752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3955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93157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12360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31562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50764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69967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89169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708372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727574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746776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765979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785181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804384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23586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5440680" y="555955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5" name="Text 323"/>
          <p:cNvSpPr/>
          <p:nvPr/>
        </p:nvSpPr>
        <p:spPr>
          <a:xfrm>
            <a:off x="56418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(85)</a:t>
            </a:r>
            <a:endParaRPr lang="en-US" sz="900" dirty="0"/>
          </a:p>
        </p:txBody>
      </p:sp>
      <p:sp>
        <p:nvSpPr>
          <p:cNvPr id="326" name="Shape 324"/>
          <p:cNvSpPr/>
          <p:nvPr/>
        </p:nvSpPr>
        <p:spPr>
          <a:xfrm>
            <a:off x="6183630" y="555955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27" name="Text 325"/>
          <p:cNvSpPr/>
          <p:nvPr/>
        </p:nvSpPr>
        <p:spPr>
          <a:xfrm>
            <a:off x="63847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(12)</a:t>
            </a:r>
            <a:endParaRPr lang="en-US" sz="900" dirty="0"/>
          </a:p>
        </p:txBody>
      </p:sp>
      <p:sp>
        <p:nvSpPr>
          <p:cNvPr id="328" name="Shape 326"/>
          <p:cNvSpPr/>
          <p:nvPr/>
        </p:nvSpPr>
        <p:spPr>
          <a:xfrm>
            <a:off x="6926580" y="555955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29" name="Text 327"/>
          <p:cNvSpPr/>
          <p:nvPr/>
        </p:nvSpPr>
        <p:spPr>
          <a:xfrm>
            <a:off x="71277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(15)</a:t>
            </a:r>
            <a:endParaRPr lang="en-US" sz="900" dirty="0"/>
          </a:p>
        </p:txBody>
      </p:sp>
      <p:sp>
        <p:nvSpPr>
          <p:cNvPr id="330" name="Shape 328"/>
          <p:cNvSpPr/>
          <p:nvPr/>
        </p:nvSpPr>
        <p:spPr>
          <a:xfrm>
            <a:off x="7669530" y="555955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Text 329"/>
          <p:cNvSpPr/>
          <p:nvPr/>
        </p:nvSpPr>
        <p:spPr>
          <a:xfrm>
            <a:off x="78706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(188)</a:t>
            </a:r>
            <a:endParaRPr lang="en-US" sz="900" dirty="0"/>
          </a:p>
        </p:txBody>
      </p:sp>
      <p:sp>
        <p:nvSpPr>
          <p:cNvPr id="332" name="Shape 330"/>
          <p:cNvSpPr/>
          <p:nvPr/>
        </p:nvSpPr>
        <p:spPr>
          <a:xfrm>
            <a:off x="8641080" y="3108960"/>
            <a:ext cx="309067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8778240" y="32461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778240" y="3566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300" dirty="0"/>
          </a:p>
        </p:txBody>
      </p:sp>
      <p:sp>
        <p:nvSpPr>
          <p:cNvPr id="335" name="Text 333"/>
          <p:cNvSpPr/>
          <p:nvPr/>
        </p:nvSpPr>
        <p:spPr>
          <a:xfrm>
            <a:off x="946404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85/97</a:t>
            </a:r>
            <a:endParaRPr lang="en-US" sz="1000" dirty="0"/>
          </a:p>
        </p:txBody>
      </p:sp>
      <p:sp>
        <p:nvSpPr>
          <p:cNvPr id="336" name="Text 334"/>
          <p:cNvSpPr/>
          <p:nvPr/>
        </p:nvSpPr>
        <p:spPr>
          <a:xfrm>
            <a:off x="1056132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87.6 %</a:t>
            </a:r>
            <a:endParaRPr lang="en-US" sz="1300" dirty="0"/>
          </a:p>
        </p:txBody>
      </p:sp>
      <p:sp>
        <p:nvSpPr>
          <p:cNvPr id="337" name="Text 335"/>
          <p:cNvSpPr/>
          <p:nvPr/>
        </p:nvSpPr>
        <p:spPr>
          <a:xfrm>
            <a:off x="8778240" y="4160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300" dirty="0"/>
          </a:p>
        </p:txBody>
      </p:sp>
      <p:sp>
        <p:nvSpPr>
          <p:cNvPr id="338" name="Text 336"/>
          <p:cNvSpPr/>
          <p:nvPr/>
        </p:nvSpPr>
        <p:spPr>
          <a:xfrm>
            <a:off x="94640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188/203</a:t>
            </a:r>
            <a:endParaRPr lang="en-US" sz="1000" dirty="0"/>
          </a:p>
        </p:txBody>
      </p:sp>
      <p:sp>
        <p:nvSpPr>
          <p:cNvPr id="339" name="Text 337"/>
          <p:cNvSpPr/>
          <p:nvPr/>
        </p:nvSpPr>
        <p:spPr>
          <a:xfrm>
            <a:off x="105613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92.6 %</a:t>
            </a:r>
            <a:endParaRPr lang="en-US" sz="1300" dirty="0"/>
          </a:p>
        </p:txBody>
      </p:sp>
      <p:sp>
        <p:nvSpPr>
          <p:cNvPr id="340" name="Text 338"/>
          <p:cNvSpPr/>
          <p:nvPr/>
        </p:nvSpPr>
        <p:spPr>
          <a:xfrm>
            <a:off x="8778240" y="4754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</a:t>
            </a:r>
            <a:endParaRPr lang="en-US" sz="1300" dirty="0"/>
          </a:p>
        </p:txBody>
      </p:sp>
      <p:sp>
        <p:nvSpPr>
          <p:cNvPr id="341" name="Text 339"/>
          <p:cNvSpPr/>
          <p:nvPr/>
        </p:nvSpPr>
        <p:spPr>
          <a:xfrm>
            <a:off x="946404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85/100</a:t>
            </a:r>
            <a:endParaRPr lang="en-US" sz="1000" dirty="0"/>
          </a:p>
        </p:txBody>
      </p:sp>
      <p:sp>
        <p:nvSpPr>
          <p:cNvPr id="342" name="Text 340"/>
          <p:cNvSpPr/>
          <p:nvPr/>
        </p:nvSpPr>
        <p:spPr>
          <a:xfrm>
            <a:off x="1056132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85.0 %</a:t>
            </a:r>
            <a:endParaRPr lang="en-US" sz="1300" dirty="0"/>
          </a:p>
        </p:txBody>
      </p:sp>
      <p:sp>
        <p:nvSpPr>
          <p:cNvPr id="343" name="Text 341"/>
          <p:cNvSpPr/>
          <p:nvPr/>
        </p:nvSpPr>
        <p:spPr>
          <a:xfrm>
            <a:off x="8778240" y="5349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1300" dirty="0"/>
          </a:p>
        </p:txBody>
      </p:sp>
      <p:sp>
        <p:nvSpPr>
          <p:cNvPr id="344" name="Text 342"/>
          <p:cNvSpPr/>
          <p:nvPr/>
        </p:nvSpPr>
        <p:spPr>
          <a:xfrm>
            <a:off x="946404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188/200</a:t>
            </a:r>
            <a:endParaRPr lang="en-US" sz="1000" dirty="0"/>
          </a:p>
        </p:txBody>
      </p:sp>
      <p:sp>
        <p:nvSpPr>
          <p:cNvPr id="345" name="Text 343"/>
          <p:cNvSpPr/>
          <p:nvPr/>
        </p:nvSpPr>
        <p:spPr>
          <a:xfrm>
            <a:off x="1056132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94.0 %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LE PIÈGE DE LA PRÉVALENCE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varie avec la prévalence. Sensibilité, non.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et spécificité sont intrinsèques au test. VPP et VPN dépendent de la prévalence. Un test « excellent » devient médiocre quand la maladie est rare. Voici le même test (Se 88 %, Sp 93 %) dans trois contextes.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GÉNÉRALE · prév 1 %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99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370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" name="Shape 9"/>
          <p:cNvSpPr/>
          <p:nvPr/>
        </p:nvSpPr>
        <p:spPr>
          <a:xfrm>
            <a:off x="156746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" name="Shape 10"/>
          <p:cNvSpPr/>
          <p:nvPr/>
        </p:nvSpPr>
        <p:spPr>
          <a:xfrm>
            <a:off x="1901220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349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4" name="Shape 12"/>
          <p:cNvSpPr/>
          <p:nvPr/>
        </p:nvSpPr>
        <p:spPr>
          <a:xfrm>
            <a:off x="2568732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5" name="Shape 13"/>
          <p:cNvSpPr/>
          <p:nvPr/>
        </p:nvSpPr>
        <p:spPr>
          <a:xfrm>
            <a:off x="290248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6" name="Shape 14"/>
          <p:cNvSpPr/>
          <p:nvPr/>
        </p:nvSpPr>
        <p:spPr>
          <a:xfrm>
            <a:off x="323624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7" name="Shape 15"/>
          <p:cNvSpPr/>
          <p:nvPr/>
        </p:nvSpPr>
        <p:spPr>
          <a:xfrm>
            <a:off x="3570000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" name="Shape 16"/>
          <p:cNvSpPr/>
          <p:nvPr/>
        </p:nvSpPr>
        <p:spPr>
          <a:xfrm>
            <a:off x="3903756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9995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37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" name="Shape 19"/>
          <p:cNvSpPr/>
          <p:nvPr/>
        </p:nvSpPr>
        <p:spPr>
          <a:xfrm>
            <a:off x="15674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12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" name="Shape 21"/>
          <p:cNvSpPr/>
          <p:nvPr/>
        </p:nvSpPr>
        <p:spPr>
          <a:xfrm>
            <a:off x="22349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256873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" name="Shape 23"/>
          <p:cNvSpPr/>
          <p:nvPr/>
        </p:nvSpPr>
        <p:spPr>
          <a:xfrm>
            <a:off x="290248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624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" name="Shape 25"/>
          <p:cNvSpPr/>
          <p:nvPr/>
        </p:nvSpPr>
        <p:spPr>
          <a:xfrm>
            <a:off x="357000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375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" name="Shape 27"/>
          <p:cNvSpPr/>
          <p:nvPr/>
        </p:nvSpPr>
        <p:spPr>
          <a:xfrm>
            <a:off x="8999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337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674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012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349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6873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248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624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7000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8" name="Shape 36"/>
          <p:cNvSpPr/>
          <p:nvPr/>
        </p:nvSpPr>
        <p:spPr>
          <a:xfrm>
            <a:off x="390375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9" name="Shape 37"/>
          <p:cNvSpPr/>
          <p:nvPr/>
        </p:nvSpPr>
        <p:spPr>
          <a:xfrm>
            <a:off x="8999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37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1" name="Shape 39"/>
          <p:cNvSpPr/>
          <p:nvPr/>
        </p:nvSpPr>
        <p:spPr>
          <a:xfrm>
            <a:off x="15674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9012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3" name="Shape 41"/>
          <p:cNvSpPr/>
          <p:nvPr/>
        </p:nvSpPr>
        <p:spPr>
          <a:xfrm>
            <a:off x="22349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4" name="Shape 42"/>
          <p:cNvSpPr/>
          <p:nvPr/>
        </p:nvSpPr>
        <p:spPr>
          <a:xfrm>
            <a:off x="256873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5" name="Shape 43"/>
          <p:cNvSpPr/>
          <p:nvPr/>
        </p:nvSpPr>
        <p:spPr>
          <a:xfrm>
            <a:off x="290248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3624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7" name="Shape 45"/>
          <p:cNvSpPr/>
          <p:nvPr/>
        </p:nvSpPr>
        <p:spPr>
          <a:xfrm>
            <a:off x="357000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8" name="Shape 46"/>
          <p:cNvSpPr/>
          <p:nvPr/>
        </p:nvSpPr>
        <p:spPr>
          <a:xfrm>
            <a:off x="390375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999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0" name="Shape 48"/>
          <p:cNvSpPr/>
          <p:nvPr/>
        </p:nvSpPr>
        <p:spPr>
          <a:xfrm>
            <a:off x="12337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674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9012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3" name="Shape 51"/>
          <p:cNvSpPr/>
          <p:nvPr/>
        </p:nvSpPr>
        <p:spPr>
          <a:xfrm>
            <a:off x="22349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4" name="Shape 52"/>
          <p:cNvSpPr/>
          <p:nvPr/>
        </p:nvSpPr>
        <p:spPr>
          <a:xfrm>
            <a:off x="256873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5" name="Shape 53"/>
          <p:cNvSpPr/>
          <p:nvPr/>
        </p:nvSpPr>
        <p:spPr>
          <a:xfrm>
            <a:off x="290248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624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7" name="Shape 55"/>
          <p:cNvSpPr/>
          <p:nvPr/>
        </p:nvSpPr>
        <p:spPr>
          <a:xfrm>
            <a:off x="357000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8" name="Shape 56"/>
          <p:cNvSpPr/>
          <p:nvPr/>
        </p:nvSpPr>
        <p:spPr>
          <a:xfrm>
            <a:off x="390375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9" name="Shape 57"/>
          <p:cNvSpPr/>
          <p:nvPr/>
        </p:nvSpPr>
        <p:spPr>
          <a:xfrm>
            <a:off x="8999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2337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674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9012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3" name="Shape 61"/>
          <p:cNvSpPr/>
          <p:nvPr/>
        </p:nvSpPr>
        <p:spPr>
          <a:xfrm>
            <a:off x="22349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4" name="Shape 62"/>
          <p:cNvSpPr/>
          <p:nvPr/>
        </p:nvSpPr>
        <p:spPr>
          <a:xfrm>
            <a:off x="256873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5" name="Shape 63"/>
          <p:cNvSpPr/>
          <p:nvPr/>
        </p:nvSpPr>
        <p:spPr>
          <a:xfrm>
            <a:off x="290248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6" name="Shape 64"/>
          <p:cNvSpPr/>
          <p:nvPr/>
        </p:nvSpPr>
        <p:spPr>
          <a:xfrm>
            <a:off x="323624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7" name="Shape 65"/>
          <p:cNvSpPr/>
          <p:nvPr/>
        </p:nvSpPr>
        <p:spPr>
          <a:xfrm>
            <a:off x="357000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8" name="Shape 66"/>
          <p:cNvSpPr/>
          <p:nvPr/>
        </p:nvSpPr>
        <p:spPr>
          <a:xfrm>
            <a:off x="390375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9" name="Shape 67"/>
          <p:cNvSpPr/>
          <p:nvPr/>
        </p:nvSpPr>
        <p:spPr>
          <a:xfrm>
            <a:off x="8999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37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1" name="Shape 69"/>
          <p:cNvSpPr/>
          <p:nvPr/>
        </p:nvSpPr>
        <p:spPr>
          <a:xfrm>
            <a:off x="15674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9012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3" name="Shape 71"/>
          <p:cNvSpPr/>
          <p:nvPr/>
        </p:nvSpPr>
        <p:spPr>
          <a:xfrm>
            <a:off x="22349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4" name="Shape 72"/>
          <p:cNvSpPr/>
          <p:nvPr/>
        </p:nvSpPr>
        <p:spPr>
          <a:xfrm>
            <a:off x="256873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5" name="Shape 73"/>
          <p:cNvSpPr/>
          <p:nvPr/>
        </p:nvSpPr>
        <p:spPr>
          <a:xfrm>
            <a:off x="290248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624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7000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8" name="Shape 76"/>
          <p:cNvSpPr/>
          <p:nvPr/>
        </p:nvSpPr>
        <p:spPr>
          <a:xfrm>
            <a:off x="390375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9" name="Shape 77"/>
          <p:cNvSpPr/>
          <p:nvPr/>
        </p:nvSpPr>
        <p:spPr>
          <a:xfrm>
            <a:off x="8999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0" name="Shape 78"/>
          <p:cNvSpPr/>
          <p:nvPr/>
        </p:nvSpPr>
        <p:spPr>
          <a:xfrm>
            <a:off x="12337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1" name="Shape 79"/>
          <p:cNvSpPr/>
          <p:nvPr/>
        </p:nvSpPr>
        <p:spPr>
          <a:xfrm>
            <a:off x="15674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2" name="Shape 80"/>
          <p:cNvSpPr/>
          <p:nvPr/>
        </p:nvSpPr>
        <p:spPr>
          <a:xfrm>
            <a:off x="19012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3" name="Shape 81"/>
          <p:cNvSpPr/>
          <p:nvPr/>
        </p:nvSpPr>
        <p:spPr>
          <a:xfrm>
            <a:off x="22349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4" name="Shape 82"/>
          <p:cNvSpPr/>
          <p:nvPr/>
        </p:nvSpPr>
        <p:spPr>
          <a:xfrm>
            <a:off x="256873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5" name="Shape 83"/>
          <p:cNvSpPr/>
          <p:nvPr/>
        </p:nvSpPr>
        <p:spPr>
          <a:xfrm>
            <a:off x="290248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6" name="Shape 84"/>
          <p:cNvSpPr/>
          <p:nvPr/>
        </p:nvSpPr>
        <p:spPr>
          <a:xfrm>
            <a:off x="323624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7" name="Shape 85"/>
          <p:cNvSpPr/>
          <p:nvPr/>
        </p:nvSpPr>
        <p:spPr>
          <a:xfrm>
            <a:off x="357000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8" name="Shape 86"/>
          <p:cNvSpPr/>
          <p:nvPr/>
        </p:nvSpPr>
        <p:spPr>
          <a:xfrm>
            <a:off x="390375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9" name="Shape 87"/>
          <p:cNvSpPr/>
          <p:nvPr/>
        </p:nvSpPr>
        <p:spPr>
          <a:xfrm>
            <a:off x="8999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0" name="Shape 88"/>
          <p:cNvSpPr/>
          <p:nvPr/>
        </p:nvSpPr>
        <p:spPr>
          <a:xfrm>
            <a:off x="12337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1" name="Shape 89"/>
          <p:cNvSpPr/>
          <p:nvPr/>
        </p:nvSpPr>
        <p:spPr>
          <a:xfrm>
            <a:off x="15674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2" name="Shape 90"/>
          <p:cNvSpPr/>
          <p:nvPr/>
        </p:nvSpPr>
        <p:spPr>
          <a:xfrm>
            <a:off x="19012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3" name="Shape 91"/>
          <p:cNvSpPr/>
          <p:nvPr/>
        </p:nvSpPr>
        <p:spPr>
          <a:xfrm>
            <a:off x="22349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4" name="Shape 92"/>
          <p:cNvSpPr/>
          <p:nvPr/>
        </p:nvSpPr>
        <p:spPr>
          <a:xfrm>
            <a:off x="256873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5" name="Shape 93"/>
          <p:cNvSpPr/>
          <p:nvPr/>
        </p:nvSpPr>
        <p:spPr>
          <a:xfrm>
            <a:off x="290248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6" name="Shape 94"/>
          <p:cNvSpPr/>
          <p:nvPr/>
        </p:nvSpPr>
        <p:spPr>
          <a:xfrm>
            <a:off x="323624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7" name="Shape 95"/>
          <p:cNvSpPr/>
          <p:nvPr/>
        </p:nvSpPr>
        <p:spPr>
          <a:xfrm>
            <a:off x="357000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8" name="Shape 96"/>
          <p:cNvSpPr/>
          <p:nvPr/>
        </p:nvSpPr>
        <p:spPr>
          <a:xfrm>
            <a:off x="390375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9" name="Shape 97"/>
          <p:cNvSpPr/>
          <p:nvPr/>
        </p:nvSpPr>
        <p:spPr>
          <a:xfrm>
            <a:off x="8999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0" name="Shape 98"/>
          <p:cNvSpPr/>
          <p:nvPr/>
        </p:nvSpPr>
        <p:spPr>
          <a:xfrm>
            <a:off x="12337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674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9012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349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6873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248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23624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57000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90375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152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0" name="Text 108"/>
          <p:cNvSpPr/>
          <p:nvPr/>
        </p:nvSpPr>
        <p:spPr>
          <a:xfrm>
            <a:off x="9326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(1)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58877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2" name="Text 110"/>
          <p:cNvSpPr/>
          <p:nvPr/>
        </p:nvSpPr>
        <p:spPr>
          <a:xfrm>
            <a:off x="17899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(7)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244602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71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(0)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30327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16" name="Text 114"/>
          <p:cNvSpPr/>
          <p:nvPr/>
        </p:nvSpPr>
        <p:spPr>
          <a:xfrm>
            <a:off x="35044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(92)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118" name="Text 116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8 %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34340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43484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· prév 10 %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46032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9370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2707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6045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382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0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0580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93956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27332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6070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603272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937028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270784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604540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38296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2052" y="3958163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6058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9395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2733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070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60327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3702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27078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60454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93829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2720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6058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9395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2733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6070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60327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93702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27078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60454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93829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2720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058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9395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2733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6070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60327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93702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7078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60454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93829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720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6058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9395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2733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070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6032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9370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2707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6045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382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2720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58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9395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2733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6070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6032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9370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2707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6045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9382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2720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058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9395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733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6070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6032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370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2707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6045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382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20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058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9395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2733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070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6032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9370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2707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6045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9382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20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6058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9395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2733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76070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6032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49370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2707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6045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9382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2720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6058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395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2733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6070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43484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22" name="Text 220"/>
          <p:cNvSpPr/>
          <p:nvPr/>
        </p:nvSpPr>
        <p:spPr>
          <a:xfrm>
            <a:off x="46360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(9)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529209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24" name="Text 222"/>
          <p:cNvSpPr/>
          <p:nvPr/>
        </p:nvSpPr>
        <p:spPr>
          <a:xfrm>
            <a:off x="54932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(6)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614934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26" name="Text 224"/>
          <p:cNvSpPr/>
          <p:nvPr/>
        </p:nvSpPr>
        <p:spPr>
          <a:xfrm>
            <a:off x="63505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(1)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700659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Text 226"/>
          <p:cNvSpPr/>
          <p:nvPr/>
        </p:nvSpPr>
        <p:spPr>
          <a:xfrm>
            <a:off x="72077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(84)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30" name="Text 228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49 %</a:t>
            </a:r>
            <a:endParaRPr lang="en-US" sz="1400" dirty="0"/>
          </a:p>
        </p:txBody>
      </p:sp>
      <p:sp>
        <p:nvSpPr>
          <p:cNvPr id="231" name="Shape 229"/>
          <p:cNvSpPr/>
          <p:nvPr/>
        </p:nvSpPr>
        <p:spPr>
          <a:xfrm>
            <a:off x="804672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813816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À RISQUE · prév 50 %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830659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64034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97410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30786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64161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9753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03091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6428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109766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13103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830659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64034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97410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30786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964161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97537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030912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064288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97664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131039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830659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864034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897410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930786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64161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97537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030912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064288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097664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131039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30659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864034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97410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930786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64161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997537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30912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064288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097664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131039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8306592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8640348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8974104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307860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9641616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975372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309128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642884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1" name="Shape 279"/>
          <p:cNvSpPr/>
          <p:nvPr/>
        </p:nvSpPr>
        <p:spPr>
          <a:xfrm>
            <a:off x="10976640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1310396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8306592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640348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8974104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9307860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964161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99753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103091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106428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109766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113103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30659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864034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897410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30786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64161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99753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3091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6428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109766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13103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30659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64034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97410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930786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64161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9753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103091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106428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109766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13103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830659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864034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897410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30786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64161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9753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3091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6428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9766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113103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30659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864034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5" name="Shape 323"/>
          <p:cNvSpPr/>
          <p:nvPr/>
        </p:nvSpPr>
        <p:spPr>
          <a:xfrm>
            <a:off x="897410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30786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64161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9753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03091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0" name="Shape 328"/>
          <p:cNvSpPr/>
          <p:nvPr/>
        </p:nvSpPr>
        <p:spPr>
          <a:xfrm>
            <a:off x="106428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Shape 329"/>
          <p:cNvSpPr/>
          <p:nvPr/>
        </p:nvSpPr>
        <p:spPr>
          <a:xfrm>
            <a:off x="109766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2" name="Shape 330"/>
          <p:cNvSpPr/>
          <p:nvPr/>
        </p:nvSpPr>
        <p:spPr>
          <a:xfrm>
            <a:off x="113103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13816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4" name="Text 332"/>
          <p:cNvSpPr/>
          <p:nvPr/>
        </p:nvSpPr>
        <p:spPr>
          <a:xfrm>
            <a:off x="83393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(44)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899541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36" name="Text 334"/>
          <p:cNvSpPr/>
          <p:nvPr/>
        </p:nvSpPr>
        <p:spPr>
          <a:xfrm>
            <a:off x="91965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(4)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985266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38" name="Text 336"/>
          <p:cNvSpPr/>
          <p:nvPr/>
        </p:nvSpPr>
        <p:spPr>
          <a:xfrm>
            <a:off x="100538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(6)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1070991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0" name="Text 338"/>
          <p:cNvSpPr/>
          <p:nvPr/>
        </p:nvSpPr>
        <p:spPr>
          <a:xfrm>
            <a:off x="109110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(46)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42" name="Text 340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92 %</a:t>
            </a:r>
            <a:endParaRPr lang="en-US" sz="1400" dirty="0"/>
          </a:p>
        </p:txBody>
      </p:sp>
      <p:sp>
        <p:nvSpPr>
          <p:cNvPr id="343" name="Text 341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test, 3 contextes : la VPP varie de 8 % à 92 %. Toujours préciser la prévalence du contexte d'étude dans la discussion.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LR+ ET LR−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de vraisemblance : indépendants de la prévalence.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et LR− mesurent de combien un résultat de test modifie la probabilité d'avoir la maladie. Contrairement à VPP/VPN, ils ne dépendent pas de la prévalence — c'est pour ça que les cliniciens les préfèrent.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· TEST POSITIF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= Se / (1 − Sp)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&gt; 10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LR+ 5 — 10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LR+ 2 — 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&lt; 2 : peu utile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LR+ = 12 → test positif rend la maladie 12 fois plus probable.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· TEST NÉGATIF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LR− = (1 − Se) / Sp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&lt; 0,1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LR− 0,1 — 0,2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LR− 0,2 — 0,5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&gt; 0,5 : peu utile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73952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LR− = 0,1 → test négatif rend la maladie 10 fois moins probable.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ÉVALUATION GLOBALE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: Se et Sp à tous les seuils.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continu peut être dichotomisé à différents seuils. À chaque seuil correspond une Se et une Sp. La courbe ROC trace tous les couples (1−Sp, Se) — plus la courbe se rapproche du coin haut-gauche, meilleur est le test.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Calculer la courbe ROC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donnees$score)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col = "darkorange",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lwd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ci.auc(roc_obj)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383280"/>
            <a:ext cx="2560320" cy="274320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4747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acceptable.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Test utilisable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pratique.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3383280"/>
            <a:ext cx="4325112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34198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· score vs maladie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76072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703320"/>
            <a:ext cx="0" cy="205740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85216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703320"/>
            <a:ext cx="36576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18120" y="5760720"/>
            <a:ext cx="3776472" cy="-205740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818120" y="5760720"/>
            <a:ext cx="151059" cy="-37033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69179" y="5390388"/>
            <a:ext cx="151059" cy="-2880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0238" y="5102352"/>
            <a:ext cx="151059" cy="-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1297" y="4834890"/>
            <a:ext cx="226588" cy="-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97885" y="4567428"/>
            <a:ext cx="264353" cy="-20574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2238" y="4361688"/>
            <a:ext cx="302118" cy="-16459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64356" y="4197096"/>
            <a:ext cx="339882" cy="-1234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4238" y="4073652"/>
            <a:ext cx="377647" cy="-10287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81885" y="3970782"/>
            <a:ext cx="377647" cy="-8229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59533" y="3888486"/>
            <a:ext cx="377647" cy="-617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537180" y="3826764"/>
            <a:ext cx="377647" cy="-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14827" y="3785616"/>
            <a:ext cx="302118" cy="-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16945" y="3744468"/>
            <a:ext cx="377647" cy="-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834890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CHOISIR LE SEUIL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placer la barre ? Cela dépend du contexte clinique.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seuil est bas, plus Se monte (on ne rate pas) mais plus Sp chute (on alerte trop). À l'inverse, un seuil élevé maximise Sp au prix de faux négatifs. Le bon seuil dépend de la gravité de rater la maladie vs alerter pour rien.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BAS · DÉPISTAGE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 grave, traitable. On ne veut pas la rater.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cancer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 chez nourrissons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DE YOUDEN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2628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Équilibre Se + Sp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 + Sp − 1. Compromis sans préférence clinique.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académique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initiale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17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ÉLEVÉ ·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une maladie. On veut peu de faux positifs.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après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positif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QUALITATIVE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de Cohen : l'accord au-delà du hasard.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 notent indépendamment 100 radios « anormal / normal ». Combien d'accord ? Une partie est due au hasard. Kappa corrige pour ce hasard et donne la concordance réelle.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303520" cy="2834640"/>
          </a:xfrm>
          <a:prstGeom prst="roundRect">
            <a:avLst>
              <a:gd name="adj" fmla="val 161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croisé 2 observateurs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de Cohen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library(irr)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kappa2(donnees[, c("obs1",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"obs2")])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pondéré (ordinal)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kappa2(..., weight = "squared")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3291840"/>
            <a:ext cx="5650992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429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LANDIS &amp; KOCH (1977)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3794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0,00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37947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pire que hasard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0,01 — 0,20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1605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léger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4526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0,21 — 0,40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0" y="4526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passable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48920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0,41 — 0,60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0" y="4892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5257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0,61 — 0,80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63840" y="5257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substantiel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5623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0,81 — 1,00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63840" y="5623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quasi-parfait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QUANTITATIVE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Bland-Altman : comparer deux méthodes de mesure.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deux méthodes mesurant la même grandeur, la corrélation n'est PAS suffisante. Deux méthodes peuvent être très corrélées tout en donnant des valeurs systématiquement différentes. Bland-Altman regarde la moyenne et la différence des paires.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MESURE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moyen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différences entre méthodes. Mesure le décalage systématique.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d'accord à 95 %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864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± 1,96 × écart-type. Intervalle où 95 % des différences se trouvent.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91072" y="3474720"/>
            <a:ext cx="5440680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35844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35844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3931920"/>
            <a:ext cx="5166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Bland-Altman plot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library(BlandAltmanLeh)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bland.altman.plot(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 = "Accord m1 vs m2",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conf.int = 0.95)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Statistiques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blandr.statistics(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DÉCRIRE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Kaplan-Meier : la courbe qui descend.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survie, le « temps jusqu'à l'événement » est l'information centrale. Kaplan-Meier produit une courbe en escalier : chaque marche descend à chaque événement, en tenant compte des sujets censurés.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Estimation Kaplan-Meier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evenement) ~ 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Tracer la courbe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28269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globale · cohorte unique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60720"/>
            <a:ext cx="478231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566160"/>
            <a:ext cx="0" cy="219456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5216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566160"/>
            <a:ext cx="365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566160"/>
            <a:ext cx="239116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566160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566160"/>
            <a:ext cx="0" cy="65837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631997"/>
            <a:ext cx="382585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33981" y="3631997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33981" y="3631997"/>
            <a:ext cx="0" cy="8778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3981" y="3719779"/>
            <a:ext cx="430408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4389" y="3719779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4389" y="3719779"/>
            <a:ext cx="0" cy="10972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4389" y="3829507"/>
            <a:ext cx="47823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2620" y="3829507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2620" y="3829507"/>
            <a:ext cx="0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42620" y="3961181"/>
            <a:ext cx="47823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0851" y="3961181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0851" y="3961181"/>
            <a:ext cx="0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20851" y="4092854"/>
            <a:ext cx="62170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42552" y="4092854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42552" y="4092854"/>
            <a:ext cx="0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42552" y="4246474"/>
            <a:ext cx="62170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64252" y="4246474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64252" y="4246474"/>
            <a:ext cx="0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64252" y="4400093"/>
            <a:ext cx="669524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33776" y="4400093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33776" y="4400093"/>
            <a:ext cx="0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33776" y="4553712"/>
            <a:ext cx="62170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36118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(n = 120)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COMPARER DEUX GROUPES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Log-rank : « ces deux courbes diffèrent-elles ? »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tu compares la survie de deux groupes (traitement vs contrôle, stade I vs III), le log-rank teste l'hypothèse nulle « pas de différence à aucun temps ». Souvent visualisé avec deux courbes Kaplan-Meier superposées.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2 groupes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log-rank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survdiff(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Visualisation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 pval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154680"/>
            <a:ext cx="533095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19125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vs bras B · log-rank p = 0.012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15000"/>
            <a:ext cx="478231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4747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0644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4747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474720"/>
            <a:ext cx="239116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474720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474720"/>
            <a:ext cx="0" cy="44806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519526"/>
            <a:ext cx="62170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73096" y="3519526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73096" y="3519526"/>
            <a:ext cx="0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73096" y="3631540"/>
            <a:ext cx="669524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42620" y="3631540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42620" y="3631540"/>
            <a:ext cx="0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42620" y="3743554"/>
            <a:ext cx="621701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4320" y="3743554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4320" y="3743554"/>
            <a:ext cx="0" cy="6720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4320" y="3810762"/>
            <a:ext cx="812993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77313" y="3810762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77313" y="3810762"/>
            <a:ext cx="0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77313" y="3922776"/>
            <a:ext cx="76517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42483" y="3922776"/>
            <a:ext cx="0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42483" y="3922776"/>
            <a:ext cx="0" cy="89611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42483" y="4012387"/>
            <a:ext cx="812993" cy="0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35204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(n = 60)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12280" y="3474720"/>
            <a:ext cx="191292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03572" y="3474720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3572" y="3474720"/>
            <a:ext cx="0" cy="89611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3572" y="3564331"/>
            <a:ext cx="382585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86157" y="3564331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86157" y="3564331"/>
            <a:ext cx="0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86157" y="3721151"/>
            <a:ext cx="478231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4389" y="3721151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64389" y="3721151"/>
            <a:ext cx="0" cy="201625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64389" y="3922776"/>
            <a:ext cx="621701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86089" y="3922776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86089" y="3922776"/>
            <a:ext cx="0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86089" y="4146804"/>
            <a:ext cx="717347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203436" y="4146804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03436" y="4146804"/>
            <a:ext cx="0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03436" y="4370832"/>
            <a:ext cx="860816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064252" y="4370832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064252" y="4370832"/>
            <a:ext cx="0" cy="17922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64252" y="4550054"/>
            <a:ext cx="812993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77245" y="4550054"/>
            <a:ext cx="0" cy="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77245" y="4550054"/>
            <a:ext cx="0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3720" y="37490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(n = 60)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AJUSTEMENT MULTIVARIÉ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de Cox : le HR ajusté.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est à la survie ce que la logistique est aux issues binaires : un modèle multivarié qui contrôle les facteurs de confusion. Le résultat est le Hazard Ratio — interprétable comme un OR ajusté, mais sur le risque d'événement par unité de temps.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48463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de Cox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coxph(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bras + age + sexe + stade,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proportionnalité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cox.zph(fit)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3154680"/>
            <a:ext cx="606247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3200400"/>
            <a:ext cx="5879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ajustés · IC95%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22824" y="3474720"/>
            <a:ext cx="0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760720" y="359016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87996" y="3754755"/>
            <a:ext cx="433395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7996" y="3699891"/>
            <a:ext cx="0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21391" y="3699891"/>
            <a:ext cx="0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9190" y="369074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415023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41266" y="4314825"/>
            <a:ext cx="36885" cy="0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41266" y="4259961"/>
            <a:ext cx="0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8151" y="4259961"/>
            <a:ext cx="0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5700" y="425081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71030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07871" y="4874895"/>
            <a:ext cx="599376" cy="0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07871" y="4820031"/>
            <a:ext cx="0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07247" y="4820031"/>
            <a:ext cx="0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83613" y="481088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0" y="527037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III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15844" y="5434965"/>
            <a:ext cx="2314512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844" y="5380101"/>
            <a:ext cx="0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30356" y="5380101"/>
            <a:ext cx="0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64731" y="537095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223760" y="5760720"/>
            <a:ext cx="4370832" cy="0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39944" y="58064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223760" y="5943600"/>
            <a:ext cx="4370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ajusté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réduit le risque d'événement de 39 % vs bras A, ajusté sur âge / sexe / stade. cox.zph() doit montrer p &gt; 0.05 (hypothèse de proportionnalité respectée).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 BIOMÉDICAL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fait perdre des points en thèse de médecine.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VPP avec sensibilité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sensibilité est intrinsèque au test, la VPP dépend de la prévalence. À spécifier dans la discussion.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deux méthodes par corrélation seule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méthodes peuvent corréler à r = 0,98 sans être interchangeables. Toujours Bland-Altman en plus.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Oublier les censurés en analyse de survie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perdus de vue = biais majeur. Kaplan-Meier les gère, Cox aussi. À utiliser tels quels.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sans vérifier la proportionnalité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L'hypothèse fondamentale de Cox : le HR est constant dans le temps. cox.zph() la teste. Sans ça, modèle invalide.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AUC sans IC95% ni contexte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0,72 dans une étude pilote ≠ AUC = 0,72 sur une cohorte de validation. L'IC95% et le design comptent.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FIN DE LA SÉRIE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maîtrises les quatre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modules. Place à ta thèse.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fondations · M2 comparaisons · M3 associations · M4 outils biomédicaux. Avec ce curriculum, tu défends ta méthodologie sans trembler. Si tu veux qu'on regarde ton projet réel avant la soutenance — un diagnostic gratuit de 15 minutes,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biomédicaux — Module 4</dc:title>
  <dc:subject>Formation HES — Biostatistique</dc:subject>
  <dc:creator>Heaven Elijah Service</dc:creator>
  <cp:lastModifiedBy>Heaven Elijah Service</cp:lastModifiedBy>
  <cp:revision>1</cp:revision>
  <dcterms:created xsi:type="dcterms:W3CDTF">2026-05-14T19:51:03Z</dcterms:created>
  <dcterms:modified xsi:type="dcterms:W3CDTF">2026-05-14T19:51:03Z</dcterms:modified>
</cp:coreProperties>
</file>